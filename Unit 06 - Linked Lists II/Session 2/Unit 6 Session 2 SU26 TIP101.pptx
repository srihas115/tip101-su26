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39" r:id="rId5"/>
    <p:sldMasterId id="2147483740" r:id="rId6"/>
    <p:sldMasterId id="2147483741" r:id="rId7"/>
    <p:sldMasterId id="214748374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Lst>
  <p:sldSz cy="5143500" cx="9144000"/>
  <p:notesSz cx="6858000" cy="9144000"/>
  <p:embeddedFontLst>
    <p:embeddedFont>
      <p:font typeface="Space Mono"/>
      <p:regular r:id="rId37"/>
      <p:bold r:id="rId38"/>
      <p:italic r:id="rId39"/>
      <p:boldItalic r:id="rId40"/>
    </p:embeddedFont>
    <p:embeddedFont>
      <p:font typeface="Poppins"/>
      <p:regular r:id="rId41"/>
      <p:bold r:id="rId42"/>
      <p:italic r:id="rId43"/>
      <p:boldItalic r:id="rId44"/>
    </p:embeddedFont>
    <p:embeddedFont>
      <p:font typeface="Roboto Mon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E94E88-3F21-428C-B761-5B0C8D19183A}">
  <a:tblStyle styleId="{A7E94E88-3F21-428C-B761-5B0C8D1918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Mono-boldItalic.fntdata"/><Relationship Id="rId20" Type="http://schemas.openxmlformats.org/officeDocument/2006/relationships/slide" Target="slides/slide11.xml"/><Relationship Id="rId42" Type="http://schemas.openxmlformats.org/officeDocument/2006/relationships/font" Target="fonts/Poppins-bold.fntdata"/><Relationship Id="rId41" Type="http://schemas.openxmlformats.org/officeDocument/2006/relationships/font" Target="fonts/Poppins-regular.fntdata"/><Relationship Id="rId22" Type="http://schemas.openxmlformats.org/officeDocument/2006/relationships/slide" Target="slides/slide13.xml"/><Relationship Id="rId44" Type="http://schemas.openxmlformats.org/officeDocument/2006/relationships/font" Target="fonts/Poppins-boldItalic.fntdata"/><Relationship Id="rId21" Type="http://schemas.openxmlformats.org/officeDocument/2006/relationships/slide" Target="slides/slide12.xml"/><Relationship Id="rId43" Type="http://schemas.openxmlformats.org/officeDocument/2006/relationships/font" Target="fonts/Poppins-italic.fntdata"/><Relationship Id="rId24" Type="http://schemas.openxmlformats.org/officeDocument/2006/relationships/slide" Target="slides/slide15.xml"/><Relationship Id="rId46" Type="http://schemas.openxmlformats.org/officeDocument/2006/relationships/font" Target="fonts/RobotoMono-bold.fntdata"/><Relationship Id="rId23" Type="http://schemas.openxmlformats.org/officeDocument/2006/relationships/slide" Target="slides/slide14.xml"/><Relationship Id="rId45" Type="http://schemas.openxmlformats.org/officeDocument/2006/relationships/font" Target="fonts/RobotoMono-regular.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48" Type="http://schemas.openxmlformats.org/officeDocument/2006/relationships/font" Target="fonts/RobotoMono-boldItalic.fntdata"/><Relationship Id="rId25" Type="http://schemas.openxmlformats.org/officeDocument/2006/relationships/slide" Target="slides/slide16.xml"/><Relationship Id="rId47" Type="http://schemas.openxmlformats.org/officeDocument/2006/relationships/font" Target="fonts/RobotoMono-italic.fntdata"/><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font" Target="fonts/SpaceMono-regular.fntdata"/><Relationship Id="rId14" Type="http://schemas.openxmlformats.org/officeDocument/2006/relationships/slide" Target="slides/slide5.xml"/><Relationship Id="rId36" Type="http://schemas.openxmlformats.org/officeDocument/2006/relationships/slide" Target="slides/slide27.xml"/><Relationship Id="rId17" Type="http://schemas.openxmlformats.org/officeDocument/2006/relationships/slide" Target="slides/slide8.xml"/><Relationship Id="rId39" Type="http://schemas.openxmlformats.org/officeDocument/2006/relationships/font" Target="fonts/SpaceMono-italic.fntdata"/><Relationship Id="rId16" Type="http://schemas.openxmlformats.org/officeDocument/2006/relationships/slide" Target="slides/slide7.xml"/><Relationship Id="rId38" Type="http://schemas.openxmlformats.org/officeDocument/2006/relationships/font" Target="fonts/SpaceMono-bold.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2206fdb7bb_0_1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2206fdb7bb_0_1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an enthusiastic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importance of mock interviews in preparing for technical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6, Session 2 of TIP101! Today is a big day—we’ll be conducting mock interviews. This is an opportunity to practice the skills you’ve been building and to gain experience in a real-world interview setting.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mock interviews are about learning and improving. Mistakes are okay—they help us grow.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feel nervous about in today’s session?" Acknowledge responses to build rapport.</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2206fdb7bb_0_1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2206fdb7bb_0_1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flow of the session and set clear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Provide an overview of the agenda and ensure students understand the structure of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the plan for today: We’ll start with a mock interview demonstration, take a short break, and then move into collaborative problem-solving. We’ll finish with a quick wrap-up and reflection.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in a technical interview format.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for questions or clarification about the agenda.</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2206fdb7bb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2206fdb7bb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SLIDES_API2036466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SLIDES_API2036466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f319ae4a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f319ae4a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f46ae26c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f46ae26c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f319ae4ad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f319ae4ad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2206fdb7bb_0_1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2206fdb7bb_0_1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Before day of ideally, ask for a couple student volunteers to conduct mock interviews with. You can ask the students to walk through either both questions or try to get a volunteer to go through each with. Try to treat this close to a technical interview by offering help if they get stuck and also encourage them to voice their thought process throughout for other students to learn from.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If no student(s) end up volunteering in the worst case scenario, you can demo walking through the problems as if you are the interviewee and noting the steps you take care to go through as you complete the problem(s) in front of the class (the interviewers).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287333ea4d_0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287333ea4d_0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Set the stage for the mock interview and explain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process, highlighting the interviewer, interviewee, and observer roles.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today’s mock interview, I’ll be acting as the interviewer. I’ll ask probing questions and provide minimal hints to simulate a real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Our volunteer student will be the interviewee. You’ll think aloud as you solve the problem, applying the UMPIRE strategy. This helps everyone understand your thought process.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rest of the class will observe, taking notes on what they would do similarly or differently.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participation by asking: "Who would like to volunteer to be the interviewee today?"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287333ea4d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287333ea4d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step-by-step guide to the mock interview process.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outline the steps for the mock interview to set expectations.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 will work: First, the candidate will introduce themselves. I’ll then explain the problem, and the candidate will open the link and share their screen.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 the candidate works through the UMPIRE steps, they’ll explain what they’re thinking, what they’re doing, and why. Remember, it’s okay to Google or ask clarifying questions.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we’ll celebrate the candidate’s efforts and discuss what went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287333ea4d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287333ea4d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Engage the observing students in active reflection and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observers to focus on takeaways they can apply to their own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you’re observing, hold your comments until the end. Imagine you’re the candidate—how would you solve this problem? What steps would you take?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Afterward, write down one thing the candidate did well that you’d like to adopt and one thing you’d do differently now that you’ve seen this interview.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287333ea4d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287333ea4d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Highlight the key skills and behaviors being assessed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evaluation criteria and its importance in technical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focus on three main areas: clarity, problem-solving process, and use of the UMPIRE framework. Clear communication is just as important as finding the right solution.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Prioritize readability and logical flow over rushing to the solution. Remember, this is about simulating a real-world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criteria do you think is the most challenging to demonstrate? Why?"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287333ea4d_0_1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287333ea4d_0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Review the UMPIRE strategy to set a framework for problem-solving during the mock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Briefly recap the UMPIRE steps and their importance in solving coding problems.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quickly revisit UMPIRE: Understand the problem, Match the right data structure or algorithm, Plan your approach, Implement the solution, Review your work, and Evaluate the time and space complexity.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strategy helps you stay organized and methodical, which is crucial in a technical interview.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step of UMPIRE do you think you’ve improved on the most so far?"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46ae26c33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f46ae26c33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f46ae26c33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f46ae26c33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287333ea4d_0_1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287333ea4d_0_1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Reflect on the mock interview and encourage students to share takeaways.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reflective discussion to consolidate learning.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the candidate did that you’ll start doing and one thing you’ll do differently after watching this interview.</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great chance to learn not just from the candidate’s strengths but also from areas for improvement.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insightful or actionable takeaways. Encourage follow-up thoughts: "Why do you think that strategy worked well?"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287333ea4d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287333ea4d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287333ea4d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287333ea4d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287333ea4d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287333ea4d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287333ea4d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287333ea4d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287333ea4d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287333ea4d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287333ea4d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287333ea4d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SLIDES_API203646617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SLIDES_API203646617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f319ae4ad0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f319ae4ad0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f319ae4ad0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f319ae4ad0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f319ae4ad0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f319ae4ad0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f319ae4ad0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f319ae4ad0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0.png"/><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2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3.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42.png"/><Relationship Id="rId6"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0.png"/><Relationship Id="rId5"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2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42.png"/><Relationship Id="rId6" Type="http://schemas.openxmlformats.org/officeDocument/2006/relationships/image" Target="../media/image4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0.png"/><Relationship Id="rId5"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0.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9.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2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3.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42.png"/><Relationship Id="rId6" Type="http://schemas.openxmlformats.org/officeDocument/2006/relationships/image" Target="../media/image4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7" name="Shape 267"/>
        <p:cNvGrpSpPr/>
        <p:nvPr/>
      </p:nvGrpSpPr>
      <p:grpSpPr>
        <a:xfrm>
          <a:off x="0" y="0"/>
          <a:ext cx="0" cy="0"/>
          <a:chOff x="0" y="0"/>
          <a:chExt cx="0" cy="0"/>
        </a:xfrm>
      </p:grpSpPr>
      <p:pic>
        <p:nvPicPr>
          <p:cNvPr id="268" name="Google Shape;268;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9" name="Google Shape;269;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70"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2" name="Google Shape;272;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3" name="Google Shape;273;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5" name="Shape 275"/>
        <p:cNvGrpSpPr/>
        <p:nvPr/>
      </p:nvGrpSpPr>
      <p:grpSpPr>
        <a:xfrm>
          <a:off x="0" y="0"/>
          <a:ext cx="0" cy="0"/>
          <a:chOff x="0" y="0"/>
          <a:chExt cx="0" cy="0"/>
        </a:xfrm>
      </p:grpSpPr>
      <p:pic>
        <p:nvPicPr>
          <p:cNvPr descr="Divider4.png" id="276" name="Google Shape;276;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7" name="Google Shape;277;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8" name="Google Shape;278;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9" name="Google Shape;279;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80" name="Google Shape;280;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1" name="Google Shape;281;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2" name="Shape 282"/>
        <p:cNvGrpSpPr/>
        <p:nvPr/>
      </p:nvGrpSpPr>
      <p:grpSpPr>
        <a:xfrm>
          <a:off x="0" y="0"/>
          <a:ext cx="0" cy="0"/>
          <a:chOff x="0" y="0"/>
          <a:chExt cx="0" cy="0"/>
        </a:xfrm>
      </p:grpSpPr>
      <p:sp>
        <p:nvSpPr>
          <p:cNvPr id="283" name="Google Shape;283;p44"/>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284" name="Google Shape;284;p44"/>
          <p:cNvGrpSpPr/>
          <p:nvPr/>
        </p:nvGrpSpPr>
        <p:grpSpPr>
          <a:xfrm rot="5400000">
            <a:off x="5719749" y="1629787"/>
            <a:ext cx="4964577" cy="1883925"/>
            <a:chOff x="4152224" y="1218499"/>
            <a:chExt cx="4964577" cy="1883925"/>
          </a:xfrm>
        </p:grpSpPr>
        <p:pic>
          <p:nvPicPr>
            <p:cNvPr id="285" name="Google Shape;285;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6" name="Google Shape;286;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7" name="Google Shape;287;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8" name="Google Shape;288;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89" name="Google Shape;289;p44"/>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90" name="Shape 290"/>
        <p:cNvGrpSpPr/>
        <p:nvPr/>
      </p:nvGrpSpPr>
      <p:grpSpPr>
        <a:xfrm>
          <a:off x="0" y="0"/>
          <a:ext cx="0" cy="0"/>
          <a:chOff x="0" y="0"/>
          <a:chExt cx="0" cy="0"/>
        </a:xfrm>
      </p:grpSpPr>
      <p:pic>
        <p:nvPicPr>
          <p:cNvPr id="291" name="Google Shape;291;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2" name="Google Shape;292;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3" name="Google Shape;293;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4" name="Google Shape;294;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5" name="Google Shape;295;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6" name="Google Shape;296;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7" name="Google Shape;297;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8" name="Google Shape;298;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9" name="Shape 299"/>
        <p:cNvGrpSpPr/>
        <p:nvPr/>
      </p:nvGrpSpPr>
      <p:grpSpPr>
        <a:xfrm>
          <a:off x="0" y="0"/>
          <a:ext cx="0" cy="0"/>
          <a:chOff x="0" y="0"/>
          <a:chExt cx="0" cy="0"/>
        </a:xfrm>
      </p:grpSpPr>
      <p:pic>
        <p:nvPicPr>
          <p:cNvPr id="300" name="Google Shape;300;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1" name="Google Shape;301;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2" name="Google Shape;302;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3" name="Google Shape;303;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4" name="Google Shape;304;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9" name="Google Shape;309;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10" name="Google Shape;310;p47"/>
          <p:cNvGrpSpPr/>
          <p:nvPr/>
        </p:nvGrpSpPr>
        <p:grpSpPr>
          <a:xfrm>
            <a:off x="5709066" y="201260"/>
            <a:ext cx="2296623" cy="4424889"/>
            <a:chOff x="5598780" y="137712"/>
            <a:chExt cx="2577001" cy="4664652"/>
          </a:xfrm>
        </p:grpSpPr>
        <p:pic>
          <p:nvPicPr>
            <p:cNvPr id="311" name="Google Shape;311;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2" name="Google Shape;312;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4" name="Google Shape;314;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0" name="Google Shape;320;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1" name="Google Shape;321;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5" name="Shape 325"/>
        <p:cNvGrpSpPr/>
        <p:nvPr/>
      </p:nvGrpSpPr>
      <p:grpSpPr>
        <a:xfrm>
          <a:off x="0" y="0"/>
          <a:ext cx="0" cy="0"/>
          <a:chOff x="0" y="0"/>
          <a:chExt cx="0" cy="0"/>
        </a:xfrm>
      </p:grpSpPr>
      <p:pic>
        <p:nvPicPr>
          <p:cNvPr id="326" name="Google Shape;326;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7" name="Google Shape;327;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8" name="Google Shape;328;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9" name="Google Shape;329;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0" name="Google Shape;330;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31" name="Google Shape;331;p49"/>
          <p:cNvGrpSpPr/>
          <p:nvPr/>
        </p:nvGrpSpPr>
        <p:grpSpPr>
          <a:xfrm>
            <a:off x="4344100" y="398125"/>
            <a:ext cx="4546500" cy="4222800"/>
            <a:chOff x="4344100" y="398125"/>
            <a:chExt cx="4546500" cy="4222800"/>
          </a:xfrm>
        </p:grpSpPr>
        <p:sp>
          <p:nvSpPr>
            <p:cNvPr id="332" name="Google Shape;332;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49"/>
            <p:cNvGrpSpPr/>
            <p:nvPr/>
          </p:nvGrpSpPr>
          <p:grpSpPr>
            <a:xfrm>
              <a:off x="4445450" y="524200"/>
              <a:ext cx="399495" cy="101100"/>
              <a:chOff x="4445450" y="524200"/>
              <a:chExt cx="399495" cy="101100"/>
            </a:xfrm>
          </p:grpSpPr>
          <p:sp>
            <p:nvSpPr>
              <p:cNvPr id="334" name="Google Shape;334;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8" name="Shape 338"/>
        <p:cNvGrpSpPr/>
        <p:nvPr/>
      </p:nvGrpSpPr>
      <p:grpSpPr>
        <a:xfrm>
          <a:off x="0" y="0"/>
          <a:ext cx="0" cy="0"/>
          <a:chOff x="0" y="0"/>
          <a:chExt cx="0" cy="0"/>
        </a:xfrm>
      </p:grpSpPr>
      <p:pic>
        <p:nvPicPr>
          <p:cNvPr id="339" name="Google Shape;339;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40" name="Google Shape;340;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1" name="Google Shape;341;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2" name="Google Shape;342;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3" name="Google Shape;343;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4" name="Shape 344"/>
        <p:cNvGrpSpPr/>
        <p:nvPr/>
      </p:nvGrpSpPr>
      <p:grpSpPr>
        <a:xfrm>
          <a:off x="0" y="0"/>
          <a:ext cx="0" cy="0"/>
          <a:chOff x="0" y="0"/>
          <a:chExt cx="0" cy="0"/>
        </a:xfrm>
      </p:grpSpPr>
      <p:pic>
        <p:nvPicPr>
          <p:cNvPr id="345" name="Google Shape;345;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6" name="Google Shape;346;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1"/>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8" name="Google Shape;348;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9" name="Google Shape;349;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2" name="Google Shape;352;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3" name="Shape 353"/>
        <p:cNvGrpSpPr/>
        <p:nvPr/>
      </p:nvGrpSpPr>
      <p:grpSpPr>
        <a:xfrm>
          <a:off x="0" y="0"/>
          <a:ext cx="0" cy="0"/>
          <a:chOff x="0" y="0"/>
          <a:chExt cx="0" cy="0"/>
        </a:xfrm>
      </p:grpSpPr>
      <p:pic>
        <p:nvPicPr>
          <p:cNvPr id="354" name="Google Shape;354;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5" name="Google Shape;355;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6" name="Google Shape;356;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7" name="Google Shape;357;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8" name="Google Shape;358;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60" name="Google Shape;360;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61" name="Google Shape;361;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2" name="Google Shape;362;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3" name="Shape 363"/>
        <p:cNvGrpSpPr/>
        <p:nvPr/>
      </p:nvGrpSpPr>
      <p:grpSpPr>
        <a:xfrm>
          <a:off x="0" y="0"/>
          <a:ext cx="0" cy="0"/>
          <a:chOff x="0" y="0"/>
          <a:chExt cx="0" cy="0"/>
        </a:xfrm>
      </p:grpSpPr>
      <p:pic>
        <p:nvPicPr>
          <p:cNvPr id="364" name="Google Shape;364;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5" name="Google Shape;365;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70" name="Google Shape;370;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71" name="Google Shape;371;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2" name="Shape 372"/>
        <p:cNvGrpSpPr/>
        <p:nvPr/>
      </p:nvGrpSpPr>
      <p:grpSpPr>
        <a:xfrm>
          <a:off x="0" y="0"/>
          <a:ext cx="0" cy="0"/>
          <a:chOff x="0" y="0"/>
          <a:chExt cx="0" cy="0"/>
        </a:xfrm>
      </p:grpSpPr>
      <p:pic>
        <p:nvPicPr>
          <p:cNvPr id="373" name="Google Shape;373;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4" name="Google Shape;374;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5" name="Google Shape;375;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80" name="Google Shape;380;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1" name="Google Shape;381;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4" name="Google Shape;384;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4" name="Google Shape;394;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6" name="Google Shape;436;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7" name="Google Shape;437;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9" name="Google Shape;439;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1" name="Google Shape;441;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2" name="Google Shape;442;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3" name="Shape 443"/>
        <p:cNvGrpSpPr/>
        <p:nvPr/>
      </p:nvGrpSpPr>
      <p:grpSpPr>
        <a:xfrm>
          <a:off x="0" y="0"/>
          <a:ext cx="0" cy="0"/>
          <a:chOff x="0" y="0"/>
          <a:chExt cx="0" cy="0"/>
        </a:xfrm>
      </p:grpSpPr>
      <p:pic>
        <p:nvPicPr>
          <p:cNvPr id="444" name="Google Shape;444;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5" name="Google Shape;445;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7" name="Google Shape;447;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8" name="Google Shape;448;p61"/>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9" name="Google Shape;449;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0" name="Shape 450"/>
        <p:cNvGrpSpPr/>
        <p:nvPr/>
      </p:nvGrpSpPr>
      <p:grpSpPr>
        <a:xfrm>
          <a:off x="0" y="0"/>
          <a:ext cx="0" cy="0"/>
          <a:chOff x="0" y="0"/>
          <a:chExt cx="0" cy="0"/>
        </a:xfrm>
      </p:grpSpPr>
      <p:pic>
        <p:nvPicPr>
          <p:cNvPr descr="Divider1.png" id="451" name="Google Shape;451;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2" name="Google Shape;452;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3" name="Google Shape;453;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4" name="Shape 454"/>
        <p:cNvGrpSpPr/>
        <p:nvPr/>
      </p:nvGrpSpPr>
      <p:grpSpPr>
        <a:xfrm>
          <a:off x="0" y="0"/>
          <a:ext cx="0" cy="0"/>
          <a:chOff x="0" y="0"/>
          <a:chExt cx="0" cy="0"/>
        </a:xfrm>
      </p:grpSpPr>
      <p:pic>
        <p:nvPicPr>
          <p:cNvPr id="455" name="Google Shape;455;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6" name="Google Shape;456;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7" name="Google Shape;457;p63"/>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3"/>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9" name="Shape 459"/>
        <p:cNvGrpSpPr/>
        <p:nvPr/>
      </p:nvGrpSpPr>
      <p:grpSpPr>
        <a:xfrm>
          <a:off x="0" y="0"/>
          <a:ext cx="0" cy="0"/>
          <a:chOff x="0" y="0"/>
          <a:chExt cx="0" cy="0"/>
        </a:xfrm>
      </p:grpSpPr>
      <p:pic>
        <p:nvPicPr>
          <p:cNvPr id="460" name="Google Shape;460;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1" name="Shape 461"/>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2" name="Shape 462"/>
        <p:cNvGrpSpPr/>
        <p:nvPr/>
      </p:nvGrpSpPr>
      <p:grpSpPr>
        <a:xfrm>
          <a:off x="0" y="0"/>
          <a:ext cx="0" cy="0"/>
          <a:chOff x="0" y="0"/>
          <a:chExt cx="0" cy="0"/>
        </a:xfrm>
      </p:grpSpPr>
      <p:grpSp>
        <p:nvGrpSpPr>
          <p:cNvPr id="463" name="Google Shape;463;p66"/>
          <p:cNvGrpSpPr/>
          <p:nvPr/>
        </p:nvGrpSpPr>
        <p:grpSpPr>
          <a:xfrm>
            <a:off x="6262100" y="-3850"/>
            <a:ext cx="2886900" cy="485125"/>
            <a:chOff x="6262100" y="-3850"/>
            <a:chExt cx="2886900" cy="485125"/>
          </a:xfrm>
        </p:grpSpPr>
        <p:pic>
          <p:nvPicPr>
            <p:cNvPr descr="1.png" id="464" name="Google Shape;464;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5" name="Google Shape;465;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6" name="Google Shape;466;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7" name="Google Shape;467;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8" name="Google Shape;468;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9" name="Google Shape;469;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1" name="Google Shape;471;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2" name="Google Shape;472;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3" name="Google Shape;473;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4" name="Google Shape;474;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5" name="Google Shape;475;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6" name="Google Shape;476;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77" name="Shape 477"/>
        <p:cNvGrpSpPr/>
        <p:nvPr/>
      </p:nvGrpSpPr>
      <p:grpSpPr>
        <a:xfrm>
          <a:off x="0" y="0"/>
          <a:ext cx="0" cy="0"/>
          <a:chOff x="0" y="0"/>
          <a:chExt cx="0" cy="0"/>
        </a:xfrm>
      </p:grpSpPr>
      <p:pic>
        <p:nvPicPr>
          <p:cNvPr id="478" name="Google Shape;478;p6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79" name="Google Shape;479;p6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80" name="Google Shape;480;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81" name="Google Shape;481;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2" name="Google Shape;482;p67"/>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83" name="Google Shape;483;p67"/>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7" name="Shape 487"/>
        <p:cNvGrpSpPr/>
        <p:nvPr/>
      </p:nvGrpSpPr>
      <p:grpSpPr>
        <a:xfrm>
          <a:off x="0" y="0"/>
          <a:ext cx="0" cy="0"/>
          <a:chOff x="0" y="0"/>
          <a:chExt cx="0" cy="0"/>
        </a:xfrm>
      </p:grpSpPr>
      <p:pic>
        <p:nvPicPr>
          <p:cNvPr id="488" name="Google Shape;488;p69"/>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9" name="Google Shape;489;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92" name="Google Shape;492;p70"/>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93" name="Google Shape;493;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70"/>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95" name="Shape 495"/>
        <p:cNvGrpSpPr/>
        <p:nvPr/>
      </p:nvGrpSpPr>
      <p:grpSpPr>
        <a:xfrm>
          <a:off x="0" y="0"/>
          <a:ext cx="0" cy="0"/>
          <a:chOff x="0" y="0"/>
          <a:chExt cx="0" cy="0"/>
        </a:xfrm>
      </p:grpSpPr>
      <p:pic>
        <p:nvPicPr>
          <p:cNvPr descr="Divider4.png" id="496" name="Google Shape;496;p71"/>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7" name="Google Shape;497;p71"/>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8" name="Google Shape;498;p71"/>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9" name="Google Shape;499;p71"/>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00" name="Google Shape;500;p71"/>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01" name="Google Shape;501;p71"/>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02" name="Shape 502"/>
        <p:cNvGrpSpPr/>
        <p:nvPr/>
      </p:nvGrpSpPr>
      <p:grpSpPr>
        <a:xfrm>
          <a:off x="0" y="0"/>
          <a:ext cx="0" cy="0"/>
          <a:chOff x="0" y="0"/>
          <a:chExt cx="0" cy="0"/>
        </a:xfrm>
      </p:grpSpPr>
      <p:grpSp>
        <p:nvGrpSpPr>
          <p:cNvPr id="503" name="Google Shape;503;p72"/>
          <p:cNvGrpSpPr/>
          <p:nvPr/>
        </p:nvGrpSpPr>
        <p:grpSpPr>
          <a:xfrm rot="5400000">
            <a:off x="5719749" y="1629787"/>
            <a:ext cx="4964577" cy="1883925"/>
            <a:chOff x="4152224" y="1218499"/>
            <a:chExt cx="4964577" cy="1883925"/>
          </a:xfrm>
        </p:grpSpPr>
        <p:pic>
          <p:nvPicPr>
            <p:cNvPr id="504" name="Google Shape;504;p72"/>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05" name="Google Shape;505;p72"/>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6" name="Google Shape;506;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7" name="Google Shape;507;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72"/>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509" name="Google Shape;509;p72"/>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10" name="Shape 510"/>
        <p:cNvGrpSpPr/>
        <p:nvPr/>
      </p:nvGrpSpPr>
      <p:grpSpPr>
        <a:xfrm>
          <a:off x="0" y="0"/>
          <a:ext cx="0" cy="0"/>
          <a:chOff x="0" y="0"/>
          <a:chExt cx="0" cy="0"/>
        </a:xfrm>
      </p:grpSpPr>
      <p:pic>
        <p:nvPicPr>
          <p:cNvPr id="511" name="Google Shape;511;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2" name="Google Shape;512;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13" name="Google Shape;513;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14" name="Google Shape;514;p7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15" name="Google Shape;515;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6" name="Google Shape;516;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7" name="Google Shape;517;p73"/>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8" name="Google Shape;518;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9" name="Shape 519"/>
        <p:cNvGrpSpPr/>
        <p:nvPr/>
      </p:nvGrpSpPr>
      <p:grpSpPr>
        <a:xfrm>
          <a:off x="0" y="0"/>
          <a:ext cx="0" cy="0"/>
          <a:chOff x="0" y="0"/>
          <a:chExt cx="0" cy="0"/>
        </a:xfrm>
      </p:grpSpPr>
      <p:pic>
        <p:nvPicPr>
          <p:cNvPr id="520" name="Google Shape;520;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1" name="Google Shape;521;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22" name="Google Shape;522;p74"/>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23" name="Google Shape;523;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24" name="Google Shape;524;p7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6" name="Google Shape;526;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7" name="Shape 527"/>
        <p:cNvGrpSpPr/>
        <p:nvPr/>
      </p:nvGrpSpPr>
      <p:grpSpPr>
        <a:xfrm>
          <a:off x="0" y="0"/>
          <a:ext cx="0" cy="0"/>
          <a:chOff x="0" y="0"/>
          <a:chExt cx="0" cy="0"/>
        </a:xfrm>
      </p:grpSpPr>
      <p:pic>
        <p:nvPicPr>
          <p:cNvPr id="528" name="Google Shape;528;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9" name="Google Shape;529;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30" name="Google Shape;530;p75"/>
          <p:cNvGrpSpPr/>
          <p:nvPr/>
        </p:nvGrpSpPr>
        <p:grpSpPr>
          <a:xfrm>
            <a:off x="5709066" y="201260"/>
            <a:ext cx="2296623" cy="4424889"/>
            <a:chOff x="5598780" y="137712"/>
            <a:chExt cx="2577001" cy="4664652"/>
          </a:xfrm>
        </p:grpSpPr>
        <p:pic>
          <p:nvPicPr>
            <p:cNvPr id="531" name="Google Shape;531;p75"/>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32" name="Google Shape;532;p75"/>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4" name="Google Shape;534;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5" name="Google Shape;535;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75"/>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7" name="Shape 537"/>
        <p:cNvGrpSpPr/>
        <p:nvPr/>
      </p:nvGrpSpPr>
      <p:grpSpPr>
        <a:xfrm>
          <a:off x="0" y="0"/>
          <a:ext cx="0" cy="0"/>
          <a:chOff x="0" y="0"/>
          <a:chExt cx="0" cy="0"/>
        </a:xfrm>
      </p:grpSpPr>
      <p:pic>
        <p:nvPicPr>
          <p:cNvPr id="538" name="Google Shape;538;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9" name="Google Shape;539;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0" name="Google Shape;540;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1" name="Google Shape;541;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2" name="Google Shape;542;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76"/>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4" name="Google Shape;544;p76"/>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45" name="Shape 545"/>
        <p:cNvGrpSpPr/>
        <p:nvPr/>
      </p:nvGrpSpPr>
      <p:grpSpPr>
        <a:xfrm>
          <a:off x="0" y="0"/>
          <a:ext cx="0" cy="0"/>
          <a:chOff x="0" y="0"/>
          <a:chExt cx="0" cy="0"/>
        </a:xfrm>
      </p:grpSpPr>
      <p:pic>
        <p:nvPicPr>
          <p:cNvPr id="546" name="Google Shape;546;p77"/>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7" name="Google Shape;547;p77"/>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8" name="Google Shape;548;p77"/>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9" name="Google Shape;549;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0" name="Google Shape;550;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51" name="Google Shape;551;p77"/>
          <p:cNvGrpSpPr/>
          <p:nvPr/>
        </p:nvGrpSpPr>
        <p:grpSpPr>
          <a:xfrm>
            <a:off x="4344100" y="398125"/>
            <a:ext cx="4546500" cy="4222800"/>
            <a:chOff x="4344100" y="398125"/>
            <a:chExt cx="4546500" cy="4222800"/>
          </a:xfrm>
        </p:grpSpPr>
        <p:sp>
          <p:nvSpPr>
            <p:cNvPr id="552" name="Google Shape;552;p77"/>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 name="Google Shape;553;p77"/>
            <p:cNvGrpSpPr/>
            <p:nvPr/>
          </p:nvGrpSpPr>
          <p:grpSpPr>
            <a:xfrm>
              <a:off x="4445450" y="524200"/>
              <a:ext cx="399495" cy="101100"/>
              <a:chOff x="4445450" y="524200"/>
              <a:chExt cx="399495" cy="101100"/>
            </a:xfrm>
          </p:grpSpPr>
          <p:sp>
            <p:nvSpPr>
              <p:cNvPr id="554" name="Google Shape;554;p77"/>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7"/>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7"/>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77"/>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8" name="Shape 558"/>
        <p:cNvGrpSpPr/>
        <p:nvPr/>
      </p:nvGrpSpPr>
      <p:grpSpPr>
        <a:xfrm>
          <a:off x="0" y="0"/>
          <a:ext cx="0" cy="0"/>
          <a:chOff x="0" y="0"/>
          <a:chExt cx="0" cy="0"/>
        </a:xfrm>
      </p:grpSpPr>
      <p:pic>
        <p:nvPicPr>
          <p:cNvPr id="559" name="Google Shape;559;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60" name="Google Shape;560;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1" name="Google Shape;561;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2" name="Google Shape;562;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3" name="Google Shape;563;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64" name="Shape 564"/>
        <p:cNvGrpSpPr/>
        <p:nvPr/>
      </p:nvGrpSpPr>
      <p:grpSpPr>
        <a:xfrm>
          <a:off x="0" y="0"/>
          <a:ext cx="0" cy="0"/>
          <a:chOff x="0" y="0"/>
          <a:chExt cx="0" cy="0"/>
        </a:xfrm>
      </p:grpSpPr>
      <p:pic>
        <p:nvPicPr>
          <p:cNvPr id="565" name="Google Shape;565;p79"/>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66" name="Google Shape;566;p79"/>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9"/>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8" name="Google Shape;568;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9" name="Google Shape;569;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0" name="Google Shape;570;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1" name="Google Shape;571;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72" name="Google Shape;572;p79"/>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73" name="Shape 573"/>
        <p:cNvGrpSpPr/>
        <p:nvPr/>
      </p:nvGrpSpPr>
      <p:grpSpPr>
        <a:xfrm>
          <a:off x="0" y="0"/>
          <a:ext cx="0" cy="0"/>
          <a:chOff x="0" y="0"/>
          <a:chExt cx="0" cy="0"/>
        </a:xfrm>
      </p:grpSpPr>
      <p:pic>
        <p:nvPicPr>
          <p:cNvPr id="574" name="Google Shape;574;p80"/>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75" name="Google Shape;575;p80"/>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76" name="Google Shape;576;p80"/>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77" name="Google Shape;577;p8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8" name="Google Shape;578;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8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80" name="Google Shape;580;p8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81" name="Google Shape;581;p8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82" name="Google Shape;582;p80"/>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83" name="Shape 583"/>
        <p:cNvGrpSpPr/>
        <p:nvPr/>
      </p:nvGrpSpPr>
      <p:grpSpPr>
        <a:xfrm>
          <a:off x="0" y="0"/>
          <a:ext cx="0" cy="0"/>
          <a:chOff x="0" y="0"/>
          <a:chExt cx="0" cy="0"/>
        </a:xfrm>
      </p:grpSpPr>
      <p:pic>
        <p:nvPicPr>
          <p:cNvPr id="584" name="Google Shape;584;p8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85" name="Google Shape;585;p81"/>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86" name="Google Shape;586;p8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7" name="Google Shape;587;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9" name="Google Shape;589;p81"/>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90" name="Google Shape;590;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91" name="Google Shape;591;p8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592" name="Shape 592"/>
        <p:cNvGrpSpPr/>
        <p:nvPr/>
      </p:nvGrpSpPr>
      <p:grpSpPr>
        <a:xfrm>
          <a:off x="0" y="0"/>
          <a:ext cx="0" cy="0"/>
          <a:chOff x="0" y="0"/>
          <a:chExt cx="0" cy="0"/>
        </a:xfrm>
      </p:grpSpPr>
      <p:pic>
        <p:nvPicPr>
          <p:cNvPr id="593" name="Google Shape;593;p82"/>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594" name="Google Shape;594;p8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95" name="Google Shape;595;p8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96" name="Google Shape;596;p8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7" name="Google Shape;597;p8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8" name="Google Shape;598;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00" name="Google Shape;600;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1" name="Google Shape;601;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02" name="Shape 602"/>
        <p:cNvGrpSpPr/>
        <p:nvPr/>
      </p:nvGrpSpPr>
      <p:grpSpPr>
        <a:xfrm>
          <a:off x="0" y="0"/>
          <a:ext cx="0" cy="0"/>
          <a:chOff x="0" y="0"/>
          <a:chExt cx="0" cy="0"/>
        </a:xfrm>
      </p:grpSpPr>
      <p:pic>
        <p:nvPicPr>
          <p:cNvPr id="603" name="Google Shape;603;p8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04" name="Google Shape;604;p83"/>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05" name="Google Shape;605;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6" name="Google Shape;606;p8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7" name="Google Shape;607;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8" name="Google Shape;608;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10" name="Google Shape;610;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1" name="Google Shape;611;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12" name="Shape 612"/>
        <p:cNvGrpSpPr/>
        <p:nvPr/>
      </p:nvGrpSpPr>
      <p:grpSpPr>
        <a:xfrm>
          <a:off x="0" y="0"/>
          <a:ext cx="0" cy="0"/>
          <a:chOff x="0" y="0"/>
          <a:chExt cx="0" cy="0"/>
        </a:xfrm>
      </p:grpSpPr>
      <p:pic>
        <p:nvPicPr>
          <p:cNvPr id="613" name="Google Shape;613;p84"/>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14" name="Google Shape;614;p8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15" name="Google Shape;615;p8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16" name="Google Shape;616;p84"/>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7" name="Google Shape;617;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8" name="Google Shape;618;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20" name="Google Shape;620;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1" name="Google Shape;621;p84"/>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22" name="Shape 622"/>
        <p:cNvGrpSpPr/>
        <p:nvPr/>
      </p:nvGrpSpPr>
      <p:grpSpPr>
        <a:xfrm>
          <a:off x="0" y="0"/>
          <a:ext cx="0" cy="0"/>
          <a:chOff x="0" y="0"/>
          <a:chExt cx="0" cy="0"/>
        </a:xfrm>
      </p:grpSpPr>
      <p:pic>
        <p:nvPicPr>
          <p:cNvPr id="623" name="Google Shape;623;p85"/>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24" name="Google Shape;624;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5" name="Google Shape;625;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6" name="Google Shape;626;p85"/>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7" name="Google Shape;627;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8" name="Google Shape;628;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8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30" name="Google Shape;630;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1" name="Google Shape;631;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32" name="Shape 632"/>
        <p:cNvGrpSpPr/>
        <p:nvPr/>
      </p:nvGrpSpPr>
      <p:grpSpPr>
        <a:xfrm>
          <a:off x="0" y="0"/>
          <a:ext cx="0" cy="0"/>
          <a:chOff x="0" y="0"/>
          <a:chExt cx="0" cy="0"/>
        </a:xfrm>
      </p:grpSpPr>
      <p:pic>
        <p:nvPicPr>
          <p:cNvPr id="633" name="Google Shape;633;p86"/>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34" name="Google Shape;634;p86"/>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35" name="Google Shape;635;p86"/>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6" name="Google Shape;636;p8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7" name="Google Shape;637;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8" name="Google Shape;638;p86"/>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6"/>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40" name="Google Shape;640;p86"/>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1" name="Google Shape;641;p86"/>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42" name="Google Shape;642;p86"/>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43" name="Shape 643"/>
        <p:cNvGrpSpPr/>
        <p:nvPr/>
      </p:nvGrpSpPr>
      <p:grpSpPr>
        <a:xfrm>
          <a:off x="0" y="0"/>
          <a:ext cx="0" cy="0"/>
          <a:chOff x="0" y="0"/>
          <a:chExt cx="0" cy="0"/>
        </a:xfrm>
      </p:grpSpPr>
      <p:pic>
        <p:nvPicPr>
          <p:cNvPr id="644" name="Google Shape;644;p87"/>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45" name="Google Shape;645;p87"/>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46" name="Google Shape;646;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7" name="Google Shape;647;p87"/>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8" name="Google Shape;648;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9" name="Google Shape;649;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0" name="Google Shape;650;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51" name="Google Shape;651;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2" name="Google Shape;652;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653" name="Shape 653"/>
        <p:cNvGrpSpPr/>
        <p:nvPr/>
      </p:nvGrpSpPr>
      <p:grpSpPr>
        <a:xfrm>
          <a:off x="0" y="0"/>
          <a:ext cx="0" cy="0"/>
          <a:chOff x="0" y="0"/>
          <a:chExt cx="0" cy="0"/>
        </a:xfrm>
      </p:grpSpPr>
      <p:pic>
        <p:nvPicPr>
          <p:cNvPr id="654" name="Google Shape;654;p8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55" name="Google Shape;655;p8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56" name="Google Shape;656;p8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57" name="Google Shape;657;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8" name="Google Shape;658;p88"/>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659" name="Google Shape;659;p88"/>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60" name="Shape 660"/>
        <p:cNvGrpSpPr/>
        <p:nvPr/>
      </p:nvGrpSpPr>
      <p:grpSpPr>
        <a:xfrm>
          <a:off x="0" y="0"/>
          <a:ext cx="0" cy="0"/>
          <a:chOff x="0" y="0"/>
          <a:chExt cx="0" cy="0"/>
        </a:xfrm>
      </p:grpSpPr>
      <p:pic>
        <p:nvPicPr>
          <p:cNvPr id="661" name="Google Shape;661;p8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62" name="Google Shape;662;p8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63" name="Google Shape;663;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64" name="Google Shape;664;p8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5" name="Google Shape;665;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6" name="Google Shape;666;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7" name="Google Shape;667;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68" name="Google Shape;668;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9" name="Google Shape;669;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70" name="Shape 670"/>
        <p:cNvGrpSpPr/>
        <p:nvPr/>
      </p:nvGrpSpPr>
      <p:grpSpPr>
        <a:xfrm>
          <a:off x="0" y="0"/>
          <a:ext cx="0" cy="0"/>
          <a:chOff x="0" y="0"/>
          <a:chExt cx="0" cy="0"/>
        </a:xfrm>
      </p:grpSpPr>
      <p:pic>
        <p:nvPicPr>
          <p:cNvPr id="671" name="Google Shape;671;p9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72" name="Google Shape;672;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3" name="Google Shape;673;p9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74" name="Google Shape;674;p9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75" name="Google Shape;675;p90"/>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76" name="Google Shape;676;p9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77" name="Shape 677"/>
        <p:cNvGrpSpPr/>
        <p:nvPr/>
      </p:nvGrpSpPr>
      <p:grpSpPr>
        <a:xfrm>
          <a:off x="0" y="0"/>
          <a:ext cx="0" cy="0"/>
          <a:chOff x="0" y="0"/>
          <a:chExt cx="0" cy="0"/>
        </a:xfrm>
      </p:grpSpPr>
      <p:pic>
        <p:nvPicPr>
          <p:cNvPr descr="Divider1.png" id="678" name="Google Shape;678;p9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79" name="Google Shape;679;p9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0" name="Google Shape;680;p9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81" name="Shape 681"/>
        <p:cNvGrpSpPr/>
        <p:nvPr/>
      </p:nvGrpSpPr>
      <p:grpSpPr>
        <a:xfrm>
          <a:off x="0" y="0"/>
          <a:ext cx="0" cy="0"/>
          <a:chOff x="0" y="0"/>
          <a:chExt cx="0" cy="0"/>
        </a:xfrm>
      </p:grpSpPr>
      <p:pic>
        <p:nvPicPr>
          <p:cNvPr id="682" name="Google Shape;682;p9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83" name="Google Shape;683;p9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84" name="Google Shape;684;p9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9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86" name="Shape 686"/>
        <p:cNvGrpSpPr/>
        <p:nvPr/>
      </p:nvGrpSpPr>
      <p:grpSpPr>
        <a:xfrm>
          <a:off x="0" y="0"/>
          <a:ext cx="0" cy="0"/>
          <a:chOff x="0" y="0"/>
          <a:chExt cx="0" cy="0"/>
        </a:xfrm>
      </p:grpSpPr>
      <p:pic>
        <p:nvPicPr>
          <p:cNvPr id="687" name="Google Shape;687;p9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8" name="Shape 688"/>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89" name="Shape 689"/>
        <p:cNvGrpSpPr/>
        <p:nvPr/>
      </p:nvGrpSpPr>
      <p:grpSpPr>
        <a:xfrm>
          <a:off x="0" y="0"/>
          <a:ext cx="0" cy="0"/>
          <a:chOff x="0" y="0"/>
          <a:chExt cx="0" cy="0"/>
        </a:xfrm>
      </p:grpSpPr>
      <p:grpSp>
        <p:nvGrpSpPr>
          <p:cNvPr id="690" name="Google Shape;690;p95"/>
          <p:cNvGrpSpPr/>
          <p:nvPr/>
        </p:nvGrpSpPr>
        <p:grpSpPr>
          <a:xfrm>
            <a:off x="6262100" y="-3850"/>
            <a:ext cx="2886900" cy="485125"/>
            <a:chOff x="6262100" y="-3850"/>
            <a:chExt cx="2886900" cy="485125"/>
          </a:xfrm>
        </p:grpSpPr>
        <p:pic>
          <p:nvPicPr>
            <p:cNvPr descr="1.png" id="691" name="Google Shape;691;p9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92" name="Google Shape;692;p9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93" name="Google Shape;693;p9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94" name="Google Shape;694;p9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95" name="Google Shape;695;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96" name="Google Shape;696;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7" name="Google Shape;697;p9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98" name="Google Shape;698;p9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699" name="Google Shape;699;p9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00" name="Google Shape;700;p9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01" name="Google Shape;701;p9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02" name="Google Shape;702;p9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03" name="Google Shape;703;p9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8" Type="http://schemas.openxmlformats.org/officeDocument/2006/relationships/theme" Target="../theme/theme2.xml"/><Relationship Id="rId27" Type="http://schemas.openxmlformats.org/officeDocument/2006/relationships/slideLayout" Target="../slideLayouts/slideLayout6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4.xml"/><Relationship Id="rId22" Type="http://schemas.openxmlformats.org/officeDocument/2006/relationships/slideLayout" Target="../slideLayouts/slideLayout86.xml"/><Relationship Id="rId21" Type="http://schemas.openxmlformats.org/officeDocument/2006/relationships/slideLayout" Target="../slideLayouts/slideLayout85.xml"/><Relationship Id="rId24" Type="http://schemas.openxmlformats.org/officeDocument/2006/relationships/slideLayout" Target="../slideLayouts/slideLayout88.xml"/><Relationship Id="rId23" Type="http://schemas.openxmlformats.org/officeDocument/2006/relationships/slideLayout" Target="../slideLayouts/slideLayout87.xml"/><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9" Type="http://schemas.openxmlformats.org/officeDocument/2006/relationships/slideLayout" Target="../slideLayouts/slideLayout73.xml"/><Relationship Id="rId26" Type="http://schemas.openxmlformats.org/officeDocument/2006/relationships/slideLayout" Target="../slideLayouts/slideLayout90.xml"/><Relationship Id="rId25" Type="http://schemas.openxmlformats.org/officeDocument/2006/relationships/slideLayout" Target="../slideLayouts/slideLayout89.xml"/><Relationship Id="rId28" Type="http://schemas.openxmlformats.org/officeDocument/2006/relationships/theme" Target="../theme/theme3.xml"/><Relationship Id="rId27" Type="http://schemas.openxmlformats.org/officeDocument/2006/relationships/slideLayout" Target="../slideLayouts/slideLayout91.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11" Type="http://schemas.openxmlformats.org/officeDocument/2006/relationships/slideLayout" Target="../slideLayouts/slideLayout75.xml"/><Relationship Id="rId10" Type="http://schemas.openxmlformats.org/officeDocument/2006/relationships/slideLayout" Target="../slideLayouts/slideLayout74.xml"/><Relationship Id="rId13" Type="http://schemas.openxmlformats.org/officeDocument/2006/relationships/slideLayout" Target="../slideLayouts/slideLayout77.xml"/><Relationship Id="rId12" Type="http://schemas.openxmlformats.org/officeDocument/2006/relationships/slideLayout" Target="../slideLayouts/slideLayout76.xml"/><Relationship Id="rId15" Type="http://schemas.openxmlformats.org/officeDocument/2006/relationships/slideLayout" Target="../slideLayouts/slideLayout79.xml"/><Relationship Id="rId14" Type="http://schemas.openxmlformats.org/officeDocument/2006/relationships/slideLayout" Target="../slideLayouts/slideLayout78.xml"/><Relationship Id="rId17" Type="http://schemas.openxmlformats.org/officeDocument/2006/relationships/slideLayout" Target="../slideLayouts/slideLayout81.xml"/><Relationship Id="rId16" Type="http://schemas.openxmlformats.org/officeDocument/2006/relationships/slideLayout" Target="../slideLayouts/slideLayout80.xml"/><Relationship Id="rId19" Type="http://schemas.openxmlformats.org/officeDocument/2006/relationships/slideLayout" Target="../slideLayouts/slideLayout83.xml"/><Relationship Id="rId18"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6" name="Google Shape;26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86" name="Google Shape;48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138.png"/><Relationship Id="rId4" Type="http://schemas.openxmlformats.org/officeDocument/2006/relationships/image" Target="../media/image1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image" Target="../media/image1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hyperlink" Target="https://docs.google.com/forms/d/e/1FAIpQLSfCtykxSrH1HZ9fd4kmcyTlaFCK1KI8g2X6IPhEzQbg_8oKtA/viewform?usp=head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4.xml"/><Relationship Id="rId3" Type="http://schemas.openxmlformats.org/officeDocument/2006/relationships/hyperlink" Target="https://leetcode.com/problems/merge-two-sorted-lists/descrip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13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2.xml"/><Relationship Id="rId3" Type="http://schemas.openxmlformats.org/officeDocument/2006/relationships/image" Target="../media/image140.png"/><Relationship Id="rId4" Type="http://schemas.openxmlformats.org/officeDocument/2006/relationships/hyperlink" Target="http://www.youtube.com/watch?v=BTZMUDKSpSs" TargetMode="External"/><Relationship Id="rId5" Type="http://schemas.openxmlformats.org/officeDocument/2006/relationships/image" Target="../media/image1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3.xml"/><Relationship Id="rId3" Type="http://schemas.openxmlformats.org/officeDocument/2006/relationships/image" Target="../media/image1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4.xml"/><Relationship Id="rId3" Type="http://schemas.openxmlformats.org/officeDocument/2006/relationships/image" Target="../media/image1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5.xml"/><Relationship Id="rId3" Type="http://schemas.openxmlformats.org/officeDocument/2006/relationships/image" Target="../media/image1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6.xml"/><Relationship Id="rId3" Type="http://schemas.openxmlformats.org/officeDocument/2006/relationships/image" Target="../media/image1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6"/>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Mock Interview</a:t>
            </a:r>
            <a:endParaRPr sz="3600"/>
          </a:p>
        </p:txBody>
      </p:sp>
      <p:sp>
        <p:nvSpPr>
          <p:cNvPr id="709" name="Google Shape;709;p96"/>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9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5" name="Google Shape;715;p97"/>
          <p:cNvGraphicFramePr/>
          <p:nvPr/>
        </p:nvGraphicFramePr>
        <p:xfrm>
          <a:off x="451525" y="1242597"/>
          <a:ext cx="3000000" cy="3000000"/>
        </p:xfrm>
        <a:graphic>
          <a:graphicData uri="http://schemas.openxmlformats.org/drawingml/2006/table">
            <a:tbl>
              <a:tblPr>
                <a:noFill/>
                <a:tableStyleId>{A7E94E88-3F21-428C-B761-5B0C8D19183A}</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Mock Interview</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8"/>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21" name="Google Shape;721;p98"/>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7" name="Google Shape;727;p99"/>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28" name="Google Shape;728;p99"/>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29" name="Google Shape;729;p99"/>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30" name="Google Shape;730;p99"/>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736" name="Google Shape;736;p1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7" name="Google Shape;737;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t>
            </a:r>
            <a:r>
              <a:rPr b="1" lang="en"/>
              <a:t>Question:</a:t>
            </a:r>
            <a:endParaRPr b="1"/>
          </a:p>
          <a:p>
            <a:pPr indent="0" lvl="0" marL="0" rtl="0" algn="l">
              <a:spcBef>
                <a:spcPts val="1000"/>
              </a:spcBef>
              <a:spcAft>
                <a:spcPts val="0"/>
              </a:spcAft>
              <a:buNone/>
            </a:pPr>
            <a:r>
              <a:rPr lang="en"/>
              <a:t>We should always prioritize our health, but sometimes we still get sick! What are your go-to meals or snacks for when you aren’t feeling well?</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Many TF shoutouts for helping breakout rooms go smoothly!</a:t>
            </a:r>
            <a:endParaRPr/>
          </a:p>
          <a:p>
            <a:pPr indent="-342900" lvl="0" marL="457200" rtl="0" algn="l">
              <a:spcBef>
                <a:spcPts val="0"/>
              </a:spcBef>
              <a:spcAft>
                <a:spcPts val="0"/>
              </a:spcAft>
              <a:buSzPts val="1800"/>
              <a:buChar char="+"/>
            </a:pPr>
            <a:r>
              <a:rPr lang="en"/>
              <a:t>Students commenting that linked lists feel more manageable.</a:t>
            </a:r>
            <a:endParaRPr/>
          </a:p>
        </p:txBody>
      </p:sp>
      <p:sp>
        <p:nvSpPr>
          <p:cNvPr id="743" name="Google Shape;743;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4" name="Google Shape;744;p10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Students want more visual components for certain topics.</a:t>
            </a:r>
            <a:endParaRPr sz="1700"/>
          </a:p>
          <a:p>
            <a:pPr indent="0" lvl="0" marL="0" rtl="0" algn="l">
              <a:spcBef>
                <a:spcPts val="1600"/>
              </a:spcBef>
              <a:spcAft>
                <a:spcPts val="1600"/>
              </a:spcAft>
              <a:buNone/>
            </a:pPr>
            <a:r>
              <a:rPr lang="en" sz="1700"/>
              <a:t>- Higher amount of technical issues.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02"/>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Volunteer Signup (x1)</a:t>
            </a:r>
            <a:endParaRPr/>
          </a:p>
        </p:txBody>
      </p:sp>
      <p:sp>
        <p:nvSpPr>
          <p:cNvPr id="750" name="Google Shape;750;p10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Our first </a:t>
            </a:r>
            <a:r>
              <a:rPr b="1" lang="en"/>
              <a:t>🔥Fireside Chat</a:t>
            </a:r>
            <a:r>
              <a:rPr lang="en"/>
              <a:t> today! The topic is: </a:t>
            </a:r>
            <a:endParaRPr/>
          </a:p>
          <a:p>
            <a:pPr indent="-342900" lvl="1" marL="914400" rtl="0" algn="l">
              <a:spcBef>
                <a:spcPts val="0"/>
              </a:spcBef>
              <a:spcAft>
                <a:spcPts val="0"/>
              </a:spcAft>
              <a:buSzPts val="1800"/>
              <a:buChar char="●"/>
            </a:pPr>
            <a:r>
              <a:rPr lang="en"/>
              <a:t>“How to use Leadership Principles during the interview”</a:t>
            </a:r>
            <a:endParaRPr/>
          </a:p>
          <a:p>
            <a:pPr indent="0" lvl="0" marL="914400" rtl="0" algn="l">
              <a:spcBef>
                <a:spcPts val="1000"/>
              </a:spcBef>
              <a:spcAft>
                <a:spcPts val="0"/>
              </a:spcAft>
              <a:buNone/>
            </a:pPr>
            <a:r>
              <a:t/>
            </a:r>
            <a:endParaRPr/>
          </a:p>
          <a:p>
            <a:pPr indent="-342900" lvl="0" marL="457200" rtl="0" algn="l">
              <a:spcBef>
                <a:spcPts val="1000"/>
              </a:spcBef>
              <a:spcAft>
                <a:spcPts val="0"/>
              </a:spcAft>
              <a:buSzPts val="1800"/>
              <a:buChar char="✱"/>
            </a:pPr>
            <a:r>
              <a:rPr b="1" lang="en"/>
              <a:t>Live Mock Interview</a:t>
            </a:r>
            <a:r>
              <a:rPr lang="en"/>
              <a:t> demonstration today👨🏾‍💼💼</a:t>
            </a:r>
            <a:endParaRPr/>
          </a:p>
          <a:p>
            <a:pPr indent="-342900" lvl="1" marL="914400" rtl="0" algn="l">
              <a:spcBef>
                <a:spcPts val="0"/>
              </a:spcBef>
              <a:spcAft>
                <a:spcPts val="0"/>
              </a:spcAft>
              <a:buSzPts val="1800"/>
              <a:buChar char="●"/>
            </a:pPr>
            <a:r>
              <a:rPr lang="en"/>
              <a:t>We will need </a:t>
            </a:r>
            <a:r>
              <a:rPr b="1" lang="en"/>
              <a:t>one</a:t>
            </a:r>
            <a:r>
              <a:rPr b="1" lang="en"/>
              <a:t> student volunteer</a:t>
            </a:r>
            <a:r>
              <a:rPr lang="en"/>
              <a:t> to work through 1 problem each (more info on the next slides!)</a:t>
            </a:r>
            <a:endParaRPr/>
          </a:p>
          <a:p>
            <a:pPr indent="-342900" lvl="1" marL="914400" rtl="0" algn="l">
              <a:spcBef>
                <a:spcPts val="0"/>
              </a:spcBef>
              <a:spcAft>
                <a:spcPts val="0"/>
              </a:spcAft>
              <a:buSzPts val="1800"/>
              <a:buChar char="●"/>
            </a:pPr>
            <a:r>
              <a:rPr lang="en"/>
              <a:t>Students must be camera ready and able to share their screen while solving the problem on VS Code.</a:t>
            </a:r>
            <a:endParaRPr/>
          </a:p>
          <a:p>
            <a:pPr indent="-342900" lvl="1" marL="914400" rtl="0" algn="l">
              <a:spcBef>
                <a:spcPts val="0"/>
              </a:spcBef>
              <a:spcAft>
                <a:spcPts val="0"/>
              </a:spcAft>
              <a:buSzPts val="1800"/>
              <a:buChar char="●"/>
            </a:pPr>
            <a:r>
              <a:rPr lang="en"/>
              <a:t>The emphasis will be practicing the </a:t>
            </a:r>
            <a:r>
              <a:rPr b="1" lang="en"/>
              <a:t>UMPIRE</a:t>
            </a:r>
            <a:r>
              <a:rPr lang="en"/>
              <a:t> strategy.</a:t>
            </a:r>
            <a:endParaRPr/>
          </a:p>
          <a:p>
            <a:pPr indent="-342900" lvl="1" marL="914400" rtl="0" algn="l">
              <a:spcBef>
                <a:spcPts val="0"/>
              </a:spcBef>
              <a:spcAft>
                <a:spcPts val="0"/>
              </a:spcAft>
              <a:buSzPts val="1800"/>
              <a:buChar char="●"/>
            </a:pPr>
            <a:r>
              <a:rPr lang="en"/>
              <a:t>Topic: </a:t>
            </a:r>
            <a:r>
              <a:rPr b="1" lang="en"/>
              <a:t> linked lists</a:t>
            </a:r>
            <a:r>
              <a:rPr lang="en"/>
              <a:t>. </a:t>
            </a:r>
            <a:endParaRPr/>
          </a:p>
        </p:txBody>
      </p:sp>
      <p:sp>
        <p:nvSpPr>
          <p:cNvPr id="751" name="Google Shape;751;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52" name="Google Shape;752;p102"/>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3"/>
          <p:cNvSpPr txBox="1"/>
          <p:nvPr>
            <p:ph type="title"/>
          </p:nvPr>
        </p:nvSpPr>
        <p:spPr>
          <a:xfrm>
            <a:off x="884825" y="2317200"/>
            <a:ext cx="3687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Mock Interview</a:t>
            </a:r>
            <a:endParaRPr/>
          </a:p>
        </p:txBody>
      </p:sp>
      <p:sp>
        <p:nvSpPr>
          <p:cNvPr id="758" name="Google Shape;758;p10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0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a:t>
            </a:r>
            <a:endParaRPr/>
          </a:p>
        </p:txBody>
      </p:sp>
      <p:sp>
        <p:nvSpPr>
          <p:cNvPr id="764" name="Google Shape;764;p10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 will be the interviewer.</a:t>
            </a:r>
            <a:endParaRPr/>
          </a:p>
          <a:p>
            <a:pPr indent="-342900" lvl="1" marL="914400" rtl="0" algn="l">
              <a:spcBef>
                <a:spcPts val="1000"/>
              </a:spcBef>
              <a:spcAft>
                <a:spcPts val="0"/>
              </a:spcAft>
              <a:buSzPts val="1800"/>
              <a:buChar char="●"/>
            </a:pPr>
            <a:r>
              <a:rPr lang="en"/>
              <a:t>As the interviewer, I will simulate a realistic technical interview by asking probing questions and providing minimal hints when necessary.</a:t>
            </a:r>
            <a:endParaRPr/>
          </a:p>
          <a:p>
            <a:pPr indent="-342900" lvl="0" marL="457200" rtl="0" algn="l">
              <a:spcBef>
                <a:spcPts val="1000"/>
              </a:spcBef>
              <a:spcAft>
                <a:spcPts val="0"/>
              </a:spcAft>
              <a:buSzPts val="1800"/>
              <a:buChar char="✱"/>
            </a:pPr>
            <a:r>
              <a:rPr lang="en"/>
              <a:t>A volunteer student will be the interviewee.</a:t>
            </a:r>
            <a:endParaRPr/>
          </a:p>
          <a:p>
            <a:pPr indent="-342900" lvl="1" marL="914400" rtl="0" algn="l">
              <a:spcBef>
                <a:spcPts val="1000"/>
              </a:spcBef>
              <a:spcAft>
                <a:spcPts val="0"/>
              </a:spcAft>
              <a:buSzPts val="1800"/>
              <a:buChar char="●"/>
            </a:pPr>
            <a:r>
              <a:rPr lang="en"/>
              <a:t>As the interviewee, you will think aloud while solving the problem, applying UMPIRE.</a:t>
            </a:r>
            <a:endParaRPr/>
          </a:p>
          <a:p>
            <a:pPr indent="-342900" lvl="0" marL="457200" rtl="0" algn="l">
              <a:spcBef>
                <a:spcPts val="1000"/>
              </a:spcBef>
              <a:spcAft>
                <a:spcPts val="1000"/>
              </a:spcAft>
              <a:buSzPts val="1800"/>
              <a:buChar char="✱"/>
            </a:pPr>
            <a:r>
              <a:rPr lang="en"/>
              <a:t>The rest of the class will </a:t>
            </a:r>
            <a:r>
              <a:rPr lang="en" u="sng">
                <a:solidFill>
                  <a:schemeClr val="hlink"/>
                </a:solidFill>
                <a:hlinkClick r:id="rId3"/>
              </a:rPr>
              <a:t>observe</a:t>
            </a:r>
            <a:r>
              <a:rPr lang="en"/>
              <a:t>.</a:t>
            </a:r>
            <a:endParaRPr/>
          </a:p>
        </p:txBody>
      </p:sp>
      <p:sp>
        <p:nvSpPr>
          <p:cNvPr id="765" name="Google Shape;765;p1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Mock Interview Process</a:t>
            </a:r>
            <a:endParaRPr/>
          </a:p>
        </p:txBody>
      </p:sp>
      <p:sp>
        <p:nvSpPr>
          <p:cNvPr id="771" name="Google Shape;771;p10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
              <a:t>Quick intro</a:t>
            </a:r>
            <a:r>
              <a:rPr lang="en"/>
              <a:t> (name, school, major)</a:t>
            </a:r>
            <a:endParaRPr/>
          </a:p>
          <a:p>
            <a:pPr indent="-342900" lvl="0" marL="457200" rtl="0" algn="l">
              <a:spcBef>
                <a:spcPts val="1000"/>
              </a:spcBef>
              <a:spcAft>
                <a:spcPts val="0"/>
              </a:spcAft>
              <a:buSzPts val="1800"/>
              <a:buAutoNum type="arabicPeriod"/>
            </a:pPr>
            <a:r>
              <a:rPr lang="en"/>
              <a:t>Interviewer </a:t>
            </a:r>
            <a:r>
              <a:rPr b="1" lang="en"/>
              <a:t>introduces the problem</a:t>
            </a:r>
            <a:endParaRPr b="1"/>
          </a:p>
          <a:p>
            <a:pPr indent="-342900" lvl="0" marL="457200" rtl="0" algn="l">
              <a:spcBef>
                <a:spcPts val="1000"/>
              </a:spcBef>
              <a:spcAft>
                <a:spcPts val="0"/>
              </a:spcAft>
              <a:buSzPts val="1800"/>
              <a:buAutoNum type="arabicPeriod"/>
            </a:pPr>
            <a:r>
              <a:rPr lang="en"/>
              <a:t>Candidate </a:t>
            </a:r>
            <a:r>
              <a:rPr b="1" lang="en"/>
              <a:t>opens link</a:t>
            </a:r>
            <a:r>
              <a:rPr lang="en"/>
              <a:t> to problem and </a:t>
            </a:r>
            <a:r>
              <a:rPr b="1" lang="en"/>
              <a:t>shares screen</a:t>
            </a:r>
            <a:endParaRPr b="1"/>
          </a:p>
          <a:p>
            <a:pPr indent="-342900" lvl="0" marL="457200" rtl="0" algn="l">
              <a:spcBef>
                <a:spcPts val="1000"/>
              </a:spcBef>
              <a:spcAft>
                <a:spcPts val="0"/>
              </a:spcAft>
              <a:buSzPts val="1800"/>
              <a:buAutoNum type="arabicPeriod"/>
            </a:pPr>
            <a:r>
              <a:rPr lang="en"/>
              <a:t>Candidate works through the </a:t>
            </a:r>
            <a:r>
              <a:rPr b="1" lang="en"/>
              <a:t>UPI steps</a:t>
            </a:r>
            <a:r>
              <a:rPr lang="en"/>
              <a:t> with interviewer</a:t>
            </a:r>
            <a:endParaRPr/>
          </a:p>
          <a:p>
            <a:pPr indent="-342900" lvl="1" marL="914400" rtl="0" algn="l">
              <a:spcBef>
                <a:spcPts val="1000"/>
              </a:spcBef>
              <a:spcAft>
                <a:spcPts val="0"/>
              </a:spcAft>
              <a:buSzPts val="1800"/>
              <a:buChar char="●"/>
            </a:pPr>
            <a:r>
              <a:rPr lang="en"/>
              <a:t>If you need to look something up, it's ok to Google it.</a:t>
            </a:r>
            <a:endParaRPr/>
          </a:p>
          <a:p>
            <a:pPr indent="-342900" lvl="1" marL="914400" rtl="0" algn="l">
              <a:spcBef>
                <a:spcPts val="1000"/>
              </a:spcBef>
              <a:spcAft>
                <a:spcPts val="0"/>
              </a:spcAft>
              <a:buSzPts val="1800"/>
              <a:buChar char="●"/>
            </a:pPr>
            <a:r>
              <a:rPr lang="en"/>
              <a:t>Say what you're thinking, what you're doing, and why.</a:t>
            </a:r>
            <a:endParaRPr/>
          </a:p>
          <a:p>
            <a:pPr indent="-342900" lvl="1" marL="914400" rtl="0" algn="l">
              <a:spcBef>
                <a:spcPts val="1000"/>
              </a:spcBef>
              <a:spcAft>
                <a:spcPts val="0"/>
              </a:spcAft>
              <a:buSzPts val="1800"/>
              <a:buChar char="●"/>
            </a:pPr>
            <a:r>
              <a:rPr lang="en"/>
              <a:t>Pay attention to feedback and hints from interviewer.</a:t>
            </a:r>
            <a:endParaRPr/>
          </a:p>
          <a:p>
            <a:pPr indent="-342900" lvl="0" marL="457200" rtl="0" algn="l">
              <a:spcBef>
                <a:spcPts val="1000"/>
              </a:spcBef>
              <a:spcAft>
                <a:spcPts val="1000"/>
              </a:spcAft>
              <a:buSzPts val="1800"/>
              <a:buAutoNum type="arabicPeriod"/>
            </a:pPr>
            <a:r>
              <a:rPr lang="en"/>
              <a:t>After: </a:t>
            </a:r>
            <a:r>
              <a:rPr b="1" lang="en"/>
              <a:t>Celebrate and recap</a:t>
            </a:r>
            <a:r>
              <a:rPr lang="en"/>
              <a:t> what went well!</a:t>
            </a:r>
            <a:endParaRPr/>
          </a:p>
        </p:txBody>
      </p:sp>
      <p:sp>
        <p:nvSpPr>
          <p:cNvPr id="772" name="Google Shape;772;p1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not the candidate. . .</a:t>
            </a:r>
            <a:endParaRPr/>
          </a:p>
        </p:txBody>
      </p:sp>
      <p:sp>
        <p:nvSpPr>
          <p:cNvPr id="778" name="Google Shape;778;p10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Hold all comments (on mic or in chat) until the end</a:t>
            </a:r>
            <a:endParaRPr/>
          </a:p>
          <a:p>
            <a:pPr indent="-342900" lvl="0" marL="457200" rtl="0" algn="l">
              <a:spcBef>
                <a:spcPts val="1000"/>
              </a:spcBef>
              <a:spcAft>
                <a:spcPts val="0"/>
              </a:spcAft>
              <a:buSzPts val="1800"/>
              <a:buChar char="✱"/>
            </a:pPr>
            <a:r>
              <a:rPr lang="en"/>
              <a:t>Imagine what you would do in the candidate's shoes</a:t>
            </a:r>
            <a:endParaRPr/>
          </a:p>
          <a:p>
            <a:pPr indent="-342900" lvl="0" marL="457200" rtl="0" algn="l">
              <a:spcBef>
                <a:spcPts val="1000"/>
              </a:spcBef>
              <a:spcAft>
                <a:spcPts val="0"/>
              </a:spcAft>
              <a:buSzPts val="1800"/>
              <a:buChar char="✱"/>
            </a:pPr>
            <a:r>
              <a:rPr lang="en"/>
              <a:t>Write down and be ready to share:</a:t>
            </a:r>
            <a:endParaRPr/>
          </a:p>
          <a:p>
            <a:pPr indent="-342900" lvl="1" marL="914400" rtl="0" algn="l">
              <a:spcBef>
                <a:spcPts val="1000"/>
              </a:spcBef>
              <a:spcAft>
                <a:spcPts val="0"/>
              </a:spcAft>
              <a:buSzPts val="1800"/>
              <a:buChar char="●"/>
            </a:pPr>
            <a:r>
              <a:rPr lang="en"/>
              <a:t>1 thing the candidate did that you will start doing too!</a:t>
            </a:r>
            <a:endParaRPr/>
          </a:p>
          <a:p>
            <a:pPr indent="-342900" lvl="1" marL="914400" rtl="0" algn="l">
              <a:spcBef>
                <a:spcPts val="1000"/>
              </a:spcBef>
              <a:spcAft>
                <a:spcPts val="1000"/>
              </a:spcAft>
              <a:buSzPts val="1800"/>
              <a:buChar char="●"/>
            </a:pPr>
            <a:r>
              <a:rPr lang="en"/>
              <a:t>1 thing you'll do differently now that you've seen this interview.</a:t>
            </a:r>
            <a:endParaRPr/>
          </a:p>
        </p:txBody>
      </p:sp>
      <p:sp>
        <p:nvSpPr>
          <p:cNvPr id="779" name="Google Shape;779;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Criteria</a:t>
            </a:r>
            <a:endParaRPr/>
          </a:p>
        </p:txBody>
      </p:sp>
      <p:sp>
        <p:nvSpPr>
          <p:cNvPr id="785" name="Google Shape;785;p1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Key Areas of Focus</a:t>
            </a:r>
            <a:endParaRPr b="1"/>
          </a:p>
          <a:p>
            <a:pPr indent="-342900" lvl="0" marL="457200" rtl="0" algn="l">
              <a:spcBef>
                <a:spcPts val="1000"/>
              </a:spcBef>
              <a:spcAft>
                <a:spcPts val="0"/>
              </a:spcAft>
              <a:buSzPts val="1800"/>
              <a:buChar char="✱"/>
            </a:pPr>
            <a:r>
              <a:rPr lang="en"/>
              <a:t>Clarity</a:t>
            </a:r>
            <a:endParaRPr/>
          </a:p>
          <a:p>
            <a:pPr indent="-342900" lvl="0" marL="457200" rtl="0" algn="l">
              <a:spcBef>
                <a:spcPts val="1000"/>
              </a:spcBef>
              <a:spcAft>
                <a:spcPts val="0"/>
              </a:spcAft>
              <a:buSzPts val="1800"/>
              <a:buChar char="✱"/>
            </a:pPr>
            <a:r>
              <a:rPr lang="en"/>
              <a:t>Problem-solving process</a:t>
            </a:r>
            <a:endParaRPr/>
          </a:p>
          <a:p>
            <a:pPr indent="-342900" lvl="0" marL="457200" rtl="0" algn="l">
              <a:spcBef>
                <a:spcPts val="1000"/>
              </a:spcBef>
              <a:spcAft>
                <a:spcPts val="0"/>
              </a:spcAft>
              <a:buSzPts val="1800"/>
              <a:buChar char="✱"/>
            </a:pPr>
            <a:r>
              <a:rPr lang="en"/>
              <a:t>Use of the UMPIRE framework</a:t>
            </a:r>
            <a:endParaRPr/>
          </a:p>
          <a:p>
            <a:pPr indent="0" lvl="0" marL="0" rtl="0" algn="l">
              <a:spcBef>
                <a:spcPts val="1000"/>
              </a:spcBef>
              <a:spcAft>
                <a:spcPts val="0"/>
              </a:spcAft>
              <a:buNone/>
            </a:pPr>
            <a:r>
              <a:rPr lang="en"/>
              <a:t>🎗️ </a:t>
            </a:r>
            <a:r>
              <a:rPr b="1" lang="en"/>
              <a:t>Reminders</a:t>
            </a:r>
            <a:endParaRPr b="1"/>
          </a:p>
          <a:p>
            <a:pPr indent="-342900" lvl="0" marL="457200" rtl="0" algn="l">
              <a:spcBef>
                <a:spcPts val="1000"/>
              </a:spcBef>
              <a:spcAft>
                <a:spcPts val="0"/>
              </a:spcAft>
              <a:buSzPts val="1800"/>
              <a:buChar char="✱"/>
            </a:pPr>
            <a:r>
              <a:rPr lang="en"/>
              <a:t>Prioritize readability and logical flow over rushing to a solution.</a:t>
            </a:r>
            <a:endParaRPr/>
          </a:p>
          <a:p>
            <a:pPr indent="-342900" lvl="0" marL="457200" rtl="0" algn="l">
              <a:spcBef>
                <a:spcPts val="1000"/>
              </a:spcBef>
              <a:spcAft>
                <a:spcPts val="1000"/>
              </a:spcAft>
              <a:buSzPts val="1800"/>
              <a:buChar char="✱"/>
            </a:pPr>
            <a:r>
              <a:rPr lang="en"/>
              <a:t>Communicate effectively throughout to simulate a real-world technical interview scenario.</a:t>
            </a:r>
            <a:endParaRPr/>
          </a:p>
        </p:txBody>
      </p:sp>
      <p:sp>
        <p:nvSpPr>
          <p:cNvPr id="786" name="Google Shape;786;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UMPIRE</a:t>
            </a:r>
            <a:endParaRPr/>
          </a:p>
        </p:txBody>
      </p:sp>
      <p:sp>
        <p:nvSpPr>
          <p:cNvPr id="792" name="Google Shape;792;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3" name="Google Shape;793;p108"/>
          <p:cNvSpPr/>
          <p:nvPr/>
        </p:nvSpPr>
        <p:spPr>
          <a:xfrm>
            <a:off x="57772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UNDERSTAND</a:t>
            </a:r>
            <a:endParaRPr b="1" sz="1800">
              <a:latin typeface="Poppins"/>
              <a:ea typeface="Poppins"/>
              <a:cs typeface="Poppins"/>
              <a:sym typeface="Poppins"/>
            </a:endParaRPr>
          </a:p>
        </p:txBody>
      </p:sp>
      <p:sp>
        <p:nvSpPr>
          <p:cNvPr id="794" name="Google Shape;794;p108"/>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795" name="Google Shape;795;p108"/>
          <p:cNvSpPr/>
          <p:nvPr/>
        </p:nvSpPr>
        <p:spPr>
          <a:xfrm>
            <a:off x="3406350"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PLAN</a:t>
            </a:r>
            <a:endParaRPr b="1" sz="1800">
              <a:latin typeface="Poppins"/>
              <a:ea typeface="Poppins"/>
              <a:cs typeface="Poppins"/>
              <a:sym typeface="Poppins"/>
            </a:endParaRPr>
          </a:p>
        </p:txBody>
      </p:sp>
      <p:sp>
        <p:nvSpPr>
          <p:cNvPr id="796" name="Google Shape;796;p108"/>
          <p:cNvSpPr/>
          <p:nvPr/>
        </p:nvSpPr>
        <p:spPr>
          <a:xfrm>
            <a:off x="3406350"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IMPLEMENT</a:t>
            </a:r>
            <a:endParaRPr b="1" sz="1800">
              <a:latin typeface="Poppins"/>
              <a:ea typeface="Poppins"/>
              <a:cs typeface="Poppins"/>
              <a:sym typeface="Poppins"/>
            </a:endParaRPr>
          </a:p>
        </p:txBody>
      </p:sp>
      <p:sp>
        <p:nvSpPr>
          <p:cNvPr id="797" name="Google Shape;797;p108"/>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798" name="Google Shape;798;p108"/>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799" name="Google Shape;799;p108"/>
          <p:cNvCxnSpPr>
            <a:stCxn id="793" idx="2"/>
            <a:endCxn id="794" idx="0"/>
          </p:cNvCxnSpPr>
          <p:nvPr/>
        </p:nvCxnSpPr>
        <p:spPr>
          <a:xfrm>
            <a:off x="1743375" y="2197800"/>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800" name="Google Shape;800;p108"/>
          <p:cNvCxnSpPr>
            <a:stCxn id="794" idx="3"/>
            <a:endCxn id="795" idx="1"/>
          </p:cNvCxnSpPr>
          <p:nvPr/>
        </p:nvCxnSpPr>
        <p:spPr>
          <a:xfrm>
            <a:off x="2909025" y="3263975"/>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801" name="Google Shape;801;p108"/>
          <p:cNvCxnSpPr>
            <a:stCxn id="795" idx="0"/>
            <a:endCxn id="796" idx="2"/>
          </p:cNvCxnSpPr>
          <p:nvPr/>
        </p:nvCxnSpPr>
        <p:spPr>
          <a:xfrm rot="10800000">
            <a:off x="4572000" y="2197775"/>
            <a:ext cx="0" cy="631800"/>
          </a:xfrm>
          <a:prstGeom prst="straightConnector1">
            <a:avLst/>
          </a:prstGeom>
          <a:noFill/>
          <a:ln cap="flat" cmpd="sng" w="19050">
            <a:solidFill>
              <a:schemeClr val="dk1"/>
            </a:solidFill>
            <a:prstDash val="solid"/>
            <a:round/>
            <a:headEnd len="med" w="med" type="none"/>
            <a:tailEnd len="med" w="med" type="triangle"/>
          </a:ln>
        </p:spPr>
      </p:cxnSp>
      <p:cxnSp>
        <p:nvCxnSpPr>
          <p:cNvPr id="802" name="Google Shape;802;p108"/>
          <p:cNvCxnSpPr>
            <a:stCxn id="796" idx="3"/>
            <a:endCxn id="797" idx="1"/>
          </p:cNvCxnSpPr>
          <p:nvPr/>
        </p:nvCxnSpPr>
        <p:spPr>
          <a:xfrm>
            <a:off x="5737650" y="1763400"/>
            <a:ext cx="497400" cy="0"/>
          </a:xfrm>
          <a:prstGeom prst="straightConnector1">
            <a:avLst/>
          </a:prstGeom>
          <a:noFill/>
          <a:ln cap="flat" cmpd="sng" w="19050">
            <a:solidFill>
              <a:schemeClr val="dk1"/>
            </a:solidFill>
            <a:prstDash val="solid"/>
            <a:round/>
            <a:headEnd len="med" w="med" type="none"/>
            <a:tailEnd len="med" w="med" type="triangle"/>
          </a:ln>
        </p:spPr>
      </p:cxnSp>
      <p:cxnSp>
        <p:nvCxnSpPr>
          <p:cNvPr id="803" name="Google Shape;803;p108"/>
          <p:cNvCxnSpPr>
            <a:stCxn id="797" idx="2"/>
            <a:endCxn id="798" idx="0"/>
          </p:cNvCxnSpPr>
          <p:nvPr/>
        </p:nvCxnSpPr>
        <p:spPr>
          <a:xfrm>
            <a:off x="7400625" y="2197800"/>
            <a:ext cx="0" cy="63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0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t>
            </a:r>
            <a:endParaRPr/>
          </a:p>
        </p:txBody>
      </p:sp>
      <p:sp>
        <p:nvSpPr>
          <p:cNvPr id="809" name="Google Shape;809;p10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 are given the heads of two sorted linked lists </a:t>
            </a:r>
            <a:r>
              <a:rPr b="1" lang="en">
                <a:latin typeface="Consolas"/>
                <a:ea typeface="Consolas"/>
                <a:cs typeface="Consolas"/>
                <a:sym typeface="Consolas"/>
              </a:rPr>
              <a:t>list1</a:t>
            </a:r>
            <a:r>
              <a:rPr lang="en"/>
              <a:t> and </a:t>
            </a:r>
            <a:r>
              <a:rPr b="1" lang="en">
                <a:latin typeface="Consolas"/>
                <a:ea typeface="Consolas"/>
                <a:cs typeface="Consolas"/>
                <a:sym typeface="Consolas"/>
              </a:rPr>
              <a:t>list2</a:t>
            </a:r>
            <a:r>
              <a:rPr lang="en"/>
              <a:t>.</a:t>
            </a:r>
            <a:endParaRPr/>
          </a:p>
          <a:p>
            <a:pPr indent="0" lvl="0" marL="0" rtl="0" algn="l">
              <a:spcBef>
                <a:spcPts val="1000"/>
              </a:spcBef>
              <a:spcAft>
                <a:spcPts val="0"/>
              </a:spcAft>
              <a:buClr>
                <a:schemeClr val="dk1"/>
              </a:buClr>
              <a:buSzPts val="1100"/>
              <a:buFont typeface="Arial"/>
              <a:buNone/>
            </a:pPr>
            <a:r>
              <a:rPr lang="en"/>
              <a:t>Merge the two lists into one </a:t>
            </a:r>
            <a:r>
              <a:rPr b="1" lang="en"/>
              <a:t>sorted</a:t>
            </a:r>
            <a:r>
              <a:rPr lang="en"/>
              <a:t> list. The list should be made by splicing together the nodes of the first two lists.</a:t>
            </a:r>
            <a:endParaRPr/>
          </a:p>
          <a:p>
            <a:pPr indent="0" lvl="0" marL="0" rtl="0" algn="l">
              <a:spcBef>
                <a:spcPts val="1000"/>
              </a:spcBef>
              <a:spcAft>
                <a:spcPts val="0"/>
              </a:spcAft>
              <a:buNone/>
            </a:pPr>
            <a:r>
              <a:rPr lang="en"/>
              <a:t>Return </a:t>
            </a:r>
            <a:r>
              <a:rPr i="1" lang="en"/>
              <a:t>the head of the merged linked list</a:t>
            </a:r>
            <a:r>
              <a:rPr lang="en"/>
              <a:t>.</a:t>
            </a:r>
            <a:endParaRPr/>
          </a:p>
          <a:p>
            <a:pPr indent="0" lvl="0" marL="0" rtl="0" algn="l">
              <a:spcBef>
                <a:spcPts val="1000"/>
              </a:spcBef>
              <a:spcAft>
                <a:spcPts val="0"/>
              </a:spcAft>
              <a:buNone/>
            </a:pPr>
            <a:r>
              <a:t/>
            </a:r>
            <a:endParaRPr/>
          </a:p>
          <a:p>
            <a:pPr indent="0" lvl="0" marL="0" rtl="0" algn="ctr">
              <a:spcBef>
                <a:spcPts val="1000"/>
              </a:spcBef>
              <a:spcAft>
                <a:spcPts val="0"/>
              </a:spcAft>
              <a:buClr>
                <a:schemeClr val="dk1"/>
              </a:buClr>
              <a:buSzPts val="1100"/>
              <a:buFont typeface="Arial"/>
              <a:buNone/>
            </a:pPr>
            <a:r>
              <a:rPr b="1" lang="en" u="sng">
                <a:solidFill>
                  <a:schemeClr val="hlink"/>
                </a:solidFill>
                <a:hlinkClick r:id="rId3"/>
              </a:rPr>
              <a:t>Full problem description</a:t>
            </a:r>
            <a:endParaRPr b="1"/>
          </a:p>
          <a:p>
            <a:pPr indent="0" lvl="0" marL="0" rtl="0" algn="l">
              <a:spcBef>
                <a:spcPts val="1000"/>
              </a:spcBef>
              <a:spcAft>
                <a:spcPts val="1000"/>
              </a:spcAft>
              <a:buNone/>
            </a:pPr>
            <a:r>
              <a:t/>
            </a:r>
            <a:endParaRPr/>
          </a:p>
        </p:txBody>
      </p:sp>
      <p:sp>
        <p:nvSpPr>
          <p:cNvPr id="810" name="Google Shape;810;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4" name="Shape 814"/>
        <p:cNvGrpSpPr/>
        <p:nvPr/>
      </p:nvGrpSpPr>
      <p:grpSpPr>
        <a:xfrm>
          <a:off x="0" y="0"/>
          <a:ext cx="0" cy="0"/>
          <a:chOff x="0" y="0"/>
          <a:chExt cx="0" cy="0"/>
        </a:xfrm>
      </p:grpSpPr>
      <p:sp>
        <p:nvSpPr>
          <p:cNvPr id="815" name="Google Shape;815;p11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Add’l problem for practice</a:t>
            </a:r>
            <a:endParaRPr/>
          </a:p>
        </p:txBody>
      </p:sp>
      <p:sp>
        <p:nvSpPr>
          <p:cNvPr id="816" name="Google Shape;816;p11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Given a string </a:t>
            </a:r>
            <a:r>
              <a:rPr b="1" lang="en">
                <a:latin typeface="Consolas"/>
                <a:ea typeface="Consolas"/>
                <a:cs typeface="Consolas"/>
                <a:sym typeface="Consolas"/>
              </a:rPr>
              <a:t>s</a:t>
            </a:r>
            <a:r>
              <a:rPr lang="en"/>
              <a:t>, find the first non-repeating character in it and return its index. If it does not exist, return </a:t>
            </a:r>
            <a:r>
              <a:rPr b="1" lang="en">
                <a:latin typeface="Consolas"/>
                <a:ea typeface="Consolas"/>
                <a:cs typeface="Consolas"/>
                <a:sym typeface="Consolas"/>
              </a:rPr>
              <a:t>-1</a:t>
            </a:r>
            <a:r>
              <a:rPr lang="en"/>
              <a:t>.</a:t>
            </a:r>
            <a:endParaRPr/>
          </a:p>
          <a:p>
            <a:pPr indent="0" lvl="0" marL="0" rtl="0" algn="l">
              <a:spcBef>
                <a:spcPts val="1000"/>
              </a:spcBef>
              <a:spcAft>
                <a:spcPts val="0"/>
              </a:spcAft>
              <a:buClr>
                <a:schemeClr val="dk1"/>
              </a:buClr>
              <a:buSzPts val="1100"/>
              <a:buFont typeface="Arial"/>
              <a:buNone/>
            </a:pPr>
            <a:r>
              <a:rPr b="1" lang="en"/>
              <a:t>Examples:</a:t>
            </a:r>
            <a:endParaRPr b="1"/>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s = "leetcode"</a:t>
            </a:r>
            <a:br>
              <a:rPr lang="en"/>
            </a:br>
            <a:r>
              <a:rPr b="1" lang="en"/>
              <a:t>Output:</a:t>
            </a:r>
            <a:r>
              <a:rPr lang="en"/>
              <a:t> </a:t>
            </a:r>
            <a:r>
              <a:rPr lang="en">
                <a:latin typeface="Consolas"/>
                <a:ea typeface="Consolas"/>
                <a:cs typeface="Consolas"/>
                <a:sym typeface="Consolas"/>
              </a:rPr>
              <a:t>0</a:t>
            </a:r>
            <a:endParaRPr>
              <a:latin typeface="Consolas"/>
              <a:ea typeface="Consolas"/>
              <a:cs typeface="Consolas"/>
              <a:sym typeface="Consolas"/>
            </a:endParaRPr>
          </a:p>
          <a:p>
            <a:pPr indent="-342900" lvl="0" marL="457200" rtl="0" algn="l">
              <a:lnSpc>
                <a:spcPct val="100000"/>
              </a:lnSpc>
              <a:spcBef>
                <a:spcPts val="1000"/>
              </a:spcBef>
              <a:spcAft>
                <a:spcPts val="0"/>
              </a:spcAft>
              <a:buSzPts val="1800"/>
              <a:buChar char="✱"/>
            </a:pPr>
            <a:r>
              <a:rPr b="1" lang="en"/>
              <a:t>Input:</a:t>
            </a:r>
            <a:r>
              <a:rPr lang="en"/>
              <a:t> </a:t>
            </a:r>
            <a:r>
              <a:rPr lang="en">
                <a:latin typeface="Consolas"/>
                <a:ea typeface="Consolas"/>
                <a:cs typeface="Consolas"/>
                <a:sym typeface="Consolas"/>
              </a:rPr>
              <a:t>s = "loveleetcode"</a:t>
            </a:r>
            <a:br>
              <a:rPr lang="en"/>
            </a:br>
            <a:r>
              <a:rPr b="1" lang="en"/>
              <a:t>Output:</a:t>
            </a:r>
            <a:r>
              <a:rPr lang="en"/>
              <a:t> </a:t>
            </a:r>
            <a:r>
              <a:rPr lang="en">
                <a:latin typeface="Consolas"/>
                <a:ea typeface="Consolas"/>
                <a:cs typeface="Consolas"/>
                <a:sym typeface="Consolas"/>
              </a:rPr>
              <a:t>2</a:t>
            </a:r>
            <a:endParaRPr>
              <a:latin typeface="Consolas"/>
              <a:ea typeface="Consolas"/>
              <a:cs typeface="Consolas"/>
              <a:sym typeface="Consolas"/>
            </a:endParaRPr>
          </a:p>
          <a:p>
            <a:pPr indent="-342900" lvl="0" marL="457200" rtl="0" algn="l">
              <a:lnSpc>
                <a:spcPct val="100000"/>
              </a:lnSpc>
              <a:spcBef>
                <a:spcPts val="1000"/>
              </a:spcBef>
              <a:spcAft>
                <a:spcPts val="1000"/>
              </a:spcAft>
              <a:buSzPts val="1800"/>
              <a:buChar char="✱"/>
            </a:pPr>
            <a:r>
              <a:rPr b="1" lang="en"/>
              <a:t>Input:</a:t>
            </a:r>
            <a:r>
              <a:rPr lang="en"/>
              <a:t> </a:t>
            </a:r>
            <a:r>
              <a:rPr lang="en">
                <a:latin typeface="Consolas"/>
                <a:ea typeface="Consolas"/>
                <a:cs typeface="Consolas"/>
                <a:sym typeface="Consolas"/>
              </a:rPr>
              <a:t>s = "aabb"</a:t>
            </a:r>
            <a:br>
              <a:rPr lang="en"/>
            </a:br>
            <a:r>
              <a:rPr b="1" lang="en"/>
              <a:t>Output:</a:t>
            </a:r>
            <a:r>
              <a:rPr lang="en"/>
              <a:t> </a:t>
            </a:r>
            <a:r>
              <a:rPr lang="en">
                <a:latin typeface="Consolas"/>
                <a:ea typeface="Consolas"/>
                <a:cs typeface="Consolas"/>
                <a:sym typeface="Consolas"/>
              </a:rPr>
              <a:t>-1</a:t>
            </a:r>
            <a:endParaRPr/>
          </a:p>
        </p:txBody>
      </p:sp>
      <p:sp>
        <p:nvSpPr>
          <p:cNvPr id="817" name="Google Shape;817;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1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
        <p:nvSpPr>
          <p:cNvPr id="823" name="Google Shape;823;p11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4" name="Google Shape;824;p111"/>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In the chat . . .</a:t>
            </a:r>
            <a:endParaRPr b="1" sz="2400"/>
          </a:p>
          <a:p>
            <a:pPr indent="0" lvl="0" marL="0" rtl="0" algn="ctr">
              <a:spcBef>
                <a:spcPts val="1000"/>
              </a:spcBef>
              <a:spcAft>
                <a:spcPts val="0"/>
              </a:spcAft>
              <a:buNone/>
            </a:pPr>
            <a:r>
              <a:rPr lang="en" sz="2400"/>
              <a:t>What was one thing the candidate did</a:t>
            </a:r>
            <a:br>
              <a:rPr lang="en" sz="2400"/>
            </a:br>
            <a:r>
              <a:rPr lang="en" sz="2400"/>
              <a:t>that you will start doing too?</a:t>
            </a:r>
            <a:endParaRPr sz="2400"/>
          </a:p>
          <a:p>
            <a:pPr indent="0" lvl="0" marL="0" rtl="0" algn="ctr">
              <a:spcBef>
                <a:spcPts val="1000"/>
              </a:spcBef>
              <a:spcAft>
                <a:spcPts val="1000"/>
              </a:spcAft>
              <a:buNone/>
            </a:pPr>
            <a:r>
              <a:rPr lang="en" sz="2400"/>
              <a:t>What is one thing you'll do differently now</a:t>
            </a:r>
            <a:br>
              <a:rPr lang="en" sz="2400"/>
            </a:br>
            <a:r>
              <a:rPr lang="en" sz="2400"/>
              <a:t>that you've seen this interview?</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30" name="Google Shape;830;p112"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3"/>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36" name="Google Shape;836;p11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42" name="Google Shape;842;p11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3" name="Google Shape;843;p114"/>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5"/>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49" name="Google Shape;849;p11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0" name="Google Shape;860;p117"/>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861" name="Google Shape;861;p117"/>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862" name="Google Shape;862;p117"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8"/>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68" name="Google Shape;868;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9" name="Google Shape;869;p1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870" name="Google Shape;870;p118"/>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19"/>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Fireside Chat: Behavioral Interviews </a:t>
            </a:r>
            <a:endParaRPr/>
          </a:p>
        </p:txBody>
      </p:sp>
      <p:sp>
        <p:nvSpPr>
          <p:cNvPr id="876" name="Google Shape;876;p11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7" name="Google Shape;877;p11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Behavioral interviews are to assess how well you work with others, and to learn if you have displayed “</a:t>
            </a:r>
            <a:r>
              <a:rPr b="1" lang="en"/>
              <a:t>superpowers</a:t>
            </a:r>
            <a:r>
              <a:rPr lang="en"/>
              <a:t>” that the company emphasizes.</a:t>
            </a:r>
            <a:endParaRPr/>
          </a:p>
          <a:p>
            <a:pPr indent="-342900" lvl="0" marL="457200" rtl="0" algn="l">
              <a:spcBef>
                <a:spcPts val="0"/>
              </a:spcBef>
              <a:spcAft>
                <a:spcPts val="0"/>
              </a:spcAft>
              <a:buSzPts val="1800"/>
              <a:buChar char="❒"/>
            </a:pPr>
            <a:r>
              <a:rPr lang="en"/>
              <a:t>Use the S.T.A.R. method when answering behavioral questions. </a:t>
            </a:r>
            <a:endParaRPr/>
          </a:p>
          <a:p>
            <a:pPr indent="-342900" lvl="1" marL="914400" rtl="0" algn="l">
              <a:spcBef>
                <a:spcPts val="0"/>
              </a:spcBef>
              <a:spcAft>
                <a:spcPts val="0"/>
              </a:spcAft>
              <a:buSzPts val="1800"/>
              <a:buChar char="○"/>
            </a:pPr>
            <a:r>
              <a:rPr b="1" lang="en"/>
              <a:t>Situation, Task, Action, and Result</a:t>
            </a:r>
            <a:r>
              <a:rPr lang="en"/>
              <a:t>. Give context on the story and how you were able to accomplish something difficult.</a:t>
            </a:r>
            <a:endParaRPr/>
          </a:p>
          <a:p>
            <a:pPr indent="-342900" lvl="0" marL="457200" rtl="0" algn="l">
              <a:spcBef>
                <a:spcPts val="0"/>
              </a:spcBef>
              <a:spcAft>
                <a:spcPts val="0"/>
              </a:spcAft>
              <a:buSzPts val="1800"/>
              <a:buChar char="❒"/>
            </a:pPr>
            <a:r>
              <a:rPr lang="en"/>
              <a:t>Be aware of what companies are looking for. If it is a major company, the chances are high that you can find their “</a:t>
            </a:r>
            <a:r>
              <a:rPr b="1" lang="en"/>
              <a:t>Leadership Principles</a:t>
            </a:r>
            <a:r>
              <a:rPr lang="en"/>
              <a:t>” online. </a:t>
            </a:r>
            <a:endParaRPr/>
          </a:p>
          <a:p>
            <a:pPr indent="-342900" lvl="1" marL="914400" rtl="0" algn="l">
              <a:spcBef>
                <a:spcPts val="0"/>
              </a:spcBef>
              <a:spcAft>
                <a:spcPts val="0"/>
              </a:spcAft>
              <a:buSzPts val="1800"/>
              <a:buChar char="○"/>
            </a:pPr>
            <a:r>
              <a:rPr lang="en"/>
              <a:t>These make up the rubric of how you are assessed during the interview.</a:t>
            </a:r>
            <a:endParaRPr/>
          </a:p>
        </p:txBody>
      </p:sp>
      <p:pic>
        <p:nvPicPr>
          <p:cNvPr id="878" name="Google Shape;878;p119"/>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20"/>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Fireside Chat: Behavioral Interviews </a:t>
            </a:r>
            <a:endParaRPr/>
          </a:p>
        </p:txBody>
      </p:sp>
      <p:sp>
        <p:nvSpPr>
          <p:cNvPr id="884" name="Google Shape;884;p12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5" name="Google Shape;885;p12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questions are super vague to leave it all up to you to guide the response. </a:t>
            </a:r>
            <a:endParaRPr/>
          </a:p>
          <a:p>
            <a:pPr indent="-342900" lvl="0" marL="457200" rtl="0" algn="l">
              <a:spcBef>
                <a:spcPts val="0"/>
              </a:spcBef>
              <a:spcAft>
                <a:spcPts val="0"/>
              </a:spcAft>
              <a:buSzPts val="1800"/>
              <a:buChar char="❒"/>
            </a:pPr>
            <a:r>
              <a:rPr lang="en"/>
              <a:t>These are typically not about the technical details of projects or roles.</a:t>
            </a:r>
            <a:endParaRPr/>
          </a:p>
          <a:p>
            <a:pPr indent="-342900" lvl="0" marL="457200" rtl="0" algn="l">
              <a:spcBef>
                <a:spcPts val="0"/>
              </a:spcBef>
              <a:spcAft>
                <a:spcPts val="0"/>
              </a:spcAft>
              <a:buSzPts val="1800"/>
              <a:buChar char="❒"/>
            </a:pPr>
            <a:r>
              <a:rPr lang="en"/>
              <a:t>Example S.T.A.R. Questions:</a:t>
            </a:r>
            <a:endParaRPr/>
          </a:p>
          <a:p>
            <a:pPr indent="-342900" lvl="1" marL="914400" rtl="0" algn="l">
              <a:spcBef>
                <a:spcPts val="0"/>
              </a:spcBef>
              <a:spcAft>
                <a:spcPts val="0"/>
              </a:spcAft>
              <a:buSzPts val="1800"/>
              <a:buChar char="○"/>
            </a:pPr>
            <a:r>
              <a:rPr lang="en"/>
              <a:t>“Tell me about a time during a previous job/project when you overcame a disagreement with a teammate.”</a:t>
            </a:r>
            <a:endParaRPr/>
          </a:p>
          <a:p>
            <a:pPr indent="-342900" lvl="1" marL="914400" rtl="0" algn="l">
              <a:spcBef>
                <a:spcPts val="0"/>
              </a:spcBef>
              <a:spcAft>
                <a:spcPts val="0"/>
              </a:spcAft>
              <a:buSzPts val="1800"/>
              <a:buChar char="○"/>
            </a:pPr>
            <a:r>
              <a:rPr lang="en"/>
              <a:t>“Share a bit about a time where you had to manage multiple priorities; how did you decide what was most important?”</a:t>
            </a:r>
            <a:endParaRPr/>
          </a:p>
          <a:p>
            <a:pPr indent="-342900" lvl="1" marL="914400" rtl="0" algn="l">
              <a:spcBef>
                <a:spcPts val="0"/>
              </a:spcBef>
              <a:spcAft>
                <a:spcPts val="0"/>
              </a:spcAft>
              <a:buSzPts val="1800"/>
              <a:buChar char="○"/>
            </a:pPr>
            <a:r>
              <a:rPr lang="en"/>
              <a:t>“How would you handle an unexpected delay in a project?”</a:t>
            </a:r>
            <a:endParaRPr/>
          </a:p>
        </p:txBody>
      </p:sp>
      <p:pic>
        <p:nvPicPr>
          <p:cNvPr id="886" name="Google Shape;886;p120"/>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21"/>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Fireside Chat: Behavioral Interviews </a:t>
            </a:r>
            <a:endParaRPr/>
          </a:p>
        </p:txBody>
      </p:sp>
      <p:sp>
        <p:nvSpPr>
          <p:cNvPr id="892" name="Google Shape;892;p12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3" name="Google Shape;893;p12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sz="1600"/>
              <a:t>Be aware of what the interviewer’s experience is like. They don’t just rate you 0-100%. They have strict rubrics which are defined by their companies core principles. </a:t>
            </a:r>
            <a:endParaRPr sz="1600"/>
          </a:p>
          <a:p>
            <a:pPr indent="-330200" lvl="0" marL="457200" rtl="0" algn="l">
              <a:lnSpc>
                <a:spcPct val="100000"/>
              </a:lnSpc>
              <a:spcBef>
                <a:spcPts val="0"/>
              </a:spcBef>
              <a:spcAft>
                <a:spcPts val="0"/>
              </a:spcAft>
              <a:buSzPts val="1600"/>
              <a:buChar char="❒"/>
            </a:pPr>
            <a:r>
              <a:rPr lang="en" sz="1600"/>
              <a:t>While it might seem difficult to “reorient” your responses for a given company, you will discover that many of these principles overlap.</a:t>
            </a:r>
            <a:endParaRPr sz="1600"/>
          </a:p>
          <a:p>
            <a:pPr indent="0" lvl="0" marL="457200" rtl="0" algn="l">
              <a:lnSpc>
                <a:spcPct val="100000"/>
              </a:lnSpc>
              <a:spcBef>
                <a:spcPts val="1000"/>
              </a:spcBef>
              <a:spcAft>
                <a:spcPts val="0"/>
              </a:spcAft>
              <a:buNone/>
            </a:pPr>
            <a:r>
              <a:t/>
            </a:r>
            <a:endParaRPr sz="1600"/>
          </a:p>
          <a:p>
            <a:pPr indent="-330200" lvl="0" marL="457200" rtl="0" algn="l">
              <a:lnSpc>
                <a:spcPct val="100000"/>
              </a:lnSpc>
              <a:spcBef>
                <a:spcPts val="1000"/>
              </a:spcBef>
              <a:spcAft>
                <a:spcPts val="0"/>
              </a:spcAft>
              <a:buSzPts val="1600"/>
              <a:buChar char="❒"/>
            </a:pPr>
            <a:r>
              <a:rPr lang="en" sz="1600"/>
              <a:t>The goal is not to showcase every single principle (that’s hard to do with just a couple of questions!), but to try and identify which ones are best for a person of your level. For example:</a:t>
            </a:r>
            <a:endParaRPr sz="1600"/>
          </a:p>
          <a:p>
            <a:pPr indent="-330200" lvl="1" marL="914400" rtl="0" algn="l">
              <a:lnSpc>
                <a:spcPct val="100000"/>
              </a:lnSpc>
              <a:spcBef>
                <a:spcPts val="0"/>
              </a:spcBef>
              <a:spcAft>
                <a:spcPts val="0"/>
              </a:spcAft>
              <a:buSzPts val="1600"/>
              <a:buChar char="○"/>
            </a:pPr>
            <a:r>
              <a:rPr b="1" lang="en" sz="1600"/>
              <a:t>New Grad</a:t>
            </a:r>
            <a:r>
              <a:rPr lang="en" sz="1600"/>
              <a:t>: Resourceful, resilient, self-driven, learns on the fly, etc.</a:t>
            </a:r>
            <a:endParaRPr sz="1600"/>
          </a:p>
          <a:p>
            <a:pPr indent="-330200" lvl="1" marL="914400" rtl="0" algn="l">
              <a:lnSpc>
                <a:spcPct val="100000"/>
              </a:lnSpc>
              <a:spcBef>
                <a:spcPts val="0"/>
              </a:spcBef>
              <a:spcAft>
                <a:spcPts val="0"/>
              </a:spcAft>
              <a:buSzPts val="1600"/>
              <a:buChar char="○"/>
            </a:pPr>
            <a:r>
              <a:rPr b="1" lang="en" sz="1600"/>
              <a:t>Senior Engineer</a:t>
            </a:r>
            <a:r>
              <a:rPr lang="en" sz="1600"/>
              <a:t>: Optimizes processes, mentors others, designs large systems.</a:t>
            </a:r>
            <a:endParaRPr sz="1600"/>
          </a:p>
          <a:p>
            <a:pPr indent="-330200" lvl="1" marL="914400" rtl="0" algn="l">
              <a:lnSpc>
                <a:spcPct val="100000"/>
              </a:lnSpc>
              <a:spcBef>
                <a:spcPts val="0"/>
              </a:spcBef>
              <a:spcAft>
                <a:spcPts val="0"/>
              </a:spcAft>
              <a:buSzPts val="1600"/>
              <a:buChar char="○"/>
            </a:pPr>
            <a:r>
              <a:rPr b="1" lang="en" sz="1600"/>
              <a:t>All levels</a:t>
            </a:r>
            <a:r>
              <a:rPr lang="en" sz="1600"/>
              <a:t>: Good communicator, trustworthy, collaborative, etc.</a:t>
            </a:r>
            <a:endParaRPr sz="1600"/>
          </a:p>
          <a:p>
            <a:pPr indent="0" lvl="0" marL="0" rtl="0" algn="l">
              <a:lnSpc>
                <a:spcPct val="100000"/>
              </a:lnSpc>
              <a:spcBef>
                <a:spcPts val="1000"/>
              </a:spcBef>
              <a:spcAft>
                <a:spcPts val="1000"/>
              </a:spcAft>
              <a:buNone/>
            </a:pPr>
            <a:r>
              <a:t/>
            </a:r>
            <a:endParaRPr sz="1600"/>
          </a:p>
        </p:txBody>
      </p:sp>
      <p:pic>
        <p:nvPicPr>
          <p:cNvPr id="894" name="Google Shape;894;p121"/>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22"/>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Fireside Chat: Behavioral Interviews </a:t>
            </a:r>
            <a:endParaRPr/>
          </a:p>
        </p:txBody>
      </p:sp>
      <p:sp>
        <p:nvSpPr>
          <p:cNvPr id="900" name="Google Shape;900;p12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1" name="Google Shape;901;p122"/>
          <p:cNvSpPr txBox="1"/>
          <p:nvPr>
            <p:ph idx="1" type="body"/>
          </p:nvPr>
        </p:nvSpPr>
        <p:spPr>
          <a:xfrm>
            <a:off x="452400" y="1132825"/>
            <a:ext cx="8476500" cy="34881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If we look at the overlaps, we see they are really just looking for general attributes, not a perfect candidate.</a:t>
            </a:r>
            <a:endParaRPr sz="1600"/>
          </a:p>
          <a:p>
            <a:pPr indent="0" lvl="0" marL="457200" rtl="0" algn="l">
              <a:lnSpc>
                <a:spcPct val="115000"/>
              </a:lnSpc>
              <a:spcBef>
                <a:spcPts val="1000"/>
              </a:spcBef>
              <a:spcAft>
                <a:spcPts val="0"/>
              </a:spcAft>
              <a:buNone/>
            </a:pPr>
            <a:r>
              <a:t/>
            </a:r>
            <a:endParaRPr sz="1600"/>
          </a:p>
          <a:p>
            <a:pPr indent="-330200" lvl="0" marL="457200" rtl="0" algn="l">
              <a:lnSpc>
                <a:spcPct val="115000"/>
              </a:lnSpc>
              <a:spcBef>
                <a:spcPts val="1000"/>
              </a:spcBef>
              <a:spcAft>
                <a:spcPts val="0"/>
              </a:spcAft>
              <a:buSzPts val="1600"/>
              <a:buChar char="❒"/>
            </a:pPr>
            <a:r>
              <a:rPr lang="en" sz="1600"/>
              <a:t>General Attribute: </a:t>
            </a:r>
            <a:r>
              <a:rPr b="1" lang="en" sz="1600"/>
              <a:t>Move Fast</a:t>
            </a:r>
            <a:endParaRPr b="1" sz="1600"/>
          </a:p>
          <a:p>
            <a:pPr indent="-330200" lvl="1" marL="914400" rtl="0" algn="l">
              <a:lnSpc>
                <a:spcPct val="115000"/>
              </a:lnSpc>
              <a:spcBef>
                <a:spcPts val="0"/>
              </a:spcBef>
              <a:spcAft>
                <a:spcPts val="0"/>
              </a:spcAft>
              <a:buSzPts val="1600"/>
              <a:buChar char="○"/>
            </a:pPr>
            <a:r>
              <a:rPr lang="en" sz="1600"/>
              <a:t>Amazon (Bias for Action), Google (Fast is better than slow), Microsoft (Culture in action)</a:t>
            </a:r>
            <a:endParaRPr sz="1600"/>
          </a:p>
          <a:p>
            <a:pPr indent="-330200" lvl="0" marL="457200" rtl="0" algn="l">
              <a:lnSpc>
                <a:spcPct val="115000"/>
              </a:lnSpc>
              <a:spcBef>
                <a:spcPts val="0"/>
              </a:spcBef>
              <a:spcAft>
                <a:spcPts val="0"/>
              </a:spcAft>
              <a:buSzPts val="1600"/>
              <a:buChar char="❒"/>
            </a:pPr>
            <a:r>
              <a:rPr lang="en" sz="1600"/>
              <a:t>General Attribute: </a:t>
            </a:r>
            <a:r>
              <a:rPr b="1" lang="en" sz="1600"/>
              <a:t>Always put the customer first</a:t>
            </a:r>
            <a:endParaRPr b="1" sz="1600"/>
          </a:p>
          <a:p>
            <a:pPr indent="-330200" lvl="1" marL="914400" rtl="0" algn="l">
              <a:lnSpc>
                <a:spcPct val="115000"/>
              </a:lnSpc>
              <a:spcBef>
                <a:spcPts val="0"/>
              </a:spcBef>
              <a:spcAft>
                <a:spcPts val="0"/>
              </a:spcAft>
              <a:buSzPts val="1600"/>
              <a:buChar char="○"/>
            </a:pPr>
            <a:r>
              <a:rPr lang="en" sz="1600"/>
              <a:t>Amazon (Customer Obsession), Microsoft (Customer Obsession), Google (Focus on the Customer)</a:t>
            </a:r>
            <a:endParaRPr sz="1600"/>
          </a:p>
          <a:p>
            <a:pPr indent="-330200" lvl="0" marL="457200" rtl="0" algn="l">
              <a:lnSpc>
                <a:spcPct val="115000"/>
              </a:lnSpc>
              <a:spcBef>
                <a:spcPts val="0"/>
              </a:spcBef>
              <a:spcAft>
                <a:spcPts val="0"/>
              </a:spcAft>
              <a:buSzPts val="1600"/>
              <a:buChar char="❒"/>
            </a:pPr>
            <a:r>
              <a:rPr lang="en" sz="1600"/>
              <a:t>General Attribute: </a:t>
            </a:r>
            <a:r>
              <a:rPr b="1" lang="en" sz="1600"/>
              <a:t>Candidate shows continued self-driven learning</a:t>
            </a:r>
            <a:endParaRPr b="1" sz="1600"/>
          </a:p>
          <a:p>
            <a:pPr indent="-330200" lvl="1" marL="914400" rtl="0" algn="l">
              <a:lnSpc>
                <a:spcPct val="115000"/>
              </a:lnSpc>
              <a:spcBef>
                <a:spcPts val="0"/>
              </a:spcBef>
              <a:spcAft>
                <a:spcPts val="0"/>
              </a:spcAft>
              <a:buSzPts val="1600"/>
              <a:buChar char="○"/>
            </a:pPr>
            <a:r>
              <a:rPr lang="en" sz="1600"/>
              <a:t>Amazon (Learn and be curious), Microsoft (Growth Mindset), Google (Great isn’t good enough)</a:t>
            </a:r>
            <a:endParaRPr sz="1600"/>
          </a:p>
        </p:txBody>
      </p:sp>
      <p:pic>
        <p:nvPicPr>
          <p:cNvPr id="902" name="Google Shape;902;p122"/>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