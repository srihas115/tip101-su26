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41" r:id="rId5"/>
    <p:sldMasterId id="2147483742" r:id="rId6"/>
    <p:sldMasterId id="2147483743" r:id="rId7"/>
    <p:sldMasterId id="2147483744"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Lst>
  <p:sldSz cy="5143500" cx="9144000"/>
  <p:notesSz cx="6858000" cy="9144000"/>
  <p:embeddedFontLst>
    <p:embeddedFont>
      <p:font typeface="Space Mono"/>
      <p:regular r:id="rId31"/>
      <p:bold r:id="rId32"/>
      <p:italic r:id="rId33"/>
      <p:boldItalic r:id="rId34"/>
    </p:embeddedFont>
    <p:embeddedFont>
      <p:font typeface="Poppins"/>
      <p:regular r:id="rId35"/>
      <p:bold r:id="rId36"/>
      <p:italic r:id="rId37"/>
      <p:boldItalic r:id="rId38"/>
    </p:embeddedFont>
    <p:embeddedFont>
      <p:font typeface="Roboto Mon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28BA5D-BFEF-4000-AB32-5A9F17D199DA}">
  <a:tblStyle styleId="{6C28BA5D-BFEF-4000-AB32-5A9F17D199D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fntdata"/><Relationship Id="rId20" Type="http://schemas.openxmlformats.org/officeDocument/2006/relationships/slide" Target="slides/slide11.xml"/><Relationship Id="rId42" Type="http://schemas.openxmlformats.org/officeDocument/2006/relationships/font" Target="fonts/RobotoMono-boldItalic.fntdata"/><Relationship Id="rId41" Type="http://schemas.openxmlformats.org/officeDocument/2006/relationships/font" Target="fonts/RobotoMono-italic.fntdata"/><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0.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SpaceMono-regular.fntdata"/><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font" Target="fonts/SpaceMono-italic.fntdata"/><Relationship Id="rId10" Type="http://schemas.openxmlformats.org/officeDocument/2006/relationships/slide" Target="slides/slide1.xml"/><Relationship Id="rId32" Type="http://schemas.openxmlformats.org/officeDocument/2006/relationships/font" Target="fonts/SpaceMono-bold.fntdata"/><Relationship Id="rId13" Type="http://schemas.openxmlformats.org/officeDocument/2006/relationships/slide" Target="slides/slide4.xml"/><Relationship Id="rId35" Type="http://schemas.openxmlformats.org/officeDocument/2006/relationships/font" Target="fonts/Poppins-regular.fntdata"/><Relationship Id="rId12" Type="http://schemas.openxmlformats.org/officeDocument/2006/relationships/slide" Target="slides/slide3.xml"/><Relationship Id="rId34" Type="http://schemas.openxmlformats.org/officeDocument/2006/relationships/font" Target="fonts/SpaceMono-boldItalic.fntdata"/><Relationship Id="rId15" Type="http://schemas.openxmlformats.org/officeDocument/2006/relationships/slide" Target="slides/slide6.xml"/><Relationship Id="rId37" Type="http://schemas.openxmlformats.org/officeDocument/2006/relationships/font" Target="fonts/Poppins-italic.fntdata"/><Relationship Id="rId14" Type="http://schemas.openxmlformats.org/officeDocument/2006/relationships/slide" Target="slides/slide5.xml"/><Relationship Id="rId36" Type="http://schemas.openxmlformats.org/officeDocument/2006/relationships/font" Target="fonts/Poppins-bold.fntdata"/><Relationship Id="rId17" Type="http://schemas.openxmlformats.org/officeDocument/2006/relationships/slide" Target="slides/slide8.xml"/><Relationship Id="rId39" Type="http://schemas.openxmlformats.org/officeDocument/2006/relationships/font" Target="fonts/RobotoMono-regular.fntdata"/><Relationship Id="rId16" Type="http://schemas.openxmlformats.org/officeDocument/2006/relationships/slide" Target="slides/slide7.xml"/><Relationship Id="rId38" Type="http://schemas.openxmlformats.org/officeDocument/2006/relationships/font" Target="fonts/Poppins-boldItalic.fntdata"/><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220739fe99_0_1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3220739fe99_0_1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 </a:t>
            </a:r>
            <a:r>
              <a:rPr lang="en">
                <a:solidFill>
                  <a:schemeClr val="dk1"/>
                </a:solidFill>
              </a:rPr>
              <a:t>Welcome students, set the tone for the session, and provide an overview of the day's topic.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Greet the students with enthusiasm.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“Hello everyone! Welcome to Week 6 of TIP101! I hope you’re all doing well today.”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“Today, we’re focusing on linked lists—an essential data structure that frequently appears in technical interviews. You’ll learn how to manipulate and traverse linked lists, which will strengthen your problem-solving skills.”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“We’re more than halfway through the course, and I want to acknowledge the hard work you’ve been putting in. Keep it up!”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students to share how they’re feeling or their favorite part of the course so far in the chat.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students to acknowledge their progress. For example: “Let’s take a moment to reflect—what’s one concept or technique you’ve become more confident in since the start of the course? Drop it in the chat!”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Acknowledge responses in the chat and highlight positive energy.</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220739fe99_0_1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3220739fe99_0_1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 </a:t>
            </a:r>
            <a:r>
              <a:rPr lang="en">
                <a:solidFill>
                  <a:schemeClr val="dk1"/>
                </a:solidFill>
              </a:rPr>
              <a:t>Set expectations for the session and give students a clear roadmap of the day’s activities.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Guide students through each section of the agenda.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go over today’s agenda so you know what to expect.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We’ll start with a quick welcome and icebreaker to warm up. Then, we’ll dive into today’s main topic: linked lists. You’ll learn key techniques like using slow and fast pointers, multiple passes, and temporary heads to solve problems involving linked lists.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We’ll take a short 5-minute break halfway through the session, and after the lecture, you’ll have an opportunity to practice in breakout rooms.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Finally, we’ll wrap up with a reflection and some reminders to help you prepare for the next session.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 me know if you have any questions about the agenda in the chat!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Pause after each agenda point and ask: “Does anyone have any questions about this part of the session?”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 the chat to confirm students understand the structure for the day. For example: “Drop a thumbs-up emoji in the chat if the agenda looks good to you!”</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students express concerns or confusion about linked lists, reassure them: “Don’t worry! We’ll tackle this together step by step, and by the end of today, you’ll have a much better understanding.”</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f33c564748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3f33c564748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want to quickly highlight two opportunities that are open for registration right now: Resume Review Week and Mentorship Week.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semester CodePath works with hundreds of tech professionals - working at companies like Capital One, Microsoft, and more - to set up 1:1 meetings between students and experienced professionals who volunteer their time to support our students.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can sign up for a meeting for personalized resume feedback and advice, or an informal career conversation - or both.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valuable opportunities to get feedback, grow your confidence, and build your professional network. I’d recommend everyone signs up!</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220739fe99_0_1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3220739fe99_0_1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SLIDES_API133400924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SLIDES_API133400924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f3193153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f3193153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f37bad76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f37bad76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28619d8915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28619d8915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f31931538e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f31931538e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Introduce the multiple pass technique for linked lists and explain its applications.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Explain the concept of traversing a linked list multiple times to extract information or perform operations.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specific use cases where this technique is applied.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multiple pass technique involves traversing a linked list multiple times to gather information or perform operations.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if we need to calculate the length of a list, the first pass could count the nodes, and a second pass could use that information for further processing.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technique is especially useful when the operation requires global information about the list that can only be determined by scanning it multiple times.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One common application is performing an operation that depends on knowing the total number of nodes, such as inserting a node at a specific position.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you think of a situation where scanning the list multiple times would be necessary? Share your thoughts in the chat."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students to brainstorm: "What’s a potential downside of this approach? Let’s discuss how we might mitigate it."</a:t>
            </a: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f31931538e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f31931538e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how the temporary head technique simplifies edge cases in linked lists.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Demonstrate the use of a temporary head node to handle operations on the head of the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Provide examples of how this technique resolves common issues.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temporary head technique involves creating a temporary node before the actual head of the list. This helps simplify operations that involve the head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instance, when deleting the head node, the temporary head provides a consistent starting point, so we don’t have to handle the head as a special case.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Similarly, adding a new node to the front of the list becomes straightforward because we can operate on the temporary head rather than directly on the actual head.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technique reduces edge case handling and makes the code cleaner and more maintainable.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you think edge cases involving the head node can be tricky to handle? Have you encountered this in your own coding?"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"If you were implementing a function to remove duplicates from a linked list, how might a temporary head simplify the logic?"</a:t>
            </a: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f31931538e_0_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3f31931538e_0_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Introduce the slow-fast pointer technique for linked lists and its common applications.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Explain the concept of using two pointers moving at different speeds to solve linked list problems.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specific problems where this technique is useful.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slow-fast pointer technique uses two pointers moving at different speeds to solve problems involving cycles, middle elements, or other patterns in a linked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One common application is detecting a cycle in a linked list. The fast pointer moves two steps at a time, while the slow pointer moves one step. If there’s a cycle, the two pointers will eventually meet.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Another use case is finding the middle node of a linked list. The slow pointer will reach the middle when the fast pointer reaches the end.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technique can also determine the length of a cycle by counting the steps required for the pointers to meet again.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you think having pointers move at different speeds is useful for these problems? What insights does this give us about the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participation: "Let’s take a moment to try this technique. Imagine a linked list with 7 nodes. Where would the slow pointer be when the fast pointer reaches the end?"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"What would happen if the fast pointer moved three steps at a time instead of two? How might that affect the results?"</a:t>
            </a: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2872f9321d_0_1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32872f9321d_0_1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Demonstrate how to find the middle node of a linked list, returning the second middle node for even-length lists, using the slow-fast pointer technique and the UMPIRE strategy.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the UMPIRE strategy (Understand, Match, Plan, Implement, Review, Evaluate) to solve the problem.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Walk students through each step, explaining decisions and encouraging participation.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Intentionally make a small mistake during implementation to model debugging and normalize errors.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Understand the Problem</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start with the first step: Understand. The task is to find the middle node of a linked list. If the list has an odd number of nodes, we return the middle one. If it has an even number of nodes, we return the second middle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 </a:t>
            </a:r>
            <a:r>
              <a:rPr lang="en">
                <a:solidFill>
                  <a:srgbClr val="188038"/>
                </a:solidFill>
                <a:latin typeface="Roboto Mono"/>
                <a:ea typeface="Roboto Mono"/>
                <a:cs typeface="Roboto Mono"/>
                <a:sym typeface="Roboto Mono"/>
              </a:rPr>
              <a:t>[1 -&gt; 2 -&gt; 3 -&gt; 4 -&gt; 5]</a:t>
            </a:r>
            <a:r>
              <a:rPr lang="en">
                <a:solidFill>
                  <a:schemeClr val="dk1"/>
                </a:solidFill>
              </a:rPr>
              <a:t>, the middle node is </a:t>
            </a:r>
            <a:r>
              <a:rPr lang="en">
                <a:solidFill>
                  <a:srgbClr val="188038"/>
                </a:solidFill>
                <a:latin typeface="Roboto Mono"/>
                <a:ea typeface="Roboto Mono"/>
                <a:cs typeface="Roboto Mono"/>
                <a:sym typeface="Roboto Mono"/>
              </a:rPr>
              <a:t>3</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 </a:t>
            </a:r>
            <a:r>
              <a:rPr lang="en">
                <a:solidFill>
                  <a:srgbClr val="188038"/>
                </a:solidFill>
                <a:latin typeface="Roboto Mono"/>
                <a:ea typeface="Roboto Mono"/>
                <a:cs typeface="Roboto Mono"/>
                <a:sym typeface="Roboto Mono"/>
              </a:rPr>
              <a:t>[1 -&gt; 2 -&gt; 3 -&gt; 4]</a:t>
            </a:r>
            <a:r>
              <a:rPr lang="en">
                <a:solidFill>
                  <a:schemeClr val="dk1"/>
                </a:solidFill>
              </a:rPr>
              <a:t>, the middle node is </a:t>
            </a:r>
            <a:r>
              <a:rPr lang="en">
                <a:solidFill>
                  <a:srgbClr val="188038"/>
                </a:solidFill>
                <a:latin typeface="Roboto Mono"/>
                <a:ea typeface="Roboto Mono"/>
                <a:cs typeface="Roboto Mono"/>
                <a:sym typeface="Roboto Mono"/>
              </a:rPr>
              <a:t>3</a:t>
            </a:r>
            <a:r>
              <a:rPr lang="en">
                <a:solidFill>
                  <a:schemeClr val="dk1"/>
                </a:solidFill>
              </a:rPr>
              <a:t> (the second middle node)."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Match</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"Next, let’s Match the problem to a technique. The slow-fast pointer technique is ideal for this task because it efficiently finds the second middle node by leveraging two pointers moving at different speeds."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Plan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"Here’s our plan:</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Initialize two pointers, </a:t>
            </a:r>
            <a:r>
              <a:rPr lang="en">
                <a:solidFill>
                  <a:srgbClr val="188038"/>
                </a:solidFill>
                <a:latin typeface="Roboto Mono"/>
                <a:ea typeface="Roboto Mono"/>
                <a:cs typeface="Roboto Mono"/>
                <a:sym typeface="Roboto Mono"/>
              </a:rPr>
              <a:t>slow</a:t>
            </a:r>
            <a:r>
              <a:rPr lang="en">
                <a:solidFill>
                  <a:schemeClr val="dk1"/>
                </a:solidFill>
              </a:rPr>
              <a:t> and </a:t>
            </a:r>
            <a:r>
              <a:rPr lang="en">
                <a:solidFill>
                  <a:srgbClr val="188038"/>
                </a:solidFill>
                <a:latin typeface="Roboto Mono"/>
                <a:ea typeface="Roboto Mono"/>
                <a:cs typeface="Roboto Mono"/>
                <a:sym typeface="Roboto Mono"/>
              </a:rPr>
              <a:t>fast</a:t>
            </a:r>
            <a:r>
              <a:rPr lang="en">
                <a:solidFill>
                  <a:schemeClr val="dk1"/>
                </a:solidFill>
              </a:rPr>
              <a:t>, both starting at the head of the list.</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Move the </a:t>
            </a:r>
            <a:r>
              <a:rPr lang="en">
                <a:solidFill>
                  <a:srgbClr val="188038"/>
                </a:solidFill>
                <a:latin typeface="Roboto Mono"/>
                <a:ea typeface="Roboto Mono"/>
                <a:cs typeface="Roboto Mono"/>
                <a:sym typeface="Roboto Mono"/>
              </a:rPr>
              <a:t>fast</a:t>
            </a:r>
            <a:r>
              <a:rPr lang="en">
                <a:solidFill>
                  <a:schemeClr val="dk1"/>
                </a:solidFill>
              </a:rPr>
              <a:t> pointer two steps at a time and the </a:t>
            </a:r>
            <a:r>
              <a:rPr lang="en">
                <a:solidFill>
                  <a:srgbClr val="188038"/>
                </a:solidFill>
                <a:latin typeface="Roboto Mono"/>
                <a:ea typeface="Roboto Mono"/>
                <a:cs typeface="Roboto Mono"/>
                <a:sym typeface="Roboto Mono"/>
              </a:rPr>
              <a:t>slow</a:t>
            </a:r>
            <a:r>
              <a:rPr lang="en">
                <a:solidFill>
                  <a:schemeClr val="dk1"/>
                </a:solidFill>
              </a:rPr>
              <a:t> pointer one step at a time.</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When the </a:t>
            </a:r>
            <a:r>
              <a:rPr lang="en">
                <a:solidFill>
                  <a:srgbClr val="188038"/>
                </a:solidFill>
                <a:latin typeface="Roboto Mono"/>
                <a:ea typeface="Roboto Mono"/>
                <a:cs typeface="Roboto Mono"/>
                <a:sym typeface="Roboto Mono"/>
              </a:rPr>
              <a:t>fast</a:t>
            </a:r>
            <a:r>
              <a:rPr lang="en">
                <a:solidFill>
                  <a:schemeClr val="dk1"/>
                </a:solidFill>
              </a:rPr>
              <a:t> pointer reaches the end of the list (or the last valid node), the </a:t>
            </a:r>
            <a:r>
              <a:rPr lang="en">
                <a:solidFill>
                  <a:srgbClr val="188038"/>
                </a:solidFill>
                <a:latin typeface="Roboto Mono"/>
                <a:ea typeface="Roboto Mono"/>
                <a:cs typeface="Roboto Mono"/>
                <a:sym typeface="Roboto Mono"/>
              </a:rPr>
              <a:t>slow</a:t>
            </a:r>
            <a:r>
              <a:rPr lang="en">
                <a:solidFill>
                  <a:schemeClr val="dk1"/>
                </a:solidFill>
              </a:rPr>
              <a:t> pointer will point to the second middle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method ensures that the </a:t>
            </a:r>
            <a:r>
              <a:rPr lang="en">
                <a:solidFill>
                  <a:srgbClr val="188038"/>
                </a:solidFill>
                <a:latin typeface="Roboto Mono"/>
                <a:ea typeface="Roboto Mono"/>
                <a:cs typeface="Roboto Mono"/>
                <a:sym typeface="Roboto Mono"/>
              </a:rPr>
              <a:t>slow</a:t>
            </a:r>
            <a:r>
              <a:rPr lang="en">
                <a:solidFill>
                  <a:schemeClr val="dk1"/>
                </a:solidFill>
              </a:rPr>
              <a:t> pointer lands on the second middle node for even-length lists."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4. Implement</a:t>
            </a:r>
            <a:endParaRPr b="1">
              <a:solidFill>
                <a:schemeClr val="dk1"/>
              </a:solidFill>
            </a:endParaRPr>
          </a:p>
          <a:p>
            <a:pPr indent="0" lvl="0" marL="0" rtl="0" algn="l">
              <a:spcBef>
                <a:spcPts val="200"/>
              </a:spcBef>
              <a:spcAft>
                <a:spcPts val="0"/>
              </a:spcAft>
              <a:buNone/>
            </a:pPr>
            <a:r>
              <a:rPr lang="en">
                <a:solidFill>
                  <a:schemeClr val="dk1"/>
                </a:solidFill>
              </a:rPr>
              <a:t>"Let’s implement the function step by step. We’ll name it </a:t>
            </a:r>
            <a:r>
              <a:rPr lang="en">
                <a:solidFill>
                  <a:srgbClr val="188038"/>
                </a:solidFill>
                <a:latin typeface="Roboto Mono"/>
                <a:ea typeface="Roboto Mono"/>
                <a:cs typeface="Roboto Mono"/>
                <a:sym typeface="Roboto Mono"/>
              </a:rPr>
              <a:t>find_middle</a:t>
            </a:r>
            <a:r>
              <a:rPr lang="en">
                <a:solidFill>
                  <a:schemeClr val="dk1"/>
                </a:solidFill>
              </a:rPr>
              <a:t>."</a:t>
            </a:r>
            <a:br>
              <a:rPr lang="en">
                <a:solidFill>
                  <a:schemeClr val="dk1"/>
                </a:solidFill>
              </a:rPr>
            </a:br>
            <a:r>
              <a:rPr lang="en">
                <a:solidFill>
                  <a:schemeClr val="dk1"/>
                </a:solidFill>
                <a:latin typeface="Consolas"/>
                <a:ea typeface="Consolas"/>
                <a:cs typeface="Consolas"/>
                <a:sym typeface="Consolas"/>
              </a:rPr>
              <a:t> def find_middle(head):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slow = fast = head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while fast and fast.next: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slow = slow.next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fast = fast.next.next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slow</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"Notice how the condition </a:t>
            </a:r>
            <a:r>
              <a:rPr lang="en">
                <a:solidFill>
                  <a:srgbClr val="188038"/>
                </a:solidFill>
                <a:latin typeface="Roboto Mono"/>
                <a:ea typeface="Roboto Mono"/>
                <a:cs typeface="Roboto Mono"/>
                <a:sym typeface="Roboto Mono"/>
              </a:rPr>
              <a:t>while fast and fast.next</a:t>
            </a:r>
            <a:r>
              <a:rPr lang="en">
                <a:solidFill>
                  <a:schemeClr val="dk1"/>
                </a:solidFill>
              </a:rPr>
              <a:t> ensures we safely traverse the list without running into errors at the end."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key is that the </a:t>
            </a:r>
            <a:r>
              <a:rPr lang="en">
                <a:solidFill>
                  <a:srgbClr val="188038"/>
                </a:solidFill>
                <a:latin typeface="Roboto Mono"/>
                <a:ea typeface="Roboto Mono"/>
                <a:cs typeface="Roboto Mono"/>
                <a:sym typeface="Roboto Mono"/>
              </a:rPr>
              <a:t>slow</a:t>
            </a:r>
            <a:r>
              <a:rPr lang="en">
                <a:solidFill>
                  <a:schemeClr val="dk1"/>
                </a:solidFill>
              </a:rPr>
              <a:t> pointer always moves at half the speed of the </a:t>
            </a:r>
            <a:r>
              <a:rPr lang="en">
                <a:solidFill>
                  <a:srgbClr val="188038"/>
                </a:solidFill>
                <a:latin typeface="Roboto Mono"/>
                <a:ea typeface="Roboto Mono"/>
                <a:cs typeface="Roboto Mono"/>
                <a:sym typeface="Roboto Mono"/>
              </a:rPr>
              <a:t>fast</a:t>
            </a:r>
            <a:r>
              <a:rPr lang="en">
                <a:solidFill>
                  <a:schemeClr val="dk1"/>
                </a:solidFill>
              </a:rPr>
              <a:t> pointer, so it reaches the correct middle node when the </a:t>
            </a:r>
            <a:r>
              <a:rPr lang="en">
                <a:solidFill>
                  <a:srgbClr val="188038"/>
                </a:solidFill>
                <a:latin typeface="Roboto Mono"/>
                <a:ea typeface="Roboto Mono"/>
                <a:cs typeface="Roboto Mono"/>
                <a:sym typeface="Roboto Mono"/>
              </a:rPr>
              <a:t>fast</a:t>
            </a:r>
            <a:r>
              <a:rPr lang="en">
                <a:solidFill>
                  <a:schemeClr val="dk1"/>
                </a:solidFill>
              </a:rPr>
              <a:t> pointer finishes."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5. Normalize Mistakes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Introduce an intentional mistake: "Oops! What happens if we accidentally initialize only </a:t>
            </a:r>
            <a:r>
              <a:rPr lang="en">
                <a:solidFill>
                  <a:srgbClr val="188038"/>
                </a:solidFill>
                <a:latin typeface="Roboto Mono"/>
                <a:ea typeface="Roboto Mono"/>
                <a:cs typeface="Roboto Mono"/>
                <a:sym typeface="Roboto Mono"/>
              </a:rPr>
              <a:t>fast</a:t>
            </a:r>
            <a:r>
              <a:rPr lang="en">
                <a:solidFill>
                  <a:schemeClr val="dk1"/>
                </a:solidFill>
              </a:rPr>
              <a:t> without </a:t>
            </a:r>
            <a:r>
              <a:rPr lang="en">
                <a:solidFill>
                  <a:srgbClr val="188038"/>
                </a:solidFill>
                <a:latin typeface="Roboto Mono"/>
                <a:ea typeface="Roboto Mono"/>
                <a:cs typeface="Roboto Mono"/>
                <a:sym typeface="Roboto Mono"/>
              </a:rPr>
              <a:t>slow</a:t>
            </a:r>
            <a:r>
              <a:rPr lang="en">
                <a:solidFill>
                  <a:schemeClr val="dk1"/>
                </a:solidFill>
              </a:rPr>
              <a:t>? Let’s see what error this produces and debug it together."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Debug: "Why do you think this error occurred? How can we ensure both pointers are initialized correctly?"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6. Review and Evaluate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test our function with several examples: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For </a:t>
            </a:r>
            <a:r>
              <a:rPr lang="en">
                <a:solidFill>
                  <a:srgbClr val="188038"/>
                </a:solidFill>
                <a:latin typeface="Roboto Mono"/>
                <a:ea typeface="Roboto Mono"/>
                <a:cs typeface="Roboto Mono"/>
                <a:sym typeface="Roboto Mono"/>
              </a:rPr>
              <a:t>[1 -&gt; 2 -&gt; 3 -&gt; 4 -&gt; 5]</a:t>
            </a:r>
            <a:r>
              <a:rPr lang="en">
                <a:solidFill>
                  <a:schemeClr val="dk1"/>
                </a:solidFill>
              </a:rPr>
              <a:t>, the output should be </a:t>
            </a:r>
            <a:r>
              <a:rPr lang="en">
                <a:solidFill>
                  <a:srgbClr val="188038"/>
                </a:solidFill>
                <a:latin typeface="Roboto Mono"/>
                <a:ea typeface="Roboto Mono"/>
                <a:cs typeface="Roboto Mono"/>
                <a:sym typeface="Roboto Mono"/>
              </a:rPr>
              <a:t>3</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For </a:t>
            </a:r>
            <a:r>
              <a:rPr lang="en">
                <a:solidFill>
                  <a:srgbClr val="188038"/>
                </a:solidFill>
                <a:latin typeface="Roboto Mono"/>
                <a:ea typeface="Roboto Mono"/>
                <a:cs typeface="Roboto Mono"/>
                <a:sym typeface="Roboto Mono"/>
              </a:rPr>
              <a:t>[1 -&gt; 2 -&gt; 3 -&gt; 4]</a:t>
            </a:r>
            <a:r>
              <a:rPr lang="en">
                <a:solidFill>
                  <a:schemeClr val="dk1"/>
                </a:solidFill>
              </a:rPr>
              <a:t>, the output should be </a:t>
            </a:r>
            <a:r>
              <a:rPr lang="en">
                <a:solidFill>
                  <a:srgbClr val="188038"/>
                </a:solidFill>
                <a:latin typeface="Roboto Mono"/>
                <a:ea typeface="Roboto Mono"/>
                <a:cs typeface="Roboto Mono"/>
                <a:sym typeface="Roboto Mono"/>
              </a:rPr>
              <a:t>3</a:t>
            </a:r>
            <a:r>
              <a:rPr lang="en">
                <a:solidFill>
                  <a:schemeClr val="dk1"/>
                </a:solidFill>
              </a:rPr>
              <a:t> as it’s the second middle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"Finally, evaluate the time and space complexity: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Time complexity: O(n) since we traverse the list once.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Space complexity: O(1) because we only use two pointers."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does this technique return the second middle node for even-length lists? How does the pointer movement ensure this?"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predictions: "Before we run the function, what do you expect the output will be for </a:t>
            </a:r>
            <a:r>
              <a:rPr lang="en">
                <a:solidFill>
                  <a:srgbClr val="188038"/>
                </a:solidFill>
                <a:latin typeface="Roboto Mono"/>
                <a:ea typeface="Roboto Mono"/>
                <a:cs typeface="Roboto Mono"/>
                <a:sym typeface="Roboto Mono"/>
              </a:rPr>
              <a:t>[1 -&gt; 2 -&gt; 3 -&gt; 4]</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Invite suggestions: "What edge cases should we test? For example, what happens if the list has only one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Normalize mistakes: "It’s okay to make errors during implementation. Debugging is part of learning—let’s fix this together."</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f31931538e_0_9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3f31931538e_0_9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Demonstrate how to find the middle node of a linked list, returning the second middle node for even-length lists, using the slow-fast pointer technique and the UMPIRE strategy.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the UMPIRE strategy (Understand, Match, Plan, Implement, Review, Evaluate) to solve the problem.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Walk students through each step, explaining decisions and encouraging participation.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Intentionally make a small mistake during implementation to model debugging and normalize errors.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Understand the Problem</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start with the first step: Understand. The task is to find the middle node of a linked list. If the list has an odd number of nodes, we return the middle one. If it has an even number of nodes, we return the second middle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 </a:t>
            </a:r>
            <a:r>
              <a:rPr lang="en">
                <a:solidFill>
                  <a:srgbClr val="188038"/>
                </a:solidFill>
                <a:latin typeface="Roboto Mono"/>
                <a:ea typeface="Roboto Mono"/>
                <a:cs typeface="Roboto Mono"/>
                <a:sym typeface="Roboto Mono"/>
              </a:rPr>
              <a:t>[1 -&gt; 2 -&gt; 3 -&gt; 4 -&gt; 5]</a:t>
            </a:r>
            <a:r>
              <a:rPr lang="en">
                <a:solidFill>
                  <a:schemeClr val="dk1"/>
                </a:solidFill>
              </a:rPr>
              <a:t>, the middle node is </a:t>
            </a:r>
            <a:r>
              <a:rPr lang="en">
                <a:solidFill>
                  <a:srgbClr val="188038"/>
                </a:solidFill>
                <a:latin typeface="Roboto Mono"/>
                <a:ea typeface="Roboto Mono"/>
                <a:cs typeface="Roboto Mono"/>
                <a:sym typeface="Roboto Mono"/>
              </a:rPr>
              <a:t>3</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 </a:t>
            </a:r>
            <a:r>
              <a:rPr lang="en">
                <a:solidFill>
                  <a:srgbClr val="188038"/>
                </a:solidFill>
                <a:latin typeface="Roboto Mono"/>
                <a:ea typeface="Roboto Mono"/>
                <a:cs typeface="Roboto Mono"/>
                <a:sym typeface="Roboto Mono"/>
              </a:rPr>
              <a:t>[1 -&gt; 2 -&gt; 3 -&gt; 4]</a:t>
            </a:r>
            <a:r>
              <a:rPr lang="en">
                <a:solidFill>
                  <a:schemeClr val="dk1"/>
                </a:solidFill>
              </a:rPr>
              <a:t>, the middle node is </a:t>
            </a:r>
            <a:r>
              <a:rPr lang="en">
                <a:solidFill>
                  <a:srgbClr val="188038"/>
                </a:solidFill>
                <a:latin typeface="Roboto Mono"/>
                <a:ea typeface="Roboto Mono"/>
                <a:cs typeface="Roboto Mono"/>
                <a:sym typeface="Roboto Mono"/>
              </a:rPr>
              <a:t>3</a:t>
            </a:r>
            <a:r>
              <a:rPr lang="en">
                <a:solidFill>
                  <a:schemeClr val="dk1"/>
                </a:solidFill>
              </a:rPr>
              <a:t> (the second middle node)."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Match</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"Next, let’s Match the problem to a technique. The slow-fast pointer technique is ideal for this task because it efficiently finds the second middle node by leveraging two pointers moving at different speeds."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Plan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"Here’s our plan:</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Initialize two pointers, </a:t>
            </a:r>
            <a:r>
              <a:rPr lang="en">
                <a:solidFill>
                  <a:srgbClr val="188038"/>
                </a:solidFill>
                <a:latin typeface="Roboto Mono"/>
                <a:ea typeface="Roboto Mono"/>
                <a:cs typeface="Roboto Mono"/>
                <a:sym typeface="Roboto Mono"/>
              </a:rPr>
              <a:t>slow</a:t>
            </a:r>
            <a:r>
              <a:rPr lang="en">
                <a:solidFill>
                  <a:schemeClr val="dk1"/>
                </a:solidFill>
              </a:rPr>
              <a:t> and </a:t>
            </a:r>
            <a:r>
              <a:rPr lang="en">
                <a:solidFill>
                  <a:srgbClr val="188038"/>
                </a:solidFill>
                <a:latin typeface="Roboto Mono"/>
                <a:ea typeface="Roboto Mono"/>
                <a:cs typeface="Roboto Mono"/>
                <a:sym typeface="Roboto Mono"/>
              </a:rPr>
              <a:t>fast</a:t>
            </a:r>
            <a:r>
              <a:rPr lang="en">
                <a:solidFill>
                  <a:schemeClr val="dk1"/>
                </a:solidFill>
              </a:rPr>
              <a:t>, both starting at the head of the list.</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Move the </a:t>
            </a:r>
            <a:r>
              <a:rPr lang="en">
                <a:solidFill>
                  <a:srgbClr val="188038"/>
                </a:solidFill>
                <a:latin typeface="Roboto Mono"/>
                <a:ea typeface="Roboto Mono"/>
                <a:cs typeface="Roboto Mono"/>
                <a:sym typeface="Roboto Mono"/>
              </a:rPr>
              <a:t>fast</a:t>
            </a:r>
            <a:r>
              <a:rPr lang="en">
                <a:solidFill>
                  <a:schemeClr val="dk1"/>
                </a:solidFill>
              </a:rPr>
              <a:t> pointer two steps at a time and the </a:t>
            </a:r>
            <a:r>
              <a:rPr lang="en">
                <a:solidFill>
                  <a:srgbClr val="188038"/>
                </a:solidFill>
                <a:latin typeface="Roboto Mono"/>
                <a:ea typeface="Roboto Mono"/>
                <a:cs typeface="Roboto Mono"/>
                <a:sym typeface="Roboto Mono"/>
              </a:rPr>
              <a:t>slow</a:t>
            </a:r>
            <a:r>
              <a:rPr lang="en">
                <a:solidFill>
                  <a:schemeClr val="dk1"/>
                </a:solidFill>
              </a:rPr>
              <a:t> pointer one step at a time.</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When the </a:t>
            </a:r>
            <a:r>
              <a:rPr lang="en">
                <a:solidFill>
                  <a:srgbClr val="188038"/>
                </a:solidFill>
                <a:latin typeface="Roboto Mono"/>
                <a:ea typeface="Roboto Mono"/>
                <a:cs typeface="Roboto Mono"/>
                <a:sym typeface="Roboto Mono"/>
              </a:rPr>
              <a:t>fast</a:t>
            </a:r>
            <a:r>
              <a:rPr lang="en">
                <a:solidFill>
                  <a:schemeClr val="dk1"/>
                </a:solidFill>
              </a:rPr>
              <a:t> pointer reaches the end of the list (or the last valid node), the </a:t>
            </a:r>
            <a:r>
              <a:rPr lang="en">
                <a:solidFill>
                  <a:srgbClr val="188038"/>
                </a:solidFill>
                <a:latin typeface="Roboto Mono"/>
                <a:ea typeface="Roboto Mono"/>
                <a:cs typeface="Roboto Mono"/>
                <a:sym typeface="Roboto Mono"/>
              </a:rPr>
              <a:t>slow</a:t>
            </a:r>
            <a:r>
              <a:rPr lang="en">
                <a:solidFill>
                  <a:schemeClr val="dk1"/>
                </a:solidFill>
              </a:rPr>
              <a:t> pointer will point to the second middle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method ensures that the </a:t>
            </a:r>
            <a:r>
              <a:rPr lang="en">
                <a:solidFill>
                  <a:srgbClr val="188038"/>
                </a:solidFill>
                <a:latin typeface="Roboto Mono"/>
                <a:ea typeface="Roboto Mono"/>
                <a:cs typeface="Roboto Mono"/>
                <a:sym typeface="Roboto Mono"/>
              </a:rPr>
              <a:t>slow</a:t>
            </a:r>
            <a:r>
              <a:rPr lang="en">
                <a:solidFill>
                  <a:schemeClr val="dk1"/>
                </a:solidFill>
              </a:rPr>
              <a:t> pointer lands on the second middle node for even-length lists."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4. Implement</a:t>
            </a:r>
            <a:endParaRPr b="1">
              <a:solidFill>
                <a:schemeClr val="dk1"/>
              </a:solidFill>
            </a:endParaRPr>
          </a:p>
          <a:p>
            <a:pPr indent="0" lvl="0" marL="0" rtl="0" algn="l">
              <a:spcBef>
                <a:spcPts val="200"/>
              </a:spcBef>
              <a:spcAft>
                <a:spcPts val="0"/>
              </a:spcAft>
              <a:buNone/>
            </a:pPr>
            <a:r>
              <a:rPr lang="en">
                <a:solidFill>
                  <a:schemeClr val="dk1"/>
                </a:solidFill>
              </a:rPr>
              <a:t>"Let’s implement the function step by step. We’ll name it </a:t>
            </a:r>
            <a:r>
              <a:rPr lang="en">
                <a:solidFill>
                  <a:srgbClr val="188038"/>
                </a:solidFill>
                <a:latin typeface="Roboto Mono"/>
                <a:ea typeface="Roboto Mono"/>
                <a:cs typeface="Roboto Mono"/>
                <a:sym typeface="Roboto Mono"/>
              </a:rPr>
              <a:t>find_middle</a:t>
            </a:r>
            <a:r>
              <a:rPr lang="en">
                <a:solidFill>
                  <a:schemeClr val="dk1"/>
                </a:solidFill>
              </a:rPr>
              <a:t>."</a:t>
            </a:r>
            <a:br>
              <a:rPr lang="en">
                <a:solidFill>
                  <a:schemeClr val="dk1"/>
                </a:solidFill>
              </a:rPr>
            </a:br>
            <a:r>
              <a:rPr lang="en">
                <a:solidFill>
                  <a:schemeClr val="dk1"/>
                </a:solidFill>
                <a:latin typeface="Consolas"/>
                <a:ea typeface="Consolas"/>
                <a:cs typeface="Consolas"/>
                <a:sym typeface="Consolas"/>
              </a:rPr>
              <a:t> def find_middle(head):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slow = fast = head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while fast and fast.next: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slow = slow.next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fast = fast.next.next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slow</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"Notice how the condition </a:t>
            </a:r>
            <a:r>
              <a:rPr lang="en">
                <a:solidFill>
                  <a:srgbClr val="188038"/>
                </a:solidFill>
                <a:latin typeface="Roboto Mono"/>
                <a:ea typeface="Roboto Mono"/>
                <a:cs typeface="Roboto Mono"/>
                <a:sym typeface="Roboto Mono"/>
              </a:rPr>
              <a:t>while fast and fast.next</a:t>
            </a:r>
            <a:r>
              <a:rPr lang="en">
                <a:solidFill>
                  <a:schemeClr val="dk1"/>
                </a:solidFill>
              </a:rPr>
              <a:t> ensures we safely traverse the list without running into errors at the end."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key is that the </a:t>
            </a:r>
            <a:r>
              <a:rPr lang="en">
                <a:solidFill>
                  <a:srgbClr val="188038"/>
                </a:solidFill>
                <a:latin typeface="Roboto Mono"/>
                <a:ea typeface="Roboto Mono"/>
                <a:cs typeface="Roboto Mono"/>
                <a:sym typeface="Roboto Mono"/>
              </a:rPr>
              <a:t>slow</a:t>
            </a:r>
            <a:r>
              <a:rPr lang="en">
                <a:solidFill>
                  <a:schemeClr val="dk1"/>
                </a:solidFill>
              </a:rPr>
              <a:t> pointer always moves at half the speed of the </a:t>
            </a:r>
            <a:r>
              <a:rPr lang="en">
                <a:solidFill>
                  <a:srgbClr val="188038"/>
                </a:solidFill>
                <a:latin typeface="Roboto Mono"/>
                <a:ea typeface="Roboto Mono"/>
                <a:cs typeface="Roboto Mono"/>
                <a:sym typeface="Roboto Mono"/>
              </a:rPr>
              <a:t>fast</a:t>
            </a:r>
            <a:r>
              <a:rPr lang="en">
                <a:solidFill>
                  <a:schemeClr val="dk1"/>
                </a:solidFill>
              </a:rPr>
              <a:t> pointer, so it reaches the correct middle node when the </a:t>
            </a:r>
            <a:r>
              <a:rPr lang="en">
                <a:solidFill>
                  <a:srgbClr val="188038"/>
                </a:solidFill>
                <a:latin typeface="Roboto Mono"/>
                <a:ea typeface="Roboto Mono"/>
                <a:cs typeface="Roboto Mono"/>
                <a:sym typeface="Roboto Mono"/>
              </a:rPr>
              <a:t>fast</a:t>
            </a:r>
            <a:r>
              <a:rPr lang="en">
                <a:solidFill>
                  <a:schemeClr val="dk1"/>
                </a:solidFill>
              </a:rPr>
              <a:t> pointer finishes."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5. Normalize Mistakes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Introduce an intentional mistake: "Oops! What happens if we accidentally initialize only </a:t>
            </a:r>
            <a:r>
              <a:rPr lang="en">
                <a:solidFill>
                  <a:srgbClr val="188038"/>
                </a:solidFill>
                <a:latin typeface="Roboto Mono"/>
                <a:ea typeface="Roboto Mono"/>
                <a:cs typeface="Roboto Mono"/>
                <a:sym typeface="Roboto Mono"/>
              </a:rPr>
              <a:t>fast</a:t>
            </a:r>
            <a:r>
              <a:rPr lang="en">
                <a:solidFill>
                  <a:schemeClr val="dk1"/>
                </a:solidFill>
              </a:rPr>
              <a:t> without </a:t>
            </a:r>
            <a:r>
              <a:rPr lang="en">
                <a:solidFill>
                  <a:srgbClr val="188038"/>
                </a:solidFill>
                <a:latin typeface="Roboto Mono"/>
                <a:ea typeface="Roboto Mono"/>
                <a:cs typeface="Roboto Mono"/>
                <a:sym typeface="Roboto Mono"/>
              </a:rPr>
              <a:t>slow</a:t>
            </a:r>
            <a:r>
              <a:rPr lang="en">
                <a:solidFill>
                  <a:schemeClr val="dk1"/>
                </a:solidFill>
              </a:rPr>
              <a:t>? Let’s see what error this produces and debug it together."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Debug: "Why do you think this error occurred? How can we ensure both pointers are initialized correctly?"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6. Review and Evaluate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test our function with several examples: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For </a:t>
            </a:r>
            <a:r>
              <a:rPr lang="en">
                <a:solidFill>
                  <a:srgbClr val="188038"/>
                </a:solidFill>
                <a:latin typeface="Roboto Mono"/>
                <a:ea typeface="Roboto Mono"/>
                <a:cs typeface="Roboto Mono"/>
                <a:sym typeface="Roboto Mono"/>
              </a:rPr>
              <a:t>[1 -&gt; 2 -&gt; 3 -&gt; 4 -&gt; 5]</a:t>
            </a:r>
            <a:r>
              <a:rPr lang="en">
                <a:solidFill>
                  <a:schemeClr val="dk1"/>
                </a:solidFill>
              </a:rPr>
              <a:t>, the output should be </a:t>
            </a:r>
            <a:r>
              <a:rPr lang="en">
                <a:solidFill>
                  <a:srgbClr val="188038"/>
                </a:solidFill>
                <a:latin typeface="Roboto Mono"/>
                <a:ea typeface="Roboto Mono"/>
                <a:cs typeface="Roboto Mono"/>
                <a:sym typeface="Roboto Mono"/>
              </a:rPr>
              <a:t>3</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For </a:t>
            </a:r>
            <a:r>
              <a:rPr lang="en">
                <a:solidFill>
                  <a:srgbClr val="188038"/>
                </a:solidFill>
                <a:latin typeface="Roboto Mono"/>
                <a:ea typeface="Roboto Mono"/>
                <a:cs typeface="Roboto Mono"/>
                <a:sym typeface="Roboto Mono"/>
              </a:rPr>
              <a:t>[1 -&gt; 2 -&gt; 3 -&gt; 4]</a:t>
            </a:r>
            <a:r>
              <a:rPr lang="en">
                <a:solidFill>
                  <a:schemeClr val="dk1"/>
                </a:solidFill>
              </a:rPr>
              <a:t>, the output should be </a:t>
            </a:r>
            <a:r>
              <a:rPr lang="en">
                <a:solidFill>
                  <a:srgbClr val="188038"/>
                </a:solidFill>
                <a:latin typeface="Roboto Mono"/>
                <a:ea typeface="Roboto Mono"/>
                <a:cs typeface="Roboto Mono"/>
                <a:sym typeface="Roboto Mono"/>
              </a:rPr>
              <a:t>3</a:t>
            </a:r>
            <a:r>
              <a:rPr lang="en">
                <a:solidFill>
                  <a:schemeClr val="dk1"/>
                </a:solidFill>
              </a:rPr>
              <a:t> as it’s the second middle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"Finally, evaluate the time and space complexity: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Time complexity: O(n) since we traverse the list once.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Space complexity: O(1) because we only use two pointers."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does this technique return the second middle node for even-length lists? How does the pointer movement ensure this?"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predictions: "Before we run the function, what do you expect the output will be for </a:t>
            </a:r>
            <a:r>
              <a:rPr lang="en">
                <a:solidFill>
                  <a:srgbClr val="188038"/>
                </a:solidFill>
                <a:latin typeface="Roboto Mono"/>
                <a:ea typeface="Roboto Mono"/>
                <a:cs typeface="Roboto Mono"/>
                <a:sym typeface="Roboto Mono"/>
              </a:rPr>
              <a:t>[1 -&gt; 2 -&gt; 3 -&gt; 4]</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Invite suggestions: "What edge cases should we test? For example, what happens if the list has only one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Normalize mistakes: "It’s okay to make errors during implementation. Debugging is part of learning—let’s fix this together."</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f31931538e_0_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3f31931538e_0_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Demonstrate how to find the middle node of a linked list, returning the second middle node for even-length lists, using the slow-fast pointer technique and the UMPIRE strategy.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the UMPIRE strategy (Understand, Match, Plan, Implement, Review, Evaluate) to solve the problem.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Walk students through each step, explaining decisions and encouraging participation.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Intentionally make a small mistake during implementation to model debugging and normalize errors.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Understand the Problem</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start with the first step: Understand. The task is to find the middle node of a linked list. If the list has an odd number of nodes, we return the middle one. If it has an even number of nodes, we return the second middle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 </a:t>
            </a:r>
            <a:r>
              <a:rPr lang="en">
                <a:solidFill>
                  <a:srgbClr val="188038"/>
                </a:solidFill>
                <a:latin typeface="Roboto Mono"/>
                <a:ea typeface="Roboto Mono"/>
                <a:cs typeface="Roboto Mono"/>
                <a:sym typeface="Roboto Mono"/>
              </a:rPr>
              <a:t>[1 -&gt; 2 -&gt; 3 -&gt; 4 -&gt; 5]</a:t>
            </a:r>
            <a:r>
              <a:rPr lang="en">
                <a:solidFill>
                  <a:schemeClr val="dk1"/>
                </a:solidFill>
              </a:rPr>
              <a:t>, the middle node is </a:t>
            </a:r>
            <a:r>
              <a:rPr lang="en">
                <a:solidFill>
                  <a:srgbClr val="188038"/>
                </a:solidFill>
                <a:latin typeface="Roboto Mono"/>
                <a:ea typeface="Roboto Mono"/>
                <a:cs typeface="Roboto Mono"/>
                <a:sym typeface="Roboto Mono"/>
              </a:rPr>
              <a:t>3</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 </a:t>
            </a:r>
            <a:r>
              <a:rPr lang="en">
                <a:solidFill>
                  <a:srgbClr val="188038"/>
                </a:solidFill>
                <a:latin typeface="Roboto Mono"/>
                <a:ea typeface="Roboto Mono"/>
                <a:cs typeface="Roboto Mono"/>
                <a:sym typeface="Roboto Mono"/>
              </a:rPr>
              <a:t>[1 -&gt; 2 -&gt; 3 -&gt; 4]</a:t>
            </a:r>
            <a:r>
              <a:rPr lang="en">
                <a:solidFill>
                  <a:schemeClr val="dk1"/>
                </a:solidFill>
              </a:rPr>
              <a:t>, the middle node is </a:t>
            </a:r>
            <a:r>
              <a:rPr lang="en">
                <a:solidFill>
                  <a:srgbClr val="188038"/>
                </a:solidFill>
                <a:latin typeface="Roboto Mono"/>
                <a:ea typeface="Roboto Mono"/>
                <a:cs typeface="Roboto Mono"/>
                <a:sym typeface="Roboto Mono"/>
              </a:rPr>
              <a:t>3</a:t>
            </a:r>
            <a:r>
              <a:rPr lang="en">
                <a:solidFill>
                  <a:schemeClr val="dk1"/>
                </a:solidFill>
              </a:rPr>
              <a:t> (the second middle node)."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Match</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"Next, let’s Match the problem to a technique. The slow-fast pointer technique is ideal for this task because it efficiently finds the second middle node by leveraging two pointers moving at different speeds."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Plan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"Here’s our plan:</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Initialize two pointers, </a:t>
            </a:r>
            <a:r>
              <a:rPr lang="en">
                <a:solidFill>
                  <a:srgbClr val="188038"/>
                </a:solidFill>
                <a:latin typeface="Roboto Mono"/>
                <a:ea typeface="Roboto Mono"/>
                <a:cs typeface="Roboto Mono"/>
                <a:sym typeface="Roboto Mono"/>
              </a:rPr>
              <a:t>slow</a:t>
            </a:r>
            <a:r>
              <a:rPr lang="en">
                <a:solidFill>
                  <a:schemeClr val="dk1"/>
                </a:solidFill>
              </a:rPr>
              <a:t> and </a:t>
            </a:r>
            <a:r>
              <a:rPr lang="en">
                <a:solidFill>
                  <a:srgbClr val="188038"/>
                </a:solidFill>
                <a:latin typeface="Roboto Mono"/>
                <a:ea typeface="Roboto Mono"/>
                <a:cs typeface="Roboto Mono"/>
                <a:sym typeface="Roboto Mono"/>
              </a:rPr>
              <a:t>fast</a:t>
            </a:r>
            <a:r>
              <a:rPr lang="en">
                <a:solidFill>
                  <a:schemeClr val="dk1"/>
                </a:solidFill>
              </a:rPr>
              <a:t>, both starting at the head of the list.</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Move the </a:t>
            </a:r>
            <a:r>
              <a:rPr lang="en">
                <a:solidFill>
                  <a:srgbClr val="188038"/>
                </a:solidFill>
                <a:latin typeface="Roboto Mono"/>
                <a:ea typeface="Roboto Mono"/>
                <a:cs typeface="Roboto Mono"/>
                <a:sym typeface="Roboto Mono"/>
              </a:rPr>
              <a:t>fast</a:t>
            </a:r>
            <a:r>
              <a:rPr lang="en">
                <a:solidFill>
                  <a:schemeClr val="dk1"/>
                </a:solidFill>
              </a:rPr>
              <a:t> pointer two steps at a time and the </a:t>
            </a:r>
            <a:r>
              <a:rPr lang="en">
                <a:solidFill>
                  <a:srgbClr val="188038"/>
                </a:solidFill>
                <a:latin typeface="Roboto Mono"/>
                <a:ea typeface="Roboto Mono"/>
                <a:cs typeface="Roboto Mono"/>
                <a:sym typeface="Roboto Mono"/>
              </a:rPr>
              <a:t>slow</a:t>
            </a:r>
            <a:r>
              <a:rPr lang="en">
                <a:solidFill>
                  <a:schemeClr val="dk1"/>
                </a:solidFill>
              </a:rPr>
              <a:t> pointer one step at a time.</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When the </a:t>
            </a:r>
            <a:r>
              <a:rPr lang="en">
                <a:solidFill>
                  <a:srgbClr val="188038"/>
                </a:solidFill>
                <a:latin typeface="Roboto Mono"/>
                <a:ea typeface="Roboto Mono"/>
                <a:cs typeface="Roboto Mono"/>
                <a:sym typeface="Roboto Mono"/>
              </a:rPr>
              <a:t>fast</a:t>
            </a:r>
            <a:r>
              <a:rPr lang="en">
                <a:solidFill>
                  <a:schemeClr val="dk1"/>
                </a:solidFill>
              </a:rPr>
              <a:t> pointer reaches the end of the list (or the last valid node), the </a:t>
            </a:r>
            <a:r>
              <a:rPr lang="en">
                <a:solidFill>
                  <a:srgbClr val="188038"/>
                </a:solidFill>
                <a:latin typeface="Roboto Mono"/>
                <a:ea typeface="Roboto Mono"/>
                <a:cs typeface="Roboto Mono"/>
                <a:sym typeface="Roboto Mono"/>
              </a:rPr>
              <a:t>slow</a:t>
            </a:r>
            <a:r>
              <a:rPr lang="en">
                <a:solidFill>
                  <a:schemeClr val="dk1"/>
                </a:solidFill>
              </a:rPr>
              <a:t> pointer will point to the second middle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method ensures that the </a:t>
            </a:r>
            <a:r>
              <a:rPr lang="en">
                <a:solidFill>
                  <a:srgbClr val="188038"/>
                </a:solidFill>
                <a:latin typeface="Roboto Mono"/>
                <a:ea typeface="Roboto Mono"/>
                <a:cs typeface="Roboto Mono"/>
                <a:sym typeface="Roboto Mono"/>
              </a:rPr>
              <a:t>slow</a:t>
            </a:r>
            <a:r>
              <a:rPr lang="en">
                <a:solidFill>
                  <a:schemeClr val="dk1"/>
                </a:solidFill>
              </a:rPr>
              <a:t> pointer lands on the second middle node for even-length lists."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4. Implement</a:t>
            </a:r>
            <a:endParaRPr b="1">
              <a:solidFill>
                <a:schemeClr val="dk1"/>
              </a:solidFill>
            </a:endParaRPr>
          </a:p>
          <a:p>
            <a:pPr indent="0" lvl="0" marL="0" rtl="0" algn="l">
              <a:spcBef>
                <a:spcPts val="200"/>
              </a:spcBef>
              <a:spcAft>
                <a:spcPts val="0"/>
              </a:spcAft>
              <a:buNone/>
            </a:pPr>
            <a:r>
              <a:rPr lang="en">
                <a:solidFill>
                  <a:schemeClr val="dk1"/>
                </a:solidFill>
              </a:rPr>
              <a:t>"Let’s implement the function step by step. We’ll name it </a:t>
            </a:r>
            <a:r>
              <a:rPr lang="en">
                <a:solidFill>
                  <a:srgbClr val="188038"/>
                </a:solidFill>
                <a:latin typeface="Roboto Mono"/>
                <a:ea typeface="Roboto Mono"/>
                <a:cs typeface="Roboto Mono"/>
                <a:sym typeface="Roboto Mono"/>
              </a:rPr>
              <a:t>find_middle</a:t>
            </a:r>
            <a:r>
              <a:rPr lang="en">
                <a:solidFill>
                  <a:schemeClr val="dk1"/>
                </a:solidFill>
              </a:rPr>
              <a:t>."</a:t>
            </a:r>
            <a:br>
              <a:rPr lang="en">
                <a:solidFill>
                  <a:schemeClr val="dk1"/>
                </a:solidFill>
              </a:rPr>
            </a:br>
            <a:r>
              <a:rPr lang="en">
                <a:solidFill>
                  <a:schemeClr val="dk1"/>
                </a:solidFill>
                <a:latin typeface="Consolas"/>
                <a:ea typeface="Consolas"/>
                <a:cs typeface="Consolas"/>
                <a:sym typeface="Consolas"/>
              </a:rPr>
              <a:t> def find_middle(head):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slow = fast = head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while fast and fast.next: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slow = slow.next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fast = fast.next.next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slow</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"Notice how the condition </a:t>
            </a:r>
            <a:r>
              <a:rPr lang="en">
                <a:solidFill>
                  <a:srgbClr val="188038"/>
                </a:solidFill>
                <a:latin typeface="Roboto Mono"/>
                <a:ea typeface="Roboto Mono"/>
                <a:cs typeface="Roboto Mono"/>
                <a:sym typeface="Roboto Mono"/>
              </a:rPr>
              <a:t>while fast and fast.next</a:t>
            </a:r>
            <a:r>
              <a:rPr lang="en">
                <a:solidFill>
                  <a:schemeClr val="dk1"/>
                </a:solidFill>
              </a:rPr>
              <a:t> ensures we safely traverse the list without running into errors at the end."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key is that the </a:t>
            </a:r>
            <a:r>
              <a:rPr lang="en">
                <a:solidFill>
                  <a:srgbClr val="188038"/>
                </a:solidFill>
                <a:latin typeface="Roboto Mono"/>
                <a:ea typeface="Roboto Mono"/>
                <a:cs typeface="Roboto Mono"/>
                <a:sym typeface="Roboto Mono"/>
              </a:rPr>
              <a:t>slow</a:t>
            </a:r>
            <a:r>
              <a:rPr lang="en">
                <a:solidFill>
                  <a:schemeClr val="dk1"/>
                </a:solidFill>
              </a:rPr>
              <a:t> pointer always moves at half the speed of the </a:t>
            </a:r>
            <a:r>
              <a:rPr lang="en">
                <a:solidFill>
                  <a:srgbClr val="188038"/>
                </a:solidFill>
                <a:latin typeface="Roboto Mono"/>
                <a:ea typeface="Roboto Mono"/>
                <a:cs typeface="Roboto Mono"/>
                <a:sym typeface="Roboto Mono"/>
              </a:rPr>
              <a:t>fast</a:t>
            </a:r>
            <a:r>
              <a:rPr lang="en">
                <a:solidFill>
                  <a:schemeClr val="dk1"/>
                </a:solidFill>
              </a:rPr>
              <a:t> pointer, so it reaches the correct middle node when the </a:t>
            </a:r>
            <a:r>
              <a:rPr lang="en">
                <a:solidFill>
                  <a:srgbClr val="188038"/>
                </a:solidFill>
                <a:latin typeface="Roboto Mono"/>
                <a:ea typeface="Roboto Mono"/>
                <a:cs typeface="Roboto Mono"/>
                <a:sym typeface="Roboto Mono"/>
              </a:rPr>
              <a:t>fast</a:t>
            </a:r>
            <a:r>
              <a:rPr lang="en">
                <a:solidFill>
                  <a:schemeClr val="dk1"/>
                </a:solidFill>
              </a:rPr>
              <a:t> pointer finishes."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5. Normalize Mistakes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Introduce an intentional mistake: "Oops! What happens if we accidentally initialize only </a:t>
            </a:r>
            <a:r>
              <a:rPr lang="en">
                <a:solidFill>
                  <a:srgbClr val="188038"/>
                </a:solidFill>
                <a:latin typeface="Roboto Mono"/>
                <a:ea typeface="Roboto Mono"/>
                <a:cs typeface="Roboto Mono"/>
                <a:sym typeface="Roboto Mono"/>
              </a:rPr>
              <a:t>fast</a:t>
            </a:r>
            <a:r>
              <a:rPr lang="en">
                <a:solidFill>
                  <a:schemeClr val="dk1"/>
                </a:solidFill>
              </a:rPr>
              <a:t> without </a:t>
            </a:r>
            <a:r>
              <a:rPr lang="en">
                <a:solidFill>
                  <a:srgbClr val="188038"/>
                </a:solidFill>
                <a:latin typeface="Roboto Mono"/>
                <a:ea typeface="Roboto Mono"/>
                <a:cs typeface="Roboto Mono"/>
                <a:sym typeface="Roboto Mono"/>
              </a:rPr>
              <a:t>slow</a:t>
            </a:r>
            <a:r>
              <a:rPr lang="en">
                <a:solidFill>
                  <a:schemeClr val="dk1"/>
                </a:solidFill>
              </a:rPr>
              <a:t>? Let’s see what error this produces and debug it together."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Debug: "Why do you think this error occurred? How can we ensure both pointers are initialized correctly?"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6. Review and Evaluate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test our function with several examples: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For </a:t>
            </a:r>
            <a:r>
              <a:rPr lang="en">
                <a:solidFill>
                  <a:srgbClr val="188038"/>
                </a:solidFill>
                <a:latin typeface="Roboto Mono"/>
                <a:ea typeface="Roboto Mono"/>
                <a:cs typeface="Roboto Mono"/>
                <a:sym typeface="Roboto Mono"/>
              </a:rPr>
              <a:t>[1 -&gt; 2 -&gt; 3 -&gt; 4 -&gt; 5]</a:t>
            </a:r>
            <a:r>
              <a:rPr lang="en">
                <a:solidFill>
                  <a:schemeClr val="dk1"/>
                </a:solidFill>
              </a:rPr>
              <a:t>, the output should be </a:t>
            </a:r>
            <a:r>
              <a:rPr lang="en">
                <a:solidFill>
                  <a:srgbClr val="188038"/>
                </a:solidFill>
                <a:latin typeface="Roboto Mono"/>
                <a:ea typeface="Roboto Mono"/>
                <a:cs typeface="Roboto Mono"/>
                <a:sym typeface="Roboto Mono"/>
              </a:rPr>
              <a:t>3</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For </a:t>
            </a:r>
            <a:r>
              <a:rPr lang="en">
                <a:solidFill>
                  <a:srgbClr val="188038"/>
                </a:solidFill>
                <a:latin typeface="Roboto Mono"/>
                <a:ea typeface="Roboto Mono"/>
                <a:cs typeface="Roboto Mono"/>
                <a:sym typeface="Roboto Mono"/>
              </a:rPr>
              <a:t>[1 -&gt; 2 -&gt; 3 -&gt; 4]</a:t>
            </a:r>
            <a:r>
              <a:rPr lang="en">
                <a:solidFill>
                  <a:schemeClr val="dk1"/>
                </a:solidFill>
              </a:rPr>
              <a:t>, the output should be </a:t>
            </a:r>
            <a:r>
              <a:rPr lang="en">
                <a:solidFill>
                  <a:srgbClr val="188038"/>
                </a:solidFill>
                <a:latin typeface="Roboto Mono"/>
                <a:ea typeface="Roboto Mono"/>
                <a:cs typeface="Roboto Mono"/>
                <a:sym typeface="Roboto Mono"/>
              </a:rPr>
              <a:t>3</a:t>
            </a:r>
            <a:r>
              <a:rPr lang="en">
                <a:solidFill>
                  <a:schemeClr val="dk1"/>
                </a:solidFill>
              </a:rPr>
              <a:t> as it’s the second middle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"Finally, evaluate the time and space complexity: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Time complexity: O(n) since we traverse the list once.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Space complexity: O(1) because we only use two pointers."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does this technique return the second middle node for even-length lists? How does the pointer movement ensure this?"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predictions: "Before we run the function, what do you expect the output will be for </a:t>
            </a:r>
            <a:r>
              <a:rPr lang="en">
                <a:solidFill>
                  <a:srgbClr val="188038"/>
                </a:solidFill>
                <a:latin typeface="Roboto Mono"/>
                <a:ea typeface="Roboto Mono"/>
                <a:cs typeface="Roboto Mono"/>
                <a:sym typeface="Roboto Mono"/>
              </a:rPr>
              <a:t>[1 -&gt; 2 -&gt; 3 -&gt; 4]</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Invite suggestions: "What edge cases should we test? For example, what happens if the list has only one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Normalize mistakes: "It’s okay to make errors during implementation. Debugging is part of learning—let’s fix this together."</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32872f9321d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32872f9321d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2872f9321d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32872f9321d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2872f9321d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32872f9321d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2872f9321d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32872f9321d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2872f9321d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32872f9321d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2872f9321d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32872f9321d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SLIDES_API1334009245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SLIDES_API1334009245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5.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66.png"/><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 Id="rId3" Type="http://schemas.openxmlformats.org/officeDocument/2006/relationships/image" Target="../media/image21.png"/><Relationship Id="rId4" Type="http://schemas.openxmlformats.org/officeDocument/2006/relationships/image" Target="../media/image1.png"/><Relationship Id="rId5"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4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18.png"/><Relationship Id="rId4" Type="http://schemas.openxmlformats.org/officeDocument/2006/relationships/image" Target="../media/image37.png"/><Relationship Id="rId5"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image" Target="../media/image22.png"/><Relationship Id="rId5"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image" Target="../media/image25.png"/><Relationship Id="rId5"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2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image" Target="../media/image29.png"/><Relationship Id="rId5"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18.png"/><Relationship Id="rId4" Type="http://schemas.openxmlformats.org/officeDocument/2006/relationships/image" Target="../media/image28.png"/><Relationship Id="rId5"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image" Target="../media/image3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1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2.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39.png"/><Relationship Id="rId6" Type="http://schemas.openxmlformats.org/officeDocument/2006/relationships/image" Target="../media/image3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4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image" Target="../media/image29.png"/><Relationship Id="rId5"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5.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7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66.png"/><Relationship Id="rId4"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8.png"/><Relationship Id="rId3" Type="http://schemas.openxmlformats.org/officeDocument/2006/relationships/image" Target="../media/image21.png"/><Relationship Id="rId4" Type="http://schemas.openxmlformats.org/officeDocument/2006/relationships/image" Target="../media/image1.png"/><Relationship Id="rId5" Type="http://schemas.openxmlformats.org/officeDocument/2006/relationships/image" Target="../media/image1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4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18.png"/><Relationship Id="rId4" Type="http://schemas.openxmlformats.org/officeDocument/2006/relationships/image" Target="../media/image37.png"/><Relationship Id="rId5"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7.png"/><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image" Target="../media/image22.png"/><Relationship Id="rId5"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image" Target="../media/image25.png"/><Relationship Id="rId5"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25.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image" Target="../media/image29.png"/><Relationship Id="rId5"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7.png"/><Relationship Id="rId3" Type="http://schemas.openxmlformats.org/officeDocument/2006/relationships/image" Target="../media/image18.png"/><Relationship Id="rId4" Type="http://schemas.openxmlformats.org/officeDocument/2006/relationships/image" Target="../media/image28.png"/><Relationship Id="rId5"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image" Target="../media/image30.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6.png"/><Relationship Id="rId3" Type="http://schemas.openxmlformats.org/officeDocument/2006/relationships/image" Target="../media/image18.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2.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39.png"/><Relationship Id="rId6" Type="http://schemas.openxmlformats.org/officeDocument/2006/relationships/image" Target="../media/image33.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5.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66.png"/><Relationship Id="rId4"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8.png"/><Relationship Id="rId3" Type="http://schemas.openxmlformats.org/officeDocument/2006/relationships/image" Target="../media/image21.png"/><Relationship Id="rId4" Type="http://schemas.openxmlformats.org/officeDocument/2006/relationships/image" Target="../media/image1.png"/><Relationship Id="rId5" Type="http://schemas.openxmlformats.org/officeDocument/2006/relationships/image" Target="../media/image1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41.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18.png"/><Relationship Id="rId4" Type="http://schemas.openxmlformats.org/officeDocument/2006/relationships/image" Target="../media/image37.png"/><Relationship Id="rId5" Type="http://schemas.openxmlformats.org/officeDocument/2006/relationships/image" Target="../media/image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7.png"/><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image" Target="../media/image22.png"/><Relationship Id="rId5"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image" Target="../media/image25.png"/><Relationship Id="rId5" Type="http://schemas.openxmlformats.org/officeDocument/2006/relationships/image" Target="../media/image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25.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image" Target="../media/image29.png"/><Relationship Id="rId5"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7.png"/><Relationship Id="rId3" Type="http://schemas.openxmlformats.org/officeDocument/2006/relationships/image" Target="../media/image18.png"/><Relationship Id="rId4" Type="http://schemas.openxmlformats.org/officeDocument/2006/relationships/image" Target="../media/image28.png"/><Relationship Id="rId5" Type="http://schemas.openxmlformats.org/officeDocument/2006/relationships/image" Target="../media/image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image" Target="../media/image30.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6.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png"/><Relationship Id="rId3" Type="http://schemas.openxmlformats.org/officeDocument/2006/relationships/image" Target="../media/image18.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2.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39.png"/><Relationship Id="rId6" Type="http://schemas.openxmlformats.org/officeDocument/2006/relationships/image" Target="../media/image3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0" name="Google Shape;140;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1" name="Google Shape;141;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2" name="Google Shape;142;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5" name="Google Shape;145;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6" name="Google Shape;146;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7" name="Google Shape;147;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0" name="Google Shape;150;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1" name="Google Shape;151;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2" name="Google Shape;152;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3" name="Google Shape;153;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5" name="Google Shape;155;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6" name="Google Shape;156;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59" name="Google Shape;159;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0" name="Google Shape;160;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1" name="Google Shape;161;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2" name="Google Shape;162;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3" name="Google Shape;163;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5" name="Google Shape;165;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6" name="Google Shape;166;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7" name="Shape 167"/>
        <p:cNvGrpSpPr/>
        <p:nvPr/>
      </p:nvGrpSpPr>
      <p:grpSpPr>
        <a:xfrm>
          <a:off x="0" y="0"/>
          <a:ext cx="0" cy="0"/>
          <a:chOff x="0" y="0"/>
          <a:chExt cx="0" cy="0"/>
        </a:xfrm>
      </p:grpSpPr>
      <p:pic>
        <p:nvPicPr>
          <p:cNvPr id="168" name="Google Shape;168;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69" name="Google Shape;169;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0" name="Google Shape;170;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1" name="Google Shape;171;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2" name="Google Shape;172;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3" name="Google Shape;173;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5" name="Google Shape;175;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6" name="Google Shape;176;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7" name="Shape 177"/>
        <p:cNvGrpSpPr/>
        <p:nvPr/>
      </p:nvGrpSpPr>
      <p:grpSpPr>
        <a:xfrm>
          <a:off x="0" y="0"/>
          <a:ext cx="0" cy="0"/>
          <a:chOff x="0" y="0"/>
          <a:chExt cx="0" cy="0"/>
        </a:xfrm>
      </p:grpSpPr>
      <p:pic>
        <p:nvPicPr>
          <p:cNvPr id="178" name="Google Shape;178;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9" name="Google Shape;179;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1" name="Google Shape;181;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2" name="Google Shape;182;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3" name="Google Shape;183;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5" name="Google Shape;185;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6" name="Google Shape;186;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87" name="Google Shape;187;p29"/>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8" name="Google Shape;188;p29"/>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1" name="Google Shape;191;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1" name="Google Shape;201;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2" name="Google Shape;202;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3" name="Google Shape;203;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4" name="Google Shape;204;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7" name="Google Shape;207;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8" name="Google Shape;208;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9" name="Google Shape;209;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10" name="Shape 210"/>
        <p:cNvGrpSpPr/>
        <p:nvPr/>
      </p:nvGrpSpPr>
      <p:grpSpPr>
        <a:xfrm>
          <a:off x="0" y="0"/>
          <a:ext cx="0" cy="0"/>
          <a:chOff x="0" y="0"/>
          <a:chExt cx="0" cy="0"/>
        </a:xfrm>
      </p:grpSpPr>
      <p:pic>
        <p:nvPicPr>
          <p:cNvPr id="211" name="Google Shape;211;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2" name="Google Shape;212;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3" name="Google Shape;213;p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14" name="Google Shape;214;p3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15" name="Google Shape;215;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6" name="Google Shape;216;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7" name="Google Shape;217;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8" name="Google Shape;218;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9" name="Google Shape;219;p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20" name="Shape 220"/>
        <p:cNvGrpSpPr/>
        <p:nvPr/>
      </p:nvGrpSpPr>
      <p:grpSpPr>
        <a:xfrm>
          <a:off x="0" y="0"/>
          <a:ext cx="0" cy="0"/>
          <a:chOff x="0" y="0"/>
          <a:chExt cx="0" cy="0"/>
        </a:xfrm>
      </p:grpSpPr>
      <p:pic>
        <p:nvPicPr>
          <p:cNvPr id="221" name="Google Shape;221;p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2" name="Google Shape;222;p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3" name="Google Shape;223;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24" name="Google Shape;224;p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25" name="Google Shape;225;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6" name="Google Shape;226;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7" name="Google Shape;227;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28" name="Google Shape;228;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9" name="Google Shape;229;p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30" name="Shape 230"/>
        <p:cNvGrpSpPr/>
        <p:nvPr/>
      </p:nvGrpSpPr>
      <p:grpSpPr>
        <a:xfrm>
          <a:off x="0" y="0"/>
          <a:ext cx="0" cy="0"/>
          <a:chOff x="0" y="0"/>
          <a:chExt cx="0" cy="0"/>
        </a:xfrm>
      </p:grpSpPr>
      <p:pic>
        <p:nvPicPr>
          <p:cNvPr id="231" name="Google Shape;231;p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2" name="Google Shape;232;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34" name="Google Shape;234;p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35" name="Google Shape;235;p3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36" name="Google Shape;236;p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37" name="Shape 237"/>
        <p:cNvGrpSpPr/>
        <p:nvPr/>
      </p:nvGrpSpPr>
      <p:grpSpPr>
        <a:xfrm>
          <a:off x="0" y="0"/>
          <a:ext cx="0" cy="0"/>
          <a:chOff x="0" y="0"/>
          <a:chExt cx="0" cy="0"/>
        </a:xfrm>
      </p:grpSpPr>
      <p:pic>
        <p:nvPicPr>
          <p:cNvPr descr="Divider1.png" id="238" name="Google Shape;238;p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39" name="Google Shape;239;p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0" name="Google Shape;240;p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1" name="Shape 241"/>
        <p:cNvGrpSpPr/>
        <p:nvPr/>
      </p:nvGrpSpPr>
      <p:grpSpPr>
        <a:xfrm>
          <a:off x="0" y="0"/>
          <a:ext cx="0" cy="0"/>
          <a:chOff x="0" y="0"/>
          <a:chExt cx="0" cy="0"/>
        </a:xfrm>
      </p:grpSpPr>
      <p:pic>
        <p:nvPicPr>
          <p:cNvPr id="242" name="Google Shape;242;p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3" name="Google Shape;243;p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44" name="Google Shape;244;p3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46" name="Shape 246"/>
        <p:cNvGrpSpPr/>
        <p:nvPr/>
      </p:nvGrpSpPr>
      <p:grpSpPr>
        <a:xfrm>
          <a:off x="0" y="0"/>
          <a:ext cx="0" cy="0"/>
          <a:chOff x="0" y="0"/>
          <a:chExt cx="0" cy="0"/>
        </a:xfrm>
      </p:grpSpPr>
      <p:pic>
        <p:nvPicPr>
          <p:cNvPr id="247" name="Google Shape;247;p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8" name="Shape 248"/>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49" name="Shape 249"/>
        <p:cNvGrpSpPr/>
        <p:nvPr/>
      </p:nvGrpSpPr>
      <p:grpSpPr>
        <a:xfrm>
          <a:off x="0" y="0"/>
          <a:ext cx="0" cy="0"/>
          <a:chOff x="0" y="0"/>
          <a:chExt cx="0" cy="0"/>
        </a:xfrm>
      </p:grpSpPr>
      <p:grpSp>
        <p:nvGrpSpPr>
          <p:cNvPr id="250" name="Google Shape;250;p39"/>
          <p:cNvGrpSpPr/>
          <p:nvPr/>
        </p:nvGrpSpPr>
        <p:grpSpPr>
          <a:xfrm>
            <a:off x="6262100" y="-3850"/>
            <a:ext cx="2886900" cy="485125"/>
            <a:chOff x="6262100" y="-3850"/>
            <a:chExt cx="2886900" cy="485125"/>
          </a:xfrm>
        </p:grpSpPr>
        <p:pic>
          <p:nvPicPr>
            <p:cNvPr descr="1.png" id="251" name="Google Shape;251;p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2" name="Google Shape;252;p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3" name="Google Shape;253;p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54" name="Google Shape;254;p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55" name="Google Shape;255;p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56" name="Google Shape;256;p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58" name="Google Shape;258;p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59" name="Google Shape;259;p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60" name="Google Shape;260;p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1" name="Google Shape;261;p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2" name="Google Shape;262;p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3" name="Google Shape;263;p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1">
  <p:cSld name="CUSTOM_6_3">
    <p:spTree>
      <p:nvGrpSpPr>
        <p:cNvPr id="264" name="Shape 264"/>
        <p:cNvGrpSpPr/>
        <p:nvPr/>
      </p:nvGrpSpPr>
      <p:grpSpPr>
        <a:xfrm>
          <a:off x="0" y="0"/>
          <a:ext cx="0" cy="0"/>
          <a:chOff x="0" y="0"/>
          <a:chExt cx="0" cy="0"/>
        </a:xfrm>
      </p:grpSpPr>
      <p:pic>
        <p:nvPicPr>
          <p:cNvPr id="265" name="Google Shape;265;p4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66" name="Google Shape;266;p4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267" name="Google Shape;267;p4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68" name="Google Shape;268;p4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69" name="Google Shape;269;p40"/>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270" name="Google Shape;270;p4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271" name="Google Shape;271;p40"/>
          <p:cNvSpPr txBox="1"/>
          <p:nvPr>
            <p:ph idx="1"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1">
  <p:cSld name="CUSTOM_6_2_1_1_1_2_1">
    <p:spTree>
      <p:nvGrpSpPr>
        <p:cNvPr id="272" name="Shape 272"/>
        <p:cNvGrpSpPr/>
        <p:nvPr/>
      </p:nvGrpSpPr>
      <p:grpSpPr>
        <a:xfrm>
          <a:off x="0" y="0"/>
          <a:ext cx="0" cy="0"/>
          <a:chOff x="0" y="0"/>
          <a:chExt cx="0" cy="0"/>
        </a:xfrm>
      </p:grpSpPr>
      <p:pic>
        <p:nvPicPr>
          <p:cNvPr id="273" name="Google Shape;273;p4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74" name="Google Shape;274;p41"/>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75" name="Google Shape;275;p41"/>
          <p:cNvPicPr preferRelativeResize="0"/>
          <p:nvPr/>
        </p:nvPicPr>
        <p:blipFill>
          <a:blip r:embed="rId4">
            <a:alphaModFix/>
          </a:blip>
          <a:stretch>
            <a:fillRect/>
          </a:stretch>
        </p:blipFill>
        <p:spPr>
          <a:xfrm>
            <a:off x="452400" y="439975"/>
            <a:ext cx="654950" cy="654950"/>
          </a:xfrm>
          <a:prstGeom prst="rect">
            <a:avLst/>
          </a:prstGeom>
          <a:noFill/>
          <a:ln>
            <a:noFill/>
          </a:ln>
        </p:spPr>
      </p:pic>
      <p:pic>
        <p:nvPicPr>
          <p:cNvPr id="276" name="Google Shape;276;p4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77" name="Google Shape;277;p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4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79" name="Google Shape;279;p4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80" name="Google Shape;280;p41"/>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84" name="Shape 284"/>
        <p:cNvGrpSpPr/>
        <p:nvPr/>
      </p:nvGrpSpPr>
      <p:grpSpPr>
        <a:xfrm>
          <a:off x="0" y="0"/>
          <a:ext cx="0" cy="0"/>
          <a:chOff x="0" y="0"/>
          <a:chExt cx="0" cy="0"/>
        </a:xfrm>
      </p:grpSpPr>
      <p:pic>
        <p:nvPicPr>
          <p:cNvPr id="285" name="Google Shape;285;p43"/>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86" name="Google Shape;286;p4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87" name="Shape 287"/>
        <p:cNvGrpSpPr/>
        <p:nvPr/>
      </p:nvGrpSpPr>
      <p:grpSpPr>
        <a:xfrm>
          <a:off x="0" y="0"/>
          <a:ext cx="0" cy="0"/>
          <a:chOff x="0" y="0"/>
          <a:chExt cx="0" cy="0"/>
        </a:xfrm>
      </p:grpSpPr>
      <p:pic>
        <p:nvPicPr>
          <p:cNvPr id="288" name="Google Shape;288;p4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89" name="Google Shape;289;p44"/>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90" name="Google Shape;290;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44"/>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92" name="Shape 292"/>
        <p:cNvGrpSpPr/>
        <p:nvPr/>
      </p:nvGrpSpPr>
      <p:grpSpPr>
        <a:xfrm>
          <a:off x="0" y="0"/>
          <a:ext cx="0" cy="0"/>
          <a:chOff x="0" y="0"/>
          <a:chExt cx="0" cy="0"/>
        </a:xfrm>
      </p:grpSpPr>
      <p:pic>
        <p:nvPicPr>
          <p:cNvPr descr="Divider4.png" id="293" name="Google Shape;293;p45"/>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94" name="Google Shape;294;p45"/>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95" name="Google Shape;295;p45"/>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96" name="Google Shape;296;p45"/>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97" name="Google Shape;297;p45"/>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98" name="Google Shape;298;p45"/>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99" name="Shape 299"/>
        <p:cNvGrpSpPr/>
        <p:nvPr/>
      </p:nvGrpSpPr>
      <p:grpSpPr>
        <a:xfrm>
          <a:off x="0" y="0"/>
          <a:ext cx="0" cy="0"/>
          <a:chOff x="0" y="0"/>
          <a:chExt cx="0" cy="0"/>
        </a:xfrm>
      </p:grpSpPr>
      <p:sp>
        <p:nvSpPr>
          <p:cNvPr id="300" name="Google Shape;300;p46"/>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301" name="Google Shape;301;p46"/>
          <p:cNvGrpSpPr/>
          <p:nvPr/>
        </p:nvGrpSpPr>
        <p:grpSpPr>
          <a:xfrm rot="5400000">
            <a:off x="5719749" y="1629787"/>
            <a:ext cx="4964577" cy="1883925"/>
            <a:chOff x="4152224" y="1218499"/>
            <a:chExt cx="4964577" cy="1883925"/>
          </a:xfrm>
        </p:grpSpPr>
        <p:pic>
          <p:nvPicPr>
            <p:cNvPr id="302" name="Google Shape;302;p46"/>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303" name="Google Shape;303;p46"/>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304" name="Google Shape;304;p4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05" name="Google Shape;305;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06" name="Google Shape;306;p46"/>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307" name="Shape 307"/>
        <p:cNvGrpSpPr/>
        <p:nvPr/>
      </p:nvGrpSpPr>
      <p:grpSpPr>
        <a:xfrm>
          <a:off x="0" y="0"/>
          <a:ext cx="0" cy="0"/>
          <a:chOff x="0" y="0"/>
          <a:chExt cx="0" cy="0"/>
        </a:xfrm>
      </p:grpSpPr>
      <p:pic>
        <p:nvPicPr>
          <p:cNvPr id="308" name="Google Shape;308;p47"/>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09" name="Google Shape;309;p47"/>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310" name="Google Shape;310;p4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11" name="Google Shape;311;p4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2" name="Google Shape;312;p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13" name="Google Shape;313;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14" name="Google Shape;314;p47"/>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315" name="Google Shape;315;p47"/>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316" name="Shape 316"/>
        <p:cNvGrpSpPr/>
        <p:nvPr/>
      </p:nvGrpSpPr>
      <p:grpSpPr>
        <a:xfrm>
          <a:off x="0" y="0"/>
          <a:ext cx="0" cy="0"/>
          <a:chOff x="0" y="0"/>
          <a:chExt cx="0" cy="0"/>
        </a:xfrm>
      </p:grpSpPr>
      <p:pic>
        <p:nvPicPr>
          <p:cNvPr id="317" name="Google Shape;317;p4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18" name="Google Shape;318;p4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19" name="Google Shape;319;p48"/>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20" name="Google Shape;320;p4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21" name="Google Shape;321;p4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22" name="Google Shape;322;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3" name="Google Shape;323;p4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24" name="Shape 324"/>
        <p:cNvGrpSpPr/>
        <p:nvPr/>
      </p:nvGrpSpPr>
      <p:grpSpPr>
        <a:xfrm>
          <a:off x="0" y="0"/>
          <a:ext cx="0" cy="0"/>
          <a:chOff x="0" y="0"/>
          <a:chExt cx="0" cy="0"/>
        </a:xfrm>
      </p:grpSpPr>
      <p:pic>
        <p:nvPicPr>
          <p:cNvPr id="325" name="Google Shape;325;p49"/>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26" name="Google Shape;326;p49"/>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27" name="Google Shape;327;p49"/>
          <p:cNvGrpSpPr/>
          <p:nvPr/>
        </p:nvGrpSpPr>
        <p:grpSpPr>
          <a:xfrm>
            <a:off x="5709066" y="201260"/>
            <a:ext cx="2296623" cy="4424889"/>
            <a:chOff x="5598780" y="137712"/>
            <a:chExt cx="2577001" cy="4664652"/>
          </a:xfrm>
        </p:grpSpPr>
        <p:pic>
          <p:nvPicPr>
            <p:cNvPr id="328" name="Google Shape;328;p49"/>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29" name="Google Shape;329;p49"/>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 name="Google Shape;330;p49"/>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31" name="Google Shape;331;p4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32" name="Google Shape;332;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33" name="Google Shape;333;p49"/>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34" name="Shape 334"/>
        <p:cNvGrpSpPr/>
        <p:nvPr/>
      </p:nvGrpSpPr>
      <p:grpSpPr>
        <a:xfrm>
          <a:off x="0" y="0"/>
          <a:ext cx="0" cy="0"/>
          <a:chOff x="0" y="0"/>
          <a:chExt cx="0" cy="0"/>
        </a:xfrm>
      </p:grpSpPr>
      <p:pic>
        <p:nvPicPr>
          <p:cNvPr id="335" name="Google Shape;335;p5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36" name="Google Shape;336;p5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37" name="Google Shape;337;p5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38" name="Google Shape;338;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39" name="Google Shape;339;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40" name="Google Shape;340;p50"/>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1" name="Google Shape;341;p50"/>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42" name="Shape 342"/>
        <p:cNvGrpSpPr/>
        <p:nvPr/>
      </p:nvGrpSpPr>
      <p:grpSpPr>
        <a:xfrm>
          <a:off x="0" y="0"/>
          <a:ext cx="0" cy="0"/>
          <a:chOff x="0" y="0"/>
          <a:chExt cx="0" cy="0"/>
        </a:xfrm>
      </p:grpSpPr>
      <p:pic>
        <p:nvPicPr>
          <p:cNvPr id="343" name="Google Shape;343;p51"/>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44" name="Google Shape;344;p5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45" name="Google Shape;345;p5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46" name="Google Shape;346;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7" name="Google Shape;347;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48" name="Google Shape;348;p51"/>
          <p:cNvGrpSpPr/>
          <p:nvPr/>
        </p:nvGrpSpPr>
        <p:grpSpPr>
          <a:xfrm>
            <a:off x="4344100" y="398125"/>
            <a:ext cx="4546500" cy="4222800"/>
            <a:chOff x="4344100" y="398125"/>
            <a:chExt cx="4546500" cy="4222800"/>
          </a:xfrm>
        </p:grpSpPr>
        <p:sp>
          <p:nvSpPr>
            <p:cNvPr id="349" name="Google Shape;349;p51"/>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0" name="Google Shape;350;p51"/>
            <p:cNvGrpSpPr/>
            <p:nvPr/>
          </p:nvGrpSpPr>
          <p:grpSpPr>
            <a:xfrm>
              <a:off x="4445450" y="524200"/>
              <a:ext cx="399495" cy="101100"/>
              <a:chOff x="4445450" y="524200"/>
              <a:chExt cx="399495" cy="101100"/>
            </a:xfrm>
          </p:grpSpPr>
          <p:sp>
            <p:nvSpPr>
              <p:cNvPr id="351" name="Google Shape;351;p51"/>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1"/>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51"/>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 name="Google Shape;354;p51"/>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55" name="Shape 355"/>
        <p:cNvGrpSpPr/>
        <p:nvPr/>
      </p:nvGrpSpPr>
      <p:grpSpPr>
        <a:xfrm>
          <a:off x="0" y="0"/>
          <a:ext cx="0" cy="0"/>
          <a:chOff x="0" y="0"/>
          <a:chExt cx="0" cy="0"/>
        </a:xfrm>
      </p:grpSpPr>
      <p:pic>
        <p:nvPicPr>
          <p:cNvPr id="356" name="Google Shape;356;p52"/>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57" name="Google Shape;357;p52"/>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58" name="Google Shape;358;p52"/>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59" name="Google Shape;359;p5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60" name="Google Shape;360;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61" name="Shape 361"/>
        <p:cNvGrpSpPr/>
        <p:nvPr/>
      </p:nvGrpSpPr>
      <p:grpSpPr>
        <a:xfrm>
          <a:off x="0" y="0"/>
          <a:ext cx="0" cy="0"/>
          <a:chOff x="0" y="0"/>
          <a:chExt cx="0" cy="0"/>
        </a:xfrm>
      </p:grpSpPr>
      <p:pic>
        <p:nvPicPr>
          <p:cNvPr id="362" name="Google Shape;362;p53"/>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63" name="Google Shape;363;p53"/>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3"/>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65" name="Google Shape;365;p5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66" name="Google Shape;366;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67" name="Google Shape;367;p53"/>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68" name="Google Shape;368;p53"/>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69" name="Google Shape;369;p53"/>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70" name="Shape 370"/>
        <p:cNvGrpSpPr/>
        <p:nvPr/>
      </p:nvGrpSpPr>
      <p:grpSpPr>
        <a:xfrm>
          <a:off x="0" y="0"/>
          <a:ext cx="0" cy="0"/>
          <a:chOff x="0" y="0"/>
          <a:chExt cx="0" cy="0"/>
        </a:xfrm>
      </p:grpSpPr>
      <p:pic>
        <p:nvPicPr>
          <p:cNvPr id="371" name="Google Shape;371;p54"/>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72" name="Google Shape;372;p54"/>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73" name="Google Shape;373;p5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4" name="Google Shape;374;p5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75" name="Google Shape;375;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76" name="Google Shape;376;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77" name="Google Shape;377;p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78" name="Google Shape;378;p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79" name="Google Shape;379;p54"/>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80" name="Shape 380"/>
        <p:cNvGrpSpPr/>
        <p:nvPr/>
      </p:nvGrpSpPr>
      <p:grpSpPr>
        <a:xfrm>
          <a:off x="0" y="0"/>
          <a:ext cx="0" cy="0"/>
          <a:chOff x="0" y="0"/>
          <a:chExt cx="0" cy="0"/>
        </a:xfrm>
      </p:grpSpPr>
      <p:pic>
        <p:nvPicPr>
          <p:cNvPr id="381" name="Google Shape;381;p5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82" name="Google Shape;382;p5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83" name="Google Shape;383;p55"/>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4" name="Google Shape;384;p5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85" name="Google Shape;385;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86" name="Google Shape;386;p55"/>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87" name="Google Shape;387;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88" name="Google Shape;388;p55"/>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89" name="Shape 389"/>
        <p:cNvGrpSpPr/>
        <p:nvPr/>
      </p:nvGrpSpPr>
      <p:grpSpPr>
        <a:xfrm>
          <a:off x="0" y="0"/>
          <a:ext cx="0" cy="0"/>
          <a:chOff x="0" y="0"/>
          <a:chExt cx="0" cy="0"/>
        </a:xfrm>
      </p:grpSpPr>
      <p:pic>
        <p:nvPicPr>
          <p:cNvPr id="390" name="Google Shape;390;p56"/>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91" name="Google Shape;391;p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92" name="Google Shape;392;p56"/>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93" name="Google Shape;393;p56"/>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4" name="Google Shape;394;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5" name="Google Shape;395;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6" name="Google Shape;396;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97" name="Google Shape;397;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8" name="Google Shape;398;p5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99" name="Shape 399"/>
        <p:cNvGrpSpPr/>
        <p:nvPr/>
      </p:nvGrpSpPr>
      <p:grpSpPr>
        <a:xfrm>
          <a:off x="0" y="0"/>
          <a:ext cx="0" cy="0"/>
          <a:chOff x="0" y="0"/>
          <a:chExt cx="0" cy="0"/>
        </a:xfrm>
      </p:grpSpPr>
      <p:pic>
        <p:nvPicPr>
          <p:cNvPr id="400" name="Google Shape;400;p5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01" name="Google Shape;401;p57"/>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402" name="Google Shape;402;p5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403" name="Google Shape;403;p5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4" name="Google Shape;404;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5" name="Google Shape;405;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6" name="Google Shape;406;p5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407" name="Google Shape;407;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08" name="Google Shape;408;p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409" name="Shape 409"/>
        <p:cNvGrpSpPr/>
        <p:nvPr/>
      </p:nvGrpSpPr>
      <p:grpSpPr>
        <a:xfrm>
          <a:off x="0" y="0"/>
          <a:ext cx="0" cy="0"/>
          <a:chOff x="0" y="0"/>
          <a:chExt cx="0" cy="0"/>
        </a:xfrm>
      </p:grpSpPr>
      <p:pic>
        <p:nvPicPr>
          <p:cNvPr id="410" name="Google Shape;410;p58"/>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411" name="Google Shape;411;p5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12" name="Google Shape;412;p5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13" name="Google Shape;413;p58"/>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14" name="Google Shape;414;p5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15" name="Google Shape;415;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6" name="Google Shape;416;p5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417" name="Google Shape;417;p5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8" name="Google Shape;418;p58"/>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19" name="Shape 419"/>
        <p:cNvGrpSpPr/>
        <p:nvPr/>
      </p:nvGrpSpPr>
      <p:grpSpPr>
        <a:xfrm>
          <a:off x="0" y="0"/>
          <a:ext cx="0" cy="0"/>
          <a:chOff x="0" y="0"/>
          <a:chExt cx="0" cy="0"/>
        </a:xfrm>
      </p:grpSpPr>
      <p:pic>
        <p:nvPicPr>
          <p:cNvPr id="420" name="Google Shape;420;p59"/>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21" name="Google Shape;421;p59"/>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22" name="Google Shape;422;p5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23" name="Google Shape;423;p59"/>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4" name="Google Shape;424;p5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25" name="Google Shape;425;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26" name="Google Shape;426;p5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27" name="Google Shape;427;p5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28" name="Google Shape;428;p5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29" name="Shape 429"/>
        <p:cNvGrpSpPr/>
        <p:nvPr/>
      </p:nvGrpSpPr>
      <p:grpSpPr>
        <a:xfrm>
          <a:off x="0" y="0"/>
          <a:ext cx="0" cy="0"/>
          <a:chOff x="0" y="0"/>
          <a:chExt cx="0" cy="0"/>
        </a:xfrm>
      </p:grpSpPr>
      <p:pic>
        <p:nvPicPr>
          <p:cNvPr id="430" name="Google Shape;430;p60"/>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31" name="Google Shape;431;p60"/>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32" name="Google Shape;432;p60"/>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33" name="Google Shape;433;p6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34" name="Google Shape;434;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5" name="Google Shape;435;p60"/>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60"/>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37" name="Google Shape;437;p60"/>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8" name="Google Shape;438;p60"/>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39" name="Google Shape;439;p60"/>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40" name="Shape 440"/>
        <p:cNvGrpSpPr/>
        <p:nvPr/>
      </p:nvGrpSpPr>
      <p:grpSpPr>
        <a:xfrm>
          <a:off x="0" y="0"/>
          <a:ext cx="0" cy="0"/>
          <a:chOff x="0" y="0"/>
          <a:chExt cx="0" cy="0"/>
        </a:xfrm>
      </p:grpSpPr>
      <p:pic>
        <p:nvPicPr>
          <p:cNvPr id="441" name="Google Shape;441;p6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42" name="Google Shape;442;p61"/>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43" name="Google Shape;443;p6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44" name="Google Shape;444;p6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45" name="Google Shape;445;p6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46" name="Google Shape;446;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6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48" name="Google Shape;448;p6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9" name="Google Shape;449;p6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50" name="Shape 450"/>
        <p:cNvGrpSpPr/>
        <p:nvPr/>
      </p:nvGrpSpPr>
      <p:grpSpPr>
        <a:xfrm>
          <a:off x="0" y="0"/>
          <a:ext cx="0" cy="0"/>
          <a:chOff x="0" y="0"/>
          <a:chExt cx="0" cy="0"/>
        </a:xfrm>
      </p:grpSpPr>
      <p:pic>
        <p:nvPicPr>
          <p:cNvPr id="451" name="Google Shape;451;p62"/>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52" name="Google Shape;452;p6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53" name="Google Shape;453;p6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54" name="Google Shape;454;p62"/>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55" name="Google Shape;455;p6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56" name="Google Shape;456;p6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57" name="Google Shape;457;p6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58" name="Google Shape;458;p6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59" name="Google Shape;459;p6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60" name="Shape 460"/>
        <p:cNvGrpSpPr/>
        <p:nvPr/>
      </p:nvGrpSpPr>
      <p:grpSpPr>
        <a:xfrm>
          <a:off x="0" y="0"/>
          <a:ext cx="0" cy="0"/>
          <a:chOff x="0" y="0"/>
          <a:chExt cx="0" cy="0"/>
        </a:xfrm>
      </p:grpSpPr>
      <p:pic>
        <p:nvPicPr>
          <p:cNvPr id="461" name="Google Shape;461;p63"/>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62" name="Google Shape;462;p6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63" name="Google Shape;463;p63"/>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64" name="Google Shape;464;p63"/>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65" name="Google Shape;465;p63"/>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66" name="Google Shape;466;p63"/>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67" name="Shape 467"/>
        <p:cNvGrpSpPr/>
        <p:nvPr/>
      </p:nvGrpSpPr>
      <p:grpSpPr>
        <a:xfrm>
          <a:off x="0" y="0"/>
          <a:ext cx="0" cy="0"/>
          <a:chOff x="0" y="0"/>
          <a:chExt cx="0" cy="0"/>
        </a:xfrm>
      </p:grpSpPr>
      <p:pic>
        <p:nvPicPr>
          <p:cNvPr descr="Divider1.png" id="468" name="Google Shape;468;p64"/>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69" name="Google Shape;469;p64"/>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0" name="Google Shape;470;p64"/>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71" name="Shape 471"/>
        <p:cNvGrpSpPr/>
        <p:nvPr/>
      </p:nvGrpSpPr>
      <p:grpSpPr>
        <a:xfrm>
          <a:off x="0" y="0"/>
          <a:ext cx="0" cy="0"/>
          <a:chOff x="0" y="0"/>
          <a:chExt cx="0" cy="0"/>
        </a:xfrm>
      </p:grpSpPr>
      <p:pic>
        <p:nvPicPr>
          <p:cNvPr id="472" name="Google Shape;472;p65"/>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73" name="Google Shape;473;p65"/>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74" name="Google Shape;474;p65"/>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5"/>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76" name="Shape 476"/>
        <p:cNvGrpSpPr/>
        <p:nvPr/>
      </p:nvGrpSpPr>
      <p:grpSpPr>
        <a:xfrm>
          <a:off x="0" y="0"/>
          <a:ext cx="0" cy="0"/>
          <a:chOff x="0" y="0"/>
          <a:chExt cx="0" cy="0"/>
        </a:xfrm>
      </p:grpSpPr>
      <p:pic>
        <p:nvPicPr>
          <p:cNvPr id="477" name="Google Shape;477;p66"/>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78" name="Shape 478"/>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79" name="Shape 479"/>
        <p:cNvGrpSpPr/>
        <p:nvPr/>
      </p:nvGrpSpPr>
      <p:grpSpPr>
        <a:xfrm>
          <a:off x="0" y="0"/>
          <a:ext cx="0" cy="0"/>
          <a:chOff x="0" y="0"/>
          <a:chExt cx="0" cy="0"/>
        </a:xfrm>
      </p:grpSpPr>
      <p:grpSp>
        <p:nvGrpSpPr>
          <p:cNvPr id="480" name="Google Shape;480;p68"/>
          <p:cNvGrpSpPr/>
          <p:nvPr/>
        </p:nvGrpSpPr>
        <p:grpSpPr>
          <a:xfrm>
            <a:off x="6262100" y="-3850"/>
            <a:ext cx="2886900" cy="485125"/>
            <a:chOff x="6262100" y="-3850"/>
            <a:chExt cx="2886900" cy="485125"/>
          </a:xfrm>
        </p:grpSpPr>
        <p:pic>
          <p:nvPicPr>
            <p:cNvPr descr="1.png" id="481" name="Google Shape;481;p68"/>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82" name="Google Shape;482;p68"/>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83" name="Google Shape;483;p68"/>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84" name="Google Shape;484;p68"/>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85" name="Google Shape;485;p6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86" name="Google Shape;486;p6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87" name="Google Shape;487;p68"/>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88" name="Google Shape;488;p68"/>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89" name="Google Shape;489;p68"/>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90" name="Google Shape;490;p68"/>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91" name="Google Shape;491;p68"/>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92" name="Google Shape;492;p68"/>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493" name="Google Shape;493;p68"/>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494" name="Shape 494"/>
        <p:cNvGrpSpPr/>
        <p:nvPr/>
      </p:nvGrpSpPr>
      <p:grpSpPr>
        <a:xfrm>
          <a:off x="0" y="0"/>
          <a:ext cx="0" cy="0"/>
          <a:chOff x="0" y="0"/>
          <a:chExt cx="0" cy="0"/>
        </a:xfrm>
      </p:grpSpPr>
      <p:pic>
        <p:nvPicPr>
          <p:cNvPr id="495" name="Google Shape;495;p6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96" name="Google Shape;496;p6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97" name="Google Shape;497;p6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98" name="Google Shape;498;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9" name="Google Shape;499;p69"/>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500" name="Google Shape;500;p69"/>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04" name="Shape 504"/>
        <p:cNvGrpSpPr/>
        <p:nvPr/>
      </p:nvGrpSpPr>
      <p:grpSpPr>
        <a:xfrm>
          <a:off x="0" y="0"/>
          <a:ext cx="0" cy="0"/>
          <a:chOff x="0" y="0"/>
          <a:chExt cx="0" cy="0"/>
        </a:xfrm>
      </p:grpSpPr>
      <p:pic>
        <p:nvPicPr>
          <p:cNvPr id="505" name="Google Shape;505;p7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06" name="Google Shape;506;p7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07" name="Shape 507"/>
        <p:cNvGrpSpPr/>
        <p:nvPr/>
      </p:nvGrpSpPr>
      <p:grpSpPr>
        <a:xfrm>
          <a:off x="0" y="0"/>
          <a:ext cx="0" cy="0"/>
          <a:chOff x="0" y="0"/>
          <a:chExt cx="0" cy="0"/>
        </a:xfrm>
      </p:grpSpPr>
      <p:pic>
        <p:nvPicPr>
          <p:cNvPr id="508" name="Google Shape;508;p7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09" name="Google Shape;509;p7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10" name="Google Shape;510;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11" name="Google Shape;511;p7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512" name="Shape 512"/>
        <p:cNvGrpSpPr/>
        <p:nvPr/>
      </p:nvGrpSpPr>
      <p:grpSpPr>
        <a:xfrm>
          <a:off x="0" y="0"/>
          <a:ext cx="0" cy="0"/>
          <a:chOff x="0" y="0"/>
          <a:chExt cx="0" cy="0"/>
        </a:xfrm>
      </p:grpSpPr>
      <p:pic>
        <p:nvPicPr>
          <p:cNvPr descr="Divider4.png" id="513" name="Google Shape;513;p7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514" name="Google Shape;514;p7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515" name="Google Shape;515;p7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516" name="Google Shape;516;p7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17" name="Google Shape;517;p7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18" name="Google Shape;518;p7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19" name="Shape 519"/>
        <p:cNvGrpSpPr/>
        <p:nvPr/>
      </p:nvGrpSpPr>
      <p:grpSpPr>
        <a:xfrm>
          <a:off x="0" y="0"/>
          <a:ext cx="0" cy="0"/>
          <a:chOff x="0" y="0"/>
          <a:chExt cx="0" cy="0"/>
        </a:xfrm>
      </p:grpSpPr>
      <p:sp>
        <p:nvSpPr>
          <p:cNvPr id="520" name="Google Shape;520;p74"/>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521" name="Google Shape;521;p74"/>
          <p:cNvGrpSpPr/>
          <p:nvPr/>
        </p:nvGrpSpPr>
        <p:grpSpPr>
          <a:xfrm rot="5400000">
            <a:off x="5719749" y="1629787"/>
            <a:ext cx="4964577" cy="1883925"/>
            <a:chOff x="4152224" y="1218499"/>
            <a:chExt cx="4964577" cy="1883925"/>
          </a:xfrm>
        </p:grpSpPr>
        <p:pic>
          <p:nvPicPr>
            <p:cNvPr id="522" name="Google Shape;522;p7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23" name="Google Shape;523;p7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24" name="Google Shape;524;p7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25" name="Google Shape;525;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26" name="Shape 526"/>
        <p:cNvGrpSpPr/>
        <p:nvPr/>
      </p:nvGrpSpPr>
      <p:grpSpPr>
        <a:xfrm>
          <a:off x="0" y="0"/>
          <a:ext cx="0" cy="0"/>
          <a:chOff x="0" y="0"/>
          <a:chExt cx="0" cy="0"/>
        </a:xfrm>
      </p:grpSpPr>
      <p:pic>
        <p:nvPicPr>
          <p:cNvPr id="527" name="Google Shape;527;p7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28" name="Google Shape;528;p7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29" name="Google Shape;529;p7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30" name="Google Shape;530;p7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31" name="Google Shape;531;p7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32" name="Google Shape;532;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33" name="Google Shape;533;p7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34" name="Google Shape;534;p7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35" name="Shape 535"/>
        <p:cNvGrpSpPr/>
        <p:nvPr/>
      </p:nvGrpSpPr>
      <p:grpSpPr>
        <a:xfrm>
          <a:off x="0" y="0"/>
          <a:ext cx="0" cy="0"/>
          <a:chOff x="0" y="0"/>
          <a:chExt cx="0" cy="0"/>
        </a:xfrm>
      </p:grpSpPr>
      <p:pic>
        <p:nvPicPr>
          <p:cNvPr id="536" name="Google Shape;536;p7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37" name="Google Shape;537;p7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38" name="Google Shape;538;p7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39" name="Google Shape;539;p7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40" name="Google Shape;540;p7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41" name="Google Shape;541;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2" name="Google Shape;542;p7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43" name="Shape 543"/>
        <p:cNvGrpSpPr/>
        <p:nvPr/>
      </p:nvGrpSpPr>
      <p:grpSpPr>
        <a:xfrm>
          <a:off x="0" y="0"/>
          <a:ext cx="0" cy="0"/>
          <a:chOff x="0" y="0"/>
          <a:chExt cx="0" cy="0"/>
        </a:xfrm>
      </p:grpSpPr>
      <p:pic>
        <p:nvPicPr>
          <p:cNvPr id="544" name="Google Shape;544;p7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45" name="Google Shape;545;p7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546" name="Google Shape;546;p77"/>
          <p:cNvGrpSpPr/>
          <p:nvPr/>
        </p:nvGrpSpPr>
        <p:grpSpPr>
          <a:xfrm>
            <a:off x="5709066" y="201260"/>
            <a:ext cx="2296623" cy="4424889"/>
            <a:chOff x="5598780" y="137712"/>
            <a:chExt cx="2577001" cy="4664652"/>
          </a:xfrm>
        </p:grpSpPr>
        <p:pic>
          <p:nvPicPr>
            <p:cNvPr id="547" name="Google Shape;547;p7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548" name="Google Shape;548;p7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9" name="Google Shape;549;p7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50" name="Google Shape;550;p7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51" name="Google Shape;551;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52" name="Google Shape;552;p7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553" name="Shape 553"/>
        <p:cNvGrpSpPr/>
        <p:nvPr/>
      </p:nvGrpSpPr>
      <p:grpSpPr>
        <a:xfrm>
          <a:off x="0" y="0"/>
          <a:ext cx="0" cy="0"/>
          <a:chOff x="0" y="0"/>
          <a:chExt cx="0" cy="0"/>
        </a:xfrm>
      </p:grpSpPr>
      <p:pic>
        <p:nvPicPr>
          <p:cNvPr id="554" name="Google Shape;554;p7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55" name="Google Shape;555;p7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56" name="Google Shape;556;p7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57" name="Google Shape;557;p7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58" name="Google Shape;558;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59" name="Google Shape;559;p7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0" name="Google Shape;560;p7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561" name="Shape 561"/>
        <p:cNvGrpSpPr/>
        <p:nvPr/>
      </p:nvGrpSpPr>
      <p:grpSpPr>
        <a:xfrm>
          <a:off x="0" y="0"/>
          <a:ext cx="0" cy="0"/>
          <a:chOff x="0" y="0"/>
          <a:chExt cx="0" cy="0"/>
        </a:xfrm>
      </p:grpSpPr>
      <p:pic>
        <p:nvPicPr>
          <p:cNvPr id="562" name="Google Shape;562;p7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563" name="Google Shape;563;p7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64" name="Google Shape;564;p7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65" name="Google Shape;565;p7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6" name="Google Shape;566;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67" name="Google Shape;567;p79"/>
          <p:cNvGrpSpPr/>
          <p:nvPr/>
        </p:nvGrpSpPr>
        <p:grpSpPr>
          <a:xfrm>
            <a:off x="4344100" y="398125"/>
            <a:ext cx="4546500" cy="4222800"/>
            <a:chOff x="4344100" y="398125"/>
            <a:chExt cx="4546500" cy="4222800"/>
          </a:xfrm>
        </p:grpSpPr>
        <p:sp>
          <p:nvSpPr>
            <p:cNvPr id="568" name="Google Shape;568;p7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9" name="Google Shape;569;p79"/>
            <p:cNvGrpSpPr/>
            <p:nvPr/>
          </p:nvGrpSpPr>
          <p:grpSpPr>
            <a:xfrm>
              <a:off x="4445450" y="524200"/>
              <a:ext cx="399495" cy="101100"/>
              <a:chOff x="4445450" y="524200"/>
              <a:chExt cx="399495" cy="101100"/>
            </a:xfrm>
          </p:grpSpPr>
          <p:sp>
            <p:nvSpPr>
              <p:cNvPr id="570" name="Google Shape;570;p7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7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7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3" name="Google Shape;573;p7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574" name="Shape 574"/>
        <p:cNvGrpSpPr/>
        <p:nvPr/>
      </p:nvGrpSpPr>
      <p:grpSpPr>
        <a:xfrm>
          <a:off x="0" y="0"/>
          <a:ext cx="0" cy="0"/>
          <a:chOff x="0" y="0"/>
          <a:chExt cx="0" cy="0"/>
        </a:xfrm>
      </p:grpSpPr>
      <p:pic>
        <p:nvPicPr>
          <p:cNvPr id="575" name="Google Shape;575;p8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76" name="Google Shape;576;p8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7" name="Google Shape;577;p8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78" name="Google Shape;578;p8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79" name="Google Shape;579;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580" name="Shape 580"/>
        <p:cNvGrpSpPr/>
        <p:nvPr/>
      </p:nvGrpSpPr>
      <p:grpSpPr>
        <a:xfrm>
          <a:off x="0" y="0"/>
          <a:ext cx="0" cy="0"/>
          <a:chOff x="0" y="0"/>
          <a:chExt cx="0" cy="0"/>
        </a:xfrm>
      </p:grpSpPr>
      <p:pic>
        <p:nvPicPr>
          <p:cNvPr id="581" name="Google Shape;581;p8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82" name="Google Shape;582;p8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81"/>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84" name="Google Shape;584;p8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85" name="Google Shape;585;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86" name="Google Shape;586;p8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87" name="Google Shape;587;p8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88" name="Google Shape;588;p8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rminal">
  <p:cSld name="CUSTOM_7_1_1">
    <p:spTree>
      <p:nvGrpSpPr>
        <p:cNvPr id="589" name="Shape 589"/>
        <p:cNvGrpSpPr/>
        <p:nvPr/>
      </p:nvGrpSpPr>
      <p:grpSpPr>
        <a:xfrm>
          <a:off x="0" y="0"/>
          <a:ext cx="0" cy="0"/>
          <a:chOff x="0" y="0"/>
          <a:chExt cx="0" cy="0"/>
        </a:xfrm>
      </p:grpSpPr>
      <p:pic>
        <p:nvPicPr>
          <p:cNvPr id="590" name="Google Shape;590;p82"/>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91" name="Google Shape;591;p82"/>
          <p:cNvSpPr/>
          <p:nvPr/>
        </p:nvSpPr>
        <p:spPr>
          <a:xfrm>
            <a:off x="4385200" y="481275"/>
            <a:ext cx="4308300" cy="4139700"/>
          </a:xfrm>
          <a:prstGeom prst="roundRect">
            <a:avLst>
              <a:gd fmla="val 2467"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82"/>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93" name="Google Shape;593;p8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94" name="Google Shape;594;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95" name="Google Shape;595;p8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96" name="Google Shape;596;p8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97" name="Google Shape;597;p82"/>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Roboto Mono"/>
              <a:buNone/>
              <a:defRPr>
                <a:solidFill>
                  <a:schemeClr val="lt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598" name="Shape 598"/>
        <p:cNvGrpSpPr/>
        <p:nvPr/>
      </p:nvGrpSpPr>
      <p:grpSpPr>
        <a:xfrm>
          <a:off x="0" y="0"/>
          <a:ext cx="0" cy="0"/>
          <a:chOff x="0" y="0"/>
          <a:chExt cx="0" cy="0"/>
        </a:xfrm>
      </p:grpSpPr>
      <p:pic>
        <p:nvPicPr>
          <p:cNvPr id="599" name="Google Shape;599;p83"/>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600" name="Google Shape;600;p83"/>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601" name="Google Shape;601;p83"/>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02" name="Google Shape;602;p8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03" name="Google Shape;603;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4" name="Google Shape;604;p8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605" name="Google Shape;605;p8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06" name="Google Shape;606;p8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07" name="Google Shape;607;p83"/>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608" name="Shape 608"/>
        <p:cNvGrpSpPr/>
        <p:nvPr/>
      </p:nvGrpSpPr>
      <p:grpSpPr>
        <a:xfrm>
          <a:off x="0" y="0"/>
          <a:ext cx="0" cy="0"/>
          <a:chOff x="0" y="0"/>
          <a:chExt cx="0" cy="0"/>
        </a:xfrm>
      </p:grpSpPr>
      <p:pic>
        <p:nvPicPr>
          <p:cNvPr id="609" name="Google Shape;609;p84"/>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10" name="Google Shape;610;p84"/>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611" name="Google Shape;611;p84"/>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12" name="Google Shape;612;p8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13" name="Google Shape;613;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614" name="Google Shape;614;p84"/>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615" name="Google Shape;615;p8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616" name="Google Shape;616;p84"/>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617" name="Shape 617"/>
        <p:cNvGrpSpPr/>
        <p:nvPr/>
      </p:nvGrpSpPr>
      <p:grpSpPr>
        <a:xfrm>
          <a:off x="0" y="0"/>
          <a:ext cx="0" cy="0"/>
          <a:chOff x="0" y="0"/>
          <a:chExt cx="0" cy="0"/>
        </a:xfrm>
      </p:grpSpPr>
      <p:pic>
        <p:nvPicPr>
          <p:cNvPr id="618" name="Google Shape;618;p85"/>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619" name="Google Shape;619;p85"/>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20" name="Google Shape;620;p8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21" name="Google Shape;621;p8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22" name="Google Shape;622;p8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23" name="Google Shape;623;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24" name="Google Shape;624;p8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25" name="Google Shape;625;p8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26" name="Google Shape;626;p8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27" name="Shape 627"/>
        <p:cNvGrpSpPr/>
        <p:nvPr/>
      </p:nvGrpSpPr>
      <p:grpSpPr>
        <a:xfrm>
          <a:off x="0" y="0"/>
          <a:ext cx="0" cy="0"/>
          <a:chOff x="0" y="0"/>
          <a:chExt cx="0" cy="0"/>
        </a:xfrm>
      </p:grpSpPr>
      <p:pic>
        <p:nvPicPr>
          <p:cNvPr id="628" name="Google Shape;628;p86"/>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29" name="Google Shape;629;p86"/>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30" name="Google Shape;630;p86"/>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31" name="Google Shape;631;p86"/>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32" name="Google Shape;632;p8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33" name="Google Shape;633;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4" name="Google Shape;634;p8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35" name="Google Shape;635;p8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36" name="Google Shape;636;p8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37" name="Shape 637"/>
        <p:cNvGrpSpPr/>
        <p:nvPr/>
      </p:nvGrpSpPr>
      <p:grpSpPr>
        <a:xfrm>
          <a:off x="0" y="0"/>
          <a:ext cx="0" cy="0"/>
          <a:chOff x="0" y="0"/>
          <a:chExt cx="0" cy="0"/>
        </a:xfrm>
      </p:grpSpPr>
      <p:pic>
        <p:nvPicPr>
          <p:cNvPr id="638" name="Google Shape;638;p87"/>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39" name="Google Shape;639;p8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40" name="Google Shape;640;p8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41" name="Google Shape;641;p87"/>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2" name="Google Shape;642;p8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43" name="Google Shape;643;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4" name="Google Shape;644;p8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45" name="Google Shape;645;p8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46" name="Google Shape;646;p87"/>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47" name="Shape 647"/>
        <p:cNvGrpSpPr/>
        <p:nvPr/>
      </p:nvGrpSpPr>
      <p:grpSpPr>
        <a:xfrm>
          <a:off x="0" y="0"/>
          <a:ext cx="0" cy="0"/>
          <a:chOff x="0" y="0"/>
          <a:chExt cx="0" cy="0"/>
        </a:xfrm>
      </p:grpSpPr>
      <p:pic>
        <p:nvPicPr>
          <p:cNvPr id="648" name="Google Shape;648;p88"/>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49" name="Google Shape;649;p88"/>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50" name="Google Shape;650;p8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51" name="Google Shape;651;p88"/>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2" name="Google Shape;652;p8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53" name="Google Shape;653;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4" name="Google Shape;654;p8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55" name="Google Shape;655;p8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56" name="Google Shape;656;p8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657" name="Shape 657"/>
        <p:cNvGrpSpPr/>
        <p:nvPr/>
      </p:nvGrpSpPr>
      <p:grpSpPr>
        <a:xfrm>
          <a:off x="0" y="0"/>
          <a:ext cx="0" cy="0"/>
          <a:chOff x="0" y="0"/>
          <a:chExt cx="0" cy="0"/>
        </a:xfrm>
      </p:grpSpPr>
      <p:pic>
        <p:nvPicPr>
          <p:cNvPr id="658" name="Google Shape;658;p89"/>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659" name="Google Shape;659;p89"/>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660" name="Google Shape;660;p89"/>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61" name="Google Shape;661;p8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62" name="Google Shape;662;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3" name="Google Shape;663;p89"/>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89"/>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665" name="Google Shape;665;p89"/>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66" name="Google Shape;666;p89"/>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667" name="Google Shape;667;p89"/>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668" name="Shape 668"/>
        <p:cNvGrpSpPr/>
        <p:nvPr/>
      </p:nvGrpSpPr>
      <p:grpSpPr>
        <a:xfrm>
          <a:off x="0" y="0"/>
          <a:ext cx="0" cy="0"/>
          <a:chOff x="0" y="0"/>
          <a:chExt cx="0" cy="0"/>
        </a:xfrm>
      </p:grpSpPr>
      <p:pic>
        <p:nvPicPr>
          <p:cNvPr id="669" name="Google Shape;669;p9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70" name="Google Shape;670;p90"/>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71" name="Google Shape;671;p9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72" name="Google Shape;672;p90"/>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73" name="Google Shape;673;p9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74" name="Google Shape;674;p9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75" name="Google Shape;675;p9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676" name="Google Shape;676;p9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77" name="Google Shape;677;p9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678" name="Shape 678"/>
        <p:cNvGrpSpPr/>
        <p:nvPr/>
      </p:nvGrpSpPr>
      <p:grpSpPr>
        <a:xfrm>
          <a:off x="0" y="0"/>
          <a:ext cx="0" cy="0"/>
          <a:chOff x="0" y="0"/>
          <a:chExt cx="0" cy="0"/>
        </a:xfrm>
      </p:grpSpPr>
      <p:pic>
        <p:nvPicPr>
          <p:cNvPr id="679" name="Google Shape;679;p91"/>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80" name="Google Shape;680;p9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81" name="Google Shape;681;p9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82" name="Google Shape;682;p91"/>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83" name="Google Shape;683;p9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84" name="Google Shape;684;p9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85" name="Google Shape;685;p9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686" name="Google Shape;686;p9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87" name="Google Shape;687;p9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688" name="Shape 688"/>
        <p:cNvGrpSpPr/>
        <p:nvPr/>
      </p:nvGrpSpPr>
      <p:grpSpPr>
        <a:xfrm>
          <a:off x="0" y="0"/>
          <a:ext cx="0" cy="0"/>
          <a:chOff x="0" y="0"/>
          <a:chExt cx="0" cy="0"/>
        </a:xfrm>
      </p:grpSpPr>
      <p:pic>
        <p:nvPicPr>
          <p:cNvPr id="689" name="Google Shape;689;p92"/>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690" name="Google Shape;690;p9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91" name="Google Shape;691;p92"/>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692" name="Google Shape;692;p92"/>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693" name="Google Shape;693;p92"/>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694" name="Google Shape;694;p92"/>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695" name="Shape 695"/>
        <p:cNvGrpSpPr/>
        <p:nvPr/>
      </p:nvGrpSpPr>
      <p:grpSpPr>
        <a:xfrm>
          <a:off x="0" y="0"/>
          <a:ext cx="0" cy="0"/>
          <a:chOff x="0" y="0"/>
          <a:chExt cx="0" cy="0"/>
        </a:xfrm>
      </p:grpSpPr>
      <p:pic>
        <p:nvPicPr>
          <p:cNvPr descr="Divider1.png" id="696" name="Google Shape;696;p9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697" name="Google Shape;697;p93"/>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8" name="Google Shape;698;p9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699" name="Shape 699"/>
        <p:cNvGrpSpPr/>
        <p:nvPr/>
      </p:nvGrpSpPr>
      <p:grpSpPr>
        <a:xfrm>
          <a:off x="0" y="0"/>
          <a:ext cx="0" cy="0"/>
          <a:chOff x="0" y="0"/>
          <a:chExt cx="0" cy="0"/>
        </a:xfrm>
      </p:grpSpPr>
      <p:pic>
        <p:nvPicPr>
          <p:cNvPr id="700" name="Google Shape;700;p94"/>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701" name="Google Shape;701;p94"/>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702" name="Google Shape;702;p94"/>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94"/>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704" name="Shape 704"/>
        <p:cNvGrpSpPr/>
        <p:nvPr/>
      </p:nvGrpSpPr>
      <p:grpSpPr>
        <a:xfrm>
          <a:off x="0" y="0"/>
          <a:ext cx="0" cy="0"/>
          <a:chOff x="0" y="0"/>
          <a:chExt cx="0" cy="0"/>
        </a:xfrm>
      </p:grpSpPr>
      <p:pic>
        <p:nvPicPr>
          <p:cNvPr id="705" name="Google Shape;705;p9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06" name="Shape 706"/>
        <p:cNvGrpSpPr/>
        <p:nvPr/>
      </p:nvGrpSpPr>
      <p:grpSpPr>
        <a:xfrm>
          <a:off x="0" y="0"/>
          <a:ext cx="0" cy="0"/>
          <a:chOff x="0" y="0"/>
          <a:chExt cx="0" cy="0"/>
        </a:xfrm>
      </p:grpSpPr>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707" name="Shape 707"/>
        <p:cNvGrpSpPr/>
        <p:nvPr/>
      </p:nvGrpSpPr>
      <p:grpSpPr>
        <a:xfrm>
          <a:off x="0" y="0"/>
          <a:ext cx="0" cy="0"/>
          <a:chOff x="0" y="0"/>
          <a:chExt cx="0" cy="0"/>
        </a:xfrm>
      </p:grpSpPr>
      <p:grpSp>
        <p:nvGrpSpPr>
          <p:cNvPr id="708" name="Google Shape;708;p97"/>
          <p:cNvGrpSpPr/>
          <p:nvPr/>
        </p:nvGrpSpPr>
        <p:grpSpPr>
          <a:xfrm>
            <a:off x="6262100" y="-3850"/>
            <a:ext cx="2886900" cy="485125"/>
            <a:chOff x="6262100" y="-3850"/>
            <a:chExt cx="2886900" cy="485125"/>
          </a:xfrm>
        </p:grpSpPr>
        <p:pic>
          <p:nvPicPr>
            <p:cNvPr descr="1.png" id="709" name="Google Shape;709;p97"/>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710" name="Google Shape;710;p97"/>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711" name="Google Shape;711;p97"/>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712" name="Google Shape;712;p97"/>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713" name="Google Shape;713;p9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14" name="Google Shape;714;p9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15" name="Google Shape;715;p97"/>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716" name="Google Shape;716;p97"/>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717" name="Google Shape;717;p97"/>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718" name="Google Shape;718;p97"/>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719" name="Google Shape;719;p97"/>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720" name="Google Shape;720;p97"/>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721" name="Google Shape;721;p97"/>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theme" Target="../theme/theme1.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9.xml"/><Relationship Id="rId22" Type="http://schemas.openxmlformats.org/officeDocument/2006/relationships/slideLayout" Target="../slideLayouts/slideLayout61.xml"/><Relationship Id="rId21" Type="http://schemas.openxmlformats.org/officeDocument/2006/relationships/slideLayout" Target="../slideLayouts/slideLayout60.xml"/><Relationship Id="rId24" Type="http://schemas.openxmlformats.org/officeDocument/2006/relationships/slideLayout" Target="../slideLayouts/slideLayout63.xml"/><Relationship Id="rId23" Type="http://schemas.openxmlformats.org/officeDocument/2006/relationships/slideLayout" Target="../slideLayouts/slideLayout62.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9" Type="http://schemas.openxmlformats.org/officeDocument/2006/relationships/slideLayout" Target="../slideLayouts/slideLayout48.xml"/><Relationship Id="rId26" Type="http://schemas.openxmlformats.org/officeDocument/2006/relationships/slideLayout" Target="../slideLayouts/slideLayout65.xml"/><Relationship Id="rId25" Type="http://schemas.openxmlformats.org/officeDocument/2006/relationships/slideLayout" Target="../slideLayouts/slideLayout64.xml"/><Relationship Id="rId28" Type="http://schemas.openxmlformats.org/officeDocument/2006/relationships/theme" Target="../theme/theme5.xml"/><Relationship Id="rId27" Type="http://schemas.openxmlformats.org/officeDocument/2006/relationships/slideLayout" Target="../slideLayouts/slideLayout66.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3" Type="http://schemas.openxmlformats.org/officeDocument/2006/relationships/slideLayout" Target="../slideLayouts/slideLayout52.xml"/><Relationship Id="rId12" Type="http://schemas.openxmlformats.org/officeDocument/2006/relationships/slideLayout" Target="../slideLayouts/slideLayout51.xml"/><Relationship Id="rId15" Type="http://schemas.openxmlformats.org/officeDocument/2006/relationships/slideLayout" Target="../slideLayouts/slideLayout54.xml"/><Relationship Id="rId14" Type="http://schemas.openxmlformats.org/officeDocument/2006/relationships/slideLayout" Target="../slideLayouts/slideLayout53.xml"/><Relationship Id="rId17" Type="http://schemas.openxmlformats.org/officeDocument/2006/relationships/slideLayout" Target="../slideLayouts/slideLayout56.xml"/><Relationship Id="rId16" Type="http://schemas.openxmlformats.org/officeDocument/2006/relationships/slideLayout" Target="../slideLayouts/slideLayout55.xml"/><Relationship Id="rId19" Type="http://schemas.openxmlformats.org/officeDocument/2006/relationships/slideLayout" Target="../slideLayouts/slideLayout58.xml"/><Relationship Id="rId18" Type="http://schemas.openxmlformats.org/officeDocument/2006/relationships/slideLayout" Target="../slideLayouts/slideLayout57.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6.xml"/><Relationship Id="rId22" Type="http://schemas.openxmlformats.org/officeDocument/2006/relationships/slideLayout" Target="../slideLayouts/slideLayout88.xml"/><Relationship Id="rId21" Type="http://schemas.openxmlformats.org/officeDocument/2006/relationships/slideLayout" Target="../slideLayouts/slideLayout87.xml"/><Relationship Id="rId24" Type="http://schemas.openxmlformats.org/officeDocument/2006/relationships/slideLayout" Target="../slideLayouts/slideLayout90.xml"/><Relationship Id="rId23" Type="http://schemas.openxmlformats.org/officeDocument/2006/relationships/slideLayout" Target="../slideLayouts/slideLayout89.xml"/><Relationship Id="rId1" Type="http://schemas.openxmlformats.org/officeDocument/2006/relationships/slideLayout" Target="../slideLayouts/slideLayout67.xml"/><Relationship Id="rId2" Type="http://schemas.openxmlformats.org/officeDocument/2006/relationships/slideLayout" Target="../slideLayouts/slideLayout68.xml"/><Relationship Id="rId3" Type="http://schemas.openxmlformats.org/officeDocument/2006/relationships/slideLayout" Target="../slideLayouts/slideLayout69.xml"/><Relationship Id="rId4" Type="http://schemas.openxmlformats.org/officeDocument/2006/relationships/slideLayout" Target="../slideLayouts/slideLayout70.xml"/><Relationship Id="rId9" Type="http://schemas.openxmlformats.org/officeDocument/2006/relationships/slideLayout" Target="../slideLayouts/slideLayout75.xml"/><Relationship Id="rId26" Type="http://schemas.openxmlformats.org/officeDocument/2006/relationships/slideLayout" Target="../slideLayouts/slideLayout92.xml"/><Relationship Id="rId25" Type="http://schemas.openxmlformats.org/officeDocument/2006/relationships/slideLayout" Target="../slideLayouts/slideLayout91.xml"/><Relationship Id="rId28" Type="http://schemas.openxmlformats.org/officeDocument/2006/relationships/theme" Target="../theme/theme2.xml"/><Relationship Id="rId27" Type="http://schemas.openxmlformats.org/officeDocument/2006/relationships/slideLayout" Target="../slideLayouts/slideLayout93.xml"/><Relationship Id="rId5" Type="http://schemas.openxmlformats.org/officeDocument/2006/relationships/slideLayout" Target="../slideLayouts/slideLayout71.xml"/><Relationship Id="rId6" Type="http://schemas.openxmlformats.org/officeDocument/2006/relationships/slideLayout" Target="../slideLayouts/slideLayout72.xml"/><Relationship Id="rId7" Type="http://schemas.openxmlformats.org/officeDocument/2006/relationships/slideLayout" Target="../slideLayouts/slideLayout73.xml"/><Relationship Id="rId8" Type="http://schemas.openxmlformats.org/officeDocument/2006/relationships/slideLayout" Target="../slideLayouts/slideLayout74.xml"/><Relationship Id="rId11" Type="http://schemas.openxmlformats.org/officeDocument/2006/relationships/slideLayout" Target="../slideLayouts/slideLayout77.xml"/><Relationship Id="rId10" Type="http://schemas.openxmlformats.org/officeDocument/2006/relationships/slideLayout" Target="../slideLayouts/slideLayout76.xml"/><Relationship Id="rId13" Type="http://schemas.openxmlformats.org/officeDocument/2006/relationships/slideLayout" Target="../slideLayouts/slideLayout79.xml"/><Relationship Id="rId12" Type="http://schemas.openxmlformats.org/officeDocument/2006/relationships/slideLayout" Target="../slideLayouts/slideLayout78.xml"/><Relationship Id="rId15" Type="http://schemas.openxmlformats.org/officeDocument/2006/relationships/slideLayout" Target="../slideLayouts/slideLayout81.xml"/><Relationship Id="rId14" Type="http://schemas.openxmlformats.org/officeDocument/2006/relationships/slideLayout" Target="../slideLayouts/slideLayout80.xml"/><Relationship Id="rId17" Type="http://schemas.openxmlformats.org/officeDocument/2006/relationships/slideLayout" Target="../slideLayouts/slideLayout83.xml"/><Relationship Id="rId16" Type="http://schemas.openxmlformats.org/officeDocument/2006/relationships/slideLayout" Target="../slideLayouts/slideLayout82.xml"/><Relationship Id="rId19" Type="http://schemas.openxmlformats.org/officeDocument/2006/relationships/slideLayout" Target="../slideLayouts/slideLayout85.xml"/><Relationship Id="rId18"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81" name="Shape 281"/>
        <p:cNvGrpSpPr/>
        <p:nvPr/>
      </p:nvGrpSpPr>
      <p:grpSpPr>
        <a:xfrm>
          <a:off x="0" y="0"/>
          <a:ext cx="0" cy="0"/>
          <a:chOff x="0" y="0"/>
          <a:chExt cx="0" cy="0"/>
        </a:xfrm>
      </p:grpSpPr>
      <p:sp>
        <p:nvSpPr>
          <p:cNvPr id="282" name="Google Shape;282;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83" name="Google Shape;283;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1" name="Shape 501"/>
        <p:cNvGrpSpPr/>
        <p:nvPr/>
      </p:nvGrpSpPr>
      <p:grpSpPr>
        <a:xfrm>
          <a:off x="0" y="0"/>
          <a:ext cx="0" cy="0"/>
          <a:chOff x="0" y="0"/>
          <a:chExt cx="0" cy="0"/>
        </a:xfrm>
      </p:grpSpPr>
      <p:sp>
        <p:nvSpPr>
          <p:cNvPr id="502" name="Google Shape;502;p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03" name="Google Shape;503;p7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3.xml"/><Relationship Id="rId3" Type="http://schemas.openxmlformats.org/officeDocument/2006/relationships/image" Target="../media/image147.png"/><Relationship Id="rId4" Type="http://schemas.openxmlformats.org/officeDocument/2006/relationships/image" Target="../media/image14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5.xml"/><Relationship Id="rId3" Type="http://schemas.openxmlformats.org/officeDocument/2006/relationships/image" Target="../media/image142.png"/><Relationship Id="rId4" Type="http://schemas.openxmlformats.org/officeDocument/2006/relationships/image" Target="../media/image14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5.xml"/><Relationship Id="rId3" Type="http://schemas.openxmlformats.org/officeDocument/2006/relationships/hyperlink" Target="http://www.youtube.com/watch?v=Jwd_lkXoLKk" TargetMode="External"/><Relationship Id="rId4" Type="http://schemas.openxmlformats.org/officeDocument/2006/relationships/image" Target="../media/image14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0.xml"/><Relationship Id="rId3" Type="http://schemas.openxmlformats.org/officeDocument/2006/relationships/image" Target="../media/image144.png"/><Relationship Id="rId4" Type="http://schemas.openxmlformats.org/officeDocument/2006/relationships/hyperlink" Target="http://www.youtube.com/watch?v=BTZMUDKSpSs" TargetMode="External"/><Relationship Id="rId5" Type="http://schemas.openxmlformats.org/officeDocument/2006/relationships/image" Target="../media/image13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1.xml"/><Relationship Id="rId3" Type="http://schemas.openxmlformats.org/officeDocument/2006/relationships/image" Target="../media/image1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98"/>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900"/>
              <a:t>Working with Linked Lists</a:t>
            </a:r>
            <a:endParaRPr sz="2900"/>
          </a:p>
        </p:txBody>
      </p:sp>
      <p:sp>
        <p:nvSpPr>
          <p:cNvPr id="727" name="Google Shape;727;p98"/>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9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733" name="Google Shape;733;p99"/>
          <p:cNvGraphicFramePr/>
          <p:nvPr/>
        </p:nvGraphicFramePr>
        <p:xfrm>
          <a:off x="451525" y="1242597"/>
          <a:ext cx="3000000" cy="3000000"/>
        </p:xfrm>
        <a:graphic>
          <a:graphicData uri="http://schemas.openxmlformats.org/drawingml/2006/table">
            <a:tbl>
              <a:tblPr>
                <a:noFill/>
                <a:tableStyleId>{6C28BA5D-BFEF-4000-AB32-5A9F17D199DA}</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Working with Linked Lists</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35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800">
                          <a:solidFill>
                            <a:schemeClr val="dk1"/>
                          </a:solidFill>
                          <a:latin typeface="Poppins"/>
                          <a:ea typeface="Poppins"/>
                          <a:cs typeface="Poppins"/>
                          <a:sym typeface="Poppins"/>
                        </a:rPr>
                        <a:t>BREAK</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00"/>
          <p:cNvSpPr/>
          <p:nvPr/>
        </p:nvSpPr>
        <p:spPr>
          <a:xfrm>
            <a:off x="156275" y="568300"/>
            <a:ext cx="8838600" cy="853800"/>
          </a:xfrm>
          <a:prstGeom prst="roundRect">
            <a:avLst>
              <a:gd fmla="val 11827" name="adj"/>
            </a:avLst>
          </a:prstGeom>
          <a:solidFill>
            <a:srgbClr val="1E1D5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latin typeface="Poppins"/>
              <a:ea typeface="Poppins"/>
              <a:cs typeface="Poppins"/>
              <a:sym typeface="Poppins"/>
            </a:endParaRPr>
          </a:p>
        </p:txBody>
      </p:sp>
      <p:sp>
        <p:nvSpPr>
          <p:cNvPr id="739" name="Google Shape;739;p100"/>
          <p:cNvSpPr txBox="1"/>
          <p:nvPr>
            <p:ph type="title"/>
          </p:nvPr>
        </p:nvSpPr>
        <p:spPr>
          <a:xfrm>
            <a:off x="317400" y="710775"/>
            <a:ext cx="86400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lt1"/>
                </a:solidFill>
              </a:rPr>
              <a:t>1:1 career sessions with tech professionals</a:t>
            </a:r>
            <a:endParaRPr sz="2500">
              <a:solidFill>
                <a:schemeClr val="lt1"/>
              </a:solidFill>
            </a:endParaRPr>
          </a:p>
        </p:txBody>
      </p:sp>
      <p:sp>
        <p:nvSpPr>
          <p:cNvPr id="740" name="Google Shape;740;p100"/>
          <p:cNvSpPr txBox="1"/>
          <p:nvPr/>
        </p:nvSpPr>
        <p:spPr>
          <a:xfrm>
            <a:off x="280097" y="4602596"/>
            <a:ext cx="7635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700">
                <a:solidFill>
                  <a:srgbClr val="1E1D53"/>
                </a:solidFill>
                <a:latin typeface="Poppins"/>
                <a:ea typeface="Poppins"/>
                <a:cs typeface="Poppins"/>
                <a:sym typeface="Poppins"/>
              </a:rPr>
              <a:t>Don’t wait to sign up - popular timeslots fill quickly!</a:t>
            </a:r>
            <a:endParaRPr b="1" i="1" sz="1600">
              <a:solidFill>
                <a:srgbClr val="1E1D53"/>
              </a:solidFill>
            </a:endParaRPr>
          </a:p>
        </p:txBody>
      </p:sp>
      <p:sp>
        <p:nvSpPr>
          <p:cNvPr id="741" name="Google Shape;741;p100"/>
          <p:cNvSpPr/>
          <p:nvPr/>
        </p:nvSpPr>
        <p:spPr>
          <a:xfrm>
            <a:off x="-9875" y="197250"/>
            <a:ext cx="4478400" cy="446400"/>
          </a:xfrm>
          <a:prstGeom prst="roundRect">
            <a:avLst>
              <a:gd fmla="val 0" name="adj"/>
            </a:avLst>
          </a:prstGeom>
          <a:solidFill>
            <a:srgbClr val="00C98E"/>
          </a:solidFill>
          <a:ln cap="flat" cmpd="sng" w="9525">
            <a:solidFill>
              <a:srgbClr val="02BC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p>
        </p:txBody>
      </p:sp>
      <p:sp>
        <p:nvSpPr>
          <p:cNvPr id="742" name="Google Shape;742;p100"/>
          <p:cNvSpPr txBox="1"/>
          <p:nvPr/>
        </p:nvSpPr>
        <p:spPr>
          <a:xfrm>
            <a:off x="288916" y="185925"/>
            <a:ext cx="3261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FFFFFF"/>
                </a:solidFill>
                <a:latin typeface="Poppins"/>
                <a:ea typeface="Poppins"/>
                <a:cs typeface="Poppins"/>
                <a:sym typeface="Poppins"/>
              </a:rPr>
              <a:t>Registration open now!</a:t>
            </a:r>
            <a:endParaRPr sz="1900">
              <a:solidFill>
                <a:srgbClr val="FFFFFF"/>
              </a:solidFill>
            </a:endParaRPr>
          </a:p>
        </p:txBody>
      </p:sp>
      <p:sp>
        <p:nvSpPr>
          <p:cNvPr id="743" name="Google Shape;743;p100"/>
          <p:cNvSpPr/>
          <p:nvPr/>
        </p:nvSpPr>
        <p:spPr>
          <a:xfrm>
            <a:off x="4723000" y="1743200"/>
            <a:ext cx="4236300" cy="572400"/>
          </a:xfrm>
          <a:prstGeom prst="roundRect">
            <a:avLst>
              <a:gd fmla="val 16667" name="adj"/>
            </a:avLst>
          </a:prstGeom>
          <a:solidFill>
            <a:srgbClr val="00CD89"/>
          </a:solidFill>
          <a:ln cap="flat" cmpd="sng" w="9525">
            <a:solidFill>
              <a:srgbClr val="02BC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744" name="Google Shape;744;p100"/>
          <p:cNvSpPr txBox="1"/>
          <p:nvPr/>
        </p:nvSpPr>
        <p:spPr>
          <a:xfrm>
            <a:off x="4768100" y="1790175"/>
            <a:ext cx="423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FFFF"/>
                </a:solidFill>
                <a:latin typeface="Poppins"/>
                <a:ea typeface="Poppins"/>
                <a:cs typeface="Poppins"/>
                <a:sym typeface="Poppins"/>
              </a:rPr>
              <a:t>go.codepath.org/resume-reviews</a:t>
            </a:r>
            <a:endParaRPr sz="2000">
              <a:solidFill>
                <a:srgbClr val="FFFFFF"/>
              </a:solidFill>
            </a:endParaRPr>
          </a:p>
        </p:txBody>
      </p:sp>
      <p:sp>
        <p:nvSpPr>
          <p:cNvPr id="745" name="Google Shape;745;p100"/>
          <p:cNvSpPr txBox="1"/>
          <p:nvPr>
            <p:ph idx="4294967295" type="body"/>
          </p:nvPr>
        </p:nvSpPr>
        <p:spPr>
          <a:xfrm>
            <a:off x="280111" y="1662299"/>
            <a:ext cx="3701100" cy="15750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b="1" lang="en" sz="2200">
                <a:solidFill>
                  <a:srgbClr val="1E1D53"/>
                </a:solidFill>
              </a:rPr>
              <a:t>Resume Review Week</a:t>
            </a:r>
            <a:br>
              <a:rPr b="1" lang="en" sz="2000">
                <a:solidFill>
                  <a:srgbClr val="1E1D53"/>
                </a:solidFill>
              </a:rPr>
            </a:br>
            <a:r>
              <a:rPr i="1" lang="en" sz="1600">
                <a:solidFill>
                  <a:srgbClr val="1E1D53"/>
                </a:solidFill>
              </a:rPr>
              <a:t>July 20 - 23</a:t>
            </a:r>
            <a:br>
              <a:rPr i="1" lang="en" sz="1600">
                <a:solidFill>
                  <a:srgbClr val="1E1D53"/>
                </a:solidFill>
              </a:rPr>
            </a:br>
            <a:r>
              <a:rPr lang="en" sz="1600">
                <a:solidFill>
                  <a:srgbClr val="1E1D53"/>
                </a:solidFill>
              </a:rPr>
              <a:t>Get personalized feedback on your resume before recruiting.</a:t>
            </a:r>
            <a:endParaRPr sz="1600">
              <a:solidFill>
                <a:srgbClr val="1E1D53"/>
              </a:solidFill>
            </a:endParaRPr>
          </a:p>
        </p:txBody>
      </p:sp>
      <p:sp>
        <p:nvSpPr>
          <p:cNvPr id="746" name="Google Shape;746;p100"/>
          <p:cNvSpPr/>
          <p:nvPr/>
        </p:nvSpPr>
        <p:spPr>
          <a:xfrm>
            <a:off x="4725000" y="3308925"/>
            <a:ext cx="4236300" cy="572400"/>
          </a:xfrm>
          <a:prstGeom prst="roundRect">
            <a:avLst>
              <a:gd fmla="val 16667" name="adj"/>
            </a:avLst>
          </a:prstGeom>
          <a:solidFill>
            <a:srgbClr val="00CD89"/>
          </a:solidFill>
          <a:ln cap="flat" cmpd="sng" w="9525">
            <a:solidFill>
              <a:srgbClr val="02BC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p>
        </p:txBody>
      </p:sp>
      <p:sp>
        <p:nvSpPr>
          <p:cNvPr id="747" name="Google Shape;747;p100"/>
          <p:cNvSpPr txBox="1"/>
          <p:nvPr/>
        </p:nvSpPr>
        <p:spPr>
          <a:xfrm>
            <a:off x="5040123" y="3369400"/>
            <a:ext cx="3701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FFFF"/>
                </a:solidFill>
                <a:latin typeface="Poppins"/>
                <a:ea typeface="Poppins"/>
                <a:cs typeface="Poppins"/>
                <a:sym typeface="Poppins"/>
              </a:rPr>
              <a:t>go.codepath.org/mentorship</a:t>
            </a:r>
            <a:endParaRPr sz="2000">
              <a:solidFill>
                <a:srgbClr val="FFFFFF"/>
              </a:solidFill>
            </a:endParaRPr>
          </a:p>
        </p:txBody>
      </p:sp>
      <p:sp>
        <p:nvSpPr>
          <p:cNvPr id="748" name="Google Shape;748;p100"/>
          <p:cNvSpPr txBox="1"/>
          <p:nvPr>
            <p:ph idx="4294967295" type="body"/>
          </p:nvPr>
        </p:nvSpPr>
        <p:spPr>
          <a:xfrm>
            <a:off x="282126" y="3268508"/>
            <a:ext cx="3995700" cy="15750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b="1" lang="en" sz="2200">
                <a:solidFill>
                  <a:srgbClr val="1E1D53"/>
                </a:solidFill>
              </a:rPr>
              <a:t>Mentorship Week</a:t>
            </a:r>
            <a:br>
              <a:rPr b="1" lang="en" sz="2000">
                <a:solidFill>
                  <a:srgbClr val="1E1D53"/>
                </a:solidFill>
              </a:rPr>
            </a:br>
            <a:r>
              <a:rPr i="1" lang="en" sz="1600">
                <a:solidFill>
                  <a:srgbClr val="1E1D53"/>
                </a:solidFill>
              </a:rPr>
              <a:t>July 27 - 30</a:t>
            </a:r>
            <a:br>
              <a:rPr i="1" lang="en" sz="1600">
                <a:solidFill>
                  <a:srgbClr val="1E1D53"/>
                </a:solidFill>
              </a:rPr>
            </a:br>
            <a:r>
              <a:rPr lang="en" sz="1600">
                <a:solidFill>
                  <a:srgbClr val="1E1D53"/>
                </a:solidFill>
              </a:rPr>
              <a:t>Ask career questions + get advice. </a:t>
            </a:r>
            <a:endParaRPr sz="1600">
              <a:solidFill>
                <a:srgbClr val="1E1D53"/>
              </a:solidFill>
            </a:endParaRPr>
          </a:p>
        </p:txBody>
      </p:sp>
      <p:pic>
        <p:nvPicPr>
          <p:cNvPr id="749" name="Google Shape;749;p100"/>
          <p:cNvPicPr preferRelativeResize="0"/>
          <p:nvPr/>
        </p:nvPicPr>
        <p:blipFill>
          <a:blip r:embed="rId3">
            <a:alphaModFix/>
          </a:blip>
          <a:stretch>
            <a:fillRect/>
          </a:stretch>
        </p:blipFill>
        <p:spPr>
          <a:xfrm>
            <a:off x="7977087" y="2224875"/>
            <a:ext cx="858816" cy="853801"/>
          </a:xfrm>
          <a:prstGeom prst="rect">
            <a:avLst/>
          </a:prstGeom>
          <a:noFill/>
          <a:ln>
            <a:noFill/>
          </a:ln>
        </p:spPr>
      </p:pic>
      <p:pic>
        <p:nvPicPr>
          <p:cNvPr id="750" name="Google Shape;750;p100"/>
          <p:cNvPicPr preferRelativeResize="0"/>
          <p:nvPr/>
        </p:nvPicPr>
        <p:blipFill>
          <a:blip r:embed="rId4">
            <a:alphaModFix/>
          </a:blip>
          <a:stretch>
            <a:fillRect/>
          </a:stretch>
        </p:blipFill>
        <p:spPr>
          <a:xfrm>
            <a:off x="7977075" y="3808588"/>
            <a:ext cx="858825" cy="86219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01"/>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756" name="Google Shape;756;p10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0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62" name="Google Shape;762;p102"/>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763" name="Google Shape;763;p102"/>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764" name="Google Shape;764;p102"/>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765" name="Google Shape;765;p102"/>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03"/>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771" name="Google Shape;771;p10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2" name="Google Shape;772;p10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a:t>
            </a:r>
            <a:endParaRPr b="1"/>
          </a:p>
          <a:p>
            <a:pPr indent="0" lvl="0" marL="0" rtl="0" algn="l">
              <a:spcBef>
                <a:spcPts val="1000"/>
              </a:spcBef>
              <a:spcAft>
                <a:spcPts val="0"/>
              </a:spcAft>
              <a:buNone/>
            </a:pPr>
            <a:r>
              <a:rPr lang="en"/>
              <a:t>Who would you cast you play yourself in a movie about your life? No wrong answers!</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What kinds of pets do you have if any? If you don’t have any, share what type you would like to have, if any.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04"/>
          <p:cNvSpPr txBox="1"/>
          <p:nvPr>
            <p:ph idx="1" type="subTitle"/>
          </p:nvPr>
        </p:nvSpPr>
        <p:spPr>
          <a:xfrm>
            <a:off x="1153950" y="2247950"/>
            <a:ext cx="2967300" cy="218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First mock interview went well! Imagine with full time.</a:t>
            </a:r>
            <a:endParaRPr/>
          </a:p>
          <a:p>
            <a:pPr indent="-342900" lvl="0" marL="457200" rtl="0" algn="l">
              <a:spcBef>
                <a:spcPts val="0"/>
              </a:spcBef>
              <a:spcAft>
                <a:spcPts val="0"/>
              </a:spcAft>
              <a:buSzPts val="1800"/>
              <a:buChar char="+"/>
            </a:pPr>
            <a:r>
              <a:rPr lang="en"/>
              <a:t>Gaining confidence as a class</a:t>
            </a:r>
            <a:endParaRPr/>
          </a:p>
        </p:txBody>
      </p:sp>
      <p:sp>
        <p:nvSpPr>
          <p:cNvPr id="778" name="Google Shape;778;p10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9" name="Google Shape;779;p104"/>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 Will provide starter code to future volunteers</a:t>
            </a:r>
            <a:endParaRPr sz="1700"/>
          </a:p>
          <a:p>
            <a:pPr indent="0" lvl="0" marL="0" rtl="0" algn="l">
              <a:spcBef>
                <a:spcPts val="1600"/>
              </a:spcBef>
              <a:spcAft>
                <a:spcPts val="1600"/>
              </a:spcAft>
              <a:buNone/>
            </a:pPr>
            <a:r>
              <a:rPr lang="en" sz="1700"/>
              <a:t>- Investigating adding test cases to the problem sets</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05"/>
          <p:cNvSpPr txBox="1"/>
          <p:nvPr>
            <p:ph type="title"/>
          </p:nvPr>
        </p:nvSpPr>
        <p:spPr>
          <a:xfrm>
            <a:off x="884825" y="2317200"/>
            <a:ext cx="64056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Working with Linked Lists</a:t>
            </a:r>
            <a:endParaRPr/>
          </a:p>
        </p:txBody>
      </p:sp>
      <p:sp>
        <p:nvSpPr>
          <p:cNvPr id="785" name="Google Shape;785;p10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minutes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0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Multiple Pass Technique</a:t>
            </a:r>
            <a:endParaRPr/>
          </a:p>
        </p:txBody>
      </p:sp>
      <p:sp>
        <p:nvSpPr>
          <p:cNvPr id="791" name="Google Shape;791;p106"/>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Traverse a linked list multiple times to extract information or process nodes.</a:t>
            </a:r>
            <a:endParaRPr/>
          </a:p>
          <a:p>
            <a:pPr indent="-342900" lvl="0" marL="457200" rtl="0" algn="l">
              <a:spcBef>
                <a:spcPts val="0"/>
              </a:spcBef>
              <a:spcAft>
                <a:spcPts val="0"/>
              </a:spcAft>
              <a:buSzPts val="1800"/>
              <a:buChar char="✱"/>
            </a:pPr>
            <a:r>
              <a:rPr lang="en"/>
              <a:t>Common applications:</a:t>
            </a:r>
            <a:endParaRPr/>
          </a:p>
          <a:p>
            <a:pPr indent="-342900" lvl="1" marL="914400" rtl="0" algn="l">
              <a:spcBef>
                <a:spcPts val="0"/>
              </a:spcBef>
              <a:spcAft>
                <a:spcPts val="0"/>
              </a:spcAft>
              <a:buSzPts val="1800"/>
              <a:buChar char="●"/>
            </a:pPr>
            <a:r>
              <a:rPr lang="en"/>
              <a:t>Calculating the length of a list.</a:t>
            </a:r>
            <a:endParaRPr/>
          </a:p>
          <a:p>
            <a:pPr indent="-342900" lvl="2" marL="1371600" rtl="0" algn="l">
              <a:spcBef>
                <a:spcPts val="0"/>
              </a:spcBef>
              <a:spcAft>
                <a:spcPts val="0"/>
              </a:spcAft>
              <a:buSzPts val="1800"/>
              <a:buChar char="○"/>
            </a:pPr>
            <a:r>
              <a:rPr lang="en"/>
              <a:t>This is a  required step for finding things in a “fixed” location (finding the middle node, second to last, etc).</a:t>
            </a:r>
            <a:endParaRPr/>
          </a:p>
          <a:p>
            <a:pPr indent="-342900" lvl="1" marL="914400" rtl="0" algn="l">
              <a:spcBef>
                <a:spcPts val="0"/>
              </a:spcBef>
              <a:spcAft>
                <a:spcPts val="0"/>
              </a:spcAft>
              <a:buSzPts val="1800"/>
              <a:buChar char="●"/>
            </a:pPr>
            <a:r>
              <a:rPr lang="en"/>
              <a:t>Performing operations that depend on global information about the list.</a:t>
            </a:r>
            <a:endParaRPr/>
          </a:p>
          <a:p>
            <a:pPr indent="-342900" lvl="2" marL="1371600" rtl="0" algn="l">
              <a:spcBef>
                <a:spcPts val="0"/>
              </a:spcBef>
              <a:spcAft>
                <a:spcPts val="0"/>
              </a:spcAft>
              <a:buSzPts val="1800"/>
              <a:buChar char="○"/>
            </a:pPr>
            <a:r>
              <a:rPr lang="en"/>
              <a:t>“Count how many nodes have a value higher than the average value of all nodes.”</a:t>
            </a:r>
            <a:endParaRPr/>
          </a:p>
        </p:txBody>
      </p:sp>
      <p:sp>
        <p:nvSpPr>
          <p:cNvPr id="792" name="Google Shape;792;p10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0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Temporary Head Technique</a:t>
            </a:r>
            <a:endParaRPr/>
          </a:p>
        </p:txBody>
      </p:sp>
      <p:sp>
        <p:nvSpPr>
          <p:cNvPr id="798" name="Google Shape;798;p10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Create a temporary head node to handle edge cases involving the actual head.</a:t>
            </a:r>
            <a:endParaRPr/>
          </a:p>
          <a:p>
            <a:pPr indent="-342900" lvl="0" marL="457200" rtl="0" algn="l">
              <a:spcBef>
                <a:spcPts val="0"/>
              </a:spcBef>
              <a:spcAft>
                <a:spcPts val="0"/>
              </a:spcAft>
              <a:buSzPts val="1800"/>
              <a:buChar char="✱"/>
            </a:pPr>
            <a:r>
              <a:rPr lang="en"/>
              <a:t>When navigating through a linkedlist, we typically always want to be able to keep track of the head node. </a:t>
            </a:r>
            <a:r>
              <a:rPr b="1" lang="en"/>
              <a:t>This is typically what we will need to return.</a:t>
            </a:r>
            <a:endParaRPr b="1"/>
          </a:p>
          <a:p>
            <a:pPr indent="-342900" lvl="0" marL="457200" rtl="0" algn="l">
              <a:spcBef>
                <a:spcPts val="0"/>
              </a:spcBef>
              <a:spcAft>
                <a:spcPts val="0"/>
              </a:spcAft>
              <a:buSzPts val="1800"/>
              <a:buChar char="✱"/>
            </a:pPr>
            <a:r>
              <a:rPr lang="en"/>
              <a:t>Common applications:</a:t>
            </a:r>
            <a:endParaRPr/>
          </a:p>
          <a:p>
            <a:pPr indent="-342900" lvl="1" marL="914400" rtl="0" algn="l">
              <a:spcBef>
                <a:spcPts val="0"/>
              </a:spcBef>
              <a:spcAft>
                <a:spcPts val="0"/>
              </a:spcAft>
              <a:buSzPts val="1800"/>
              <a:buChar char="●"/>
            </a:pPr>
            <a:r>
              <a:rPr lang="en"/>
              <a:t>Deleting the head node without losing track of the rest of the list.</a:t>
            </a:r>
            <a:endParaRPr/>
          </a:p>
          <a:p>
            <a:pPr indent="-342900" lvl="1" marL="914400" rtl="0" algn="l">
              <a:spcBef>
                <a:spcPts val="0"/>
              </a:spcBef>
              <a:spcAft>
                <a:spcPts val="0"/>
              </a:spcAft>
              <a:buSzPts val="1800"/>
              <a:buChar char="●"/>
            </a:pPr>
            <a:r>
              <a:rPr lang="en"/>
              <a:t>Adding a new node to the front of a list (updating the head).</a:t>
            </a:r>
            <a:endParaRPr/>
          </a:p>
        </p:txBody>
      </p:sp>
      <p:sp>
        <p:nvSpPr>
          <p:cNvPr id="799" name="Google Shape;799;p10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10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Slow-Fast Pointer Technique</a:t>
            </a:r>
            <a:endParaRPr/>
          </a:p>
        </p:txBody>
      </p:sp>
      <p:sp>
        <p:nvSpPr>
          <p:cNvPr id="805" name="Google Shape;805;p10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Use two pointers moving at different speeds to solve problems involving cycle detection or the middle element.</a:t>
            </a:r>
            <a:endParaRPr/>
          </a:p>
          <a:p>
            <a:pPr indent="-342900" lvl="0" marL="457200" rtl="0" algn="l">
              <a:spcBef>
                <a:spcPts val="0"/>
              </a:spcBef>
              <a:spcAft>
                <a:spcPts val="0"/>
              </a:spcAft>
              <a:buSzPts val="1800"/>
              <a:buChar char="✱"/>
            </a:pPr>
            <a:r>
              <a:rPr lang="en"/>
              <a:t>Common applications:</a:t>
            </a:r>
            <a:endParaRPr/>
          </a:p>
          <a:p>
            <a:pPr indent="-342900" lvl="1" marL="914400" rtl="0" algn="l">
              <a:spcBef>
                <a:spcPts val="0"/>
              </a:spcBef>
              <a:spcAft>
                <a:spcPts val="0"/>
              </a:spcAft>
              <a:buSzPts val="1800"/>
              <a:buChar char="●"/>
            </a:pPr>
            <a:r>
              <a:rPr lang="en"/>
              <a:t>Detecting a cycle in a linked list.</a:t>
            </a:r>
            <a:endParaRPr/>
          </a:p>
          <a:p>
            <a:pPr indent="-342900" lvl="2" marL="1371600" rtl="0" algn="l">
              <a:spcBef>
                <a:spcPts val="0"/>
              </a:spcBef>
              <a:spcAft>
                <a:spcPts val="0"/>
              </a:spcAft>
              <a:buSzPts val="1800"/>
              <a:buChar char="○"/>
            </a:pPr>
            <a:r>
              <a:rPr lang="en"/>
              <a:t>Take a minute and think about how this would work.</a:t>
            </a:r>
            <a:endParaRPr/>
          </a:p>
          <a:p>
            <a:pPr indent="-342900" lvl="1" marL="914400" rtl="0" algn="l">
              <a:spcBef>
                <a:spcPts val="0"/>
              </a:spcBef>
              <a:spcAft>
                <a:spcPts val="0"/>
              </a:spcAft>
              <a:buSzPts val="1800"/>
              <a:buChar char="●"/>
            </a:pPr>
            <a:r>
              <a:rPr lang="en"/>
              <a:t>Finding the middle node (½).</a:t>
            </a:r>
            <a:endParaRPr/>
          </a:p>
          <a:p>
            <a:pPr indent="-342900" lvl="1" marL="914400" rtl="0" algn="l">
              <a:spcBef>
                <a:spcPts val="0"/>
              </a:spcBef>
              <a:spcAft>
                <a:spcPts val="0"/>
              </a:spcAft>
              <a:buSzPts val="1800"/>
              <a:buChar char="●"/>
            </a:pPr>
            <a:r>
              <a:rPr lang="en"/>
              <a:t>Determining the length of a cycle.</a:t>
            </a:r>
            <a:endParaRPr/>
          </a:p>
        </p:txBody>
      </p:sp>
      <p:sp>
        <p:nvSpPr>
          <p:cNvPr id="806" name="Google Shape;806;p10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109"/>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20 minutes</a:t>
            </a:r>
            <a:endParaRPr/>
          </a:p>
        </p:txBody>
      </p:sp>
      <p:sp>
        <p:nvSpPr>
          <p:cNvPr id="812" name="Google Shape;812;p10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3" name="Google Shape;813;p10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Write a function to find the middle node of a singly linked list. If the list has an even number of nodes, return the second middle node.</a:t>
            </a:r>
            <a:endParaRPr/>
          </a:p>
          <a:p>
            <a:pPr indent="0" lvl="0" marL="0" rtl="0" algn="l">
              <a:spcBef>
                <a:spcPts val="1000"/>
              </a:spcBef>
              <a:spcAft>
                <a:spcPts val="0"/>
              </a:spcAft>
              <a:buNone/>
            </a:pPr>
            <a:r>
              <a:rPr b="1" lang="en"/>
              <a:t>Examples:</a:t>
            </a:r>
            <a:endParaRPr/>
          </a:p>
          <a:p>
            <a:pPr indent="-342900" lvl="0" marL="457200" rtl="0" algn="l">
              <a:spcBef>
                <a:spcPts val="1000"/>
              </a:spcBef>
              <a:spcAft>
                <a:spcPts val="0"/>
              </a:spcAft>
              <a:buSzPts val="1800"/>
              <a:buChar char="✱"/>
            </a:pPr>
            <a:r>
              <a:rPr b="1" lang="en"/>
              <a:t>Input:</a:t>
            </a:r>
            <a:r>
              <a:rPr lang="en"/>
              <a:t> </a:t>
            </a:r>
            <a:r>
              <a:rPr lang="en">
                <a:latin typeface="Consolas"/>
                <a:ea typeface="Consolas"/>
                <a:cs typeface="Consolas"/>
                <a:sym typeface="Consolas"/>
              </a:rPr>
              <a:t>head = [1, 2, 3, 4, 5]</a:t>
            </a:r>
            <a:br>
              <a:rPr lang="en"/>
            </a:br>
            <a:r>
              <a:rPr b="1" lang="en"/>
              <a:t>Output:</a:t>
            </a:r>
            <a:r>
              <a:rPr lang="en"/>
              <a:t> </a:t>
            </a:r>
            <a:r>
              <a:rPr lang="en">
                <a:latin typeface="Consolas"/>
                <a:ea typeface="Consolas"/>
                <a:cs typeface="Consolas"/>
                <a:sym typeface="Consolas"/>
              </a:rPr>
              <a:t>Node with value 3</a:t>
            </a:r>
            <a:endParaRPr>
              <a:latin typeface="Consolas"/>
              <a:ea typeface="Consolas"/>
              <a:cs typeface="Consolas"/>
              <a:sym typeface="Consolas"/>
            </a:endParaRPr>
          </a:p>
          <a:p>
            <a:pPr indent="-342900" lvl="0" marL="457200" rtl="0" algn="l">
              <a:spcBef>
                <a:spcPts val="1000"/>
              </a:spcBef>
              <a:spcAft>
                <a:spcPts val="1000"/>
              </a:spcAft>
              <a:buSzPts val="1800"/>
              <a:buChar char="✱"/>
            </a:pPr>
            <a:r>
              <a:rPr b="1" lang="en"/>
              <a:t>Input:</a:t>
            </a:r>
            <a:r>
              <a:rPr lang="en"/>
              <a:t> </a:t>
            </a:r>
            <a:r>
              <a:rPr lang="en">
                <a:latin typeface="Consolas"/>
                <a:ea typeface="Consolas"/>
                <a:cs typeface="Consolas"/>
                <a:sym typeface="Consolas"/>
              </a:rPr>
              <a:t>head = [1, 2, 3, 4, 5, 6]</a:t>
            </a:r>
            <a:br>
              <a:rPr lang="en"/>
            </a:br>
            <a:r>
              <a:rPr b="1" lang="en"/>
              <a:t>Output:</a:t>
            </a:r>
            <a:r>
              <a:rPr lang="en"/>
              <a:t> </a:t>
            </a:r>
            <a:r>
              <a:rPr lang="en">
                <a:latin typeface="Consolas"/>
                <a:ea typeface="Consolas"/>
                <a:cs typeface="Consolas"/>
                <a:sym typeface="Consolas"/>
              </a:rPr>
              <a:t>Node with value 4</a:t>
            </a:r>
            <a:endParaRPr>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1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9" name="Google Shape;819;p110"/>
          <p:cNvSpPr/>
          <p:nvPr/>
        </p:nvSpPr>
        <p:spPr>
          <a:xfrm>
            <a:off x="253925" y="3138839"/>
            <a:ext cx="835800" cy="694200"/>
          </a:xfrm>
          <a:prstGeom prst="rect">
            <a:avLst/>
          </a:prstGeom>
          <a:solidFill>
            <a:schemeClr val="lt2"/>
          </a:solidFill>
          <a:ln cap="flat" cmpd="sng" w="8875">
            <a:solidFill>
              <a:schemeClr val="dk2"/>
            </a:solidFill>
            <a:prstDash val="solid"/>
            <a:round/>
            <a:headEnd len="sm" w="sm" type="none"/>
            <a:tailEnd len="sm" w="sm" type="none"/>
          </a:ln>
        </p:spPr>
        <p:txBody>
          <a:bodyPr anchorCtr="0" anchor="ctr" bIns="85150" lIns="85150" spcFirstLastPara="1" rIns="85150" wrap="square" tIns="85150">
            <a:noAutofit/>
          </a:bodyPr>
          <a:lstStyle/>
          <a:p>
            <a:pPr indent="0" lvl="0" marL="0" rtl="0" algn="ctr">
              <a:spcBef>
                <a:spcPts val="0"/>
              </a:spcBef>
              <a:spcAft>
                <a:spcPts val="0"/>
              </a:spcAft>
              <a:buNone/>
            </a:pPr>
            <a:r>
              <a:rPr lang="en" sz="1304">
                <a:latin typeface="Poppins"/>
                <a:ea typeface="Poppins"/>
                <a:cs typeface="Poppins"/>
                <a:sym typeface="Poppins"/>
              </a:rPr>
              <a:t>1</a:t>
            </a:r>
            <a:endParaRPr sz="1304">
              <a:latin typeface="Poppins"/>
              <a:ea typeface="Poppins"/>
              <a:cs typeface="Poppins"/>
              <a:sym typeface="Poppins"/>
            </a:endParaRPr>
          </a:p>
        </p:txBody>
      </p:sp>
      <p:sp>
        <p:nvSpPr>
          <p:cNvPr id="820" name="Google Shape;820;p110"/>
          <p:cNvSpPr/>
          <p:nvPr/>
        </p:nvSpPr>
        <p:spPr>
          <a:xfrm>
            <a:off x="1384397" y="3141167"/>
            <a:ext cx="835800" cy="694200"/>
          </a:xfrm>
          <a:prstGeom prst="rect">
            <a:avLst/>
          </a:prstGeom>
          <a:solidFill>
            <a:schemeClr val="lt2"/>
          </a:solidFill>
          <a:ln cap="flat" cmpd="sng" w="8875">
            <a:solidFill>
              <a:schemeClr val="dk2"/>
            </a:solidFill>
            <a:prstDash val="solid"/>
            <a:round/>
            <a:headEnd len="sm" w="sm" type="none"/>
            <a:tailEnd len="sm" w="sm" type="none"/>
          </a:ln>
        </p:spPr>
        <p:txBody>
          <a:bodyPr anchorCtr="0" anchor="ctr" bIns="85150" lIns="85150" spcFirstLastPara="1" rIns="85150" wrap="square" tIns="85150">
            <a:noAutofit/>
          </a:bodyPr>
          <a:lstStyle/>
          <a:p>
            <a:pPr indent="0" lvl="0" marL="0" rtl="0" algn="ctr">
              <a:spcBef>
                <a:spcPts val="0"/>
              </a:spcBef>
              <a:spcAft>
                <a:spcPts val="0"/>
              </a:spcAft>
              <a:buNone/>
            </a:pPr>
            <a:r>
              <a:rPr lang="en" sz="1304">
                <a:latin typeface="Poppins"/>
                <a:ea typeface="Poppins"/>
                <a:cs typeface="Poppins"/>
                <a:sym typeface="Poppins"/>
              </a:rPr>
              <a:t>4</a:t>
            </a:r>
            <a:endParaRPr sz="1304">
              <a:latin typeface="Poppins"/>
              <a:ea typeface="Poppins"/>
              <a:cs typeface="Poppins"/>
              <a:sym typeface="Poppins"/>
            </a:endParaRPr>
          </a:p>
        </p:txBody>
      </p:sp>
      <p:sp>
        <p:nvSpPr>
          <p:cNvPr id="821" name="Google Shape;821;p110"/>
          <p:cNvSpPr/>
          <p:nvPr/>
        </p:nvSpPr>
        <p:spPr>
          <a:xfrm>
            <a:off x="2466096" y="3141167"/>
            <a:ext cx="835800" cy="694200"/>
          </a:xfrm>
          <a:prstGeom prst="rect">
            <a:avLst/>
          </a:prstGeom>
          <a:solidFill>
            <a:schemeClr val="lt2"/>
          </a:solidFill>
          <a:ln cap="flat" cmpd="sng" w="8875">
            <a:solidFill>
              <a:schemeClr val="dk2"/>
            </a:solidFill>
            <a:prstDash val="solid"/>
            <a:round/>
            <a:headEnd len="sm" w="sm" type="none"/>
            <a:tailEnd len="sm" w="sm" type="none"/>
          </a:ln>
        </p:spPr>
        <p:txBody>
          <a:bodyPr anchorCtr="0" anchor="ctr" bIns="85150" lIns="85150" spcFirstLastPara="1" rIns="85150" wrap="square" tIns="85150">
            <a:noAutofit/>
          </a:bodyPr>
          <a:lstStyle/>
          <a:p>
            <a:pPr indent="0" lvl="0" marL="0" rtl="0" algn="ctr">
              <a:spcBef>
                <a:spcPts val="0"/>
              </a:spcBef>
              <a:spcAft>
                <a:spcPts val="0"/>
              </a:spcAft>
              <a:buNone/>
            </a:pPr>
            <a:r>
              <a:rPr lang="en" sz="1304">
                <a:latin typeface="Poppins"/>
                <a:ea typeface="Poppins"/>
                <a:cs typeface="Poppins"/>
                <a:sym typeface="Poppins"/>
              </a:rPr>
              <a:t>2</a:t>
            </a:r>
            <a:endParaRPr sz="1304">
              <a:latin typeface="Poppins"/>
              <a:ea typeface="Poppins"/>
              <a:cs typeface="Poppins"/>
              <a:sym typeface="Poppins"/>
            </a:endParaRPr>
          </a:p>
        </p:txBody>
      </p:sp>
      <p:sp>
        <p:nvSpPr>
          <p:cNvPr id="822" name="Google Shape;822;p110"/>
          <p:cNvSpPr/>
          <p:nvPr/>
        </p:nvSpPr>
        <p:spPr>
          <a:xfrm>
            <a:off x="3496764" y="3137675"/>
            <a:ext cx="835800" cy="694200"/>
          </a:xfrm>
          <a:prstGeom prst="rect">
            <a:avLst/>
          </a:prstGeom>
          <a:solidFill>
            <a:schemeClr val="lt2"/>
          </a:solidFill>
          <a:ln cap="flat" cmpd="sng" w="8875">
            <a:solidFill>
              <a:schemeClr val="dk2"/>
            </a:solidFill>
            <a:prstDash val="solid"/>
            <a:round/>
            <a:headEnd len="sm" w="sm" type="none"/>
            <a:tailEnd len="sm" w="sm" type="none"/>
          </a:ln>
        </p:spPr>
        <p:txBody>
          <a:bodyPr anchorCtr="0" anchor="ctr" bIns="85150" lIns="85150" spcFirstLastPara="1" rIns="85150" wrap="square" tIns="85150">
            <a:noAutofit/>
          </a:bodyPr>
          <a:lstStyle/>
          <a:p>
            <a:pPr indent="0" lvl="0" marL="0" rtl="0" algn="ctr">
              <a:spcBef>
                <a:spcPts val="0"/>
              </a:spcBef>
              <a:spcAft>
                <a:spcPts val="0"/>
              </a:spcAft>
              <a:buNone/>
            </a:pPr>
            <a:r>
              <a:rPr lang="en" sz="1304">
                <a:latin typeface="Poppins"/>
                <a:ea typeface="Poppins"/>
                <a:cs typeface="Poppins"/>
                <a:sym typeface="Poppins"/>
              </a:rPr>
              <a:t>10</a:t>
            </a:r>
            <a:endParaRPr sz="1304">
              <a:latin typeface="Poppins"/>
              <a:ea typeface="Poppins"/>
              <a:cs typeface="Poppins"/>
              <a:sym typeface="Poppins"/>
            </a:endParaRPr>
          </a:p>
        </p:txBody>
      </p:sp>
      <p:sp>
        <p:nvSpPr>
          <p:cNvPr id="823" name="Google Shape;823;p110"/>
          <p:cNvSpPr/>
          <p:nvPr/>
        </p:nvSpPr>
        <p:spPr>
          <a:xfrm>
            <a:off x="4627236" y="3140003"/>
            <a:ext cx="835800" cy="694200"/>
          </a:xfrm>
          <a:prstGeom prst="rect">
            <a:avLst/>
          </a:prstGeom>
          <a:solidFill>
            <a:schemeClr val="lt2"/>
          </a:solidFill>
          <a:ln cap="flat" cmpd="sng" w="8875">
            <a:solidFill>
              <a:schemeClr val="dk2"/>
            </a:solidFill>
            <a:prstDash val="solid"/>
            <a:round/>
            <a:headEnd len="sm" w="sm" type="none"/>
            <a:tailEnd len="sm" w="sm" type="none"/>
          </a:ln>
        </p:spPr>
        <p:txBody>
          <a:bodyPr anchorCtr="0" anchor="ctr" bIns="85150" lIns="85150" spcFirstLastPara="1" rIns="85150" wrap="square" tIns="85150">
            <a:noAutofit/>
          </a:bodyPr>
          <a:lstStyle/>
          <a:p>
            <a:pPr indent="0" lvl="0" marL="0" rtl="0" algn="ctr">
              <a:spcBef>
                <a:spcPts val="0"/>
              </a:spcBef>
              <a:spcAft>
                <a:spcPts val="0"/>
              </a:spcAft>
              <a:buNone/>
            </a:pPr>
            <a:r>
              <a:rPr lang="en" sz="1304">
                <a:latin typeface="Poppins"/>
                <a:ea typeface="Poppins"/>
                <a:cs typeface="Poppins"/>
                <a:sym typeface="Poppins"/>
              </a:rPr>
              <a:t>2</a:t>
            </a:r>
            <a:endParaRPr sz="1304">
              <a:latin typeface="Poppins"/>
              <a:ea typeface="Poppins"/>
              <a:cs typeface="Poppins"/>
              <a:sym typeface="Poppins"/>
            </a:endParaRPr>
          </a:p>
        </p:txBody>
      </p:sp>
      <p:sp>
        <p:nvSpPr>
          <p:cNvPr id="824" name="Google Shape;824;p110"/>
          <p:cNvSpPr/>
          <p:nvPr/>
        </p:nvSpPr>
        <p:spPr>
          <a:xfrm>
            <a:off x="5708935" y="3140003"/>
            <a:ext cx="835800" cy="694200"/>
          </a:xfrm>
          <a:prstGeom prst="rect">
            <a:avLst/>
          </a:prstGeom>
          <a:solidFill>
            <a:schemeClr val="lt2"/>
          </a:solidFill>
          <a:ln cap="flat" cmpd="sng" w="8875">
            <a:solidFill>
              <a:schemeClr val="dk2"/>
            </a:solidFill>
            <a:prstDash val="solid"/>
            <a:round/>
            <a:headEnd len="sm" w="sm" type="none"/>
            <a:tailEnd len="sm" w="sm" type="none"/>
          </a:ln>
        </p:spPr>
        <p:txBody>
          <a:bodyPr anchorCtr="0" anchor="ctr" bIns="85150" lIns="85150" spcFirstLastPara="1" rIns="85150" wrap="square" tIns="85150">
            <a:noAutofit/>
          </a:bodyPr>
          <a:lstStyle/>
          <a:p>
            <a:pPr indent="0" lvl="0" marL="0" rtl="0" algn="ctr">
              <a:spcBef>
                <a:spcPts val="0"/>
              </a:spcBef>
              <a:spcAft>
                <a:spcPts val="0"/>
              </a:spcAft>
              <a:buNone/>
            </a:pPr>
            <a:r>
              <a:rPr lang="en" sz="1304">
                <a:latin typeface="Poppins"/>
                <a:ea typeface="Poppins"/>
                <a:cs typeface="Poppins"/>
                <a:sym typeface="Poppins"/>
              </a:rPr>
              <a:t>3</a:t>
            </a:r>
            <a:endParaRPr sz="1304">
              <a:latin typeface="Poppins"/>
              <a:ea typeface="Poppins"/>
              <a:cs typeface="Poppins"/>
              <a:sym typeface="Poppins"/>
            </a:endParaRPr>
          </a:p>
        </p:txBody>
      </p:sp>
      <p:sp>
        <p:nvSpPr>
          <p:cNvPr id="825" name="Google Shape;825;p110"/>
          <p:cNvSpPr/>
          <p:nvPr/>
        </p:nvSpPr>
        <p:spPr>
          <a:xfrm>
            <a:off x="6861804" y="3141167"/>
            <a:ext cx="835800" cy="694200"/>
          </a:xfrm>
          <a:prstGeom prst="rect">
            <a:avLst/>
          </a:prstGeom>
          <a:solidFill>
            <a:schemeClr val="lt2"/>
          </a:solidFill>
          <a:ln cap="flat" cmpd="sng" w="8875">
            <a:solidFill>
              <a:schemeClr val="dk2"/>
            </a:solidFill>
            <a:prstDash val="solid"/>
            <a:round/>
            <a:headEnd len="sm" w="sm" type="none"/>
            <a:tailEnd len="sm" w="sm" type="none"/>
          </a:ln>
        </p:spPr>
        <p:txBody>
          <a:bodyPr anchorCtr="0" anchor="ctr" bIns="85150" lIns="85150" spcFirstLastPara="1" rIns="85150" wrap="square" tIns="85150">
            <a:noAutofit/>
          </a:bodyPr>
          <a:lstStyle/>
          <a:p>
            <a:pPr indent="0" lvl="0" marL="0" rtl="0" algn="ctr">
              <a:spcBef>
                <a:spcPts val="0"/>
              </a:spcBef>
              <a:spcAft>
                <a:spcPts val="0"/>
              </a:spcAft>
              <a:buNone/>
            </a:pPr>
            <a:r>
              <a:rPr lang="en" sz="1304">
                <a:latin typeface="Poppins"/>
                <a:ea typeface="Poppins"/>
                <a:cs typeface="Poppins"/>
                <a:sym typeface="Poppins"/>
              </a:rPr>
              <a:t>8</a:t>
            </a:r>
            <a:endParaRPr sz="1304">
              <a:latin typeface="Poppins"/>
              <a:ea typeface="Poppins"/>
              <a:cs typeface="Poppins"/>
              <a:sym typeface="Poppins"/>
            </a:endParaRPr>
          </a:p>
        </p:txBody>
      </p:sp>
      <p:cxnSp>
        <p:nvCxnSpPr>
          <p:cNvPr id="826" name="Google Shape;826;p110"/>
          <p:cNvCxnSpPr/>
          <p:nvPr/>
        </p:nvCxnSpPr>
        <p:spPr>
          <a:xfrm>
            <a:off x="8127165" y="1898050"/>
            <a:ext cx="0" cy="2729700"/>
          </a:xfrm>
          <a:prstGeom prst="straightConnector1">
            <a:avLst/>
          </a:prstGeom>
          <a:noFill/>
          <a:ln cap="flat" cmpd="sng" w="28575">
            <a:solidFill>
              <a:srgbClr val="980000"/>
            </a:solidFill>
            <a:prstDash val="solid"/>
            <a:round/>
            <a:headEnd len="med" w="med" type="none"/>
            <a:tailEnd len="med" w="med" type="none"/>
          </a:ln>
        </p:spPr>
      </p:cxnSp>
      <p:sp>
        <p:nvSpPr>
          <p:cNvPr id="827" name="Google Shape;827;p110"/>
          <p:cNvSpPr txBox="1"/>
          <p:nvPr>
            <p:ph idx="2" type="body"/>
          </p:nvPr>
        </p:nvSpPr>
        <p:spPr>
          <a:xfrm>
            <a:off x="7758775" y="1399513"/>
            <a:ext cx="736800" cy="431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 END</a:t>
            </a:r>
            <a:endParaRPr>
              <a:latin typeface="Consolas"/>
              <a:ea typeface="Consolas"/>
              <a:cs typeface="Consolas"/>
              <a:sym typeface="Consolas"/>
            </a:endParaRPr>
          </a:p>
        </p:txBody>
      </p:sp>
      <p:sp>
        <p:nvSpPr>
          <p:cNvPr id="828" name="Google Shape;828;p110"/>
          <p:cNvSpPr/>
          <p:nvPr/>
        </p:nvSpPr>
        <p:spPr>
          <a:xfrm>
            <a:off x="3580463" y="2185275"/>
            <a:ext cx="736800" cy="69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oppins"/>
                <a:ea typeface="Poppins"/>
                <a:cs typeface="Poppins"/>
                <a:sym typeface="Poppins"/>
              </a:rPr>
              <a:t>cur</a:t>
            </a:r>
            <a:endParaRPr sz="1000">
              <a:latin typeface="Poppins"/>
              <a:ea typeface="Poppins"/>
              <a:cs typeface="Poppins"/>
              <a:sym typeface="Poppins"/>
            </a:endParaRPr>
          </a:p>
        </p:txBody>
      </p:sp>
      <p:sp>
        <p:nvSpPr>
          <p:cNvPr id="829" name="Google Shape;829;p110"/>
          <p:cNvSpPr txBox="1"/>
          <p:nvPr>
            <p:ph idx="1" type="subTitle"/>
          </p:nvPr>
        </p:nvSpPr>
        <p:spPr>
          <a:xfrm>
            <a:off x="4449625" y="218100"/>
            <a:ext cx="3879600" cy="83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Naive Approach (“Brute Force”)</a:t>
            </a:r>
            <a:endParaRPr sz="1500"/>
          </a:p>
          <a:p>
            <a:pPr indent="0" lvl="0" marL="0" rtl="0" algn="ctr">
              <a:spcBef>
                <a:spcPts val="1000"/>
              </a:spcBef>
              <a:spcAft>
                <a:spcPts val="0"/>
              </a:spcAft>
              <a:buNone/>
            </a:pPr>
            <a:r>
              <a:rPr lang="en" sz="1500"/>
              <a:t>Multi pass            </a:t>
            </a:r>
            <a:endParaRPr sz="1500"/>
          </a:p>
          <a:p>
            <a:pPr indent="0" lvl="0" marL="0" rtl="0" algn="ctr">
              <a:spcBef>
                <a:spcPts val="1000"/>
              </a:spcBef>
              <a:spcAft>
                <a:spcPts val="1000"/>
              </a:spcAft>
              <a:buNone/>
            </a:pPr>
            <a:r>
              <a:rPr lang="en" sz="1500"/>
              <a:t>       Counter variable, Cur,  Head</a:t>
            </a:r>
            <a:endParaRPr sz="1500"/>
          </a:p>
        </p:txBody>
      </p:sp>
      <p:sp>
        <p:nvSpPr>
          <p:cNvPr id="830" name="Google Shape;830;p110"/>
          <p:cNvSpPr txBox="1"/>
          <p:nvPr>
            <p:ph idx="2" type="body"/>
          </p:nvPr>
        </p:nvSpPr>
        <p:spPr>
          <a:xfrm>
            <a:off x="325425" y="1394925"/>
            <a:ext cx="5383500" cy="52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count= 7</a:t>
            </a:r>
            <a:endParaRPr sz="1400"/>
          </a:p>
          <a:p>
            <a:pPr indent="0" lvl="0" marL="0" rtl="0" algn="l">
              <a:spcBef>
                <a:spcPts val="1000"/>
              </a:spcBef>
              <a:spcAft>
                <a:spcPts val="1000"/>
              </a:spcAft>
              <a:buNone/>
            </a:pPr>
            <a:r>
              <a:rPr lang="en" sz="1400"/>
              <a:t>mid = 7//2</a:t>
            </a:r>
            <a:endParaRPr sz="1400"/>
          </a:p>
        </p:txBody>
      </p:sp>
      <p:sp>
        <p:nvSpPr>
          <p:cNvPr id="831" name="Google Shape;831;p110"/>
          <p:cNvSpPr/>
          <p:nvPr/>
        </p:nvSpPr>
        <p:spPr>
          <a:xfrm>
            <a:off x="303425" y="4047276"/>
            <a:ext cx="736800" cy="69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oppins"/>
                <a:ea typeface="Poppins"/>
                <a:cs typeface="Poppins"/>
                <a:sym typeface="Poppins"/>
              </a:rPr>
              <a:t>head</a:t>
            </a:r>
            <a:endParaRPr sz="1000">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11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7" name="Google Shape;837;p111"/>
          <p:cNvSpPr/>
          <p:nvPr/>
        </p:nvSpPr>
        <p:spPr>
          <a:xfrm>
            <a:off x="253925" y="3138839"/>
            <a:ext cx="835800" cy="694200"/>
          </a:xfrm>
          <a:prstGeom prst="rect">
            <a:avLst/>
          </a:prstGeom>
          <a:solidFill>
            <a:schemeClr val="lt2"/>
          </a:solidFill>
          <a:ln cap="flat" cmpd="sng" w="8875">
            <a:solidFill>
              <a:schemeClr val="dk2"/>
            </a:solidFill>
            <a:prstDash val="solid"/>
            <a:round/>
            <a:headEnd len="sm" w="sm" type="none"/>
            <a:tailEnd len="sm" w="sm" type="none"/>
          </a:ln>
        </p:spPr>
        <p:txBody>
          <a:bodyPr anchorCtr="0" anchor="ctr" bIns="85150" lIns="85150" spcFirstLastPara="1" rIns="85150" wrap="square" tIns="85150">
            <a:noAutofit/>
          </a:bodyPr>
          <a:lstStyle/>
          <a:p>
            <a:pPr indent="0" lvl="0" marL="0" rtl="0" algn="ctr">
              <a:spcBef>
                <a:spcPts val="0"/>
              </a:spcBef>
              <a:spcAft>
                <a:spcPts val="0"/>
              </a:spcAft>
              <a:buNone/>
            </a:pPr>
            <a:r>
              <a:rPr lang="en" sz="1304">
                <a:latin typeface="Poppins"/>
                <a:ea typeface="Poppins"/>
                <a:cs typeface="Poppins"/>
                <a:sym typeface="Poppins"/>
              </a:rPr>
              <a:t>1</a:t>
            </a:r>
            <a:endParaRPr sz="1304">
              <a:latin typeface="Poppins"/>
              <a:ea typeface="Poppins"/>
              <a:cs typeface="Poppins"/>
              <a:sym typeface="Poppins"/>
            </a:endParaRPr>
          </a:p>
        </p:txBody>
      </p:sp>
      <p:sp>
        <p:nvSpPr>
          <p:cNvPr id="838" name="Google Shape;838;p111"/>
          <p:cNvSpPr/>
          <p:nvPr/>
        </p:nvSpPr>
        <p:spPr>
          <a:xfrm>
            <a:off x="1384397" y="3141167"/>
            <a:ext cx="835800" cy="694200"/>
          </a:xfrm>
          <a:prstGeom prst="rect">
            <a:avLst/>
          </a:prstGeom>
          <a:solidFill>
            <a:schemeClr val="lt2"/>
          </a:solidFill>
          <a:ln cap="flat" cmpd="sng" w="8875">
            <a:solidFill>
              <a:schemeClr val="dk2"/>
            </a:solidFill>
            <a:prstDash val="solid"/>
            <a:round/>
            <a:headEnd len="sm" w="sm" type="none"/>
            <a:tailEnd len="sm" w="sm" type="none"/>
          </a:ln>
        </p:spPr>
        <p:txBody>
          <a:bodyPr anchorCtr="0" anchor="ctr" bIns="85150" lIns="85150" spcFirstLastPara="1" rIns="85150" wrap="square" tIns="85150">
            <a:noAutofit/>
          </a:bodyPr>
          <a:lstStyle/>
          <a:p>
            <a:pPr indent="0" lvl="0" marL="0" rtl="0" algn="ctr">
              <a:spcBef>
                <a:spcPts val="0"/>
              </a:spcBef>
              <a:spcAft>
                <a:spcPts val="0"/>
              </a:spcAft>
              <a:buNone/>
            </a:pPr>
            <a:r>
              <a:rPr lang="en" sz="1304">
                <a:latin typeface="Poppins"/>
                <a:ea typeface="Poppins"/>
                <a:cs typeface="Poppins"/>
                <a:sym typeface="Poppins"/>
              </a:rPr>
              <a:t>4</a:t>
            </a:r>
            <a:endParaRPr sz="1304">
              <a:latin typeface="Poppins"/>
              <a:ea typeface="Poppins"/>
              <a:cs typeface="Poppins"/>
              <a:sym typeface="Poppins"/>
            </a:endParaRPr>
          </a:p>
        </p:txBody>
      </p:sp>
      <p:sp>
        <p:nvSpPr>
          <p:cNvPr id="839" name="Google Shape;839;p111"/>
          <p:cNvSpPr/>
          <p:nvPr/>
        </p:nvSpPr>
        <p:spPr>
          <a:xfrm>
            <a:off x="2466096" y="3141167"/>
            <a:ext cx="835800" cy="694200"/>
          </a:xfrm>
          <a:prstGeom prst="rect">
            <a:avLst/>
          </a:prstGeom>
          <a:solidFill>
            <a:schemeClr val="lt2"/>
          </a:solidFill>
          <a:ln cap="flat" cmpd="sng" w="8875">
            <a:solidFill>
              <a:schemeClr val="dk2"/>
            </a:solidFill>
            <a:prstDash val="solid"/>
            <a:round/>
            <a:headEnd len="sm" w="sm" type="none"/>
            <a:tailEnd len="sm" w="sm" type="none"/>
          </a:ln>
        </p:spPr>
        <p:txBody>
          <a:bodyPr anchorCtr="0" anchor="ctr" bIns="85150" lIns="85150" spcFirstLastPara="1" rIns="85150" wrap="square" tIns="85150">
            <a:noAutofit/>
          </a:bodyPr>
          <a:lstStyle/>
          <a:p>
            <a:pPr indent="0" lvl="0" marL="0" rtl="0" algn="ctr">
              <a:spcBef>
                <a:spcPts val="0"/>
              </a:spcBef>
              <a:spcAft>
                <a:spcPts val="0"/>
              </a:spcAft>
              <a:buNone/>
            </a:pPr>
            <a:r>
              <a:rPr lang="en" sz="1304">
                <a:latin typeface="Poppins"/>
                <a:ea typeface="Poppins"/>
                <a:cs typeface="Poppins"/>
                <a:sym typeface="Poppins"/>
              </a:rPr>
              <a:t>2</a:t>
            </a:r>
            <a:endParaRPr sz="1304">
              <a:latin typeface="Poppins"/>
              <a:ea typeface="Poppins"/>
              <a:cs typeface="Poppins"/>
              <a:sym typeface="Poppins"/>
            </a:endParaRPr>
          </a:p>
        </p:txBody>
      </p:sp>
      <p:sp>
        <p:nvSpPr>
          <p:cNvPr id="840" name="Google Shape;840;p111"/>
          <p:cNvSpPr/>
          <p:nvPr/>
        </p:nvSpPr>
        <p:spPr>
          <a:xfrm>
            <a:off x="3496764" y="3137675"/>
            <a:ext cx="835800" cy="694200"/>
          </a:xfrm>
          <a:prstGeom prst="rect">
            <a:avLst/>
          </a:prstGeom>
          <a:solidFill>
            <a:schemeClr val="lt2"/>
          </a:solidFill>
          <a:ln cap="flat" cmpd="sng" w="8875">
            <a:solidFill>
              <a:schemeClr val="dk2"/>
            </a:solidFill>
            <a:prstDash val="solid"/>
            <a:round/>
            <a:headEnd len="sm" w="sm" type="none"/>
            <a:tailEnd len="sm" w="sm" type="none"/>
          </a:ln>
        </p:spPr>
        <p:txBody>
          <a:bodyPr anchorCtr="0" anchor="ctr" bIns="85150" lIns="85150" spcFirstLastPara="1" rIns="85150" wrap="square" tIns="85150">
            <a:noAutofit/>
          </a:bodyPr>
          <a:lstStyle/>
          <a:p>
            <a:pPr indent="0" lvl="0" marL="0" rtl="0" algn="ctr">
              <a:spcBef>
                <a:spcPts val="0"/>
              </a:spcBef>
              <a:spcAft>
                <a:spcPts val="0"/>
              </a:spcAft>
              <a:buNone/>
            </a:pPr>
            <a:r>
              <a:rPr lang="en" sz="1304">
                <a:latin typeface="Poppins"/>
                <a:ea typeface="Poppins"/>
                <a:cs typeface="Poppins"/>
                <a:sym typeface="Poppins"/>
              </a:rPr>
              <a:t>10</a:t>
            </a:r>
            <a:endParaRPr sz="1304">
              <a:latin typeface="Poppins"/>
              <a:ea typeface="Poppins"/>
              <a:cs typeface="Poppins"/>
              <a:sym typeface="Poppins"/>
            </a:endParaRPr>
          </a:p>
        </p:txBody>
      </p:sp>
      <p:sp>
        <p:nvSpPr>
          <p:cNvPr id="841" name="Google Shape;841;p111"/>
          <p:cNvSpPr/>
          <p:nvPr/>
        </p:nvSpPr>
        <p:spPr>
          <a:xfrm>
            <a:off x="4627236" y="3140003"/>
            <a:ext cx="835800" cy="694200"/>
          </a:xfrm>
          <a:prstGeom prst="rect">
            <a:avLst/>
          </a:prstGeom>
          <a:solidFill>
            <a:schemeClr val="lt2"/>
          </a:solidFill>
          <a:ln cap="flat" cmpd="sng" w="8875">
            <a:solidFill>
              <a:schemeClr val="dk2"/>
            </a:solidFill>
            <a:prstDash val="solid"/>
            <a:round/>
            <a:headEnd len="sm" w="sm" type="none"/>
            <a:tailEnd len="sm" w="sm" type="none"/>
          </a:ln>
        </p:spPr>
        <p:txBody>
          <a:bodyPr anchorCtr="0" anchor="ctr" bIns="85150" lIns="85150" spcFirstLastPara="1" rIns="85150" wrap="square" tIns="85150">
            <a:noAutofit/>
          </a:bodyPr>
          <a:lstStyle/>
          <a:p>
            <a:pPr indent="0" lvl="0" marL="0" rtl="0" algn="ctr">
              <a:spcBef>
                <a:spcPts val="0"/>
              </a:spcBef>
              <a:spcAft>
                <a:spcPts val="0"/>
              </a:spcAft>
              <a:buNone/>
            </a:pPr>
            <a:r>
              <a:rPr lang="en" sz="1304">
                <a:latin typeface="Poppins"/>
                <a:ea typeface="Poppins"/>
                <a:cs typeface="Poppins"/>
                <a:sym typeface="Poppins"/>
              </a:rPr>
              <a:t>2</a:t>
            </a:r>
            <a:endParaRPr sz="1304">
              <a:latin typeface="Poppins"/>
              <a:ea typeface="Poppins"/>
              <a:cs typeface="Poppins"/>
              <a:sym typeface="Poppins"/>
            </a:endParaRPr>
          </a:p>
        </p:txBody>
      </p:sp>
      <p:sp>
        <p:nvSpPr>
          <p:cNvPr id="842" name="Google Shape;842;p111"/>
          <p:cNvSpPr/>
          <p:nvPr/>
        </p:nvSpPr>
        <p:spPr>
          <a:xfrm>
            <a:off x="5708935" y="3140003"/>
            <a:ext cx="835800" cy="694200"/>
          </a:xfrm>
          <a:prstGeom prst="rect">
            <a:avLst/>
          </a:prstGeom>
          <a:solidFill>
            <a:schemeClr val="lt2"/>
          </a:solidFill>
          <a:ln cap="flat" cmpd="sng" w="8875">
            <a:solidFill>
              <a:schemeClr val="dk2"/>
            </a:solidFill>
            <a:prstDash val="solid"/>
            <a:round/>
            <a:headEnd len="sm" w="sm" type="none"/>
            <a:tailEnd len="sm" w="sm" type="none"/>
          </a:ln>
        </p:spPr>
        <p:txBody>
          <a:bodyPr anchorCtr="0" anchor="ctr" bIns="85150" lIns="85150" spcFirstLastPara="1" rIns="85150" wrap="square" tIns="85150">
            <a:noAutofit/>
          </a:bodyPr>
          <a:lstStyle/>
          <a:p>
            <a:pPr indent="0" lvl="0" marL="0" rtl="0" algn="ctr">
              <a:spcBef>
                <a:spcPts val="0"/>
              </a:spcBef>
              <a:spcAft>
                <a:spcPts val="0"/>
              </a:spcAft>
              <a:buNone/>
            </a:pPr>
            <a:r>
              <a:rPr lang="en" sz="1304">
                <a:latin typeface="Poppins"/>
                <a:ea typeface="Poppins"/>
                <a:cs typeface="Poppins"/>
                <a:sym typeface="Poppins"/>
              </a:rPr>
              <a:t>3</a:t>
            </a:r>
            <a:endParaRPr sz="1304">
              <a:latin typeface="Poppins"/>
              <a:ea typeface="Poppins"/>
              <a:cs typeface="Poppins"/>
              <a:sym typeface="Poppins"/>
            </a:endParaRPr>
          </a:p>
        </p:txBody>
      </p:sp>
      <p:sp>
        <p:nvSpPr>
          <p:cNvPr id="843" name="Google Shape;843;p111"/>
          <p:cNvSpPr/>
          <p:nvPr/>
        </p:nvSpPr>
        <p:spPr>
          <a:xfrm>
            <a:off x="6861804" y="3141167"/>
            <a:ext cx="835800" cy="694200"/>
          </a:xfrm>
          <a:prstGeom prst="rect">
            <a:avLst/>
          </a:prstGeom>
          <a:solidFill>
            <a:schemeClr val="lt2"/>
          </a:solidFill>
          <a:ln cap="flat" cmpd="sng" w="8875">
            <a:solidFill>
              <a:schemeClr val="dk2"/>
            </a:solidFill>
            <a:prstDash val="solid"/>
            <a:round/>
            <a:headEnd len="sm" w="sm" type="none"/>
            <a:tailEnd len="sm" w="sm" type="none"/>
          </a:ln>
        </p:spPr>
        <p:txBody>
          <a:bodyPr anchorCtr="0" anchor="ctr" bIns="85150" lIns="85150" spcFirstLastPara="1" rIns="85150" wrap="square" tIns="85150">
            <a:noAutofit/>
          </a:bodyPr>
          <a:lstStyle/>
          <a:p>
            <a:pPr indent="0" lvl="0" marL="0" rtl="0" algn="ctr">
              <a:spcBef>
                <a:spcPts val="0"/>
              </a:spcBef>
              <a:spcAft>
                <a:spcPts val="0"/>
              </a:spcAft>
              <a:buNone/>
            </a:pPr>
            <a:r>
              <a:rPr lang="en" sz="1304">
                <a:latin typeface="Poppins"/>
                <a:ea typeface="Poppins"/>
                <a:cs typeface="Poppins"/>
                <a:sym typeface="Poppins"/>
              </a:rPr>
              <a:t>8</a:t>
            </a:r>
            <a:endParaRPr sz="1304">
              <a:latin typeface="Poppins"/>
              <a:ea typeface="Poppins"/>
              <a:cs typeface="Poppins"/>
              <a:sym typeface="Poppins"/>
            </a:endParaRPr>
          </a:p>
        </p:txBody>
      </p:sp>
      <p:cxnSp>
        <p:nvCxnSpPr>
          <p:cNvPr id="844" name="Google Shape;844;p111"/>
          <p:cNvCxnSpPr/>
          <p:nvPr/>
        </p:nvCxnSpPr>
        <p:spPr>
          <a:xfrm>
            <a:off x="8127165" y="1898050"/>
            <a:ext cx="0" cy="2729700"/>
          </a:xfrm>
          <a:prstGeom prst="straightConnector1">
            <a:avLst/>
          </a:prstGeom>
          <a:noFill/>
          <a:ln cap="flat" cmpd="sng" w="28575">
            <a:solidFill>
              <a:srgbClr val="980000"/>
            </a:solidFill>
            <a:prstDash val="solid"/>
            <a:round/>
            <a:headEnd len="med" w="med" type="none"/>
            <a:tailEnd len="med" w="med" type="none"/>
          </a:ln>
        </p:spPr>
      </p:cxnSp>
      <p:sp>
        <p:nvSpPr>
          <p:cNvPr id="845" name="Google Shape;845;p111"/>
          <p:cNvSpPr/>
          <p:nvPr/>
        </p:nvSpPr>
        <p:spPr>
          <a:xfrm>
            <a:off x="3559475" y="2241663"/>
            <a:ext cx="736800" cy="69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oppins"/>
                <a:ea typeface="Poppins"/>
                <a:cs typeface="Poppins"/>
                <a:sym typeface="Poppins"/>
              </a:rPr>
              <a:t>slow</a:t>
            </a:r>
            <a:endParaRPr sz="1000">
              <a:latin typeface="Poppins"/>
              <a:ea typeface="Poppins"/>
              <a:cs typeface="Poppins"/>
              <a:sym typeface="Poppins"/>
            </a:endParaRPr>
          </a:p>
        </p:txBody>
      </p:sp>
      <p:sp>
        <p:nvSpPr>
          <p:cNvPr id="846" name="Google Shape;846;p111"/>
          <p:cNvSpPr/>
          <p:nvPr/>
        </p:nvSpPr>
        <p:spPr>
          <a:xfrm>
            <a:off x="6877712" y="1475063"/>
            <a:ext cx="736800" cy="69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oppins"/>
                <a:ea typeface="Poppins"/>
                <a:cs typeface="Poppins"/>
                <a:sym typeface="Poppins"/>
              </a:rPr>
              <a:t>fast</a:t>
            </a:r>
            <a:endParaRPr sz="1000">
              <a:latin typeface="Poppins"/>
              <a:ea typeface="Poppins"/>
              <a:cs typeface="Poppins"/>
              <a:sym typeface="Poppins"/>
            </a:endParaRPr>
          </a:p>
        </p:txBody>
      </p:sp>
      <p:sp>
        <p:nvSpPr>
          <p:cNvPr id="847" name="Google Shape;847;p111"/>
          <p:cNvSpPr txBox="1"/>
          <p:nvPr>
            <p:ph idx="1" type="subTitle"/>
          </p:nvPr>
        </p:nvSpPr>
        <p:spPr>
          <a:xfrm>
            <a:off x="4449625" y="218100"/>
            <a:ext cx="3879600" cy="83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Optimized Approach           </a:t>
            </a:r>
            <a:endParaRPr sz="1500"/>
          </a:p>
          <a:p>
            <a:pPr indent="0" lvl="0" marL="0" rtl="0" algn="ctr">
              <a:spcBef>
                <a:spcPts val="1000"/>
              </a:spcBef>
              <a:spcAft>
                <a:spcPts val="1000"/>
              </a:spcAft>
              <a:buNone/>
            </a:pPr>
            <a:r>
              <a:rPr lang="en" sz="1500"/>
              <a:t>       Slow, Fast, Head</a:t>
            </a:r>
            <a:endParaRPr sz="1500"/>
          </a:p>
        </p:txBody>
      </p:sp>
      <p:sp>
        <p:nvSpPr>
          <p:cNvPr id="848" name="Google Shape;848;p111"/>
          <p:cNvSpPr txBox="1"/>
          <p:nvPr>
            <p:ph idx="2" type="body"/>
          </p:nvPr>
        </p:nvSpPr>
        <p:spPr>
          <a:xfrm>
            <a:off x="7758775" y="1386888"/>
            <a:ext cx="736800" cy="431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 END</a:t>
            </a:r>
            <a:endParaRPr>
              <a:latin typeface="Consolas"/>
              <a:ea typeface="Consolas"/>
              <a:cs typeface="Consolas"/>
              <a:sym typeface="Consolas"/>
            </a:endParaRPr>
          </a:p>
        </p:txBody>
      </p:sp>
      <p:sp>
        <p:nvSpPr>
          <p:cNvPr id="849" name="Google Shape;849;p111"/>
          <p:cNvSpPr/>
          <p:nvPr/>
        </p:nvSpPr>
        <p:spPr>
          <a:xfrm>
            <a:off x="303425" y="4047276"/>
            <a:ext cx="736800" cy="69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oppins"/>
                <a:ea typeface="Poppins"/>
                <a:cs typeface="Poppins"/>
                <a:sym typeface="Poppins"/>
              </a:rPr>
              <a:t>head</a:t>
            </a:r>
            <a:endParaRPr sz="1000">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112"/>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855" name="Google Shape;855;p112"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13"/>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861" name="Google Shape;861;p11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 minutes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114"/>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60 minutes</a:t>
            </a:r>
            <a:endParaRPr/>
          </a:p>
        </p:txBody>
      </p:sp>
      <p:sp>
        <p:nvSpPr>
          <p:cNvPr id="867" name="Google Shape;867;p11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8" name="Google Shape;868;p114"/>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115"/>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874" name="Google Shape;874;p11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11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11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85" name="Google Shape;885;p117"/>
          <p:cNvSpPr txBox="1"/>
          <p:nvPr/>
        </p:nvSpPr>
        <p:spPr>
          <a:xfrm>
            <a:off x="1048400" y="1031050"/>
            <a:ext cx="4693200" cy="1662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800">
                <a:solidFill>
                  <a:schemeClr val="dk1"/>
                </a:solidFill>
                <a:latin typeface="Poppins"/>
                <a:ea typeface="Poppins"/>
                <a:cs typeface="Poppins"/>
                <a:sym typeface="Poppins"/>
              </a:rPr>
              <a:t>Session Survey Time!</a:t>
            </a:r>
            <a:endParaRPr b="1" sz="4800">
              <a:solidFill>
                <a:schemeClr val="dk1"/>
              </a:solidFill>
              <a:latin typeface="Poppins"/>
              <a:ea typeface="Poppins"/>
              <a:cs typeface="Poppins"/>
              <a:sym typeface="Poppins"/>
            </a:endParaRPr>
          </a:p>
        </p:txBody>
      </p:sp>
      <p:pic>
        <p:nvPicPr>
          <p:cNvPr id="886" name="Google Shape;886;p117"/>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3 Minute Timer Relaxing Music Lofi Sky Background&#10;&#10;&#10;&#10;&#10;&#10;&#10;&#10;&#10;Tags&#10;1 minute&#10;1 minute countdown&#10;1 minute lo-fi hiphop timer&#10;1 minute timer&#10;countdown&#10;lo-fi music&#10;lofi study song&#10;study music&#10;study timer&#10;time&#10;timer&#10;working music&#10;1 minute timer with music&#10;1 minute clock&#10;lofi hiphop&#10;relaxing timers&#10;relaxing music&#10;relaxing lofi timer&#10;nature timer&#10;meditation&#10;meditation music&#10;relaxing sleep music&#10;school timer&#10;sleep timer&#10;chill timer&#10;chill music&#10;lofi timer&#10;lofi hiphop timer&#10;lofi hip hop" id="887" name="Google Shape;887;p117" title="3 Minute Timer Relaxing Music Lofi Sky Background">
            <a:hlinkClick r:id="rId4"/>
          </p:cNvPr>
          <p:cNvPicPr preferRelativeResize="0"/>
          <p:nvPr/>
        </p:nvPicPr>
        <p:blipFill>
          <a:blip r:embed="rId5">
            <a:alphaModFix/>
          </a:blip>
          <a:stretch>
            <a:fillRect/>
          </a:stretch>
        </p:blipFill>
        <p:spPr>
          <a:xfrm>
            <a:off x="3437925" y="3125450"/>
            <a:ext cx="2268150" cy="127584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18"/>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893" name="Google Shape;893;p11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94" name="Google Shape;894;p1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Take the weekly HackerRank assessment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a:p>
            <a:pPr indent="-342900" lvl="0" marL="457200" rtl="0" algn="l">
              <a:spcBef>
                <a:spcPts val="0"/>
              </a:spcBef>
              <a:spcAft>
                <a:spcPts val="0"/>
              </a:spcAft>
              <a:buSzPts val="1800"/>
              <a:buChar char="❒"/>
            </a:pPr>
            <a:r>
              <a:rPr lang="en"/>
              <a:t>Mock interview (Instructor + Volunteer) again on Thursday!</a:t>
            </a:r>
            <a:endParaRPr/>
          </a:p>
        </p:txBody>
      </p:sp>
      <p:pic>
        <p:nvPicPr>
          <p:cNvPr id="895" name="Google Shape;895;p118"/>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