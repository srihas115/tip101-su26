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66" r:id="rId5"/>
    <p:sldMasterId id="2147483767" r:id="rId6"/>
    <p:sldMasterId id="2147483768" r:id="rId7"/>
    <p:sldMasterId id="2147483769" r:id="rId8"/>
    <p:sldMasterId id="214748377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y="5143500" cx="9144000"/>
  <p:notesSz cx="6858000" cy="9144000"/>
  <p:embeddedFontLst>
    <p:embeddedFont>
      <p:font typeface="Space Mono"/>
      <p:regular r:id="rId44"/>
      <p:bold r:id="rId45"/>
      <p:italic r:id="rId46"/>
      <p:boldItalic r:id="rId47"/>
    </p:embeddedFont>
    <p:embeddedFont>
      <p:font typeface="Poppins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76">
          <p15:clr>
            <a:srgbClr val="9AA0A6"/>
          </p15:clr>
        </p15:guide>
        <p15:guide id="4" pos="1152">
          <p15:clr>
            <a:srgbClr val="9AA0A6"/>
          </p15:clr>
        </p15:guide>
        <p15:guide id="5" pos="1728">
          <p15:clr>
            <a:srgbClr val="9AA0A6"/>
          </p15:clr>
        </p15:guide>
        <p15:guide id="6" pos="2304">
          <p15:clr>
            <a:srgbClr val="9AA0A6"/>
          </p15:clr>
        </p15:guide>
        <p15:guide id="7" pos="3456">
          <p15:clr>
            <a:srgbClr val="9AA0A6"/>
          </p15:clr>
        </p15:guide>
        <p15:guide id="8" pos="4032">
          <p15:clr>
            <a:srgbClr val="9AA0A6"/>
          </p15:clr>
        </p15:guide>
        <p15:guide id="9" pos="4608">
          <p15:clr>
            <a:srgbClr val="9AA0A6"/>
          </p15:clr>
        </p15:guide>
        <p15:guide id="10" pos="5184">
          <p15:clr>
            <a:srgbClr val="9AA0A6"/>
          </p15:clr>
        </p15:guide>
        <p15:guide id="11" orient="horz" pos="468">
          <p15:clr>
            <a:srgbClr val="9AA0A6"/>
          </p15:clr>
        </p15:guide>
        <p15:guide id="12" orient="horz" pos="1044">
          <p15:clr>
            <a:srgbClr val="9AA0A6"/>
          </p15:clr>
        </p15:guide>
        <p15:guide id="13" orient="horz" pos="2772">
          <p15:clr>
            <a:srgbClr val="9AA0A6"/>
          </p15:clr>
        </p15:guide>
        <p15:guide id="14" orient="horz" pos="219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26E2D5-56EF-49DD-97C4-E62CD1A9AFB9}">
  <a:tblStyle styleId="{7A26E2D5-56EF-49DD-97C4-E62CD1A9AF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76"/>
        <p:guide pos="1152"/>
        <p:guide pos="1728"/>
        <p:guide pos="2304"/>
        <p:guide pos="3456"/>
        <p:guide pos="4032"/>
        <p:guide pos="4608"/>
        <p:guide pos="5184"/>
        <p:guide pos="468" orient="horz"/>
        <p:guide pos="1044" orient="horz"/>
        <p:guide pos="2772" orient="horz"/>
        <p:guide pos="21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font" Target="fonts/SpaceMono-regular.fntdata"/><Relationship Id="rId43" Type="http://schemas.openxmlformats.org/officeDocument/2006/relationships/slide" Target="slides/slide33.xml"/><Relationship Id="rId46" Type="http://schemas.openxmlformats.org/officeDocument/2006/relationships/font" Target="fonts/SpaceMono-italic.fntdata"/><Relationship Id="rId45" Type="http://schemas.openxmlformats.org/officeDocument/2006/relationships/font" Target="fonts/SpaceMono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Poppins-regular.fntdata"/><Relationship Id="rId47" Type="http://schemas.openxmlformats.org/officeDocument/2006/relationships/font" Target="fonts/SpaceMono-boldItalic.fntdata"/><Relationship Id="rId49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Poppins-boldItalic.fntdata"/><Relationship Id="rId50" Type="http://schemas.openxmlformats.org/officeDocument/2006/relationships/font" Target="fonts/Poppins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1.xml"/><Relationship Id="rId55" Type="http://schemas.openxmlformats.org/officeDocument/2006/relationships/font" Target="fonts/RobotoMono-bold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8jv7nzkftlz.typeform.com/su26-tip-rp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o.codepath.org/tiptutor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urses.codepath.org/courses/tip101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2207204cd9_0_2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2207204cd9_0_2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Introduce students to the course and set a positive tone for learning.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students as they join, ensuring energy and enthusiasm.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Confirm the session details and greet students by name if possible.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to CodePath TIP101! I’m so excited to have all of you here. Over the next 10 weeks, we’ll dive into Python programming and technical interview preparation.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 students to share their location or one word describing how they feel about starting the course in the chat.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2207204cd9_0_2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2207204cd9_0_2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Provide a clear overview of the session.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through the agenda and ensure students understand the schedule.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Today, we’ll start with a welcome and overview, move into course structure and resources, take a short break, and end with collaborative problem-solving.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Pause to ask if anyone has questions about the flow of the session.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2207204cd9_0_2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2207204cd9_0_2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ecb9a7d6f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ecb9a7d6f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Personalize the course by sharing your background and interests.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Update this slide with your name, expertise, and education.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little about me: [Your name], my background is in [field], and I’ve worked on [relevant projects]. I’m here to support your learning journey!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Invite students to share their own goals or backgrounds in the chat.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SLIDES_API13295482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SLIDES_API13295482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Encourage students to engage visually for better interaction.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Kindly ask students to enable their cameras.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see all your wonderful faces! It makes the session more interactive and fun.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students who turn on their cameras with positive reinforcement.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chemeClr val="hlink"/>
                </a:solidFill>
                <a:hlinkClick r:id="rId2"/>
              </a:rPr>
              <a:t>This is where the team introduces the readiness prep form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e73dcbeb0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e73dcbeb0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2861b2df6a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2861b2df6a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2861b2df6a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2861b2df6a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Ensure students are set up correctly in Slack.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Demonstrate how to update Slack handles and monitor for completion.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Your Slack handle should include your name and course level. Let’s take a moment to update this now.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 support in real-time for anyone facing issues.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2861b2df6a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2861b2df6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Teach effective communication practices in Slack.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 examples of effective thread usage.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Starting a thread helps keep our discussions organized. Let’s practice now.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2861b2df6a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2861b2df6a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Reinforce the importance of Slack thread etiquette.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Guide students through replying in a thread.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Reply in the thread I’ve started in the #tip101-program-help-fall24 channel.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Call out exemplary replies to encourage participation.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ecb9a7d6f3_3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ecb9a7d6f3_3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Outline the weekly schedule and expectations.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through the schedule and answer any questions.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You’ll have two sessions a week plus optional office hours for extra help.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2861b2df6a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2861b2df6a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Address different learning paces and encourage collaboration.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how breakout rooms and assessments are designed for varied pacing.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course is self-paced but collaborative. You’ll move at your pace but work with peers at the same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2861b2df6a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2861b2df6a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Motivate students by sharing the rewards of completing the course.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alumni benefits and other opportunities.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Completing this course unlocks amazing opportunities like alumni networks and mentorship.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2861b2df6a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2861b2df6a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Inform students about the attendance policy and its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Clearly explain the attendance policy and its role in course success.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Attendance is critical to your success in this course. You’re allowed up to 3 absences, but it’s important to stay consistent to get the most out of the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"Why do you think consistent attendance is important for a course like this?"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2861b2df6a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2861b2df6a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Encourage students to participate actively during sessions.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how engagement improves outcomes.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course works best when you fully engage. Take notes, ask questions, and share your ideas. These habits will help you retain what you learn.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 students to share one strategy they plan to use to stay engaged.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2861b2df6a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2861b2df6a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Highlight the importance of consistent practice.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Stress the value of daily practice.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Practice is key to mastering Python and interview techniques. Try to code daily, even if it’s just for a short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plan to make time for daily practice?"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ecb9a7d6f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ecb9a7d6f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Show the new CodePath AI Tutor.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the use of the new AI Tutor: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https://go.codepath.org/tiptutor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Specifically for use with LeetCode problems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It’s common to get stuck on a difficult problem when practicing independently. Try using the AI Tutor as a way to get unstuck, guiding you through the UMPIRE method for the problem.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Complement your additional practice with the support and guidance from the AI Tutor.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e73dcbeb0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e73dcbeb0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Set realistic goals for progress.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aim for steady progress.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Completing one unit per week is a good target. If you need more time, that’s okay too, but staying consistent is important.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Prompt: "What strategies will you use to stay on track with this goal?"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2861b2df6a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2861b2df6a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Build a positive and supportive learning environment.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share appreciation for their peers.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Expressing gratitude helps build a strong community. Let’s celebrate each other’s wins throughout the course.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2861b2df6a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2861b2df6a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Emphasize the need for focused participation.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Define what "being fully present" means in a virtual classroom.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To get the most out of this course, be present visually, verbally, and technically. Limit distractions and actively contribute.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 are some ways you stay focused during online sessions?"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2861b2df6a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2861b2df6a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Facilitate a discussion about active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Guide students to reflect on participation expectations: being on camera and mic, having a stable internet connection, and being in a distraction-free environment.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Mention that bathroom breaks are okay and how to handle them appropriately by fully exiting the Zoom, and re-entering after their bathroom break.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why these requirements are crucial for a productive learning experience, and give practical tips on how to create an optimal setup.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does it look like to be fully present? Let’s brainstorm ideas together.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student responses and provide practical tips for participation.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2861b2df6a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2861b2df6a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Introduce resources for resolving issues and getting help.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the purpose of Fix-It Garage and Study Hall sessions.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you run into technical issues or need help with coding problems, these sessions are here for you. Don’t hesitate to use them!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2861b2df6a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32861b2df6a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Familiarize students with the course portal and its features.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Navigate the portal live and highlight key sections.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Go to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https://courses.codepath.org/courses/tip101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Show the Session 1 breakout room problems – this is what we will be working on today.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Show the Assignment page and explain different versions.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Show the Resources tab and highlight the cheatsheet.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Show the Career tab with milestones to prepare for other aspects of interviews.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 me show you the Course Portal where you’ll find assignments, resources, and career tools.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Pause for questions and ask if there’s a feature they’re particularly excited about.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2861b2df6a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32861b2df6a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Introduce students to Python and VS Code basics.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Demonstrate creating and running a Python file in VS Code.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Open VS Code.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Create a new Python file.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Explore the cheatsheet via VS Code.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Run the example usage print statements from the Unit 1 Cheatsheet in VS Code as a demo.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(Optional) Go through the rest of the cheatsheet noting any important information.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Here’s how you can set up your Python environment and run your first script. Let’s use the Unit 1 cheat sheet to guide 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follow along if they have VS Code installed.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ecb9a7d6f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ecb9a7d6f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2207204cd9_0_2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2207204cd9_0_2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Provide a short break to refresh and re-energize.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Announce the break and remind students to return on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Play the countdown timer video (be sure to share sound).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take 5 minutes to step away from the screen. Be sure to return promptly.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2207204cd9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2207204cd9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8667dda50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8667dda50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Demonstrate effective collaborative problem-solving.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Model how to introduce yourself, share the screen, and start solving a problem.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go through an example of how you can work together effectively in breakout rooms.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 students what they notice about the demo and discuss effective practices.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2207204cd9_0_2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2207204cd9_0_2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2207204cd9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2207204cd9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2207204cd9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2207204cd9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End the session on a positive note.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 students to share their reflections in the chat.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celebrate your wins. Share one good thing you learned or accomplished today!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a few responses aloud and celebrate with enthusiasm.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2207204cd9_0_2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32207204cd9_0_2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Gather feedback to improve future sessions.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 the survey link and emphasize its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Your feedback helps us make these sessions even better. Please take a moment to complete the survey.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Thank students for their input and explain how feedback has been used in the past.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SLIDES_API1329548222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SLIDES_API132954822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Reinforce key tasks and deadlines.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next steps and encourage continued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Don’t forget to complete the problem sets and take the HackerRank assessment by Sunday!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ask any lingering questions before signing off.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5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5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5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5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5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5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5" Type="http://schemas.openxmlformats.org/officeDocument/2006/relationships/image" Target="../media/image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0.png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7.png"/><Relationship Id="rId3" Type="http://schemas.openxmlformats.org/officeDocument/2006/relationships/image" Target="../media/image2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62" name="Google Shape;6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552800" y="344402"/>
            <a:ext cx="82392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3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70" name="Google Shape;70;p17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71" name="Google Shape;71;p17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7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7" name="Google Shape;77;p18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" name="Google Shape;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3" name="Google Shape;83;p18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6" name="Google Shape;86;p1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8" name="Google Shape;88;p19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95" name="Google Shape;95;p20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22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117" name="Google Shape;117;p22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22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119" name="Google Shape;119;p22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2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22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" name="Google Shape;122;p22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82" name="Google Shape;1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9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9"/>
          <p:cNvSpPr/>
          <p:nvPr/>
        </p:nvSpPr>
        <p:spPr>
          <a:xfrm>
            <a:off x="7040775" y="1347600"/>
            <a:ext cx="1764000" cy="1755000"/>
          </a:xfrm>
          <a:prstGeom prst="roundRect">
            <a:avLst>
              <a:gd fmla="val 4613" name="adj"/>
            </a:avLst>
          </a:prstGeom>
          <a:solidFill>
            <a:srgbClr val="FFF6B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Questions? </a:t>
            </a: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Post on Slack and tag: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9"/>
          <p:cNvSpPr txBox="1"/>
          <p:nvPr>
            <p:ph idx="3" type="subTitle"/>
          </p:nvPr>
        </p:nvSpPr>
        <p:spPr>
          <a:xfrm>
            <a:off x="7040775" y="2436050"/>
            <a:ext cx="17640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3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1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8" name="Google Shape;2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15" name="Google Shape;21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25" name="Google Shape;22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3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4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238" name="Google Shape;23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/>
          <p:nvPr/>
        </p:nvSpPr>
        <p:spPr>
          <a:xfrm>
            <a:off x="914400" y="1656900"/>
            <a:ext cx="7315200" cy="18297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6"/>
          <p:cNvSpPr txBox="1"/>
          <p:nvPr>
            <p:ph type="title"/>
          </p:nvPr>
        </p:nvSpPr>
        <p:spPr>
          <a:xfrm>
            <a:off x="914400" y="1656900"/>
            <a:ext cx="7315200" cy="18297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7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9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251" name="Google Shape;251;p39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252" name="Google Shape;252;p39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253" name="Google Shape;253;p39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54" name="Google Shape;254;p3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9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9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3" name="Google Shape;263;p39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2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42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276" name="Google Shape;27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80" name="Google Shape;280;p43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284" name="Google Shape;284;p44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285" name="Google Shape;285;p44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44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7" name="Google Shape;28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5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2" name="Google Shape;292;p45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95" name="Google Shape;2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7" name="Google Shape;297;p45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8" name="Google Shape;298;p45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6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1" name="Google Shape;301;p46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3" name="Google Shape;303;p46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7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310" name="Google Shape;310;p47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311" name="Google Shape;311;p47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47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14" name="Google Shape;3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7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8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0" name="Google Shape;320;p48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21" name="Google Shape;3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8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48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9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9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8" name="Google Shape;328;p49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29" name="Google Shape;3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1" name="Google Shape;331;p49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332" name="Google Shape;332;p49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3" name="Google Shape;333;p49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334" name="Google Shape;334;p49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9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49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7" name="Google Shape;337;p49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42" name="Google Shape;3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51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1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1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8" name="Google Shape;34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51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1" name="Google Shape;351;p51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51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2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57" name="Google Shape;35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5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2" name="Google Shape;362;p52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53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3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7" name="Google Shape;36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371" name="Google Shape;371;p53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54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77" name="Google Shape;37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54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380" name="Google Shape;380;p5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54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55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5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87" name="Google Shape;38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390" name="Google Shape;390;p5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5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56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6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97" name="Google Shape;39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5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400" name="Google Shape;400;p56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56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57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7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07" name="Google Shape;40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410" name="Google Shape;410;p5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5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8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8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8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16" name="Google Shape;41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8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8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420" name="Google Shape;420;p58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1" name="Google Shape;42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8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9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8" name="Google Shape;42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59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431" name="Google Shape;431;p5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5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0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60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39" name="Google Shape;439;p60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61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1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45" name="Google Shape;44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61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448" name="Google Shape;448;p61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p61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62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454" name="Google Shape;45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62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6" name="Google Shape;45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458" name="Google Shape;458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3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63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64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4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4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65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67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471" name="Google Shape;471;p67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72" name="Google Shape;472;p67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473" name="Google Shape;473;p67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74" name="Google Shape;474;p67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67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8" name="Google Shape;478;p67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9" name="Google Shape;47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7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82" name="Google Shape;482;p67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3" name="Google Shape;483;p67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70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70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70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496" name="Google Shape;49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1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00" name="Google Shape;500;p71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01" name="Google Shape;501;p71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2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504" name="Google Shape;504;p72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505" name="Google Shape;505;p72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72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7" name="Google Shape;50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7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9" name="Google Shape;50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73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2" name="Google Shape;512;p73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7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14" name="Google Shape;514;p73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15" name="Google Shape;51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7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7" name="Google Shape;517;p73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8" name="Google Shape;518;p73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74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1" name="Google Shape;521;p74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74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3" name="Google Shape;523;p74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7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74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5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530" name="Google Shape;530;p75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531" name="Google Shape;531;p75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p75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75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34" name="Google Shape;53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75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6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40" name="Google Shape;540;p76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41" name="Google Shape;54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76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76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77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7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48" name="Google Shape;548;p77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49" name="Google Shape;54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1" name="Google Shape;551;p77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552" name="Google Shape;552;p77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3" name="Google Shape;553;p77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554" name="Google Shape;554;p77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77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77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7" name="Google Shape;557;p77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8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61" name="Google Shape;561;p78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62" name="Google Shape;56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79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9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9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8" name="Google Shape;56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9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71" name="Google Shape;571;p79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2" name="Google Shape;572;p79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80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8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77" name="Google Shape;57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8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80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580" name="Google Shape;580;p8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1" name="Google Shape;581;p8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82" name="Google Shape;582;p80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81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8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8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87" name="Google Shape;58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8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9" name="Google Shape;589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1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591" name="Google Shape;591;p81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82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8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8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97" name="Google Shape;59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8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600" name="Google Shape;600;p8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8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8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83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8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07" name="Google Shape;607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8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8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610" name="Google Shape;610;p8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p8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84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8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8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17" name="Google Shape;61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8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84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620" name="Google Shape;620;p8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84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85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85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8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27" name="Google Shape;627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85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630" name="Google Shape;630;p8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1" name="Google Shape;631;p8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86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8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86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6" name="Google Shape;63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8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8" name="Google Shape;638;p86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6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640" name="Google Shape;640;p86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41" name="Google Shape;64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6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87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8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8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48" name="Google Shape;64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8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8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651" name="Google Shape;651;p8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2" name="Google Shape;652;p8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8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88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8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58" name="Google Shape;65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8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88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661" name="Google Shape;661;p8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8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8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6" name="Google Shape;666;p89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667" name="Google Shape;6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89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9" name="Google Shape;66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671" name="Google Shape;671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90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3" name="Google Shape;673;p90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91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91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91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92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94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684" name="Google Shape;684;p94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685" name="Google Shape;685;p94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686" name="Google Shape;686;p94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87" name="Google Shape;687;p94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9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94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1" name="Google Shape;691;p94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2" name="Google Shape;69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4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95" name="Google Shape;695;p94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6" name="Google Shape;696;p94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95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95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9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95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03" name="Google Shape;703;p95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9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98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98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9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98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716" name="Google Shape;716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99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20" name="Google Shape;720;p99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21" name="Google Shape;721;p99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0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724" name="Google Shape;724;p100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725" name="Google Shape;725;p100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6" name="Google Shape;726;p100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7" name="Google Shape;72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0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9" name="Google Shape;72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101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32" name="Google Shape;732;p101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01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34" name="Google Shape;734;p101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35" name="Google Shape;735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0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7" name="Google Shape;737;p101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38" name="Google Shape;738;p101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102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41" name="Google Shape;741;p102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102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43" name="Google Shape;743;p102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10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6" name="Google Shape;746;p102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0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750" name="Google Shape;750;p103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751" name="Google Shape;751;p103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p103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10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54" name="Google Shape;754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0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103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104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60" name="Google Shape;760;p104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61" name="Google Shape;76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10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4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4" name="Google Shape;764;p104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105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105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68" name="Google Shape;768;p105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69" name="Google Shape;76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10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71" name="Google Shape;771;p105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772" name="Google Shape;772;p105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3" name="Google Shape;773;p105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774" name="Google Shape;774;p105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05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05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7" name="Google Shape;777;p105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06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81" name="Google Shape;781;p106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82" name="Google Shape;78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0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107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107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07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8" name="Google Shape;78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0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0" name="Google Shape;790;p107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91" name="Google Shape;791;p107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2" name="Google Shape;792;p107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108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0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97" name="Google Shape;797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10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9" name="Google Shape;799;p10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800" name="Google Shape;800;p10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1" name="Google Shape;801;p10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2" name="Google Shape;802;p108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109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109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0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7" name="Google Shape;807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0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9" name="Google Shape;809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10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811" name="Google Shape;811;p109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110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110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1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17" name="Google Shape;817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1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9" name="Google Shape;819;p110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820" name="Google Shape;820;p11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1" name="Google Shape;821;p11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111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11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1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27" name="Google Shape;827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11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9" name="Google Shape;829;p111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830" name="Google Shape;830;p111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111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112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11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11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37" name="Google Shape;837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11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9" name="Google Shape;839;p11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840" name="Google Shape;840;p11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1" name="Google Shape;841;p112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113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113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11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47" name="Google Shape;847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11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9" name="Google Shape;849;p113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850" name="Google Shape;850;p11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p11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114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14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114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56" name="Google Shape;856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1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114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14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860" name="Google Shape;860;p114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61" name="Google Shape;861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114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115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115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11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68" name="Google Shape;868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11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0" name="Google Shape;870;p115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871" name="Google Shape;871;p11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2" name="Google Shape;872;p11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Google Shape;874;p116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116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1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78" name="Google Shape;878;p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11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0" name="Google Shape;880;p116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881" name="Google Shape;881;p116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2" name="Google Shape;882;p116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1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6" name="Google Shape;886;p117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887" name="Google Shape;887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17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9" name="Google Shape;889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891" name="Google Shape;891;p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118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118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119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19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19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120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122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904" name="Google Shape;904;p122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905" name="Google Shape;905;p122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906" name="Google Shape;906;p122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07" name="Google Shape;907;p122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12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" name="Google Shape;910;p122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122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2" name="Google Shape;912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1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122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15" name="Google Shape;915;p122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6" name="Google Shape;916;p122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123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12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12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2" name="Google Shape;922;p123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23" name="Google Shape;923;p123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theme" Target="../theme/theme6.xml"/><Relationship Id="rId27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88.xml"/><Relationship Id="rId23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90.xml"/><Relationship Id="rId25" Type="http://schemas.openxmlformats.org/officeDocument/2006/relationships/slideLayout" Target="../slideLayouts/slideLayout89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91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2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15.xml"/><Relationship Id="rId23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17.xml"/><Relationship Id="rId25" Type="http://schemas.openxmlformats.org/officeDocument/2006/relationships/slideLayout" Target="../slideLayouts/slideLayout116.xml"/><Relationship Id="rId28" Type="http://schemas.openxmlformats.org/officeDocument/2006/relationships/theme" Target="../theme/theme5.xml"/><Relationship Id="rId27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08.xml"/><Relationship Id="rId16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6" name="Google Shape;486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6" name="Google Shape;706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  <p:sldLayoutId id="2147483760" r:id="rId22"/>
    <p:sldLayoutId id="2147483761" r:id="rId23"/>
    <p:sldLayoutId id="2147483762" r:id="rId24"/>
    <p:sldLayoutId id="2147483763" r:id="rId25"/>
    <p:sldLayoutId id="2147483764" r:id="rId26"/>
    <p:sldLayoutId id="2147483765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5.png"/><Relationship Id="rId4" Type="http://schemas.openxmlformats.org/officeDocument/2006/relationships/image" Target="../media/image138.png"/><Relationship Id="rId5" Type="http://schemas.openxmlformats.org/officeDocument/2006/relationships/hyperlink" Target="https://go.codepath.org/tiptutor" TargetMode="External"/><Relationship Id="rId6" Type="http://schemas.openxmlformats.org/officeDocument/2006/relationships/hyperlink" Target="https://docs.google.com/document/d/1wGZrUGrDlMIMgLmI-TwqWguZoTycEbsMxpi6w4vW9R4/edit?tab=t.0" TargetMode="External"/><Relationship Id="rId7" Type="http://schemas.openxmlformats.org/officeDocument/2006/relationships/image" Target="../media/image1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4.png"/><Relationship Id="rId4" Type="http://schemas.openxmlformats.org/officeDocument/2006/relationships/image" Target="../media/image1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urses.codepath.org/courses/tip101/unit/1#!cheatsheet" TargetMode="External"/><Relationship Id="rId4" Type="http://schemas.openxmlformats.org/officeDocument/2006/relationships/hyperlink" Target="https://github.com/ehmatthes/pcc_3e/releases/download/v1.0.0/beginners_python_cheat_sheet_pcc_all.pdf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8jv7nzkftlz.typeform.com/su26-tip-rpf?typeform-source=www.google.co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youtube.com/watch?v=Jwd_lkXoLKk" TargetMode="External"/><Relationship Id="rId4" Type="http://schemas.openxmlformats.org/officeDocument/2006/relationships/image" Target="../media/image14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9.png"/><Relationship Id="rId4" Type="http://schemas.openxmlformats.org/officeDocument/2006/relationships/hyperlink" Target="http://www.youtube.com/watch?v=BTZMUDKSpSs" TargetMode="External"/><Relationship Id="rId5" Type="http://schemas.openxmlformats.org/officeDocument/2006/relationships/image" Target="../media/image15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24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/>
              <a:t>Welcome to CodePath!</a:t>
            </a:r>
            <a:endParaRPr sz="3600"/>
          </a:p>
        </p:txBody>
      </p:sp>
      <p:sp>
        <p:nvSpPr>
          <p:cNvPr id="929" name="Google Shape;929;p124"/>
          <p:cNvSpPr txBox="1"/>
          <p:nvPr>
            <p:ph idx="1" type="subTitle"/>
          </p:nvPr>
        </p:nvSpPr>
        <p:spPr>
          <a:xfrm>
            <a:off x="3582450" y="3171950"/>
            <a:ext cx="1979100" cy="3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TIP101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2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935" name="Google Shape;935;p125"/>
          <p:cNvGraphicFramePr/>
          <p:nvPr/>
        </p:nvGraphicFramePr>
        <p:xfrm>
          <a:off x="451525" y="1242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{7A26E2D5-56EF-49DD-97C4-E62CD1A9AFB9}</a:tableStyleId>
              </a:tblPr>
              <a:tblGrid>
                <a:gridCol w="411100"/>
                <a:gridCol w="4569375"/>
                <a:gridCol w="1883200"/>
              </a:tblGrid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Welcome 👋🏽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Course Structure &amp; Resources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BREAK</a:t>
                      </a:r>
                      <a:endParaRPr b="1"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minutes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4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Collaborative Problem Solving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5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Wrap Up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26"/>
          <p:cNvSpPr txBox="1"/>
          <p:nvPr>
            <p:ph type="title"/>
          </p:nvPr>
        </p:nvSpPr>
        <p:spPr>
          <a:xfrm>
            <a:off x="884825" y="2317200"/>
            <a:ext cx="34953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 👋🏽</a:t>
            </a:r>
            <a:endParaRPr/>
          </a:p>
        </p:txBody>
      </p:sp>
      <p:sp>
        <p:nvSpPr>
          <p:cNvPr id="941" name="Google Shape;941;p126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2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7" name="Google Shape;947;p127"/>
          <p:cNvSpPr txBox="1"/>
          <p:nvPr/>
        </p:nvSpPr>
        <p:spPr>
          <a:xfrm>
            <a:off x="508059" y="4148650"/>
            <a:ext cx="8127900" cy="64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“You’ll never know if you don’t try.” 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8" name="Google Shape;948;p127"/>
          <p:cNvSpPr txBox="1"/>
          <p:nvPr/>
        </p:nvSpPr>
        <p:spPr>
          <a:xfrm>
            <a:off x="3357550" y="982325"/>
            <a:ext cx="53358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Cory Brooks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ex-Amazon/AWS SWE, ex-Wall Street SWE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Poppins"/>
                <a:ea typeface="Poppins"/>
                <a:cs typeface="Poppins"/>
                <a:sym typeface="Poppins"/>
              </a:rPr>
              <a:t>NLP, AI, Computational Finance, Music Production, 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Education: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Georgia Tech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B.S. Computer Science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Concentration in AI  &amp; Human-Computer Interaction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9" name="Google Shape;949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50" y="825225"/>
            <a:ext cx="2661300" cy="26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5" name="Google Shape;955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775" y="640675"/>
            <a:ext cx="3826851" cy="3826851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128"/>
          <p:cNvSpPr txBox="1"/>
          <p:nvPr>
            <p:ph type="title"/>
          </p:nvPr>
        </p:nvSpPr>
        <p:spPr>
          <a:xfrm>
            <a:off x="661675" y="1276275"/>
            <a:ext cx="3967800" cy="17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Turn on your cameras!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2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962" name="Google Shape;962;p12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3" name="Google Shape;963;p12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✈️ Question</a:t>
            </a:r>
            <a:r>
              <a:rPr lang="en" sz="2000"/>
              <a:t>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What got you into technology / interested in taking this course?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/>
              <a:t>💬 Answer: 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In the Zoom chat, please paste the city! Add an emoji react to the ones that you would also like (or share recommendations if you’ve been!)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30"/>
          <p:cNvSpPr txBox="1"/>
          <p:nvPr>
            <p:ph type="title"/>
          </p:nvPr>
        </p:nvSpPr>
        <p:spPr>
          <a:xfrm>
            <a:off x="884825" y="2317200"/>
            <a:ext cx="71967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Structure &amp; Resources</a:t>
            </a:r>
            <a:endParaRPr/>
          </a:p>
        </p:txBody>
      </p:sp>
      <p:sp>
        <p:nvSpPr>
          <p:cNvPr id="969" name="Google Shape;969;p130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 minutes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minutes</a:t>
            </a:r>
            <a:endParaRPr/>
          </a:p>
        </p:txBody>
      </p:sp>
      <p:sp>
        <p:nvSpPr>
          <p:cNvPr id="975" name="Google Shape;975;p13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131"/>
          <p:cNvSpPr txBox="1"/>
          <p:nvPr>
            <p:ph idx="2" type="body"/>
          </p:nvPr>
        </p:nvSpPr>
        <p:spPr>
          <a:xfrm>
            <a:off x="452400" y="1132825"/>
            <a:ext cx="4764000" cy="3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Updating Your Slack Handle:</a:t>
            </a:r>
            <a:r>
              <a:rPr lang="en"/>
              <a:t> Make sure your Slack name is formatted 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Name Field</a:t>
            </a:r>
            <a:r>
              <a:rPr lang="en"/>
              <a:t>: FirstName LastName</a:t>
            </a:r>
            <a:br>
              <a:rPr lang="en"/>
            </a:br>
            <a:r>
              <a:rPr b="1" lang="en"/>
              <a:t>Title Field</a:t>
            </a:r>
            <a:r>
              <a:rPr lang="en"/>
              <a:t>: Level, Section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For example: </a:t>
            </a:r>
            <a:br>
              <a:rPr lang="en"/>
            </a:br>
            <a:r>
              <a:rPr b="1" lang="en"/>
              <a:t>Name:</a:t>
            </a:r>
            <a:r>
              <a:rPr lang="en"/>
              <a:t>  Tony Stark </a:t>
            </a:r>
            <a:br>
              <a:rPr lang="en"/>
            </a:br>
            <a:r>
              <a:rPr b="1" lang="en"/>
              <a:t>Title</a:t>
            </a:r>
            <a:r>
              <a:rPr lang="en"/>
              <a:t>: TIP101, S1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✅ Take a moment to do this now!</a:t>
            </a:r>
            <a:endParaRPr b="1"/>
          </a:p>
        </p:txBody>
      </p:sp>
      <p:pic>
        <p:nvPicPr>
          <p:cNvPr id="977" name="Google Shape;977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399" y="1271325"/>
            <a:ext cx="3205200" cy="31217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32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on Slack</a:t>
            </a:r>
            <a:endParaRPr/>
          </a:p>
        </p:txBody>
      </p:sp>
      <p:sp>
        <p:nvSpPr>
          <p:cNvPr id="983" name="Google Shape;983;p13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4" name="Google Shape;984;p132"/>
          <p:cNvSpPr txBox="1"/>
          <p:nvPr>
            <p:ph idx="1" type="body"/>
          </p:nvPr>
        </p:nvSpPr>
        <p:spPr>
          <a:xfrm>
            <a:off x="452400" y="1132825"/>
            <a:ext cx="42825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When starting a new conversation, start by posting the topic. Within the thread of that topic, provide the additional details about your question or request.</a:t>
            </a:r>
            <a:endParaRPr/>
          </a:p>
        </p:txBody>
      </p:sp>
      <p:pic>
        <p:nvPicPr>
          <p:cNvPr id="985" name="Google Shape;985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543" y="1209825"/>
            <a:ext cx="3619856" cy="3191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3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minutes</a:t>
            </a:r>
            <a:endParaRPr/>
          </a:p>
        </p:txBody>
      </p:sp>
      <p:sp>
        <p:nvSpPr>
          <p:cNvPr id="991" name="Google Shape;991;p13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2" name="Google Shape;992;p133"/>
          <p:cNvSpPr txBox="1"/>
          <p:nvPr>
            <p:ph idx="2" type="body"/>
          </p:nvPr>
        </p:nvSpPr>
        <p:spPr>
          <a:xfrm>
            <a:off x="452400" y="1260488"/>
            <a:ext cx="8239200" cy="13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 will post a message in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b="1" lang="en">
                <a:highlight>
                  <a:srgbClr val="FFF6BF"/>
                </a:highlight>
                <a:latin typeface="Consolas"/>
                <a:ea typeface="Consolas"/>
                <a:cs typeface="Consolas"/>
                <a:sym typeface="Consolas"/>
              </a:rPr>
              <a:t>dts-su26-tip101-program-help</a:t>
            </a:r>
            <a:r>
              <a:rPr lang="en"/>
              <a:t> channel.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Reply to that message by </a:t>
            </a:r>
            <a:r>
              <a:rPr b="1" lang="en"/>
              <a:t>replying in the thread</a:t>
            </a:r>
            <a:r>
              <a:rPr lang="en"/>
              <a:t>.</a:t>
            </a:r>
            <a:endParaRPr/>
          </a:p>
        </p:txBody>
      </p:sp>
      <p:pic>
        <p:nvPicPr>
          <p:cNvPr id="993" name="Google Shape;993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613" y="2888550"/>
            <a:ext cx="3310775" cy="95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4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Structure</a:t>
            </a:r>
            <a:endParaRPr/>
          </a:p>
        </p:txBody>
      </p:sp>
      <p:sp>
        <p:nvSpPr>
          <p:cNvPr id="999" name="Google Shape;999;p134"/>
          <p:cNvSpPr txBox="1"/>
          <p:nvPr>
            <p:ph idx="1" type="body"/>
          </p:nvPr>
        </p:nvSpPr>
        <p:spPr>
          <a:xfrm>
            <a:off x="452400" y="1053169"/>
            <a:ext cx="8239200" cy="26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2 sessions per week – </a:t>
            </a:r>
            <a:r>
              <a:rPr b="1" lang="en">
                <a:highlight>
                  <a:srgbClr val="FFF6BF"/>
                </a:highlight>
              </a:rPr>
              <a:t>Tuesdays</a:t>
            </a:r>
            <a:r>
              <a:rPr lang="en"/>
              <a:t> and </a:t>
            </a:r>
            <a:r>
              <a:rPr b="1" lang="en">
                <a:highlight>
                  <a:srgbClr val="FFF6BF"/>
                </a:highlight>
              </a:rPr>
              <a:t>Thursdays</a:t>
            </a:r>
            <a:endParaRPr b="1">
              <a:highlight>
                <a:srgbClr val="FFF6BF"/>
              </a:highlight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45 min Guided Exploration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hour Collaborative Problem Solving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1800"/>
              <a:buChar char="○"/>
            </a:pPr>
            <a:r>
              <a:rPr lang="en"/>
              <a:t>TFM (Primarily Neel is substituting for today) will usually take over in the 2nd half of class, , after we complete our instructor slides.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Optional Study Halls each week</a:t>
            </a:r>
            <a:endParaRPr/>
          </a:p>
          <a:p>
            <a:pPr indent="-325755" lvl="1" marL="914400" rtl="0" algn="l">
              <a:spcBef>
                <a:spcPts val="1000"/>
              </a:spcBef>
              <a:spcAft>
                <a:spcPts val="0"/>
              </a:spcAft>
              <a:buSzPts val="1530"/>
              <a:buChar char="○"/>
            </a:pPr>
            <a:r>
              <a:rPr lang="en"/>
              <a:t>See the Course Portal -&gt; Schedule tab for more!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Weekly HackerRank assessment due </a:t>
            </a:r>
            <a:r>
              <a:rPr b="1" lang="en"/>
              <a:t>Sundays at 11:59pm PST</a:t>
            </a:r>
            <a:endParaRPr b="1"/>
          </a:p>
        </p:txBody>
      </p:sp>
      <p:sp>
        <p:nvSpPr>
          <p:cNvPr id="1000" name="Google Shape;1000;p13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1" name="Google Shape;1001;p134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1002" name="Google Shape;1002;p134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34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34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3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0" name="Google Shape;1010;p13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Pacing</a:t>
            </a:r>
            <a:endParaRPr/>
          </a:p>
        </p:txBody>
      </p:sp>
      <p:sp>
        <p:nvSpPr>
          <p:cNvPr id="1011" name="Google Shape;1011;p135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During the Collaborative Problem Solving time, you will be in breakout rooms of 3 to 6 students.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Skip units by passing the HackerRank assessment.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look at the Collaborative Problem Solving questions and you can self-practice, take the assessment early.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Keep working on a unit until you pass the HackerRank assessment (up to 2 attempts).</a:t>
            </a:r>
            <a:endParaRPr/>
          </a:p>
        </p:txBody>
      </p:sp>
      <p:grpSp>
        <p:nvGrpSpPr>
          <p:cNvPr id="1012" name="Google Shape;1012;p135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1013" name="Google Shape;1013;p135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35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35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3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🏆 Benefits for Course Completion</a:t>
            </a:r>
            <a:endParaRPr/>
          </a:p>
        </p:txBody>
      </p:sp>
      <p:sp>
        <p:nvSpPr>
          <p:cNvPr id="1021" name="Google Shape;1021;p136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students who meet the </a:t>
            </a:r>
            <a:r>
              <a:rPr b="1" lang="en"/>
              <a:t>attendance requirements</a:t>
            </a:r>
            <a:r>
              <a:rPr lang="en"/>
              <a:t> and </a:t>
            </a:r>
            <a:r>
              <a:rPr b="1" lang="en"/>
              <a:t>pass 6 HackerRank assessments</a:t>
            </a:r>
            <a:r>
              <a:rPr lang="en"/>
              <a:t> will be considered a CodePath alumni and: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Receive a (digital) CodePath certificate of completion.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Gain access to CodePath alumni networks.</a:t>
            </a:r>
            <a:endParaRPr/>
          </a:p>
        </p:txBody>
      </p:sp>
      <p:sp>
        <p:nvSpPr>
          <p:cNvPr id="1022" name="Google Shape;1022;p13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37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Policies: Attendance</a:t>
            </a:r>
            <a:endParaRPr/>
          </a:p>
        </p:txBody>
      </p:sp>
      <p:sp>
        <p:nvSpPr>
          <p:cNvPr id="1028" name="Google Shape;1028;p137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Attendance at all sessions is mandatory.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You are allowed up to </a:t>
            </a:r>
            <a:r>
              <a:rPr b="1" lang="en"/>
              <a:t>3 absences</a:t>
            </a:r>
            <a:r>
              <a:rPr lang="en"/>
              <a:t> throughout the entire program.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do </a:t>
            </a:r>
            <a:r>
              <a:rPr i="1" lang="en"/>
              <a:t>not</a:t>
            </a:r>
            <a:r>
              <a:rPr lang="en"/>
              <a:t> need to submit a request to use these absences.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Students who are absent must still submit the coursework for a unit by the posted deadline.</a:t>
            </a:r>
            <a:endParaRPr/>
          </a:p>
        </p:txBody>
      </p:sp>
      <p:sp>
        <p:nvSpPr>
          <p:cNvPr id="1029" name="Google Shape;1029;p13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30" name="Google Shape;1030;p137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1031" name="Google Shape;1031;p137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37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37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3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get the most out of this course?</a:t>
            </a:r>
            <a:endParaRPr/>
          </a:p>
        </p:txBody>
      </p:sp>
      <p:sp>
        <p:nvSpPr>
          <p:cNvPr id="1039" name="Google Shape;1039;p138"/>
          <p:cNvSpPr txBox="1"/>
          <p:nvPr>
            <p:ph idx="1" type="body"/>
          </p:nvPr>
        </p:nvSpPr>
        <p:spPr>
          <a:xfrm>
            <a:off x="452400" y="1132825"/>
            <a:ext cx="8239200" cy="20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Engage in class </a:t>
            </a:r>
            <a:r>
              <a:rPr b="1" i="1" lang="en" sz="2100"/>
              <a:t>fully</a:t>
            </a:r>
            <a:r>
              <a:rPr lang="en" sz="2100"/>
              <a:t>! That means . . .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✱"/>
            </a:pPr>
            <a:r>
              <a:rPr lang="en" sz="2100"/>
              <a:t>Taking notes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✱"/>
            </a:pPr>
            <a:r>
              <a:rPr lang="en" sz="2100"/>
              <a:t>Speaking up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Char char="✱"/>
            </a:pPr>
            <a:r>
              <a:rPr lang="en" sz="2100"/>
              <a:t>Using the tools and strategies</a:t>
            </a:r>
            <a:endParaRPr sz="2100"/>
          </a:p>
        </p:txBody>
      </p:sp>
      <p:sp>
        <p:nvSpPr>
          <p:cNvPr id="1040" name="Google Shape;1040;p13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1" name="Google Shape;1041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950" y="1336025"/>
            <a:ext cx="2353700" cy="2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3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get the most out of this course?</a:t>
            </a:r>
            <a:endParaRPr/>
          </a:p>
        </p:txBody>
      </p:sp>
      <p:sp>
        <p:nvSpPr>
          <p:cNvPr id="1047" name="Google Shape;1047;p139"/>
          <p:cNvSpPr txBox="1"/>
          <p:nvPr>
            <p:ph idx="1" type="body"/>
          </p:nvPr>
        </p:nvSpPr>
        <p:spPr>
          <a:xfrm>
            <a:off x="452400" y="1291575"/>
            <a:ext cx="823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000"/>
              <a:t>Practice! Practice! Practice!</a:t>
            </a:r>
            <a:endParaRPr sz="3000"/>
          </a:p>
        </p:txBody>
      </p:sp>
      <p:sp>
        <p:nvSpPr>
          <p:cNvPr id="1048" name="Google Shape;1048;p13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9" name="Google Shape;1049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696" y="2175975"/>
            <a:ext cx="2006600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40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get the most out of this course?</a:t>
            </a:r>
            <a:endParaRPr/>
          </a:p>
        </p:txBody>
      </p:sp>
      <p:sp>
        <p:nvSpPr>
          <p:cNvPr id="1055" name="Google Shape;1055;p14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6" name="Google Shape;1056;p140" title="Screenshot 2026-02-05 at 10.20.32 PM.png"/>
          <p:cNvPicPr preferRelativeResize="0"/>
          <p:nvPr/>
        </p:nvPicPr>
        <p:blipFill rotWithShape="1">
          <a:blip r:embed="rId3">
            <a:alphaModFix/>
          </a:blip>
          <a:srcRect b="89137" l="669" r="66039" t="1938"/>
          <a:stretch/>
        </p:blipFill>
        <p:spPr>
          <a:xfrm>
            <a:off x="452412" y="1401825"/>
            <a:ext cx="3359250" cy="5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75" y="1975552"/>
            <a:ext cx="3734099" cy="23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40"/>
          <p:cNvSpPr txBox="1"/>
          <p:nvPr/>
        </p:nvSpPr>
        <p:spPr>
          <a:xfrm>
            <a:off x="4181700" y="1793150"/>
            <a:ext cx="4773900" cy="21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your skills with support! Take the following steps: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1100"/>
              <a:buFont typeface="Poppins"/>
              <a:buChar char="✱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Install the AI Tutor on chrome: </a:t>
            </a:r>
            <a:r>
              <a:rPr lang="en" sz="1100" u="sng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https://go.codepath.org/tiptutor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100"/>
              <a:buFont typeface="Poppins"/>
              <a:buChar char="✱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Solve 2 LeetCode problems on 2 different days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Once you’ve taken the steps above, unlock a new opportunity!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1100"/>
              <a:buFont typeface="Poppins"/>
              <a:buChar char="✱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+1 absence back for completion(one-time offer)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Take a look at the FAQ if you have any questions</a:t>
            </a:r>
            <a:endParaRPr sz="1100"/>
          </a:p>
        </p:txBody>
      </p:sp>
      <p:pic>
        <p:nvPicPr>
          <p:cNvPr id="1059" name="Google Shape;1059;p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08424" y="2195898"/>
            <a:ext cx="223750" cy="2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41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get the most out of this course?</a:t>
            </a:r>
            <a:endParaRPr/>
          </a:p>
        </p:txBody>
      </p:sp>
      <p:sp>
        <p:nvSpPr>
          <p:cNvPr id="1065" name="Google Shape;1065;p141"/>
          <p:cNvSpPr txBox="1"/>
          <p:nvPr>
            <p:ph idx="1" type="body"/>
          </p:nvPr>
        </p:nvSpPr>
        <p:spPr>
          <a:xfrm>
            <a:off x="452400" y="1132825"/>
            <a:ext cx="41958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Aim for one passed unit per week</a:t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000"/>
              <a:t>Pass = 6 Units minimum</a:t>
            </a:r>
            <a:endParaRPr sz="3000"/>
          </a:p>
        </p:txBody>
      </p:sp>
      <p:sp>
        <p:nvSpPr>
          <p:cNvPr id="1066" name="Google Shape;1066;p14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7" name="Google Shape;1067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0000">
            <a:off x="5219700" y="1150025"/>
            <a:ext cx="3244176" cy="324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42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get the most out of this course?</a:t>
            </a:r>
            <a:endParaRPr/>
          </a:p>
        </p:txBody>
      </p:sp>
      <p:sp>
        <p:nvSpPr>
          <p:cNvPr id="1073" name="Google Shape;1073;p142"/>
          <p:cNvSpPr txBox="1"/>
          <p:nvPr>
            <p:ph idx="1" type="body"/>
          </p:nvPr>
        </p:nvSpPr>
        <p:spPr>
          <a:xfrm>
            <a:off x="452400" y="1132825"/>
            <a:ext cx="44499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3000"/>
              <a:t>Share gratitude and shoutouts regularly</a:t>
            </a:r>
            <a:endParaRPr sz="3000"/>
          </a:p>
        </p:txBody>
      </p:sp>
      <p:sp>
        <p:nvSpPr>
          <p:cNvPr id="1074" name="Google Shape;1074;p14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5" name="Google Shape;1075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738" y="1232238"/>
            <a:ext cx="2679025" cy="26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4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Fully Present</a:t>
            </a:r>
            <a:endParaRPr/>
          </a:p>
        </p:txBody>
      </p:sp>
      <p:sp>
        <p:nvSpPr>
          <p:cNvPr id="1081" name="Google Shape;1081;p143"/>
          <p:cNvSpPr txBox="1"/>
          <p:nvPr>
            <p:ph idx="1" type="body"/>
          </p:nvPr>
        </p:nvSpPr>
        <p:spPr>
          <a:xfrm>
            <a:off x="452400" y="1132825"/>
            <a:ext cx="8239200" cy="1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In the session for </a:t>
            </a:r>
            <a:r>
              <a:rPr b="1" lang="en"/>
              <a:t>at least 90 minutes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✱"/>
            </a:pPr>
            <a:r>
              <a:rPr lang="en"/>
              <a:t>Fully engaging </a:t>
            </a:r>
            <a:r>
              <a:rPr b="1" lang="en"/>
              <a:t>visually</a:t>
            </a:r>
            <a:r>
              <a:rPr lang="en"/>
              <a:t>, </a:t>
            </a:r>
            <a:r>
              <a:rPr b="1" lang="en"/>
              <a:t>verbally</a:t>
            </a:r>
            <a:r>
              <a:rPr lang="en"/>
              <a:t>, and </a:t>
            </a:r>
            <a:r>
              <a:rPr b="1" lang="en"/>
              <a:t>technically</a:t>
            </a:r>
            <a:r>
              <a:rPr lang="en"/>
              <a:t> without reminders, requests, or interruptions</a:t>
            </a:r>
            <a:endParaRPr/>
          </a:p>
        </p:txBody>
      </p:sp>
      <p:sp>
        <p:nvSpPr>
          <p:cNvPr id="1082" name="Google Shape;1082;p14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83" name="Google Shape;1083;p143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1084" name="Google Shape;1084;p143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3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3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4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1092" name="Google Shape;1092;p14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3" name="Google Shape;1093;p144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do you think it means to be fully engaging </a:t>
            </a:r>
            <a:r>
              <a:rPr b="1" lang="en"/>
              <a:t>visually</a:t>
            </a:r>
            <a:r>
              <a:rPr lang="en"/>
              <a:t>, </a:t>
            </a:r>
            <a:r>
              <a:rPr b="1" lang="en"/>
              <a:t>verbally</a:t>
            </a:r>
            <a:r>
              <a:rPr lang="en"/>
              <a:t>, and </a:t>
            </a:r>
            <a:r>
              <a:rPr b="1" lang="en"/>
              <a:t>technically</a:t>
            </a:r>
            <a:r>
              <a:rPr lang="en"/>
              <a:t> without reminders, requests, or interruptions? What do you think this looks and sounds like?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4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Trouble?</a:t>
            </a:r>
            <a:endParaRPr/>
          </a:p>
        </p:txBody>
      </p:sp>
      <p:sp>
        <p:nvSpPr>
          <p:cNvPr id="1099" name="Google Shape;1099;p14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00" name="Google Shape;1100;p145"/>
          <p:cNvGrpSpPr/>
          <p:nvPr/>
        </p:nvGrpSpPr>
        <p:grpSpPr>
          <a:xfrm>
            <a:off x="452400" y="1111250"/>
            <a:ext cx="3849900" cy="3549600"/>
            <a:chOff x="452400" y="1111250"/>
            <a:chExt cx="3849900" cy="3549600"/>
          </a:xfrm>
        </p:grpSpPr>
        <p:sp>
          <p:nvSpPr>
            <p:cNvPr id="1101" name="Google Shape;1101;p145"/>
            <p:cNvSpPr/>
            <p:nvPr/>
          </p:nvSpPr>
          <p:spPr>
            <a:xfrm>
              <a:off x="452400" y="1111250"/>
              <a:ext cx="3849900" cy="3549600"/>
            </a:xfrm>
            <a:prstGeom prst="roundRect">
              <a:avLst>
                <a:gd fmla="val 5367" name="adj"/>
              </a:avLst>
            </a:prstGeom>
            <a:solidFill>
              <a:srgbClr val="D7FFEE"/>
            </a:solidFill>
            <a:ln cap="flat" cmpd="sng" w="9525">
              <a:solidFill>
                <a:srgbClr val="00C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 need help or have questions about Slack, the course structure, etc.</a:t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Attend a weekly Fix-It Garage Session.</a:t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102" name="Google Shape;1102;p1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45550" y="3625850"/>
              <a:ext cx="863601" cy="8636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3" name="Google Shape;1103;p145"/>
          <p:cNvGrpSpPr/>
          <p:nvPr/>
        </p:nvGrpSpPr>
        <p:grpSpPr>
          <a:xfrm>
            <a:off x="4841646" y="1111250"/>
            <a:ext cx="3849900" cy="3549600"/>
            <a:chOff x="4841646" y="1111250"/>
            <a:chExt cx="3849900" cy="3549600"/>
          </a:xfrm>
        </p:grpSpPr>
        <p:sp>
          <p:nvSpPr>
            <p:cNvPr id="1104" name="Google Shape;1104;p145"/>
            <p:cNvSpPr/>
            <p:nvPr/>
          </p:nvSpPr>
          <p:spPr>
            <a:xfrm>
              <a:off x="4841646" y="1111250"/>
              <a:ext cx="3849900" cy="3549600"/>
            </a:xfrm>
            <a:prstGeom prst="roundRect">
              <a:avLst>
                <a:gd fmla="val 5367" name="adj"/>
              </a:avLst>
            </a:prstGeom>
            <a:solidFill>
              <a:srgbClr val="D7FFEE"/>
            </a:solidFill>
            <a:ln cap="flat" cmpd="sng" w="9525">
              <a:solidFill>
                <a:srgbClr val="00C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 need help or have questions about Python or understanding a problem.</a:t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Attend a weekly</a:t>
              </a:r>
              <a:br>
                <a:rPr b="1"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</a:br>
              <a:r>
                <a:rPr b="1" lang="en" sz="2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Study Hall.</a:t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5" name="Google Shape;1105;p1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55763" y="3410625"/>
              <a:ext cx="1021676" cy="10216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145"/>
          <p:cNvGrpSpPr/>
          <p:nvPr/>
        </p:nvGrpSpPr>
        <p:grpSpPr>
          <a:xfrm>
            <a:off x="89100" y="4739882"/>
            <a:ext cx="324008" cy="322851"/>
            <a:chOff x="0" y="3867912"/>
            <a:chExt cx="1280160" cy="1275588"/>
          </a:xfrm>
        </p:grpSpPr>
        <p:sp>
          <p:nvSpPr>
            <p:cNvPr id="1107" name="Google Shape;1107;p145"/>
            <p:cNvSpPr/>
            <p:nvPr/>
          </p:nvSpPr>
          <p:spPr>
            <a:xfrm>
              <a:off x="0" y="4229100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5"/>
            <p:cNvSpPr/>
            <p:nvPr/>
          </p:nvSpPr>
          <p:spPr>
            <a:xfrm>
              <a:off x="182880" y="405079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5"/>
            <p:cNvSpPr/>
            <p:nvPr/>
          </p:nvSpPr>
          <p:spPr>
            <a:xfrm>
              <a:off x="365760" y="3867912"/>
              <a:ext cx="914400" cy="914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4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1115" name="Google Shape;1115;p14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6" name="Google Shape;1116;p146"/>
          <p:cNvSpPr txBox="1"/>
          <p:nvPr>
            <p:ph idx="2" type="body"/>
          </p:nvPr>
        </p:nvSpPr>
        <p:spPr>
          <a:xfrm>
            <a:off x="452400" y="1489150"/>
            <a:ext cx="32052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Let’s check out the Course Portal!</a:t>
            </a:r>
            <a:endParaRPr sz="2400"/>
          </a:p>
        </p:txBody>
      </p:sp>
      <p:pic>
        <p:nvPicPr>
          <p:cNvPr id="1117" name="Google Shape;1117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0" y="1323400"/>
            <a:ext cx="5181602" cy="313164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4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  <p:sp>
        <p:nvSpPr>
          <p:cNvPr id="1123" name="Google Shape;1123;p14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4" name="Google Shape;1124;p147"/>
          <p:cNvSpPr txBox="1"/>
          <p:nvPr>
            <p:ph idx="2" type="body"/>
          </p:nvPr>
        </p:nvSpPr>
        <p:spPr>
          <a:xfrm>
            <a:off x="452400" y="1260488"/>
            <a:ext cx="8239200" cy="1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and VS Code </a:t>
            </a:r>
            <a:r>
              <a:rPr lang="en"/>
              <a:t>Tour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 u="sng">
                <a:solidFill>
                  <a:schemeClr val="hlink"/>
                </a:solidFill>
                <a:hlinkClick r:id="rId3"/>
              </a:rPr>
              <a:t>Unit 1 Cheat Sheet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General Python Cheat Sheet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48"/>
          <p:cNvSpPr txBox="1"/>
          <p:nvPr>
            <p:ph type="title"/>
          </p:nvPr>
        </p:nvSpPr>
        <p:spPr>
          <a:xfrm>
            <a:off x="884825" y="2317200"/>
            <a:ext cx="74328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Readiness Prep Form</a:t>
            </a:r>
            <a:endParaRPr/>
          </a:p>
        </p:txBody>
      </p:sp>
      <p:sp>
        <p:nvSpPr>
          <p:cNvPr id="1130" name="Google Shape;1130;p148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49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Break Time!</a:t>
            </a:r>
            <a:endParaRPr b="1" sz="23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Take 5 mins to step away from the computer. Feel free to turn off your camera and return promptly after 5 mins.</a:t>
            </a:r>
            <a:endParaRPr/>
          </a:p>
        </p:txBody>
      </p:sp>
      <p:pic>
        <p:nvPicPr>
          <p:cNvPr descr="5 minutes timer with relaxing music#5minutetimer #timer #relaxingmusic #relaxation" id="1136" name="Google Shape;1136;p149" title="5 Minutes Timer With Relaxing Music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50" y="1739175"/>
            <a:ext cx="2198300" cy="1236550"/>
          </a:xfrm>
          <a:prstGeom prst="rect">
            <a:avLst/>
          </a:prstGeom>
          <a:noFill/>
          <a:ln cap="flat" cmpd="sng" w="762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50"/>
          <p:cNvSpPr txBox="1"/>
          <p:nvPr>
            <p:ph type="title"/>
          </p:nvPr>
        </p:nvSpPr>
        <p:spPr>
          <a:xfrm>
            <a:off x="884825" y="2317200"/>
            <a:ext cx="74328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Problem Solving</a:t>
            </a:r>
            <a:endParaRPr/>
          </a:p>
        </p:txBody>
      </p:sp>
      <p:sp>
        <p:nvSpPr>
          <p:cNvPr id="1142" name="Google Shape;1142;p150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minutes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5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1148" name="Google Shape;1148;p15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9" name="Google Shape;1149;p151"/>
          <p:cNvSpPr txBox="1"/>
          <p:nvPr>
            <p:ph idx="2" type="body"/>
          </p:nvPr>
        </p:nvSpPr>
        <p:spPr>
          <a:xfrm>
            <a:off x="452400" y="1260488"/>
            <a:ext cx="82392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does </a:t>
            </a:r>
            <a:r>
              <a:rPr b="1" lang="en" sz="2400"/>
              <a:t>Collaborative Problem Solving</a:t>
            </a:r>
            <a:r>
              <a:rPr lang="en" sz="2400"/>
              <a:t> look like?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400"/>
              <a:t>Let’s observe! 👀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5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 minutes</a:t>
            </a:r>
            <a:endParaRPr/>
          </a:p>
        </p:txBody>
      </p:sp>
      <p:sp>
        <p:nvSpPr>
          <p:cNvPr id="1155" name="Google Shape;1155;p15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6" name="Google Shape;1156;p152"/>
          <p:cNvSpPr txBox="1"/>
          <p:nvPr/>
        </p:nvSpPr>
        <p:spPr>
          <a:xfrm>
            <a:off x="452400" y="1260500"/>
            <a:ext cx="76857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🏃🏽 Navigate to your breakout room.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👋🏽 Introduce yourselves!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🧑🏽‍💻 Work on the problems for your </a:t>
            </a: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selected unit</a:t>
            </a: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3"/>
          <p:cNvSpPr txBox="1"/>
          <p:nvPr>
            <p:ph type="title"/>
          </p:nvPr>
        </p:nvSpPr>
        <p:spPr>
          <a:xfrm>
            <a:off x="884825" y="2317200"/>
            <a:ext cx="19827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 Up</a:t>
            </a:r>
            <a:endParaRPr/>
          </a:p>
        </p:txBody>
      </p:sp>
      <p:sp>
        <p:nvSpPr>
          <p:cNvPr id="1162" name="Google Shape;1162;p153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5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5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3" name="Google Shape;1173;p155"/>
          <p:cNvSpPr txBox="1"/>
          <p:nvPr/>
        </p:nvSpPr>
        <p:spPr>
          <a:xfrm>
            <a:off x="1048400" y="1031050"/>
            <a:ext cx="4693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Session Survey Time!</a:t>
            </a:r>
            <a:endParaRPr b="1" sz="4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4" name="Google Shape;117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375" y="758775"/>
            <a:ext cx="2206851" cy="220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 Minute Timer Relaxing Music Lofi Sky Background&#10;&#10;&#10;&#10;&#10;&#10;&#10;&#10;&#10;Tags&#10;1 minute&#10;1 minute countdown&#10;1 minute lo-fi hiphop timer&#10;1 minute timer&#10;countdown&#10;lo-fi music&#10;lofi study song&#10;study music&#10;study timer&#10;time&#10;timer&#10;working music&#10;1 minute timer with music&#10;1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1175" name="Google Shape;1175;p155" title="3 Minute Timer Relaxing Music Lofi Sky Backgroun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925" y="3125450"/>
            <a:ext cx="2268150" cy="12758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56"/>
          <p:cNvSpPr txBox="1"/>
          <p:nvPr>
            <p:ph type="title"/>
          </p:nvPr>
        </p:nvSpPr>
        <p:spPr>
          <a:xfrm>
            <a:off x="1123700" y="481275"/>
            <a:ext cx="7568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Reminders</a:t>
            </a:r>
            <a:endParaRPr/>
          </a:p>
        </p:txBody>
      </p:sp>
      <p:sp>
        <p:nvSpPr>
          <p:cNvPr id="1181" name="Google Shape;1181;p15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2" name="Google Shape;1182;p156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Finish the problem sets for additional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Take the weekly HackerRank assessment by Sunday @ midnight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Join a </a:t>
            </a:r>
            <a:r>
              <a:rPr b="1" lang="en"/>
              <a:t>Fix-it-Garage Session</a:t>
            </a:r>
            <a:r>
              <a:rPr lang="en"/>
              <a:t> to untangle technical hiccups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Visit a </a:t>
            </a:r>
            <a:r>
              <a:rPr b="1" lang="en"/>
              <a:t>Study Hall Session</a:t>
            </a:r>
            <a:r>
              <a:rPr lang="en"/>
              <a:t> to deepen your understanding, work through challenges, and connect with course material alongside your peers!</a:t>
            </a:r>
            <a:endParaRPr/>
          </a:p>
        </p:txBody>
      </p:sp>
      <p:pic>
        <p:nvPicPr>
          <p:cNvPr id="1183" name="Google Shape;1183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00" y="438175"/>
            <a:ext cx="608050" cy="6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