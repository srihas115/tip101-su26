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38" r:id="rId5"/>
    <p:sldMasterId id="2147483739" r:id="rId6"/>
    <p:sldMasterId id="2147483740" r:id="rId7"/>
    <p:sldMasterId id="2147483741"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Lst>
  <p:sldSz cy="5143500" cx="9144000"/>
  <p:notesSz cx="6858000" cy="9144000"/>
  <p:embeddedFontLst>
    <p:embeddedFont>
      <p:font typeface="Space Mono"/>
      <p:regular r:id="rId34"/>
      <p:bold r:id="rId35"/>
      <p:italic r:id="rId36"/>
      <p:boldItalic r:id="rId37"/>
    </p:embeddedFont>
    <p:embeddedFont>
      <p:font typeface="Poppins"/>
      <p:regular r:id="rId38"/>
      <p:bold r:id="rId39"/>
      <p:italic r:id="rId40"/>
      <p:boldItalic r:id="rId41"/>
    </p:embeddedFont>
    <p:embeddedFont>
      <p:font typeface="Roboto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C66804-8EE6-495A-BD68-1CC7219ECFE1}">
  <a:tblStyle styleId="{ACC66804-8EE6-495A-BD68-1CC7219ECF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italic.fntdata"/><Relationship Id="rId20" Type="http://schemas.openxmlformats.org/officeDocument/2006/relationships/slide" Target="slides/slide11.xml"/><Relationship Id="rId42" Type="http://schemas.openxmlformats.org/officeDocument/2006/relationships/font" Target="fonts/RobotoMono-regular.fntdata"/><Relationship Id="rId41" Type="http://schemas.openxmlformats.org/officeDocument/2006/relationships/font" Target="fonts/Poppins-boldItalic.fntdata"/><Relationship Id="rId22" Type="http://schemas.openxmlformats.org/officeDocument/2006/relationships/slide" Target="slides/slide13.xml"/><Relationship Id="rId44" Type="http://schemas.openxmlformats.org/officeDocument/2006/relationships/font" Target="fonts/RobotoMono-italic.fntdata"/><Relationship Id="rId21" Type="http://schemas.openxmlformats.org/officeDocument/2006/relationships/slide" Target="slides/slide12.xml"/><Relationship Id="rId43" Type="http://schemas.openxmlformats.org/officeDocument/2006/relationships/font" Target="fonts/RobotoMono-bold.fntdata"/><Relationship Id="rId24" Type="http://schemas.openxmlformats.org/officeDocument/2006/relationships/slide" Target="slides/slide15.xml"/><Relationship Id="rId23" Type="http://schemas.openxmlformats.org/officeDocument/2006/relationships/slide" Target="slides/slide14.xml"/><Relationship Id="rId45" Type="http://schemas.openxmlformats.org/officeDocument/2006/relationships/font" Target="fonts/RobotoMono-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font" Target="fonts/SpaceMono-bold.fntdata"/><Relationship Id="rId12" Type="http://schemas.openxmlformats.org/officeDocument/2006/relationships/slide" Target="slides/slide3.xml"/><Relationship Id="rId34" Type="http://schemas.openxmlformats.org/officeDocument/2006/relationships/font" Target="fonts/SpaceMono-regular.fntdata"/><Relationship Id="rId15" Type="http://schemas.openxmlformats.org/officeDocument/2006/relationships/slide" Target="slides/slide6.xml"/><Relationship Id="rId37" Type="http://schemas.openxmlformats.org/officeDocument/2006/relationships/font" Target="fonts/SpaceMono-boldItalic.fntdata"/><Relationship Id="rId14" Type="http://schemas.openxmlformats.org/officeDocument/2006/relationships/slide" Target="slides/slide5.xml"/><Relationship Id="rId36" Type="http://schemas.openxmlformats.org/officeDocument/2006/relationships/font" Target="fonts/SpaceMono-italic.fntdata"/><Relationship Id="rId17" Type="http://schemas.openxmlformats.org/officeDocument/2006/relationships/slide" Target="slides/slide8.xml"/><Relationship Id="rId39" Type="http://schemas.openxmlformats.org/officeDocument/2006/relationships/font" Target="fonts/Poppins-bold.fntdata"/><Relationship Id="rId16" Type="http://schemas.openxmlformats.org/officeDocument/2006/relationships/slide" Target="slides/slide7.xml"/><Relationship Id="rId38" Type="http://schemas.openxmlformats.org/officeDocument/2006/relationships/font" Target="fonts/Poppins-regular.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o.codepath.org/tiptutor"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ec13a64558_0_1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ec13a64558_0_1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Welcome students and introduce the session's focus on string operations.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Set a positive and engaging tone for the session.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the importance of mastering string operations.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to Week 3, Session 1 of TIP101! Today, we’ll dive into string operations, a fundamental concept in Python that’s essential for solving many coding challenges.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the end of today, you’ll feel confident working with strings, whether it’s slicing, formatting, or leveraging useful methods.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"What’s one thing you’ve found useful or challenging about working with strings so far?"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ec13a64558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ec13a64558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Outline the structure of the session and set expectations.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session’s schedule and ensure clarity on the goals.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today’s agenda: We’ll start by exploring string operations, take a short break, and then practice solving problems collaboratively. We’ll wrap up with reflections and reminders.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focus is on building both foundational knowledge and problem-solving skills.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Pause for questions about the agenda and ask: "Is there anything you’re particularly looking forward to today?"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c13a64558_0_1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ec13a64558_0_1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ec13a64558_0_1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ec13a64558_0_1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c13a64558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ec13a64558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ec13a64558_0_1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ec13a64558_0_1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ec13a64558_0_1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ec13a64558_0_1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ec13a64558_0_1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ec13a64558_0_1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ec13a64558_0_1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ec13a64558_0_1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Encourage students to explore the Unit 3 Cheat Sheet and identify key concepts and questions about string methods.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Facilitate exploration of the cheat sheet and prompt students to think critically about string operations.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take a moment to open the Unit 3 Cheat Sheet and look at the section on String Methods &amp; Syntax. What do you notice? What do you wonder?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a great resource for understanding the wide range of operations you can perform on strings. Let’s identify anything that looks unfamiliar or particularly interesting.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"Does anything surprise you about these methods? Are there any you’ve used before that you find especially helpful?"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ec13a64558_0_1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ec13a64558_0_1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key properties of strings and common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examples to explain string immutability, slicing, and formatting.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are sequences of characters, and they’re immutable, meaning you can’t change them directly. Think of them like sentences written in pen—you can rewrite them, but you can’t erase specific parts.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common operations include concatenation, slicing, and using methods like </a:t>
            </a:r>
            <a:r>
              <a:rPr lang="en">
                <a:solidFill>
                  <a:srgbClr val="188038"/>
                </a:solidFill>
                <a:latin typeface="Roboto Mono"/>
                <a:ea typeface="Roboto Mono"/>
                <a:cs typeface="Roboto Mono"/>
                <a:sym typeface="Roboto Mono"/>
              </a:rPr>
              <a:t>.lower()</a:t>
            </a:r>
            <a:r>
              <a:rPr lang="en">
                <a:solidFill>
                  <a:schemeClr val="dk1"/>
                </a:solidFill>
              </a:rPr>
              <a:t> and </a:t>
            </a:r>
            <a:r>
              <a:rPr lang="en">
                <a:solidFill>
                  <a:srgbClr val="188038"/>
                </a:solidFill>
                <a:latin typeface="Roboto Mono"/>
                <a:ea typeface="Roboto Mono"/>
                <a:cs typeface="Roboto Mono"/>
                <a:sym typeface="Roboto Mono"/>
              </a:rPr>
              <a:t>.split()</a:t>
            </a:r>
            <a:r>
              <a:rPr lang="en">
                <a:solidFill>
                  <a:schemeClr val="dk1"/>
                </a:solidFill>
              </a:rPr>
              <a:t>. For example, in the string </a:t>
            </a:r>
            <a:r>
              <a:rPr lang="en">
                <a:solidFill>
                  <a:srgbClr val="188038"/>
                </a:solidFill>
                <a:latin typeface="Roboto Mono"/>
                <a:ea typeface="Roboto Mono"/>
                <a:cs typeface="Roboto Mono"/>
                <a:sym typeface="Roboto Mono"/>
              </a:rPr>
              <a:t>s = 'Hello World'</a:t>
            </a:r>
            <a:r>
              <a:rPr lang="en">
                <a:solidFill>
                  <a:schemeClr val="dk1"/>
                </a:solidFill>
              </a:rPr>
              <a:t>, calling </a:t>
            </a:r>
            <a:r>
              <a:rPr lang="en">
                <a:solidFill>
                  <a:srgbClr val="188038"/>
                </a:solidFill>
                <a:latin typeface="Roboto Mono"/>
                <a:ea typeface="Roboto Mono"/>
                <a:cs typeface="Roboto Mono"/>
                <a:sym typeface="Roboto Mono"/>
              </a:rPr>
              <a:t>s.lower()</a:t>
            </a:r>
            <a:r>
              <a:rPr lang="en">
                <a:solidFill>
                  <a:schemeClr val="dk1"/>
                </a:solidFill>
              </a:rPr>
              <a:t> will return </a:t>
            </a:r>
            <a:r>
              <a:rPr lang="en">
                <a:solidFill>
                  <a:srgbClr val="188038"/>
                </a:solidFill>
                <a:latin typeface="Roboto Mono"/>
                <a:ea typeface="Roboto Mono"/>
                <a:cs typeface="Roboto Mono"/>
                <a:sym typeface="Roboto Mono"/>
              </a:rPr>
              <a:t>'hello world'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try slicing—what do you think </a:t>
            </a:r>
            <a:r>
              <a:rPr lang="en">
                <a:solidFill>
                  <a:srgbClr val="188038"/>
                </a:solidFill>
                <a:latin typeface="Roboto Mono"/>
                <a:ea typeface="Roboto Mono"/>
                <a:cs typeface="Roboto Mono"/>
                <a:sym typeface="Roboto Mono"/>
              </a:rPr>
              <a:t>s[:5]</a:t>
            </a:r>
            <a:r>
              <a:rPr lang="en">
                <a:solidFill>
                  <a:schemeClr val="dk1"/>
                </a:solidFill>
              </a:rPr>
              <a:t> will return?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explain why slicing is useful? How might you use it in a coding challenge?"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ec13a64558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ec13a64558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key properties of strings and common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examples to explain string immutability, slicing, and formatting.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are sequences of characters, and they’re immutable, meaning you can’t change them directly. Think of them like sentences written in pen—you can rewrite them, but you can’t erase specific parts.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common operations include concatenation, slicing, and using methods like </a:t>
            </a:r>
            <a:r>
              <a:rPr lang="en">
                <a:solidFill>
                  <a:srgbClr val="188038"/>
                </a:solidFill>
                <a:latin typeface="Roboto Mono"/>
                <a:ea typeface="Roboto Mono"/>
                <a:cs typeface="Roboto Mono"/>
                <a:sym typeface="Roboto Mono"/>
              </a:rPr>
              <a:t>.lower()</a:t>
            </a:r>
            <a:r>
              <a:rPr lang="en">
                <a:solidFill>
                  <a:schemeClr val="dk1"/>
                </a:solidFill>
              </a:rPr>
              <a:t> and </a:t>
            </a:r>
            <a:r>
              <a:rPr lang="en">
                <a:solidFill>
                  <a:srgbClr val="188038"/>
                </a:solidFill>
                <a:latin typeface="Roboto Mono"/>
                <a:ea typeface="Roboto Mono"/>
                <a:cs typeface="Roboto Mono"/>
                <a:sym typeface="Roboto Mono"/>
              </a:rPr>
              <a:t>.split()</a:t>
            </a:r>
            <a:r>
              <a:rPr lang="en">
                <a:solidFill>
                  <a:schemeClr val="dk1"/>
                </a:solidFill>
              </a:rPr>
              <a:t>. For example, in the string </a:t>
            </a:r>
            <a:r>
              <a:rPr lang="en">
                <a:solidFill>
                  <a:srgbClr val="188038"/>
                </a:solidFill>
                <a:latin typeface="Roboto Mono"/>
                <a:ea typeface="Roboto Mono"/>
                <a:cs typeface="Roboto Mono"/>
                <a:sym typeface="Roboto Mono"/>
              </a:rPr>
              <a:t>s = 'Hello World'</a:t>
            </a:r>
            <a:r>
              <a:rPr lang="en">
                <a:solidFill>
                  <a:schemeClr val="dk1"/>
                </a:solidFill>
              </a:rPr>
              <a:t>, calling </a:t>
            </a:r>
            <a:r>
              <a:rPr lang="en">
                <a:solidFill>
                  <a:srgbClr val="188038"/>
                </a:solidFill>
                <a:latin typeface="Roboto Mono"/>
                <a:ea typeface="Roboto Mono"/>
                <a:cs typeface="Roboto Mono"/>
                <a:sym typeface="Roboto Mono"/>
              </a:rPr>
              <a:t>s.lower()</a:t>
            </a:r>
            <a:r>
              <a:rPr lang="en">
                <a:solidFill>
                  <a:schemeClr val="dk1"/>
                </a:solidFill>
              </a:rPr>
              <a:t> will return </a:t>
            </a:r>
            <a:r>
              <a:rPr lang="en">
                <a:solidFill>
                  <a:srgbClr val="188038"/>
                </a:solidFill>
                <a:latin typeface="Roboto Mono"/>
                <a:ea typeface="Roboto Mono"/>
                <a:cs typeface="Roboto Mono"/>
                <a:sym typeface="Roboto Mono"/>
              </a:rPr>
              <a:t>'hello world'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try slicing—what do you think </a:t>
            </a:r>
            <a:r>
              <a:rPr lang="en">
                <a:solidFill>
                  <a:srgbClr val="188038"/>
                </a:solidFill>
                <a:latin typeface="Roboto Mono"/>
                <a:ea typeface="Roboto Mono"/>
                <a:cs typeface="Roboto Mono"/>
                <a:sym typeface="Roboto Mono"/>
              </a:rPr>
              <a:t>s[:5]</a:t>
            </a:r>
            <a:r>
              <a:rPr lang="en">
                <a:solidFill>
                  <a:schemeClr val="dk1"/>
                </a:solidFill>
              </a:rPr>
              <a:t> will return?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explain why slicing is useful? How might you use it in a coding challenge?"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ec13a64558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ec13a64558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Introduce key properties of strings and common operations.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examples to explain string immutability, slicing, and formatting.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are sequences of characters, and they’re immutable, meaning you can’t change them directly. Think of them like sentences written in pen—you can rewrite them, but you can’t erase specific parts.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common operations include concatenation, slicing, and using methods like </a:t>
            </a:r>
            <a:r>
              <a:rPr lang="en">
                <a:solidFill>
                  <a:srgbClr val="188038"/>
                </a:solidFill>
                <a:latin typeface="Roboto Mono"/>
                <a:ea typeface="Roboto Mono"/>
                <a:cs typeface="Roboto Mono"/>
                <a:sym typeface="Roboto Mono"/>
              </a:rPr>
              <a:t>.lower()</a:t>
            </a:r>
            <a:r>
              <a:rPr lang="en">
                <a:solidFill>
                  <a:schemeClr val="dk1"/>
                </a:solidFill>
              </a:rPr>
              <a:t> and </a:t>
            </a:r>
            <a:r>
              <a:rPr lang="en">
                <a:solidFill>
                  <a:srgbClr val="188038"/>
                </a:solidFill>
                <a:latin typeface="Roboto Mono"/>
                <a:ea typeface="Roboto Mono"/>
                <a:cs typeface="Roboto Mono"/>
                <a:sym typeface="Roboto Mono"/>
              </a:rPr>
              <a:t>.split()</a:t>
            </a:r>
            <a:r>
              <a:rPr lang="en">
                <a:solidFill>
                  <a:schemeClr val="dk1"/>
                </a:solidFill>
              </a:rPr>
              <a:t>. For example, in the string </a:t>
            </a:r>
            <a:r>
              <a:rPr lang="en">
                <a:solidFill>
                  <a:srgbClr val="188038"/>
                </a:solidFill>
                <a:latin typeface="Roboto Mono"/>
                <a:ea typeface="Roboto Mono"/>
                <a:cs typeface="Roboto Mono"/>
                <a:sym typeface="Roboto Mono"/>
              </a:rPr>
              <a:t>s = 'Hello World'</a:t>
            </a:r>
            <a:r>
              <a:rPr lang="en">
                <a:solidFill>
                  <a:schemeClr val="dk1"/>
                </a:solidFill>
              </a:rPr>
              <a:t>, calling </a:t>
            </a:r>
            <a:r>
              <a:rPr lang="en">
                <a:solidFill>
                  <a:srgbClr val="188038"/>
                </a:solidFill>
                <a:latin typeface="Roboto Mono"/>
                <a:ea typeface="Roboto Mono"/>
                <a:cs typeface="Roboto Mono"/>
                <a:sym typeface="Roboto Mono"/>
              </a:rPr>
              <a:t>s.lower()</a:t>
            </a:r>
            <a:r>
              <a:rPr lang="en">
                <a:solidFill>
                  <a:schemeClr val="dk1"/>
                </a:solidFill>
              </a:rPr>
              <a:t> will return </a:t>
            </a:r>
            <a:r>
              <a:rPr lang="en">
                <a:solidFill>
                  <a:srgbClr val="188038"/>
                </a:solidFill>
                <a:latin typeface="Roboto Mono"/>
                <a:ea typeface="Roboto Mono"/>
                <a:cs typeface="Roboto Mono"/>
                <a:sym typeface="Roboto Mono"/>
              </a:rPr>
              <a:t>'hello world'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Let’s try slicing—what do you think </a:t>
            </a:r>
            <a:r>
              <a:rPr lang="en">
                <a:solidFill>
                  <a:srgbClr val="188038"/>
                </a:solidFill>
                <a:latin typeface="Roboto Mono"/>
                <a:ea typeface="Roboto Mono"/>
                <a:cs typeface="Roboto Mono"/>
                <a:sym typeface="Roboto Mono"/>
              </a:rPr>
              <a:t>s[:5]</a:t>
            </a:r>
            <a:r>
              <a:rPr lang="en">
                <a:solidFill>
                  <a:schemeClr val="dk1"/>
                </a:solidFill>
              </a:rPr>
              <a:t> will return?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explain why slicing is useful? How might you use it in a coding challenge?"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ec13a64558_0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3ec13a64558_0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Reinforce the concept of string immutability through a discussion.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Facilitate a short discussion to deepen understanding.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in Python are immutable, meaning we can’t modify them directly. If we want to change a string, we need to create a new one.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What do you think happens if we try to modify a string in place, like changing one of its characters?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behavior is important to understand when working with strings in larger programs.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share a time when string immutability caused unexpected behavior in their code? How did you handle it?"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ec13a64558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ec13a64558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Reinforce the concept of string immutability through a discussion.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Facilitate a short discussion to deepen understanding.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Strings in Python are immutable, meaning we can’t modify them directly. If we want to change a string, we need to create a new one.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What do you think happens if we try to modify a string in place, like changing one of its characters?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behavior is important to understand when working with strings in larger programs.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"Can someone share a time when string immutability caused unexpected behavior in their code? How did you handle it?"</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c13a64558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ec13a64558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Purpose:</a:t>
            </a:r>
            <a:r>
              <a:rPr lang="en">
                <a:solidFill>
                  <a:schemeClr val="dk1"/>
                </a:solidFill>
              </a:rPr>
              <a:t> Demonstrate string manipulation techniques and highlight practical use cases.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live coding to show how to manipulate and analyze strings.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explore some common string operations. We’ll start with simple tasks like accessing characters and slicing, then move to transformations like converting to uppercase or splitting strings.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if we have </a:t>
            </a:r>
            <a:r>
              <a:rPr lang="en">
                <a:solidFill>
                  <a:srgbClr val="188038"/>
                </a:solidFill>
                <a:latin typeface="Roboto Mono"/>
                <a:ea typeface="Roboto Mono"/>
                <a:cs typeface="Roboto Mono"/>
                <a:sym typeface="Roboto Mono"/>
              </a:rPr>
              <a:t>name = 'hello world'</a:t>
            </a:r>
            <a:r>
              <a:rPr lang="en">
                <a:solidFill>
                  <a:schemeClr val="dk1"/>
                </a:solidFill>
              </a:rPr>
              <a:t>, we can slice it to get the first five characters with </a:t>
            </a:r>
            <a:r>
              <a:rPr lang="en">
                <a:solidFill>
                  <a:srgbClr val="188038"/>
                </a:solidFill>
                <a:latin typeface="Roboto Mono"/>
                <a:ea typeface="Roboto Mono"/>
                <a:cs typeface="Roboto Mono"/>
                <a:sym typeface="Roboto Mono"/>
              </a:rPr>
              <a:t>name[:5]</a:t>
            </a:r>
            <a:r>
              <a:rPr lang="en">
                <a:solidFill>
                  <a:schemeClr val="dk1"/>
                </a:solidFill>
              </a:rPr>
              <a:t> or transform it with </a:t>
            </a:r>
            <a:r>
              <a:rPr lang="en">
                <a:solidFill>
                  <a:srgbClr val="188038"/>
                </a:solidFill>
                <a:latin typeface="Roboto Mono"/>
                <a:ea typeface="Roboto Mono"/>
                <a:cs typeface="Roboto Mono"/>
                <a:sym typeface="Roboto Mono"/>
              </a:rPr>
              <a:t>name.upper()</a:t>
            </a:r>
            <a:r>
              <a:rPr lang="en">
                <a:solidFill>
                  <a:schemeClr val="dk1"/>
                </a:solidFill>
              </a:rPr>
              <a:t> to get </a:t>
            </a:r>
            <a:r>
              <a:rPr lang="en">
                <a:solidFill>
                  <a:srgbClr val="188038"/>
                </a:solidFill>
                <a:latin typeface="Roboto Mono"/>
                <a:ea typeface="Roboto Mono"/>
                <a:cs typeface="Roboto Mono"/>
                <a:sym typeface="Roboto Mono"/>
              </a:rPr>
              <a:t>'HELLO WORLD'</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Normalize Mistakes:</a:t>
            </a:r>
            <a:r>
              <a:rPr lang="en">
                <a:solidFill>
                  <a:schemeClr val="dk1"/>
                </a:solidFill>
              </a:rPr>
              <a:t> Intentionally make an error, such as using incorrect slicing syntax, and debug it together.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Oops, it looks like I got an error here. Let’s debug this—why do you think this happened?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"What’s another operation you’d like to see? Are there any methods in the cheat sheet that you’d like to try?"</a:t>
            </a:r>
            <a:endParaRPr/>
          </a:p>
          <a:p>
            <a:pPr indent="0" lvl="0" marL="0" rtl="0" algn="l">
              <a:spcBef>
                <a:spcPts val="1200"/>
              </a:spcBef>
              <a:spcAft>
                <a:spcPts val="0"/>
              </a:spcAft>
              <a:buNone/>
            </a:pPr>
            <a:r>
              <a:t/>
            </a:r>
            <a:endParaRPr/>
          </a:p>
          <a:p>
            <a:pPr indent="0" lvl="0" marL="0" rtl="0" algn="l">
              <a:spcBef>
                <a:spcPts val="0"/>
              </a:spcBef>
              <a:spcAft>
                <a:spcPts val="0"/>
              </a:spcAft>
              <a:buNone/>
            </a:pPr>
            <a:r>
              <a:rPr lang="en"/>
              <a:t>Sample demo code</a:t>
            </a:r>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Demonstrating common string operations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1. Initializing strings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name = "hello world"</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print("Original string:", name)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2. Accessing characters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print("First character:", name[0])</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print("Last character:", name[-1])</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3. Slicing strings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print("First five characters:", name[:5])</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print("Characters from index 6 onwards:", name[6:])</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4. String length</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print("Length of the string:", len(name))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5. String methods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print("Uppercase:", name.upper())</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print("Lowercase:", name.lower())</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print("Title case:", name.title())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print("Replacing 'world' with 'Python':", name.replace("world", "Python"))</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6. Checking substrings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print("Does the string contain 'hello'?", "hello" in name)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print("Does the string start with 'hello'?", name.startswith("hello"))</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print("Does the string end with 'world'?", name.endswith("world"))</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7. Splitting and joining</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words = name.split()  # Splitting into a list of words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print("Split into words:", words)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joined = " ".join(words)  # Joining the words back into a string</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print("Joined back into a string:", joined)</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8. Removing whitespace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name_with_spaces = "  hello world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print("String with spaces:", f"'{name_with_spaces}'")</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print("String with leading and trailing spaces removed:", f"'{name_with_spaces.strip()}'")</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9. String concatenation</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greeting = "Hello"</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target = "Python"</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print("Concatenated string:", greeting + " " + target)</a:t>
            </a:r>
            <a:endParaRPr>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ec13a64558_0_1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ec13a64558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solving a coding problem using the UMPIRE strategy, emphasizing problem understanding, planning, implementation, and debugging.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Guide students step-by-step through solving the problem of determining if a sentence is a pangram.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Showcase how to use Python string methods and data structures effectively.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Incorporate interactivity and normalize mistakes to reinforce debugging as a natural part of problem-solving.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Understand the Problem</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start with the first step of UMPIRE—Understand. A pangram is a sentence that contains every letter of the English alphabet at least once, regardless of case."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the sentence </a:t>
            </a:r>
            <a:r>
              <a:rPr lang="en">
                <a:solidFill>
                  <a:srgbClr val="188038"/>
                </a:solidFill>
                <a:latin typeface="Roboto Mono"/>
                <a:ea typeface="Roboto Mono"/>
                <a:cs typeface="Roboto Mono"/>
                <a:sym typeface="Roboto Mono"/>
              </a:rPr>
              <a:t>'The quick brown fox jumps over the lazy dog'</a:t>
            </a:r>
            <a:r>
              <a:rPr lang="en">
                <a:solidFill>
                  <a:schemeClr val="dk1"/>
                </a:solidFill>
              </a:rPr>
              <a:t> is a pangram because it includes all 26 letters."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task is to write a function </a:t>
            </a:r>
            <a:r>
              <a:rPr lang="en">
                <a:solidFill>
                  <a:srgbClr val="188038"/>
                </a:solidFill>
                <a:latin typeface="Roboto Mono"/>
                <a:ea typeface="Roboto Mono"/>
                <a:cs typeface="Roboto Mono"/>
                <a:sym typeface="Roboto Mono"/>
              </a:rPr>
              <a:t>is_pangram</a:t>
            </a:r>
            <a:r>
              <a:rPr lang="en">
                <a:solidFill>
                  <a:schemeClr val="dk1"/>
                </a:solidFill>
              </a:rPr>
              <a:t> that takes a sentence as input and returns </a:t>
            </a:r>
            <a:r>
              <a:rPr lang="en">
                <a:solidFill>
                  <a:srgbClr val="188038"/>
                </a:solidFill>
                <a:latin typeface="Roboto Mono"/>
                <a:ea typeface="Roboto Mono"/>
                <a:cs typeface="Roboto Mono"/>
                <a:sym typeface="Roboto Mono"/>
              </a:rPr>
              <a:t>True</a:t>
            </a:r>
            <a:r>
              <a:rPr lang="en">
                <a:solidFill>
                  <a:schemeClr val="dk1"/>
                </a:solidFill>
              </a:rPr>
              <a:t> if it’s a pangram and </a:t>
            </a:r>
            <a:r>
              <a:rPr lang="en">
                <a:solidFill>
                  <a:srgbClr val="188038"/>
                </a:solidFill>
                <a:latin typeface="Roboto Mono"/>
                <a:ea typeface="Roboto Mono"/>
                <a:cs typeface="Roboto Mono"/>
                <a:sym typeface="Roboto Mono"/>
              </a:rPr>
              <a:t>False</a:t>
            </a:r>
            <a:r>
              <a:rPr lang="en">
                <a:solidFill>
                  <a:schemeClr val="dk1"/>
                </a:solidFill>
              </a:rPr>
              <a:t> otherwise."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edge cases should we consider? For instance, what happens with an empty string or a sentence that includes only special characters?"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Plan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"Next, let’s create a plan. Here’s how we’ll approach this problem:</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Convert the sentence to lowercase to handle case insensitivity.</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Remove all non-alphabetic characters to focus only on letters.</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Use a set to store the unique letters in the sentence.</a:t>
            </a: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lang="en">
                <a:solidFill>
                  <a:schemeClr val="dk1"/>
                </a:solidFill>
              </a:rPr>
              <a:t>Check if the size of the set equals 26, the total number of letters in the alphabet."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"Using a set is efficient because it automatically handles duplicates."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"Does this plan make sense? Can you think of any alternative approaches?"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Implement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let’s translate our plan into code. I’ll start with the function definition and implement each step."</a:t>
            </a:r>
            <a:endParaRPr>
              <a:solidFill>
                <a:schemeClr val="dk1"/>
              </a:solidFill>
            </a:endParaRPr>
          </a:p>
          <a:p>
            <a:pPr indent="0" lvl="0" marL="0" rtl="0" algn="l">
              <a:spcBef>
                <a:spcPts val="1200"/>
              </a:spcBef>
              <a:spcAft>
                <a:spcPts val="0"/>
              </a:spcAft>
              <a:buNone/>
            </a:pPr>
            <a:r>
              <a:rPr b="1" lang="en">
                <a:solidFill>
                  <a:schemeClr val="dk1"/>
                </a:solidFill>
              </a:rPr>
              <a:t>Write the code step by step:</a:t>
            </a:r>
            <a:br>
              <a:rPr b="1" lang="en">
                <a:solidFill>
                  <a:schemeClr val="dk1"/>
                </a:solidFill>
              </a:rPr>
            </a:br>
            <a:r>
              <a:rPr lang="en">
                <a:solidFill>
                  <a:schemeClr val="dk1"/>
                </a:solidFill>
                <a:latin typeface="Consolas"/>
                <a:ea typeface="Consolas"/>
                <a:cs typeface="Consolas"/>
                <a:sym typeface="Consolas"/>
              </a:rPr>
              <a:t> def is_pangram(sentence):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1: Convert to lowercase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sentence = sentence.lower()</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2: Filter alphabetic characters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letters = set(char for char in sentence if char.isalpha())</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Step 3: Check if the set contains all 26 letters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len(letters) == 26</a:t>
            </a:r>
            <a:endParaRPr>
              <a:solidFill>
                <a:schemeClr val="dk1"/>
              </a:solidFill>
              <a:latin typeface="Consolas"/>
              <a:ea typeface="Consolas"/>
              <a:cs typeface="Consolas"/>
              <a:sym typeface="Consolas"/>
            </a:endParaRPr>
          </a:p>
          <a:p>
            <a:pPr indent="0" lvl="0" marL="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Normalize Mistakes:</a:t>
            </a:r>
            <a:r>
              <a:rPr lang="en">
                <a:solidFill>
                  <a:schemeClr val="dk1"/>
                </a:solidFill>
              </a:rPr>
              <a:t> Introduce an error, such as forgetting to filter non-alphabetic characters, and debug it together.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Forget to filter characters.</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"Hmm, this isn’t working as expected. Let’s debug by printing the set of characters to see what’s being included."</a:t>
            </a:r>
            <a:endParaRPr>
              <a:solidFill>
                <a:schemeClr val="dk1"/>
              </a:solidFill>
            </a:endParaRPr>
          </a:p>
          <a:p>
            <a:pPr indent="-298450" lvl="2" marL="1371600" rtl="0" algn="l">
              <a:lnSpc>
                <a:spcPct val="115000"/>
              </a:lnSpc>
              <a:spcBef>
                <a:spcPts val="0"/>
              </a:spcBef>
              <a:spcAft>
                <a:spcPts val="0"/>
              </a:spcAft>
              <a:buClr>
                <a:schemeClr val="dk1"/>
              </a:buClr>
              <a:buSzPts val="1100"/>
              <a:buChar char="■"/>
            </a:pPr>
            <a:r>
              <a:rPr lang="en">
                <a:solidFill>
                  <a:schemeClr val="dk1"/>
                </a:solidFill>
              </a:rPr>
              <a:t>Fix the code and rerun.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Test the Solution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test the function with some examples. For the input </a:t>
            </a:r>
            <a:r>
              <a:rPr lang="en">
                <a:solidFill>
                  <a:srgbClr val="188038"/>
                </a:solidFill>
                <a:latin typeface="Roboto Mono"/>
                <a:ea typeface="Roboto Mono"/>
                <a:cs typeface="Roboto Mono"/>
                <a:sym typeface="Roboto Mono"/>
              </a:rPr>
              <a:t>'The quick brown fox jumps over the lazy dog'</a:t>
            </a:r>
            <a:r>
              <a:rPr lang="en">
                <a:solidFill>
                  <a:schemeClr val="dk1"/>
                </a:solidFill>
              </a:rPr>
              <a:t>, the output should be </a:t>
            </a:r>
            <a:r>
              <a:rPr lang="en">
                <a:solidFill>
                  <a:srgbClr val="188038"/>
                </a:solidFill>
                <a:latin typeface="Roboto Mono"/>
                <a:ea typeface="Roboto Mono"/>
                <a:cs typeface="Roboto Mono"/>
                <a:sym typeface="Roboto Mono"/>
              </a:rPr>
              <a:t>True</a:t>
            </a:r>
            <a:r>
              <a:rPr lang="en">
                <a:solidFill>
                  <a:schemeClr val="dk1"/>
                </a:solidFill>
              </a:rPr>
              <a:t>. Let’s check."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"Now let’s test edge cases, like an empty string or a sentence with only numbers and special characters."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"What other test cases should we try? For example, what if the sentence contains duplicate letters?"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Review and Reflect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 used the UMPIRE strategy to solve this problem methodically. By using a set, we efficiently handled the requirement to track unique letters."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approach highlights the importance of choosing the right data structure for the task."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Ask Students:</a:t>
            </a:r>
            <a:r>
              <a:rPr lang="en">
                <a:solidFill>
                  <a:schemeClr val="dk1"/>
                </a:solidFill>
              </a:rPr>
              <a:t> "Why do you think sets were a good choice for this problem? Can you think of another problem where sets might be useful?"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for predictions: "Before I run this, what do you think the output will be?"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students to share debugging suggestions if something goes wrong.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Celebrate correct answers and reinforce learning by explaining why the solution works.</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c13a64558_0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ec13a64558_0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ec13a64558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ec13a64558_0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ec13a64558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ec13a64558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ec13a64558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3ec13a64558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ec13a64558_0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ec13a64558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ec13a64558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ec13a64558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ec13a64558_0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ec13a64558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ec3cbff2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ec3cbff2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Show the new CodePath AI Tutor.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the use of the new AI Tutor: </a:t>
            </a:r>
            <a:r>
              <a:rPr lang="en" u="sng">
                <a:solidFill>
                  <a:schemeClr val="hlink"/>
                </a:solidFill>
                <a:hlinkClick r:id="rId2"/>
              </a:rPr>
              <a:t>https://go.codepath.org/tiptutor</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Specifically for use with LeetCode problems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common to get stuck on a difficult problem when practicing independently. Try using the AI Tutor as a way to get unstuck, guiding you through the UMPIRE method for the problem.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Complement your additional practice with the support and guidance from the AI Tutor.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1.png"/><Relationship Id="rId4" Type="http://schemas.openxmlformats.org/officeDocument/2006/relationships/image" Target="../media/image33.png"/><Relationship Id="rId5"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16.png"/><Relationship Id="rId4" Type="http://schemas.openxmlformats.org/officeDocument/2006/relationships/image" Target="../media/image45.png"/><Relationship Id="rId5"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image" Target="../media/image30.png"/><Relationship Id="rId5" Type="http://schemas.openxmlformats.org/officeDocument/2006/relationships/image" Target="../media/image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70.png"/><Relationship Id="rId4" Type="http://schemas.openxmlformats.org/officeDocument/2006/relationships/image" Target="../media/image3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1.png"/><Relationship Id="rId3" Type="http://schemas.openxmlformats.org/officeDocument/2006/relationships/image" Target="../media/image2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7.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35.png"/><Relationship Id="rId6" Type="http://schemas.openxmlformats.org/officeDocument/2006/relationships/image" Target="../media/image3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21.png"/><Relationship Id="rId4" Type="http://schemas.openxmlformats.org/officeDocument/2006/relationships/image" Target="../media/image33.png"/><Relationship Id="rId5"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16.png"/><Relationship Id="rId4" Type="http://schemas.openxmlformats.org/officeDocument/2006/relationships/image" Target="../media/image45.png"/><Relationship Id="rId5"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image" Target="../media/image30.png"/><Relationship Id="rId5"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70.png"/><Relationship Id="rId4" Type="http://schemas.openxmlformats.org/officeDocument/2006/relationships/image" Target="../media/image3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2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7.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35.png"/><Relationship Id="rId6" Type="http://schemas.openxmlformats.org/officeDocument/2006/relationships/image" Target="../media/image3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png"/><Relationship Id="rId3"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5.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9.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21.png"/><Relationship Id="rId4" Type="http://schemas.openxmlformats.org/officeDocument/2006/relationships/image" Target="../media/image33.png"/><Relationship Id="rId5" Type="http://schemas.openxmlformats.org/officeDocument/2006/relationships/image" Target="../media/image9.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7.png"/><Relationship Id="rId3" Type="http://schemas.openxmlformats.org/officeDocument/2006/relationships/image" Target="../media/image16.png"/><Relationship Id="rId4" Type="http://schemas.openxmlformats.org/officeDocument/2006/relationships/image" Target="../media/image45.png"/><Relationship Id="rId5" Type="http://schemas.openxmlformats.org/officeDocument/2006/relationships/image" Target="../media/image9.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9.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9.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image" Target="../media/image9.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image" Target="../media/image30.png"/><Relationship Id="rId5" Type="http://schemas.openxmlformats.org/officeDocument/2006/relationships/image" Target="../media/image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70.png"/><Relationship Id="rId4" Type="http://schemas.openxmlformats.org/officeDocument/2006/relationships/image" Target="../media/image3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2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7.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35.png"/><Relationship Id="rId6" Type="http://schemas.openxmlformats.org/officeDocument/2006/relationships/image" Target="../media/image39.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14" name="Google Shape;214;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5" name="Google Shape;215;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6" name="Google Shape;216;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7" name="Google Shape;217;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8" name="Google Shape;218;p32"/>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19" name="Shape 219"/>
        <p:cNvGrpSpPr/>
        <p:nvPr/>
      </p:nvGrpSpPr>
      <p:grpSpPr>
        <a:xfrm>
          <a:off x="0" y="0"/>
          <a:ext cx="0" cy="0"/>
          <a:chOff x="0" y="0"/>
          <a:chExt cx="0" cy="0"/>
        </a:xfrm>
      </p:grpSpPr>
      <p:pic>
        <p:nvPicPr>
          <p:cNvPr id="220" name="Google Shape;220;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1" name="Google Shape;221;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2" name="Google Shape;222;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3" name="Google Shape;223;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4" name="Google Shape;224;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5" name="Google Shape;225;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6" name="Google Shape;226;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7" name="Google Shape;227;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8" name="Google Shape;228;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29" name="Shape 229"/>
        <p:cNvGrpSpPr/>
        <p:nvPr/>
      </p:nvGrpSpPr>
      <p:grpSpPr>
        <a:xfrm>
          <a:off x="0" y="0"/>
          <a:ext cx="0" cy="0"/>
          <a:chOff x="0" y="0"/>
          <a:chExt cx="0" cy="0"/>
        </a:xfrm>
      </p:grpSpPr>
      <p:pic>
        <p:nvPicPr>
          <p:cNvPr id="230" name="Google Shape;230;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1" name="Google Shape;231;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2" name="Google Shape;232;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3" name="Google Shape;233;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4" name="Google Shape;234;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5" name="Google Shape;235;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6" name="Shape 236"/>
        <p:cNvGrpSpPr/>
        <p:nvPr/>
      </p:nvGrpSpPr>
      <p:grpSpPr>
        <a:xfrm>
          <a:off x="0" y="0"/>
          <a:ext cx="0" cy="0"/>
          <a:chOff x="0" y="0"/>
          <a:chExt cx="0" cy="0"/>
        </a:xfrm>
      </p:grpSpPr>
      <p:pic>
        <p:nvPicPr>
          <p:cNvPr descr="Divider1.png" id="237" name="Google Shape;237;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8" name="Google Shape;238;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9" name="Google Shape;239;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0" name="Shape 240"/>
        <p:cNvGrpSpPr/>
        <p:nvPr/>
      </p:nvGrpSpPr>
      <p:grpSpPr>
        <a:xfrm>
          <a:off x="0" y="0"/>
          <a:ext cx="0" cy="0"/>
          <a:chOff x="0" y="0"/>
          <a:chExt cx="0" cy="0"/>
        </a:xfrm>
      </p:grpSpPr>
      <p:pic>
        <p:nvPicPr>
          <p:cNvPr id="241" name="Google Shape;241;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2" name="Google Shape;242;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3" name="Google Shape;243;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5" name="Shape 245"/>
        <p:cNvGrpSpPr/>
        <p:nvPr/>
      </p:nvGrpSpPr>
      <p:grpSpPr>
        <a:xfrm>
          <a:off x="0" y="0"/>
          <a:ext cx="0" cy="0"/>
          <a:chOff x="0" y="0"/>
          <a:chExt cx="0" cy="0"/>
        </a:xfrm>
      </p:grpSpPr>
      <p:pic>
        <p:nvPicPr>
          <p:cNvPr id="246" name="Google Shape;246;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7" name="Shape 247"/>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8" name="Shape 248"/>
        <p:cNvGrpSpPr/>
        <p:nvPr/>
      </p:nvGrpSpPr>
      <p:grpSpPr>
        <a:xfrm>
          <a:off x="0" y="0"/>
          <a:ext cx="0" cy="0"/>
          <a:chOff x="0" y="0"/>
          <a:chExt cx="0" cy="0"/>
        </a:xfrm>
      </p:grpSpPr>
      <p:grpSp>
        <p:nvGrpSpPr>
          <p:cNvPr id="249" name="Google Shape;249;p39"/>
          <p:cNvGrpSpPr/>
          <p:nvPr/>
        </p:nvGrpSpPr>
        <p:grpSpPr>
          <a:xfrm>
            <a:off x="6262100" y="-3850"/>
            <a:ext cx="2886900" cy="485125"/>
            <a:chOff x="6262100" y="-3850"/>
            <a:chExt cx="2886900" cy="485125"/>
          </a:xfrm>
        </p:grpSpPr>
        <p:pic>
          <p:nvPicPr>
            <p:cNvPr descr="1.png" id="250" name="Google Shape;250;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1" name="Google Shape;251;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2" name="Google Shape;252;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3" name="Google Shape;253;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4" name="Google Shape;254;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5" name="Google Shape;255;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7" name="Google Shape;257;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8" name="Google Shape;258;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59" name="Google Shape;259;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0" name="Google Shape;260;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1" name="Google Shape;261;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2" name="Google Shape;262;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66" name="Shape 266"/>
        <p:cNvGrpSpPr/>
        <p:nvPr/>
      </p:nvGrpSpPr>
      <p:grpSpPr>
        <a:xfrm>
          <a:off x="0" y="0"/>
          <a:ext cx="0" cy="0"/>
          <a:chOff x="0" y="0"/>
          <a:chExt cx="0" cy="0"/>
        </a:xfrm>
      </p:grpSpPr>
      <p:pic>
        <p:nvPicPr>
          <p:cNvPr id="267" name="Google Shape;267;p4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68" name="Google Shape;268;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69" name="Shape 269"/>
        <p:cNvGrpSpPr/>
        <p:nvPr/>
      </p:nvGrpSpPr>
      <p:grpSpPr>
        <a:xfrm>
          <a:off x="0" y="0"/>
          <a:ext cx="0" cy="0"/>
          <a:chOff x="0" y="0"/>
          <a:chExt cx="0" cy="0"/>
        </a:xfrm>
      </p:grpSpPr>
      <p:pic>
        <p:nvPicPr>
          <p:cNvPr id="270" name="Google Shape;270;p4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71" name="Google Shape;271;p4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72" name="Google Shape;272;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3" name="Google Shape;273;p4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74" name="Shape 274"/>
        <p:cNvGrpSpPr/>
        <p:nvPr/>
      </p:nvGrpSpPr>
      <p:grpSpPr>
        <a:xfrm>
          <a:off x="0" y="0"/>
          <a:ext cx="0" cy="0"/>
          <a:chOff x="0" y="0"/>
          <a:chExt cx="0" cy="0"/>
        </a:xfrm>
      </p:grpSpPr>
      <p:pic>
        <p:nvPicPr>
          <p:cNvPr descr="Divider4.png" id="275" name="Google Shape;275;p4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76" name="Google Shape;276;p4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77" name="Google Shape;277;p4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78" name="Google Shape;278;p4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79" name="Google Shape;279;p4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80" name="Google Shape;280;p4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81" name="Shape 281"/>
        <p:cNvGrpSpPr/>
        <p:nvPr/>
      </p:nvGrpSpPr>
      <p:grpSpPr>
        <a:xfrm>
          <a:off x="0" y="0"/>
          <a:ext cx="0" cy="0"/>
          <a:chOff x="0" y="0"/>
          <a:chExt cx="0" cy="0"/>
        </a:xfrm>
      </p:grpSpPr>
      <p:sp>
        <p:nvSpPr>
          <p:cNvPr id="282" name="Google Shape;282;p4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283" name="Google Shape;283;p44"/>
          <p:cNvGrpSpPr/>
          <p:nvPr/>
        </p:nvGrpSpPr>
        <p:grpSpPr>
          <a:xfrm rot="5400000">
            <a:off x="5719749" y="1629787"/>
            <a:ext cx="4964577" cy="1883925"/>
            <a:chOff x="4152224" y="1218499"/>
            <a:chExt cx="4964577" cy="1883925"/>
          </a:xfrm>
        </p:grpSpPr>
        <p:pic>
          <p:nvPicPr>
            <p:cNvPr id="284" name="Google Shape;284;p4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85" name="Google Shape;285;p4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86" name="Google Shape;286;p4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87" name="Google Shape;287;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288" name="Shape 288"/>
        <p:cNvGrpSpPr/>
        <p:nvPr/>
      </p:nvGrpSpPr>
      <p:grpSpPr>
        <a:xfrm>
          <a:off x="0" y="0"/>
          <a:ext cx="0" cy="0"/>
          <a:chOff x="0" y="0"/>
          <a:chExt cx="0" cy="0"/>
        </a:xfrm>
      </p:grpSpPr>
      <p:pic>
        <p:nvPicPr>
          <p:cNvPr id="289" name="Google Shape;289;p4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0" name="Google Shape;290;p4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291" name="Google Shape;291;p4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292" name="Google Shape;292;p4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93" name="Google Shape;293;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4" name="Google Shape;294;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5" name="Google Shape;295;p4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296" name="Google Shape;296;p4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297" name="Shape 297"/>
        <p:cNvGrpSpPr/>
        <p:nvPr/>
      </p:nvGrpSpPr>
      <p:grpSpPr>
        <a:xfrm>
          <a:off x="0" y="0"/>
          <a:ext cx="0" cy="0"/>
          <a:chOff x="0" y="0"/>
          <a:chExt cx="0" cy="0"/>
        </a:xfrm>
      </p:grpSpPr>
      <p:pic>
        <p:nvPicPr>
          <p:cNvPr id="298" name="Google Shape;298;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299" name="Google Shape;299;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00" name="Google Shape;300;p4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01" name="Google Shape;301;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02" name="Google Shape;302;p4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03" name="Google Shape;303;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4" name="Google Shape;304;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05" name="Shape 305"/>
        <p:cNvGrpSpPr/>
        <p:nvPr/>
      </p:nvGrpSpPr>
      <p:grpSpPr>
        <a:xfrm>
          <a:off x="0" y="0"/>
          <a:ext cx="0" cy="0"/>
          <a:chOff x="0" y="0"/>
          <a:chExt cx="0" cy="0"/>
        </a:xfrm>
      </p:grpSpPr>
      <p:pic>
        <p:nvPicPr>
          <p:cNvPr id="306" name="Google Shape;306;p4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07" name="Google Shape;307;p4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08" name="Google Shape;308;p47"/>
          <p:cNvGrpSpPr/>
          <p:nvPr/>
        </p:nvGrpSpPr>
        <p:grpSpPr>
          <a:xfrm>
            <a:off x="5709066" y="201260"/>
            <a:ext cx="2296623" cy="4424889"/>
            <a:chOff x="5598780" y="137712"/>
            <a:chExt cx="2577001" cy="4664652"/>
          </a:xfrm>
        </p:grpSpPr>
        <p:pic>
          <p:nvPicPr>
            <p:cNvPr id="309" name="Google Shape;309;p4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10" name="Google Shape;310;p4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 name="Google Shape;311;p4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2" name="Google Shape;312;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3" name="Google Shape;313;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4" name="Google Shape;314;p4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15" name="Shape 315"/>
        <p:cNvGrpSpPr/>
        <p:nvPr/>
      </p:nvGrpSpPr>
      <p:grpSpPr>
        <a:xfrm>
          <a:off x="0" y="0"/>
          <a:ext cx="0" cy="0"/>
          <a:chOff x="0" y="0"/>
          <a:chExt cx="0" cy="0"/>
        </a:xfrm>
      </p:grpSpPr>
      <p:pic>
        <p:nvPicPr>
          <p:cNvPr id="316" name="Google Shape;316;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7" name="Google Shape;317;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8" name="Google Shape;318;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9" name="Google Shape;319;p4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0" name="Google Shape;320;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4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4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23" name="Shape 323"/>
        <p:cNvGrpSpPr/>
        <p:nvPr/>
      </p:nvGrpSpPr>
      <p:grpSpPr>
        <a:xfrm>
          <a:off x="0" y="0"/>
          <a:ext cx="0" cy="0"/>
          <a:chOff x="0" y="0"/>
          <a:chExt cx="0" cy="0"/>
        </a:xfrm>
      </p:grpSpPr>
      <p:pic>
        <p:nvPicPr>
          <p:cNvPr id="324" name="Google Shape;324;p4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25" name="Google Shape;325;p4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26" name="Google Shape;326;p4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7" name="Google Shape;327;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28" name="Google Shape;328;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29" name="Google Shape;329;p49"/>
          <p:cNvGrpSpPr/>
          <p:nvPr/>
        </p:nvGrpSpPr>
        <p:grpSpPr>
          <a:xfrm>
            <a:off x="4344100" y="398125"/>
            <a:ext cx="4546500" cy="4222800"/>
            <a:chOff x="4344100" y="398125"/>
            <a:chExt cx="4546500" cy="4222800"/>
          </a:xfrm>
        </p:grpSpPr>
        <p:sp>
          <p:nvSpPr>
            <p:cNvPr id="330" name="Google Shape;330;p4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1" name="Google Shape;331;p49"/>
            <p:cNvGrpSpPr/>
            <p:nvPr/>
          </p:nvGrpSpPr>
          <p:grpSpPr>
            <a:xfrm>
              <a:off x="4445450" y="524200"/>
              <a:ext cx="399495" cy="101100"/>
              <a:chOff x="4445450" y="524200"/>
              <a:chExt cx="399495" cy="101100"/>
            </a:xfrm>
          </p:grpSpPr>
          <p:sp>
            <p:nvSpPr>
              <p:cNvPr id="332" name="Google Shape;332;p4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4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36" name="Shape 336"/>
        <p:cNvGrpSpPr/>
        <p:nvPr/>
      </p:nvGrpSpPr>
      <p:grpSpPr>
        <a:xfrm>
          <a:off x="0" y="0"/>
          <a:ext cx="0" cy="0"/>
          <a:chOff x="0" y="0"/>
          <a:chExt cx="0" cy="0"/>
        </a:xfrm>
      </p:grpSpPr>
      <p:pic>
        <p:nvPicPr>
          <p:cNvPr id="337" name="Google Shape;337;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8" name="Google Shape;338;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9" name="Google Shape;339;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0" name="Google Shape;340;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1" name="Google Shape;341;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42" name="Shape 342"/>
        <p:cNvGrpSpPr/>
        <p:nvPr/>
      </p:nvGrpSpPr>
      <p:grpSpPr>
        <a:xfrm>
          <a:off x="0" y="0"/>
          <a:ext cx="0" cy="0"/>
          <a:chOff x="0" y="0"/>
          <a:chExt cx="0" cy="0"/>
        </a:xfrm>
      </p:grpSpPr>
      <p:pic>
        <p:nvPicPr>
          <p:cNvPr id="343" name="Google Shape;343;p5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44" name="Google Shape;344;p5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46" name="Google Shape;346;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7" name="Google Shape;347;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9" name="Google Shape;349;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50" name="Google Shape;350;p5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51" name="Shape 351"/>
        <p:cNvGrpSpPr/>
        <p:nvPr/>
      </p:nvGrpSpPr>
      <p:grpSpPr>
        <a:xfrm>
          <a:off x="0" y="0"/>
          <a:ext cx="0" cy="0"/>
          <a:chOff x="0" y="0"/>
          <a:chExt cx="0" cy="0"/>
        </a:xfrm>
      </p:grpSpPr>
      <p:pic>
        <p:nvPicPr>
          <p:cNvPr id="352" name="Google Shape;352;p52"/>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53" name="Google Shape;353;p52"/>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54" name="Google Shape;354;p52"/>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55" name="Google Shape;355;p5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56" name="Google Shape;356;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57" name="Google Shape;357;p5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58" name="Google Shape;358;p5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59" name="Google Shape;359;p5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60" name="Google Shape;360;p52"/>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61" name="Shape 361"/>
        <p:cNvGrpSpPr/>
        <p:nvPr/>
      </p:nvGrpSpPr>
      <p:grpSpPr>
        <a:xfrm>
          <a:off x="0" y="0"/>
          <a:ext cx="0" cy="0"/>
          <a:chOff x="0" y="0"/>
          <a:chExt cx="0" cy="0"/>
        </a:xfrm>
      </p:grpSpPr>
      <p:pic>
        <p:nvPicPr>
          <p:cNvPr id="362" name="Google Shape;362;p53"/>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63" name="Google Shape;363;p53"/>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64" name="Google Shape;364;p53"/>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5" name="Google Shape;365;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6" name="Google Shape;366;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67" name="Google Shape;367;p53"/>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68" name="Google Shape;368;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69" name="Google Shape;369;p53"/>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70" name="Shape 370"/>
        <p:cNvGrpSpPr/>
        <p:nvPr/>
      </p:nvGrpSpPr>
      <p:grpSpPr>
        <a:xfrm>
          <a:off x="0" y="0"/>
          <a:ext cx="0" cy="0"/>
          <a:chOff x="0" y="0"/>
          <a:chExt cx="0" cy="0"/>
        </a:xfrm>
      </p:grpSpPr>
      <p:pic>
        <p:nvPicPr>
          <p:cNvPr id="371" name="Google Shape;371;p54"/>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72" name="Google Shape;372;p54"/>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73" name="Google Shape;373;p5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74" name="Google Shape;374;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5" name="Google Shape;375;p5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76" name="Google Shape;376;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7" name="Google Shape;377;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78" name="Google Shape;378;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79" name="Google Shape;379;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80" name="Shape 380"/>
        <p:cNvGrpSpPr/>
        <p:nvPr/>
      </p:nvGrpSpPr>
      <p:grpSpPr>
        <a:xfrm>
          <a:off x="0" y="0"/>
          <a:ext cx="0" cy="0"/>
          <a:chOff x="0" y="0"/>
          <a:chExt cx="0" cy="0"/>
        </a:xfrm>
      </p:grpSpPr>
      <p:pic>
        <p:nvPicPr>
          <p:cNvPr id="381" name="Google Shape;381;p55"/>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82" name="Google Shape;382;p55"/>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83" name="Google Shape;383;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4" name="Google Shape;384;p55"/>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5" name="Google Shape;385;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6" name="Google Shape;386;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388" name="Google Shape;388;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89" name="Google Shape;389;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390" name="Shape 390"/>
        <p:cNvGrpSpPr/>
        <p:nvPr/>
      </p:nvGrpSpPr>
      <p:grpSpPr>
        <a:xfrm>
          <a:off x="0" y="0"/>
          <a:ext cx="0" cy="0"/>
          <a:chOff x="0" y="0"/>
          <a:chExt cx="0" cy="0"/>
        </a:xfrm>
      </p:grpSpPr>
      <p:pic>
        <p:nvPicPr>
          <p:cNvPr id="391" name="Google Shape;391;p56"/>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392" name="Google Shape;392;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3" name="Google Shape;393;p5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394" name="Google Shape;394;p56"/>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5" name="Google Shape;395;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6" name="Google Shape;396;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7" name="Google Shape;397;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398" name="Google Shape;398;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9" name="Google Shape;399;p56"/>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400" name="Google Shape;400;p56"/>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401" name="Google Shape;401;p56"/>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04" name="Google Shape;404;p57"/>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15" name="Google Shape;415;p58"/>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16" name="Google Shape;416;p5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17" name="Google Shape;417;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58"/>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8"/>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20" name="Google Shape;420;p58"/>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1" name="Google Shape;421;p58"/>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22" name="Google Shape;422;p58"/>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23" name="Shape 423"/>
        <p:cNvGrpSpPr/>
        <p:nvPr/>
      </p:nvGrpSpPr>
      <p:grpSpPr>
        <a:xfrm>
          <a:off x="0" y="0"/>
          <a:ext cx="0" cy="0"/>
          <a:chOff x="0" y="0"/>
          <a:chExt cx="0" cy="0"/>
        </a:xfrm>
      </p:grpSpPr>
      <p:pic>
        <p:nvPicPr>
          <p:cNvPr id="424" name="Google Shape;424;p59"/>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25" name="Google Shape;425;p59"/>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26" name="Google Shape;426;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7" name="Google Shape;427;p59"/>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8" name="Google Shape;428;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9" name="Google Shape;429;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0" name="Google Shape;430;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31" name="Google Shape;431;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32" name="Google Shape;432;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36" name="Google Shape;436;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7" name="Google Shape;437;p60"/>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9" name="Google Shape;439;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0" name="Google Shape;440;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41" name="Google Shape;441;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2" name="Google Shape;442;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43" name="Shape 443"/>
        <p:cNvGrpSpPr/>
        <p:nvPr/>
      </p:nvGrpSpPr>
      <p:grpSpPr>
        <a:xfrm>
          <a:off x="0" y="0"/>
          <a:ext cx="0" cy="0"/>
          <a:chOff x="0" y="0"/>
          <a:chExt cx="0" cy="0"/>
        </a:xfrm>
      </p:grpSpPr>
      <p:pic>
        <p:nvPicPr>
          <p:cNvPr id="444" name="Google Shape;444;p6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45" name="Google Shape;445;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6" name="Google Shape;446;p61"/>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47" name="Google Shape;447;p61"/>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48" name="Google Shape;448;p61"/>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49" name="Google Shape;449;p61"/>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50" name="Shape 450"/>
        <p:cNvGrpSpPr/>
        <p:nvPr/>
      </p:nvGrpSpPr>
      <p:grpSpPr>
        <a:xfrm>
          <a:off x="0" y="0"/>
          <a:ext cx="0" cy="0"/>
          <a:chOff x="0" y="0"/>
          <a:chExt cx="0" cy="0"/>
        </a:xfrm>
      </p:grpSpPr>
      <p:pic>
        <p:nvPicPr>
          <p:cNvPr descr="Divider1.png" id="451" name="Google Shape;451;p6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52" name="Google Shape;452;p6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3" name="Google Shape;453;p6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54" name="Shape 454"/>
        <p:cNvGrpSpPr/>
        <p:nvPr/>
      </p:nvGrpSpPr>
      <p:grpSpPr>
        <a:xfrm>
          <a:off x="0" y="0"/>
          <a:ext cx="0" cy="0"/>
          <a:chOff x="0" y="0"/>
          <a:chExt cx="0" cy="0"/>
        </a:xfrm>
      </p:grpSpPr>
      <p:pic>
        <p:nvPicPr>
          <p:cNvPr id="455" name="Google Shape;455;p63"/>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56" name="Google Shape;456;p63"/>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57" name="Google Shape;457;p63"/>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3"/>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59" name="Shape 459"/>
        <p:cNvGrpSpPr/>
        <p:nvPr/>
      </p:nvGrpSpPr>
      <p:grpSpPr>
        <a:xfrm>
          <a:off x="0" y="0"/>
          <a:ext cx="0" cy="0"/>
          <a:chOff x="0" y="0"/>
          <a:chExt cx="0" cy="0"/>
        </a:xfrm>
      </p:grpSpPr>
      <p:pic>
        <p:nvPicPr>
          <p:cNvPr id="460" name="Google Shape;460;p6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61" name="Shape 461"/>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62" name="Shape 462"/>
        <p:cNvGrpSpPr/>
        <p:nvPr/>
      </p:nvGrpSpPr>
      <p:grpSpPr>
        <a:xfrm>
          <a:off x="0" y="0"/>
          <a:ext cx="0" cy="0"/>
          <a:chOff x="0" y="0"/>
          <a:chExt cx="0" cy="0"/>
        </a:xfrm>
      </p:grpSpPr>
      <p:grpSp>
        <p:nvGrpSpPr>
          <p:cNvPr id="463" name="Google Shape;463;p66"/>
          <p:cNvGrpSpPr/>
          <p:nvPr/>
        </p:nvGrpSpPr>
        <p:grpSpPr>
          <a:xfrm>
            <a:off x="6262100" y="-3850"/>
            <a:ext cx="2886900" cy="485125"/>
            <a:chOff x="6262100" y="-3850"/>
            <a:chExt cx="2886900" cy="485125"/>
          </a:xfrm>
        </p:grpSpPr>
        <p:pic>
          <p:nvPicPr>
            <p:cNvPr descr="1.png" id="464" name="Google Shape;464;p66"/>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65" name="Google Shape;465;p66"/>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66" name="Google Shape;466;p66"/>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67" name="Google Shape;467;p66"/>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68" name="Google Shape;468;p6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69" name="Google Shape;469;p6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0" name="Google Shape;470;p66"/>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71" name="Google Shape;471;p66"/>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72" name="Google Shape;472;p66"/>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73" name="Google Shape;473;p66"/>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74" name="Google Shape;474;p66"/>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75" name="Google Shape;475;p66"/>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76" name="Google Shape;476;p66"/>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80" name="Shape 480"/>
        <p:cNvGrpSpPr/>
        <p:nvPr/>
      </p:nvGrpSpPr>
      <p:grpSpPr>
        <a:xfrm>
          <a:off x="0" y="0"/>
          <a:ext cx="0" cy="0"/>
          <a:chOff x="0" y="0"/>
          <a:chExt cx="0" cy="0"/>
        </a:xfrm>
      </p:grpSpPr>
      <p:pic>
        <p:nvPicPr>
          <p:cNvPr id="481" name="Google Shape;481;p6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82" name="Google Shape;482;p6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483" name="Shape 483"/>
        <p:cNvGrpSpPr/>
        <p:nvPr/>
      </p:nvGrpSpPr>
      <p:grpSpPr>
        <a:xfrm>
          <a:off x="0" y="0"/>
          <a:ext cx="0" cy="0"/>
          <a:chOff x="0" y="0"/>
          <a:chExt cx="0" cy="0"/>
        </a:xfrm>
      </p:grpSpPr>
      <p:pic>
        <p:nvPicPr>
          <p:cNvPr id="484" name="Google Shape;484;p69"/>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485" name="Google Shape;485;p69"/>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486" name="Google Shape;486;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7" name="Google Shape;487;p69"/>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488" name="Shape 488"/>
        <p:cNvGrpSpPr/>
        <p:nvPr/>
      </p:nvGrpSpPr>
      <p:grpSpPr>
        <a:xfrm>
          <a:off x="0" y="0"/>
          <a:ext cx="0" cy="0"/>
          <a:chOff x="0" y="0"/>
          <a:chExt cx="0" cy="0"/>
        </a:xfrm>
      </p:grpSpPr>
      <p:pic>
        <p:nvPicPr>
          <p:cNvPr descr="Divider4.png" id="489" name="Google Shape;489;p70"/>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490" name="Google Shape;490;p70"/>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491" name="Google Shape;491;p70"/>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492" name="Google Shape;492;p70"/>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493" name="Google Shape;493;p70"/>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494" name="Google Shape;494;p70"/>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495" name="Shape 495"/>
        <p:cNvGrpSpPr/>
        <p:nvPr/>
      </p:nvGrpSpPr>
      <p:grpSpPr>
        <a:xfrm>
          <a:off x="0" y="0"/>
          <a:ext cx="0" cy="0"/>
          <a:chOff x="0" y="0"/>
          <a:chExt cx="0" cy="0"/>
        </a:xfrm>
      </p:grpSpPr>
      <p:sp>
        <p:nvSpPr>
          <p:cNvPr id="496" name="Google Shape;496;p71"/>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497" name="Google Shape;497;p71"/>
          <p:cNvGrpSpPr/>
          <p:nvPr/>
        </p:nvGrpSpPr>
        <p:grpSpPr>
          <a:xfrm rot="5400000">
            <a:off x="5719749" y="1629787"/>
            <a:ext cx="4964577" cy="1883925"/>
            <a:chOff x="4152224" y="1218499"/>
            <a:chExt cx="4964577" cy="1883925"/>
          </a:xfrm>
        </p:grpSpPr>
        <p:pic>
          <p:nvPicPr>
            <p:cNvPr id="498" name="Google Shape;498;p71"/>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499" name="Google Shape;499;p71"/>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00" name="Google Shape;500;p7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1" name="Google Shape;501;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02" name="Google Shape;502;p71"/>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03" name="Shape 503"/>
        <p:cNvGrpSpPr/>
        <p:nvPr/>
      </p:nvGrpSpPr>
      <p:grpSpPr>
        <a:xfrm>
          <a:off x="0" y="0"/>
          <a:ext cx="0" cy="0"/>
          <a:chOff x="0" y="0"/>
          <a:chExt cx="0" cy="0"/>
        </a:xfrm>
      </p:grpSpPr>
      <p:pic>
        <p:nvPicPr>
          <p:cNvPr id="504" name="Google Shape;504;p72"/>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05" name="Google Shape;505;p72"/>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06" name="Google Shape;506;p7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07" name="Google Shape;507;p7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08" name="Google Shape;508;p7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09" name="Google Shape;509;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0" name="Google Shape;510;p72"/>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11" name="Google Shape;511;p72"/>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12" name="Shape 512"/>
        <p:cNvGrpSpPr/>
        <p:nvPr/>
      </p:nvGrpSpPr>
      <p:grpSpPr>
        <a:xfrm>
          <a:off x="0" y="0"/>
          <a:ext cx="0" cy="0"/>
          <a:chOff x="0" y="0"/>
          <a:chExt cx="0" cy="0"/>
        </a:xfrm>
      </p:grpSpPr>
      <p:pic>
        <p:nvPicPr>
          <p:cNvPr id="513" name="Google Shape;513;p73"/>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14" name="Google Shape;514;p73"/>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15" name="Google Shape;515;p73"/>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16" name="Google Shape;516;p73"/>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17" name="Google Shape;517;p7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18" name="Google Shape;518;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9" name="Google Shape;519;p7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20" name="Shape 520"/>
        <p:cNvGrpSpPr/>
        <p:nvPr/>
      </p:nvGrpSpPr>
      <p:grpSpPr>
        <a:xfrm>
          <a:off x="0" y="0"/>
          <a:ext cx="0" cy="0"/>
          <a:chOff x="0" y="0"/>
          <a:chExt cx="0" cy="0"/>
        </a:xfrm>
      </p:grpSpPr>
      <p:pic>
        <p:nvPicPr>
          <p:cNvPr id="521" name="Google Shape;521;p74"/>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22" name="Google Shape;522;p74"/>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23" name="Google Shape;523;p74"/>
          <p:cNvGrpSpPr/>
          <p:nvPr/>
        </p:nvGrpSpPr>
        <p:grpSpPr>
          <a:xfrm>
            <a:off x="5709066" y="201260"/>
            <a:ext cx="2296623" cy="4424889"/>
            <a:chOff x="5598780" y="137712"/>
            <a:chExt cx="2577001" cy="4664652"/>
          </a:xfrm>
        </p:grpSpPr>
        <p:pic>
          <p:nvPicPr>
            <p:cNvPr id="524" name="Google Shape;524;p74"/>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25" name="Google Shape;525;p74"/>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6" name="Google Shape;526;p74"/>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27" name="Google Shape;527;p7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8" name="Google Shape;528;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29" name="Google Shape;529;p74"/>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30" name="Shape 530"/>
        <p:cNvGrpSpPr/>
        <p:nvPr/>
      </p:nvGrpSpPr>
      <p:grpSpPr>
        <a:xfrm>
          <a:off x="0" y="0"/>
          <a:ext cx="0" cy="0"/>
          <a:chOff x="0" y="0"/>
          <a:chExt cx="0" cy="0"/>
        </a:xfrm>
      </p:grpSpPr>
      <p:pic>
        <p:nvPicPr>
          <p:cNvPr id="531" name="Google Shape;531;p75"/>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2" name="Google Shape;532;p75"/>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3" name="Google Shape;533;p75"/>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4" name="Google Shape;534;p75"/>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35" name="Google Shape;535;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75"/>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7" name="Google Shape;537;p75"/>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38" name="Shape 538"/>
        <p:cNvGrpSpPr/>
        <p:nvPr/>
      </p:nvGrpSpPr>
      <p:grpSpPr>
        <a:xfrm>
          <a:off x="0" y="0"/>
          <a:ext cx="0" cy="0"/>
          <a:chOff x="0" y="0"/>
          <a:chExt cx="0" cy="0"/>
        </a:xfrm>
      </p:grpSpPr>
      <p:pic>
        <p:nvPicPr>
          <p:cNvPr id="539" name="Google Shape;539;p76"/>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40" name="Google Shape;540;p76"/>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41" name="Google Shape;541;p76"/>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2" name="Google Shape;542;p76"/>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43" name="Google Shape;543;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44" name="Google Shape;544;p76"/>
          <p:cNvGrpSpPr/>
          <p:nvPr/>
        </p:nvGrpSpPr>
        <p:grpSpPr>
          <a:xfrm>
            <a:off x="4344100" y="398125"/>
            <a:ext cx="4546500" cy="4222800"/>
            <a:chOff x="4344100" y="398125"/>
            <a:chExt cx="4546500" cy="4222800"/>
          </a:xfrm>
        </p:grpSpPr>
        <p:sp>
          <p:nvSpPr>
            <p:cNvPr id="545" name="Google Shape;545;p76"/>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 name="Google Shape;546;p76"/>
            <p:cNvGrpSpPr/>
            <p:nvPr/>
          </p:nvGrpSpPr>
          <p:grpSpPr>
            <a:xfrm>
              <a:off x="4445450" y="524200"/>
              <a:ext cx="399495" cy="101100"/>
              <a:chOff x="4445450" y="524200"/>
              <a:chExt cx="399495" cy="101100"/>
            </a:xfrm>
          </p:grpSpPr>
          <p:sp>
            <p:nvSpPr>
              <p:cNvPr id="547" name="Google Shape;547;p76"/>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6"/>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6"/>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0" name="Google Shape;550;p76"/>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51" name="Shape 551"/>
        <p:cNvGrpSpPr/>
        <p:nvPr/>
      </p:nvGrpSpPr>
      <p:grpSpPr>
        <a:xfrm>
          <a:off x="0" y="0"/>
          <a:ext cx="0" cy="0"/>
          <a:chOff x="0" y="0"/>
          <a:chExt cx="0" cy="0"/>
        </a:xfrm>
      </p:grpSpPr>
      <p:pic>
        <p:nvPicPr>
          <p:cNvPr id="552" name="Google Shape;552;p7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3" name="Google Shape;553;p7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4" name="Google Shape;554;p7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5" name="Google Shape;555;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6" name="Google Shape;556;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57" name="Shape 557"/>
        <p:cNvGrpSpPr/>
        <p:nvPr/>
      </p:nvGrpSpPr>
      <p:grpSpPr>
        <a:xfrm>
          <a:off x="0" y="0"/>
          <a:ext cx="0" cy="0"/>
          <a:chOff x="0" y="0"/>
          <a:chExt cx="0" cy="0"/>
        </a:xfrm>
      </p:grpSpPr>
      <p:pic>
        <p:nvPicPr>
          <p:cNvPr id="558" name="Google Shape;558;p78"/>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59" name="Google Shape;559;p78"/>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8"/>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61" name="Google Shape;561;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2" name="Google Shape;562;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63" name="Google Shape;563;p7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4" name="Google Shape;564;p7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65" name="Google Shape;565;p78"/>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66" name="Shape 566"/>
        <p:cNvGrpSpPr/>
        <p:nvPr/>
      </p:nvGrpSpPr>
      <p:grpSpPr>
        <a:xfrm>
          <a:off x="0" y="0"/>
          <a:ext cx="0" cy="0"/>
          <a:chOff x="0" y="0"/>
          <a:chExt cx="0" cy="0"/>
        </a:xfrm>
      </p:grpSpPr>
      <p:pic>
        <p:nvPicPr>
          <p:cNvPr id="567" name="Google Shape;567;p79"/>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68" name="Google Shape;568;p79"/>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69" name="Google Shape;569;p79"/>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70" name="Google Shape;570;p7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71" name="Google Shape;571;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72" name="Google Shape;572;p7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73" name="Google Shape;573;p7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74" name="Google Shape;574;p7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75" name="Google Shape;575;p79"/>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76" name="Shape 576"/>
        <p:cNvGrpSpPr/>
        <p:nvPr/>
      </p:nvGrpSpPr>
      <p:grpSpPr>
        <a:xfrm>
          <a:off x="0" y="0"/>
          <a:ext cx="0" cy="0"/>
          <a:chOff x="0" y="0"/>
          <a:chExt cx="0" cy="0"/>
        </a:xfrm>
      </p:grpSpPr>
      <p:pic>
        <p:nvPicPr>
          <p:cNvPr id="577" name="Google Shape;577;p8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78" name="Google Shape;578;p8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79" name="Google Shape;579;p8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80" name="Google Shape;580;p8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1" name="Google Shape;581;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82" name="Google Shape;582;p8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583" name="Google Shape;583;p8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584" name="Google Shape;584;p8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585" name="Shape 585"/>
        <p:cNvGrpSpPr/>
        <p:nvPr/>
      </p:nvGrpSpPr>
      <p:grpSpPr>
        <a:xfrm>
          <a:off x="0" y="0"/>
          <a:ext cx="0" cy="0"/>
          <a:chOff x="0" y="0"/>
          <a:chExt cx="0" cy="0"/>
        </a:xfrm>
      </p:grpSpPr>
      <p:pic>
        <p:nvPicPr>
          <p:cNvPr id="586" name="Google Shape;586;p81"/>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587" name="Google Shape;587;p8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588" name="Google Shape;588;p81"/>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589" name="Google Shape;589;p8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0" name="Google Shape;590;p8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91" name="Google Shape;591;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2" name="Google Shape;592;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593" name="Google Shape;593;p8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94" name="Google Shape;594;p8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595" name="Shape 595"/>
        <p:cNvGrpSpPr/>
        <p:nvPr/>
      </p:nvGrpSpPr>
      <p:grpSpPr>
        <a:xfrm>
          <a:off x="0" y="0"/>
          <a:ext cx="0" cy="0"/>
          <a:chOff x="0" y="0"/>
          <a:chExt cx="0" cy="0"/>
        </a:xfrm>
      </p:grpSpPr>
      <p:pic>
        <p:nvPicPr>
          <p:cNvPr id="596" name="Google Shape;596;p8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597" name="Google Shape;597;p82"/>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598" name="Google Shape;598;p82"/>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599" name="Google Shape;599;p8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0" name="Google Shape;600;p8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1" name="Google Shape;601;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2" name="Google Shape;602;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03" name="Google Shape;603;p8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04" name="Google Shape;604;p8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05" name="Shape 605"/>
        <p:cNvGrpSpPr/>
        <p:nvPr/>
      </p:nvGrpSpPr>
      <p:grpSpPr>
        <a:xfrm>
          <a:off x="0" y="0"/>
          <a:ext cx="0" cy="0"/>
          <a:chOff x="0" y="0"/>
          <a:chExt cx="0" cy="0"/>
        </a:xfrm>
      </p:grpSpPr>
      <p:pic>
        <p:nvPicPr>
          <p:cNvPr id="606" name="Google Shape;606;p83"/>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07" name="Google Shape;607;p8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08" name="Google Shape;608;p8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09" name="Google Shape;609;p83"/>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0" name="Google Shape;610;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1" name="Google Shape;611;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13" name="Google Shape;613;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4" name="Google Shape;614;p83"/>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15" name="Shape 615"/>
        <p:cNvGrpSpPr/>
        <p:nvPr/>
      </p:nvGrpSpPr>
      <p:grpSpPr>
        <a:xfrm>
          <a:off x="0" y="0"/>
          <a:ext cx="0" cy="0"/>
          <a:chOff x="0" y="0"/>
          <a:chExt cx="0" cy="0"/>
        </a:xfrm>
      </p:grpSpPr>
      <p:pic>
        <p:nvPicPr>
          <p:cNvPr id="616" name="Google Shape;616;p84"/>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17" name="Google Shape;617;p8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18" name="Google Shape;618;p84"/>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19" name="Google Shape;619;p84"/>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0" name="Google Shape;620;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1" name="Google Shape;621;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2" name="Google Shape;622;p84"/>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23" name="Google Shape;623;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4" name="Google Shape;624;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25" name="Shape 625"/>
        <p:cNvGrpSpPr/>
        <p:nvPr/>
      </p:nvGrpSpPr>
      <p:grpSpPr>
        <a:xfrm>
          <a:off x="0" y="0"/>
          <a:ext cx="0" cy="0"/>
          <a:chOff x="0" y="0"/>
          <a:chExt cx="0" cy="0"/>
        </a:xfrm>
      </p:grpSpPr>
      <p:pic>
        <p:nvPicPr>
          <p:cNvPr id="626" name="Google Shape;626;p85"/>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27" name="Google Shape;627;p85"/>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28" name="Google Shape;628;p85"/>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9" name="Google Shape;629;p8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30" name="Google Shape;630;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1" name="Google Shape;631;p85"/>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85"/>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33" name="Google Shape;633;p85"/>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4" name="Google Shape;634;p85"/>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35" name="Google Shape;635;p85"/>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36" name="Shape 636"/>
        <p:cNvGrpSpPr/>
        <p:nvPr/>
      </p:nvGrpSpPr>
      <p:grpSpPr>
        <a:xfrm>
          <a:off x="0" y="0"/>
          <a:ext cx="0" cy="0"/>
          <a:chOff x="0" y="0"/>
          <a:chExt cx="0" cy="0"/>
        </a:xfrm>
      </p:grpSpPr>
      <p:pic>
        <p:nvPicPr>
          <p:cNvPr id="637" name="Google Shape;637;p8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38" name="Google Shape;638;p8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39" name="Google Shape;639;p8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40" name="Google Shape;640;p8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1" name="Google Shape;641;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2" name="Google Shape;642;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3" name="Google Shape;643;p8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44" name="Google Shape;644;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5" name="Google Shape;645;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46" name="Shape 646"/>
        <p:cNvGrpSpPr/>
        <p:nvPr/>
      </p:nvGrpSpPr>
      <p:grpSpPr>
        <a:xfrm>
          <a:off x="0" y="0"/>
          <a:ext cx="0" cy="0"/>
          <a:chOff x="0" y="0"/>
          <a:chExt cx="0" cy="0"/>
        </a:xfrm>
      </p:grpSpPr>
      <p:pic>
        <p:nvPicPr>
          <p:cNvPr id="647" name="Google Shape;647;p8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48" name="Google Shape;648;p8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49" name="Google Shape;649;p8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0" name="Google Shape;650;p8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1" name="Google Shape;651;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2" name="Google Shape;652;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3" name="Google Shape;653;p87"/>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54" name="Google Shape;654;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5" name="Google Shape;655;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56" name="Shape 656"/>
        <p:cNvGrpSpPr/>
        <p:nvPr/>
      </p:nvGrpSpPr>
      <p:grpSpPr>
        <a:xfrm>
          <a:off x="0" y="0"/>
          <a:ext cx="0" cy="0"/>
          <a:chOff x="0" y="0"/>
          <a:chExt cx="0" cy="0"/>
        </a:xfrm>
      </p:grpSpPr>
      <p:pic>
        <p:nvPicPr>
          <p:cNvPr id="657" name="Google Shape;657;p88"/>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58" name="Google Shape;658;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9" name="Google Shape;659;p8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60" name="Google Shape;660;p88"/>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61" name="Google Shape;661;p88"/>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62" name="Google Shape;662;p88"/>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63" name="Shape 663"/>
        <p:cNvGrpSpPr/>
        <p:nvPr/>
      </p:nvGrpSpPr>
      <p:grpSpPr>
        <a:xfrm>
          <a:off x="0" y="0"/>
          <a:ext cx="0" cy="0"/>
          <a:chOff x="0" y="0"/>
          <a:chExt cx="0" cy="0"/>
        </a:xfrm>
      </p:grpSpPr>
      <p:pic>
        <p:nvPicPr>
          <p:cNvPr descr="Divider1.png" id="664" name="Google Shape;664;p8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65" name="Google Shape;665;p89"/>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6" name="Google Shape;666;p8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67" name="Shape 667"/>
        <p:cNvGrpSpPr/>
        <p:nvPr/>
      </p:nvGrpSpPr>
      <p:grpSpPr>
        <a:xfrm>
          <a:off x="0" y="0"/>
          <a:ext cx="0" cy="0"/>
          <a:chOff x="0" y="0"/>
          <a:chExt cx="0" cy="0"/>
        </a:xfrm>
      </p:grpSpPr>
      <p:pic>
        <p:nvPicPr>
          <p:cNvPr id="668" name="Google Shape;668;p90"/>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69" name="Google Shape;669;p90"/>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70" name="Google Shape;670;p90"/>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90"/>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72" name="Shape 672"/>
        <p:cNvGrpSpPr/>
        <p:nvPr/>
      </p:nvGrpSpPr>
      <p:grpSpPr>
        <a:xfrm>
          <a:off x="0" y="0"/>
          <a:ext cx="0" cy="0"/>
          <a:chOff x="0" y="0"/>
          <a:chExt cx="0" cy="0"/>
        </a:xfrm>
      </p:grpSpPr>
      <p:pic>
        <p:nvPicPr>
          <p:cNvPr id="673" name="Google Shape;673;p9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74" name="Shape 674"/>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675" name="Shape 675"/>
        <p:cNvGrpSpPr/>
        <p:nvPr/>
      </p:nvGrpSpPr>
      <p:grpSpPr>
        <a:xfrm>
          <a:off x="0" y="0"/>
          <a:ext cx="0" cy="0"/>
          <a:chOff x="0" y="0"/>
          <a:chExt cx="0" cy="0"/>
        </a:xfrm>
      </p:grpSpPr>
      <p:grpSp>
        <p:nvGrpSpPr>
          <p:cNvPr id="676" name="Google Shape;676;p93"/>
          <p:cNvGrpSpPr/>
          <p:nvPr/>
        </p:nvGrpSpPr>
        <p:grpSpPr>
          <a:xfrm>
            <a:off x="6262100" y="-3850"/>
            <a:ext cx="2886900" cy="485125"/>
            <a:chOff x="6262100" y="-3850"/>
            <a:chExt cx="2886900" cy="485125"/>
          </a:xfrm>
        </p:grpSpPr>
        <p:pic>
          <p:nvPicPr>
            <p:cNvPr descr="1.png" id="677" name="Google Shape;677;p93"/>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678" name="Google Shape;678;p93"/>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679" name="Google Shape;679;p93"/>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680" name="Google Shape;680;p93"/>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681" name="Google Shape;681;p9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82" name="Google Shape;682;p9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3" name="Google Shape;683;p93"/>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684" name="Google Shape;684;p93"/>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685" name="Google Shape;685;p93"/>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686" name="Google Shape;686;p93"/>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687" name="Google Shape;687;p93"/>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688" name="Google Shape;688;p93"/>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689" name="Google Shape;689;p93"/>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690" name="Shape 690"/>
        <p:cNvGrpSpPr/>
        <p:nvPr/>
      </p:nvGrpSpPr>
      <p:grpSpPr>
        <a:xfrm>
          <a:off x="0" y="0"/>
          <a:ext cx="0" cy="0"/>
          <a:chOff x="0" y="0"/>
          <a:chExt cx="0" cy="0"/>
        </a:xfrm>
      </p:grpSpPr>
      <p:pic>
        <p:nvPicPr>
          <p:cNvPr id="691" name="Google Shape;691;p9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92" name="Google Shape;692;p94"/>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93" name="Google Shape;693;p9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94" name="Google Shape;694;p9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5" name="Google Shape;695;p94"/>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696" name="Google Shape;696;p94"/>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7" Type="http://schemas.openxmlformats.org/officeDocument/2006/relationships/theme" Target="../theme/theme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7.xml"/><Relationship Id="rId22" Type="http://schemas.openxmlformats.org/officeDocument/2006/relationships/slideLayout" Target="../slideLayouts/slideLayout59.xml"/><Relationship Id="rId21" Type="http://schemas.openxmlformats.org/officeDocument/2006/relationships/slideLayout" Target="../slideLayouts/slideLayout58.xml"/><Relationship Id="rId24" Type="http://schemas.openxmlformats.org/officeDocument/2006/relationships/slideLayout" Target="../slideLayouts/slideLayout61.xml"/><Relationship Id="rId23" Type="http://schemas.openxmlformats.org/officeDocument/2006/relationships/slideLayout" Target="../slideLayouts/slideLayout60.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26" Type="http://schemas.openxmlformats.org/officeDocument/2006/relationships/slideLayout" Target="../slideLayouts/slideLayout63.xml"/><Relationship Id="rId25" Type="http://schemas.openxmlformats.org/officeDocument/2006/relationships/slideLayout" Target="../slideLayouts/slideLayout62.xml"/><Relationship Id="rId27" Type="http://schemas.openxmlformats.org/officeDocument/2006/relationships/theme" Target="../theme/theme4.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11" Type="http://schemas.openxmlformats.org/officeDocument/2006/relationships/slideLayout" Target="../slideLayouts/slideLayout48.xml"/><Relationship Id="rId10" Type="http://schemas.openxmlformats.org/officeDocument/2006/relationships/slideLayout" Target="../slideLayouts/slideLayout47.xml"/><Relationship Id="rId13" Type="http://schemas.openxmlformats.org/officeDocument/2006/relationships/slideLayout" Target="../slideLayouts/slideLayout50.xml"/><Relationship Id="rId12" Type="http://schemas.openxmlformats.org/officeDocument/2006/relationships/slideLayout" Target="../slideLayouts/slideLayout49.xml"/><Relationship Id="rId15" Type="http://schemas.openxmlformats.org/officeDocument/2006/relationships/slideLayout" Target="../slideLayouts/slideLayout52.xml"/><Relationship Id="rId14" Type="http://schemas.openxmlformats.org/officeDocument/2006/relationships/slideLayout" Target="../slideLayouts/slideLayout51.xml"/><Relationship Id="rId17" Type="http://schemas.openxmlformats.org/officeDocument/2006/relationships/slideLayout" Target="../slideLayouts/slideLayout54.xml"/><Relationship Id="rId16" Type="http://schemas.openxmlformats.org/officeDocument/2006/relationships/slideLayout" Target="../slideLayouts/slideLayout53.xml"/><Relationship Id="rId19" Type="http://schemas.openxmlformats.org/officeDocument/2006/relationships/slideLayout" Target="../slideLayouts/slideLayout56.xml"/><Relationship Id="rId18"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3.xml"/><Relationship Id="rId22" Type="http://schemas.openxmlformats.org/officeDocument/2006/relationships/slideLayout" Target="../slideLayouts/slideLayout85.xml"/><Relationship Id="rId21" Type="http://schemas.openxmlformats.org/officeDocument/2006/relationships/slideLayout" Target="../slideLayouts/slideLayout84.xml"/><Relationship Id="rId24" Type="http://schemas.openxmlformats.org/officeDocument/2006/relationships/slideLayout" Target="../slideLayouts/slideLayout87.xml"/><Relationship Id="rId23" Type="http://schemas.openxmlformats.org/officeDocument/2006/relationships/slideLayout" Target="../slideLayouts/slideLayout86.xml"/><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9" Type="http://schemas.openxmlformats.org/officeDocument/2006/relationships/slideLayout" Target="../slideLayouts/slideLayout72.xml"/><Relationship Id="rId26" Type="http://schemas.openxmlformats.org/officeDocument/2006/relationships/slideLayout" Target="../slideLayouts/slideLayout89.xml"/><Relationship Id="rId25" Type="http://schemas.openxmlformats.org/officeDocument/2006/relationships/slideLayout" Target="../slideLayouts/slideLayout88.xml"/><Relationship Id="rId28" Type="http://schemas.openxmlformats.org/officeDocument/2006/relationships/theme" Target="../theme/theme1.xml"/><Relationship Id="rId27" Type="http://schemas.openxmlformats.org/officeDocument/2006/relationships/slideLayout" Target="../slideLayouts/slideLayout90.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11" Type="http://schemas.openxmlformats.org/officeDocument/2006/relationships/slideLayout" Target="../slideLayouts/slideLayout74.xml"/><Relationship Id="rId10" Type="http://schemas.openxmlformats.org/officeDocument/2006/relationships/slideLayout" Target="../slideLayouts/slideLayout73.xml"/><Relationship Id="rId13" Type="http://schemas.openxmlformats.org/officeDocument/2006/relationships/slideLayout" Target="../slideLayouts/slideLayout76.xml"/><Relationship Id="rId12" Type="http://schemas.openxmlformats.org/officeDocument/2006/relationships/slideLayout" Target="../slideLayouts/slideLayout75.xml"/><Relationship Id="rId15" Type="http://schemas.openxmlformats.org/officeDocument/2006/relationships/slideLayout" Target="../slideLayouts/slideLayout78.xml"/><Relationship Id="rId14" Type="http://schemas.openxmlformats.org/officeDocument/2006/relationships/slideLayout" Target="../slideLayouts/slideLayout77.xml"/><Relationship Id="rId17" Type="http://schemas.openxmlformats.org/officeDocument/2006/relationships/slideLayout" Target="../slideLayouts/slideLayout80.xml"/><Relationship Id="rId16" Type="http://schemas.openxmlformats.org/officeDocument/2006/relationships/slideLayout" Target="../slideLayouts/slideLayout79.xml"/><Relationship Id="rId19" Type="http://schemas.openxmlformats.org/officeDocument/2006/relationships/slideLayout" Target="../slideLayouts/slideLayout82.xml"/><Relationship Id="rId18"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77" name="Shape 477"/>
        <p:cNvGrpSpPr/>
        <p:nvPr/>
      </p:nvGrpSpPr>
      <p:grpSpPr>
        <a:xfrm>
          <a:off x="0" y="0"/>
          <a:ext cx="0" cy="0"/>
          <a:chOff x="0" y="0"/>
          <a:chExt cx="0" cy="0"/>
        </a:xfrm>
      </p:grpSpPr>
      <p:sp>
        <p:nvSpPr>
          <p:cNvPr id="478" name="Google Shape;478;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79" name="Google Shape;479;p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4.xml"/><Relationship Id="rId3" Type="http://schemas.openxmlformats.org/officeDocument/2006/relationships/image" Target="../media/image132.png"/><Relationship Id="rId4" Type="http://schemas.openxmlformats.org/officeDocument/2006/relationships/image" Target="../media/image1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xml"/><Relationship Id="rId3" Type="http://schemas.openxmlformats.org/officeDocument/2006/relationships/image" Target="../media/image1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 Id="rId3" Type="http://schemas.openxmlformats.org/officeDocument/2006/relationships/hyperlink" Target="https://courses.codepath.org/courses/tip101/unit/3#!cheatsheet" TargetMode="External"/><Relationship Id="rId4" Type="http://schemas.openxmlformats.org/officeDocument/2006/relationships/image" Target="../media/image1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17.xml"/><Relationship Id="rId3" Type="http://schemas.openxmlformats.org/officeDocument/2006/relationships/hyperlink" Target="http://www.youtube.com/watch?v=Jwd_lkXoLKk" TargetMode="External"/><Relationship Id="rId4" Type="http://schemas.openxmlformats.org/officeDocument/2006/relationships/image" Target="../media/image13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2.xml"/><Relationship Id="rId3" Type="http://schemas.openxmlformats.org/officeDocument/2006/relationships/image" Target="../media/image140.png"/><Relationship Id="rId4" Type="http://schemas.openxmlformats.org/officeDocument/2006/relationships/hyperlink" Target="http://www.youtube.com/watch?v=BTZMUDKSpSs" TargetMode="External"/><Relationship Id="rId5" Type="http://schemas.openxmlformats.org/officeDocument/2006/relationships/image" Target="../media/image1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3.xml"/><Relationship Id="rId3" Type="http://schemas.openxmlformats.org/officeDocument/2006/relationships/image" Target="../media/image1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4.xml"/><Relationship Id="rId3" Type="http://schemas.openxmlformats.org/officeDocument/2006/relationships/image" Target="../media/image141.png"/><Relationship Id="rId4" Type="http://schemas.openxmlformats.org/officeDocument/2006/relationships/image" Target="../media/image137.png"/><Relationship Id="rId5" Type="http://schemas.openxmlformats.org/officeDocument/2006/relationships/hyperlink" Target="https://go.codepath.org/tiptutor" TargetMode="External"/><Relationship Id="rId6" Type="http://schemas.openxmlformats.org/officeDocument/2006/relationships/hyperlink" Target="https://docs.google.com/document/d/1wGZrUGrDlMIMgLmI-TwqWguZoTycEbsMxpi6w4vW9R4/edit?tab=t.0" TargetMode="External"/><Relationship Id="rId7" Type="http://schemas.openxmlformats.org/officeDocument/2006/relationships/image" Target="../media/image1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95"/>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String Operations</a:t>
            </a:r>
            <a:endParaRPr sz="3600"/>
          </a:p>
        </p:txBody>
      </p:sp>
      <p:sp>
        <p:nvSpPr>
          <p:cNvPr id="702" name="Google Shape;702;p95"/>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9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08" name="Google Shape;708;p96"/>
          <p:cNvGraphicFramePr/>
          <p:nvPr/>
        </p:nvGraphicFramePr>
        <p:xfrm>
          <a:off x="451525" y="1242597"/>
          <a:ext cx="3000000" cy="3000000"/>
        </p:xfrm>
        <a:graphic>
          <a:graphicData uri="http://schemas.openxmlformats.org/drawingml/2006/table">
            <a:tbl>
              <a:tblPr>
                <a:noFill/>
                <a:tableStyleId>{ACC66804-8EE6-495A-BD68-1CC7219ECFE1}</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String Operations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7"/>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714" name="Google Shape;714;p9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20" name="Google Shape;720;p98"/>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721" name="Google Shape;721;p98"/>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722" name="Google Shape;722;p98"/>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723" name="Google Shape;723;p98"/>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99"/>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729" name="Google Shape;729;p9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0" name="Google Shape;730;p9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What is one game you always feel confident about winning? (board game, card game, part game, video game, etc?).</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Multiple options are encouraged.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0"/>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Students report feeling supported by classmates during breakout rooms</a:t>
            </a:r>
            <a:endParaRPr/>
          </a:p>
          <a:p>
            <a:pPr indent="-342900" lvl="0" marL="457200" rtl="0" algn="l">
              <a:spcBef>
                <a:spcPts val="0"/>
              </a:spcBef>
              <a:spcAft>
                <a:spcPts val="0"/>
              </a:spcAft>
              <a:buSzPts val="1800"/>
              <a:buChar char="+"/>
            </a:pPr>
            <a:r>
              <a:rPr lang="en"/>
              <a:t>Dictionaries</a:t>
            </a:r>
            <a:r>
              <a:rPr lang="en"/>
              <a:t> went well</a:t>
            </a:r>
            <a:endParaRPr/>
          </a:p>
        </p:txBody>
      </p:sp>
      <p:sp>
        <p:nvSpPr>
          <p:cNvPr id="736" name="Google Shape;736;p10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7" name="Google Shape;737;p100"/>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Issues with visibility with screen sharing code (zoom in, try VS Code Live)</a:t>
            </a:r>
            <a:endParaRPr sz="1700"/>
          </a:p>
          <a:p>
            <a:pPr indent="0" lvl="0" marL="0" rtl="0" algn="l">
              <a:spcBef>
                <a:spcPts val="1600"/>
              </a:spcBef>
              <a:spcAft>
                <a:spcPts val="1600"/>
              </a:spcAft>
              <a:buNone/>
            </a:pPr>
            <a:r>
              <a:rPr lang="en" sz="1700"/>
              <a:t>- Wanted more details on built in functionalities.</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01"/>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743" name="Google Shape;743;p10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Assessment Reminder:</a:t>
            </a:r>
            <a:endParaRPr sz="1700"/>
          </a:p>
          <a:p>
            <a:pPr indent="-336550" lvl="1" marL="914400" rtl="0" algn="l">
              <a:spcBef>
                <a:spcPts val="0"/>
              </a:spcBef>
              <a:spcAft>
                <a:spcPts val="0"/>
              </a:spcAft>
              <a:buSzPts val="1700"/>
              <a:buChar char="●"/>
            </a:pPr>
            <a:r>
              <a:rPr lang="en" sz="1700"/>
              <a:t>Fix it garage sessions ended for now (onboarding specific to errors relating to VS Code, the course portal, Slack, etc.)</a:t>
            </a:r>
            <a:endParaRPr sz="1700"/>
          </a:p>
          <a:p>
            <a:pPr indent="-336550" lvl="1" marL="914400" rtl="0" algn="l">
              <a:spcBef>
                <a:spcPts val="0"/>
              </a:spcBef>
              <a:spcAft>
                <a:spcPts val="0"/>
              </a:spcAft>
              <a:buSzPts val="1700"/>
              <a:buChar char="●"/>
            </a:pPr>
            <a:r>
              <a:rPr lang="en" sz="1700"/>
              <a:t>Study hall sessions will remain active !</a:t>
            </a:r>
            <a:endParaRPr sz="1700"/>
          </a:p>
          <a:p>
            <a:pPr indent="-336550" lvl="1" marL="914400" rtl="0" algn="l">
              <a:spcBef>
                <a:spcPts val="0"/>
              </a:spcBef>
              <a:spcAft>
                <a:spcPts val="0"/>
              </a:spcAft>
              <a:buSzPts val="1700"/>
              <a:buChar char="●"/>
            </a:pPr>
            <a:r>
              <a:rPr lang="en" sz="1700"/>
              <a:t>Utilize VS Code debugging functionalities.</a:t>
            </a:r>
            <a:endParaRPr sz="1700"/>
          </a:p>
          <a:p>
            <a:pPr indent="0" lvl="0" marL="0" rtl="0" algn="l">
              <a:spcBef>
                <a:spcPts val="1600"/>
              </a:spcBef>
              <a:spcAft>
                <a:spcPts val="0"/>
              </a:spcAft>
              <a:buNone/>
            </a:pPr>
            <a:r>
              <a:t/>
            </a:r>
            <a:endParaRPr sz="1150" u="sng">
              <a:solidFill>
                <a:srgbClr val="4252FF"/>
              </a:solidFill>
              <a:latin typeface="Arial"/>
              <a:ea typeface="Arial"/>
              <a:cs typeface="Arial"/>
              <a:sym typeface="Arial"/>
            </a:endParaRPr>
          </a:p>
          <a:p>
            <a:pPr indent="0" lvl="0" marL="0" rtl="0" algn="l">
              <a:spcBef>
                <a:spcPts val="1600"/>
              </a:spcBef>
              <a:spcAft>
                <a:spcPts val="1600"/>
              </a:spcAft>
              <a:buNone/>
            </a:pPr>
            <a:r>
              <a:t/>
            </a:r>
            <a:endParaRPr/>
          </a:p>
        </p:txBody>
      </p:sp>
      <p:sp>
        <p:nvSpPr>
          <p:cNvPr id="744" name="Google Shape;744;p10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45" name="Google Shape;745;p101"/>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02"/>
          <p:cNvSpPr txBox="1"/>
          <p:nvPr>
            <p:ph type="title"/>
          </p:nvPr>
        </p:nvSpPr>
        <p:spPr>
          <a:xfrm>
            <a:off x="884825" y="2317200"/>
            <a:ext cx="44841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Strings in Python</a:t>
            </a:r>
            <a:endParaRPr/>
          </a:p>
        </p:txBody>
      </p:sp>
      <p:sp>
        <p:nvSpPr>
          <p:cNvPr id="751" name="Google Shape;751;p10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03"/>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757" name="Google Shape;757;p10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8" name="Google Shape;758;p103"/>
          <p:cNvSpPr txBox="1"/>
          <p:nvPr>
            <p:ph idx="2" type="body"/>
          </p:nvPr>
        </p:nvSpPr>
        <p:spPr>
          <a:xfrm>
            <a:off x="604800" y="1412900"/>
            <a:ext cx="3652800" cy="1992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Open the </a:t>
            </a:r>
            <a:r>
              <a:rPr b="1" lang="en" u="sng">
                <a:solidFill>
                  <a:schemeClr val="hlink"/>
                </a:solidFill>
                <a:hlinkClick r:id="rId3"/>
              </a:rPr>
              <a:t>Unit 3 Cheat Sheet</a:t>
            </a:r>
            <a:r>
              <a:rPr lang="en"/>
              <a:t> and find </a:t>
            </a:r>
            <a:r>
              <a:rPr b="1" lang="en"/>
              <a:t>String Methods &amp; Syntax</a:t>
            </a:r>
            <a:r>
              <a:rPr lang="en"/>
              <a:t>.</a:t>
            </a:r>
            <a:endParaRPr/>
          </a:p>
          <a:p>
            <a:pPr indent="0" lvl="0" marL="0" rtl="0" algn="ctr">
              <a:spcBef>
                <a:spcPts val="1000"/>
              </a:spcBef>
              <a:spcAft>
                <a:spcPts val="0"/>
              </a:spcAft>
              <a:buNone/>
            </a:pPr>
            <a:r>
              <a:rPr lang="en"/>
              <a:t>What do you notice?</a:t>
            </a:r>
            <a:endParaRPr/>
          </a:p>
          <a:p>
            <a:pPr indent="0" lvl="0" marL="0" rtl="0" algn="ctr">
              <a:spcBef>
                <a:spcPts val="1000"/>
              </a:spcBef>
              <a:spcAft>
                <a:spcPts val="1000"/>
              </a:spcAft>
              <a:buNone/>
            </a:pPr>
            <a:r>
              <a:rPr lang="en"/>
              <a:t>What do you wonder?</a:t>
            </a:r>
            <a:endParaRPr/>
          </a:p>
        </p:txBody>
      </p:sp>
      <p:pic>
        <p:nvPicPr>
          <p:cNvPr id="759" name="Google Shape;759;p103"/>
          <p:cNvPicPr preferRelativeResize="0"/>
          <p:nvPr/>
        </p:nvPicPr>
        <p:blipFill rotWithShape="1">
          <a:blip r:embed="rId4">
            <a:alphaModFix/>
          </a:blip>
          <a:srcRect b="0" l="0" r="19588" t="0"/>
          <a:stretch/>
        </p:blipFill>
        <p:spPr>
          <a:xfrm>
            <a:off x="4410000" y="1204575"/>
            <a:ext cx="4364800" cy="28482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0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Basics</a:t>
            </a:r>
            <a:endParaRPr/>
          </a:p>
        </p:txBody>
      </p:sp>
      <p:sp>
        <p:nvSpPr>
          <p:cNvPr id="765" name="Google Shape;765;p104"/>
          <p:cNvSpPr txBox="1"/>
          <p:nvPr>
            <p:ph idx="1" type="body"/>
          </p:nvPr>
        </p:nvSpPr>
        <p:spPr>
          <a:xfrm>
            <a:off x="452400" y="1132825"/>
            <a:ext cx="8239200" cy="13554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Strings are sequences of characters.</a:t>
            </a:r>
            <a:endParaRPr/>
          </a:p>
          <a:p>
            <a:pPr indent="-342900" lvl="0" marL="457200" rtl="0" algn="l">
              <a:spcBef>
                <a:spcPts val="1000"/>
              </a:spcBef>
              <a:spcAft>
                <a:spcPts val="0"/>
              </a:spcAft>
              <a:buSzPts val="1800"/>
              <a:buChar char="✱"/>
            </a:pPr>
            <a:r>
              <a:rPr lang="en"/>
              <a:t>Common operations: concatenation, slicing, and formatting.</a:t>
            </a:r>
            <a:endParaRPr/>
          </a:p>
          <a:p>
            <a:pPr indent="-342900" lvl="0" marL="457200" rtl="0" algn="l">
              <a:spcBef>
                <a:spcPts val="1000"/>
              </a:spcBef>
              <a:spcAft>
                <a:spcPts val="1000"/>
              </a:spcAft>
              <a:buSzPts val="1800"/>
              <a:buChar char="✱"/>
            </a:pPr>
            <a:r>
              <a:rPr lang="en"/>
              <a:t>Useful methods: </a:t>
            </a:r>
            <a:r>
              <a:rPr lang="en">
                <a:latin typeface="Consolas"/>
                <a:ea typeface="Consolas"/>
                <a:cs typeface="Consolas"/>
                <a:sym typeface="Consolas"/>
              </a:rPr>
              <a:t>.lower()</a:t>
            </a:r>
            <a:r>
              <a:rPr lang="en"/>
              <a:t>, </a:t>
            </a:r>
            <a:r>
              <a:rPr lang="en">
                <a:latin typeface="Consolas"/>
                <a:ea typeface="Consolas"/>
                <a:cs typeface="Consolas"/>
                <a:sym typeface="Consolas"/>
              </a:rPr>
              <a:t>.upper()</a:t>
            </a:r>
            <a:r>
              <a:rPr lang="en"/>
              <a:t>, </a:t>
            </a:r>
            <a:r>
              <a:rPr lang="en">
                <a:latin typeface="Consolas"/>
                <a:ea typeface="Consolas"/>
                <a:cs typeface="Consolas"/>
                <a:sym typeface="Consolas"/>
              </a:rPr>
              <a:t>.split()</a:t>
            </a:r>
            <a:r>
              <a:rPr lang="en"/>
              <a:t>.</a:t>
            </a:r>
            <a:endParaRPr/>
          </a:p>
        </p:txBody>
      </p:sp>
      <p:sp>
        <p:nvSpPr>
          <p:cNvPr id="766" name="Google Shape;766;p10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7" name="Google Shape;767;p104"/>
          <p:cNvSpPr txBox="1"/>
          <p:nvPr/>
        </p:nvSpPr>
        <p:spPr>
          <a:xfrm>
            <a:off x="2071650" y="2844675"/>
            <a:ext cx="5000700" cy="12837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s = "Hello World"</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print(s.lower())  # "hello world"</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print(s[:5])      # "Hello"</a:t>
            </a:r>
            <a:endParaRPr sz="1800">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0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Concatenation</a:t>
            </a:r>
            <a:endParaRPr/>
          </a:p>
        </p:txBody>
      </p:sp>
      <p:sp>
        <p:nvSpPr>
          <p:cNvPr id="773" name="Google Shape;773;p105"/>
          <p:cNvSpPr txBox="1"/>
          <p:nvPr>
            <p:ph idx="1" type="body"/>
          </p:nvPr>
        </p:nvSpPr>
        <p:spPr>
          <a:xfrm>
            <a:off x="452400" y="1132825"/>
            <a:ext cx="8239200" cy="19929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Strings can be built by simply adding them together. This allows you to convert or modify existing text (filtering, encrypting, etc.)</a:t>
            </a:r>
            <a:endParaRPr/>
          </a:p>
          <a:p>
            <a:pPr indent="-342900" lvl="0" marL="457200" rtl="0" algn="l">
              <a:spcBef>
                <a:spcPts val="1000"/>
              </a:spcBef>
              <a:spcAft>
                <a:spcPts val="0"/>
              </a:spcAft>
              <a:buSzPts val="1800"/>
              <a:buChar char="✱"/>
            </a:pPr>
            <a:r>
              <a:rPr lang="en"/>
              <a:t>Concatenation refers to using the “+” modifier to combine two or more strings together.</a:t>
            </a:r>
            <a:endParaRPr/>
          </a:p>
          <a:p>
            <a:pPr indent="0" lvl="0" marL="914400" rtl="0" algn="l">
              <a:spcBef>
                <a:spcPts val="1000"/>
              </a:spcBef>
              <a:spcAft>
                <a:spcPts val="1000"/>
              </a:spcAft>
              <a:buNone/>
            </a:pPr>
            <a:r>
              <a:t/>
            </a:r>
            <a:endParaRPr/>
          </a:p>
        </p:txBody>
      </p:sp>
      <p:sp>
        <p:nvSpPr>
          <p:cNvPr id="774" name="Google Shape;774;p10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5" name="Google Shape;775;p105"/>
          <p:cNvSpPr txBox="1"/>
          <p:nvPr/>
        </p:nvSpPr>
        <p:spPr>
          <a:xfrm>
            <a:off x="2071650" y="2945350"/>
            <a:ext cx="5000700" cy="12837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latin typeface="Consolas"/>
                <a:ea typeface="Consolas"/>
                <a:cs typeface="Consolas"/>
                <a:sym typeface="Consolas"/>
              </a:rPr>
              <a:t>a = “Hello”</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b = “World”</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c = a + “ [Middle Segment] ” + b</a:t>
            </a:r>
            <a:endParaRPr sz="1800">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0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String Slicing</a:t>
            </a:r>
            <a:endParaRPr/>
          </a:p>
        </p:txBody>
      </p:sp>
      <p:sp>
        <p:nvSpPr>
          <p:cNvPr id="781" name="Google Shape;781;p106"/>
          <p:cNvSpPr txBox="1"/>
          <p:nvPr>
            <p:ph idx="1" type="body"/>
          </p:nvPr>
        </p:nvSpPr>
        <p:spPr>
          <a:xfrm>
            <a:off x="452400" y="1132825"/>
            <a:ext cx="8239200" cy="30147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a:t>Returns a snippet or portion of a string, based on the provided indices.</a:t>
            </a:r>
            <a:endParaRPr/>
          </a:p>
          <a:p>
            <a:pPr indent="-342900" lvl="0" marL="457200" rtl="0" algn="l">
              <a:spcBef>
                <a:spcPts val="1000"/>
              </a:spcBef>
              <a:spcAft>
                <a:spcPts val="0"/>
              </a:spcAft>
              <a:buSzPts val="1800"/>
              <a:buChar char="✱"/>
            </a:pPr>
            <a:r>
              <a:rPr lang="en"/>
              <a:t>Can provide either the beginning, or the ending index.</a:t>
            </a:r>
            <a:endParaRPr/>
          </a:p>
          <a:p>
            <a:pPr indent="-342900" lvl="1" marL="914400" rtl="0" algn="l">
              <a:spcBef>
                <a:spcPts val="1000"/>
              </a:spcBef>
              <a:spcAft>
                <a:spcPts val="0"/>
              </a:spcAft>
              <a:buSzPts val="1800"/>
              <a:buChar char="●"/>
            </a:pPr>
            <a:r>
              <a:rPr lang="en"/>
              <a:t>value = exampleString[:5]</a:t>
            </a:r>
            <a:endParaRPr/>
          </a:p>
          <a:p>
            <a:pPr indent="-342900" lvl="1" marL="914400" rtl="0" algn="l">
              <a:spcBef>
                <a:spcPts val="1000"/>
              </a:spcBef>
              <a:spcAft>
                <a:spcPts val="0"/>
              </a:spcAft>
              <a:buSzPts val="1800"/>
              <a:buChar char="●"/>
            </a:pPr>
            <a:r>
              <a:rPr lang="en"/>
              <a:t>value = exampleString[4:]</a:t>
            </a:r>
            <a:endParaRPr/>
          </a:p>
          <a:p>
            <a:pPr indent="-342900" lvl="1" marL="914400" rtl="0" algn="l">
              <a:spcBef>
                <a:spcPts val="1000"/>
              </a:spcBef>
              <a:spcAft>
                <a:spcPts val="0"/>
              </a:spcAft>
              <a:buSzPts val="1800"/>
              <a:buChar char="●"/>
            </a:pPr>
            <a:r>
              <a:rPr lang="en"/>
              <a:t>value = exampleString[2:8]</a:t>
            </a:r>
            <a:endParaRPr/>
          </a:p>
          <a:p>
            <a:pPr indent="-342900" lvl="1" marL="914400" rtl="0" algn="l">
              <a:spcBef>
                <a:spcPts val="1000"/>
              </a:spcBef>
              <a:spcAft>
                <a:spcPts val="1000"/>
              </a:spcAft>
              <a:buSzPts val="1800"/>
              <a:buChar char="●"/>
            </a:pPr>
            <a:r>
              <a:rPr lang="en"/>
              <a:t>value = exampleString[0:10:2]   #optional “step” value.</a:t>
            </a:r>
            <a:endParaRPr/>
          </a:p>
        </p:txBody>
      </p:sp>
      <p:sp>
        <p:nvSpPr>
          <p:cNvPr id="782" name="Google Shape;782;p10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07"/>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788" name="Google Shape;788;p1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9" name="Google Shape;789;p107"/>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What do you think happens if we try to modify a string in place? Please answer in the Zoom.</a:t>
            </a:r>
            <a:endParaRPr/>
          </a:p>
        </p:txBody>
      </p:sp>
      <p:sp>
        <p:nvSpPr>
          <p:cNvPr id="790" name="Google Shape;790;p107"/>
          <p:cNvSpPr txBox="1"/>
          <p:nvPr/>
        </p:nvSpPr>
        <p:spPr>
          <a:xfrm>
            <a:off x="1980125" y="2221450"/>
            <a:ext cx="5000700" cy="28767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Which section below is correct?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Option A</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s = "Hello World"</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s = s.upper()  </a:t>
            </a:r>
            <a:endParaRPr sz="1800">
              <a:latin typeface="Consolas"/>
              <a:ea typeface="Consolas"/>
              <a:cs typeface="Consolas"/>
              <a:sym typeface="Consolas"/>
            </a:endParaRPr>
          </a:p>
          <a:p>
            <a:pPr indent="0" lvl="0" marL="0" rtl="0" algn="l">
              <a:lnSpc>
                <a:spcPct val="115000"/>
              </a:lnSpc>
              <a:spcBef>
                <a:spcPts val="0"/>
              </a:spcBef>
              <a:spcAft>
                <a:spcPts val="0"/>
              </a:spcAft>
              <a:buNone/>
            </a:pPr>
            <a:r>
              <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 Option B</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s = "Hello World"</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s.upper()  </a:t>
            </a:r>
            <a:endParaRPr sz="1800">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0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796" name="Google Shape;796;p10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7" name="Google Shape;797;p108"/>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What do you think happens if we try to modify a string in place? Please answer in the Zoom.</a:t>
            </a:r>
            <a:endParaRPr/>
          </a:p>
        </p:txBody>
      </p:sp>
      <p:sp>
        <p:nvSpPr>
          <p:cNvPr id="798" name="Google Shape;798;p108"/>
          <p:cNvSpPr txBox="1"/>
          <p:nvPr/>
        </p:nvSpPr>
        <p:spPr>
          <a:xfrm>
            <a:off x="1980125" y="2221450"/>
            <a:ext cx="5000700" cy="28767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Which section below is correct?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 Option A ( </a:t>
            </a:r>
            <a:r>
              <a:rPr b="1" lang="en" sz="1800">
                <a:solidFill>
                  <a:schemeClr val="dk1"/>
                </a:solidFill>
                <a:latin typeface="Consolas"/>
                <a:ea typeface="Consolas"/>
                <a:cs typeface="Consolas"/>
                <a:sym typeface="Consolas"/>
              </a:rPr>
              <a:t>CORRECT</a:t>
            </a: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latin typeface="Consolas"/>
                <a:ea typeface="Consolas"/>
                <a:cs typeface="Consolas"/>
                <a:sym typeface="Consolas"/>
              </a:rPr>
              <a:t>s = "Hello World"</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s = s.upper()  </a:t>
            </a:r>
            <a:endParaRPr sz="1800">
              <a:latin typeface="Consolas"/>
              <a:ea typeface="Consolas"/>
              <a:cs typeface="Consolas"/>
              <a:sym typeface="Consolas"/>
            </a:endParaRPr>
          </a:p>
          <a:p>
            <a:pPr indent="0" lvl="0" marL="0" rtl="0" algn="l">
              <a:lnSpc>
                <a:spcPct val="115000"/>
              </a:lnSpc>
              <a:spcBef>
                <a:spcPts val="0"/>
              </a:spcBef>
              <a:spcAft>
                <a:spcPts val="0"/>
              </a:spcAft>
              <a:buNone/>
            </a:pPr>
            <a:r>
              <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 Option B</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s = "Hello World"</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s.upper()  </a:t>
            </a:r>
            <a:endParaRPr sz="1800">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09"/>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explore . . .</a:t>
            </a:r>
            <a:endParaRPr/>
          </a:p>
          <a:p>
            <a:pPr indent="-342900" lvl="0" marL="457200" rtl="0" algn="l">
              <a:spcBef>
                <a:spcPts val="1000"/>
              </a:spcBef>
              <a:spcAft>
                <a:spcPts val="0"/>
              </a:spcAft>
              <a:buSzPts val="1800"/>
              <a:buChar char="✱"/>
            </a:pPr>
            <a:r>
              <a:rPr lang="en"/>
              <a:t>How to retrieve specific characters or substrings</a:t>
            </a:r>
            <a:endParaRPr/>
          </a:p>
          <a:p>
            <a:pPr indent="-342900" lvl="0" marL="457200" rtl="0" algn="l">
              <a:spcBef>
                <a:spcPts val="1000"/>
              </a:spcBef>
              <a:spcAft>
                <a:spcPts val="1000"/>
              </a:spcAft>
              <a:buSzPts val="1800"/>
              <a:buChar char="✱"/>
            </a:pPr>
            <a:r>
              <a:rPr lang="en"/>
              <a:t>Common transformations (e.g., </a:t>
            </a:r>
            <a:r>
              <a:rPr lang="en">
                <a:latin typeface="Consolas"/>
                <a:ea typeface="Consolas"/>
                <a:cs typeface="Consolas"/>
                <a:sym typeface="Consolas"/>
              </a:rPr>
              <a:t>upper()</a:t>
            </a:r>
            <a:r>
              <a:rPr lang="en"/>
              <a:t>, </a:t>
            </a:r>
            <a:r>
              <a:rPr lang="en">
                <a:latin typeface="Consolas"/>
                <a:ea typeface="Consolas"/>
                <a:cs typeface="Consolas"/>
                <a:sym typeface="Consolas"/>
              </a:rPr>
              <a:t>replace()</a:t>
            </a:r>
            <a:r>
              <a:rPr lang="en"/>
              <a:t>, </a:t>
            </a:r>
            <a:r>
              <a:rPr lang="en">
                <a:latin typeface="Consolas"/>
                <a:ea typeface="Consolas"/>
                <a:cs typeface="Consolas"/>
                <a:sym typeface="Consolas"/>
              </a:rPr>
              <a:t>split()</a:t>
            </a:r>
            <a:r>
              <a:rPr lang="en"/>
              <a:t>)</a:t>
            </a:r>
            <a:endParaRPr/>
          </a:p>
        </p:txBody>
      </p:sp>
      <p:sp>
        <p:nvSpPr>
          <p:cNvPr id="804" name="Google Shape;804;p10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5" name="Google Shape;805;p109"/>
          <p:cNvSpPr txBox="1"/>
          <p:nvPr>
            <p:ph idx="4294967295"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10 minutes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1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1" name="Google Shape;811;p110"/>
          <p:cNvSpPr txBox="1"/>
          <p:nvPr/>
        </p:nvSpPr>
        <p:spPr>
          <a:xfrm>
            <a:off x="452400" y="1260488"/>
            <a:ext cx="82392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800">
                <a:latin typeface="Poppins"/>
                <a:ea typeface="Poppins"/>
                <a:cs typeface="Poppins"/>
                <a:sym typeface="Poppins"/>
              </a:rPr>
              <a:t>A pangram is a sentence that contains every letter of the English alphabet at least once, regardless of case. Write a function to determine if a given sentence is a pangram.</a:t>
            </a:r>
            <a:endParaRPr sz="1800">
              <a:solidFill>
                <a:srgbClr val="000000"/>
              </a:solidFill>
              <a:latin typeface="Poppins"/>
              <a:ea typeface="Poppins"/>
              <a:cs typeface="Poppins"/>
              <a:sym typeface="Poppins"/>
            </a:endParaRPr>
          </a:p>
        </p:txBody>
      </p:sp>
      <p:sp>
        <p:nvSpPr>
          <p:cNvPr id="812" name="Google Shape;812;p110"/>
          <p:cNvSpPr txBox="1"/>
          <p:nvPr/>
        </p:nvSpPr>
        <p:spPr>
          <a:xfrm>
            <a:off x="452400" y="2430500"/>
            <a:ext cx="8239200" cy="965100"/>
          </a:xfrm>
          <a:prstGeom prst="rect">
            <a:avLst/>
          </a:prstGeom>
          <a:solidFill>
            <a:srgbClr val="EEEEEE"/>
          </a:solidFill>
          <a:ln>
            <a:noFill/>
          </a:ln>
        </p:spPr>
        <p:txBody>
          <a:bodyPr anchorCtr="0" anchor="t" bIns="182875" lIns="182875" spcFirstLastPara="1" rIns="182875" wrap="square" tIns="182875">
            <a:spAutoFit/>
          </a:bodyPr>
          <a:lstStyle/>
          <a:p>
            <a:pPr indent="0" lvl="0" marL="0" rtl="0" algn="l">
              <a:lnSpc>
                <a:spcPct val="115000"/>
              </a:lnSpc>
              <a:spcBef>
                <a:spcPts val="0"/>
              </a:spcBef>
              <a:spcAft>
                <a:spcPts val="0"/>
              </a:spcAft>
              <a:buNone/>
            </a:pPr>
            <a:r>
              <a:rPr lang="en" sz="1800">
                <a:latin typeface="Consolas"/>
                <a:ea typeface="Consolas"/>
                <a:cs typeface="Consolas"/>
                <a:sym typeface="Consolas"/>
              </a:rPr>
              <a:t>def is_pangram(sentence):</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latin typeface="Consolas"/>
                <a:ea typeface="Consolas"/>
                <a:cs typeface="Consolas"/>
                <a:sym typeface="Consolas"/>
              </a:rPr>
              <a:t>   pass</a:t>
            </a:r>
            <a:endParaRPr sz="1800">
              <a:latin typeface="Consolas"/>
              <a:ea typeface="Consolas"/>
              <a:cs typeface="Consolas"/>
              <a:sym typeface="Consolas"/>
            </a:endParaRPr>
          </a:p>
        </p:txBody>
      </p:sp>
      <p:sp>
        <p:nvSpPr>
          <p:cNvPr id="813" name="Google Shape;813;p110"/>
          <p:cNvSpPr txBox="1"/>
          <p:nvPr/>
        </p:nvSpPr>
        <p:spPr>
          <a:xfrm>
            <a:off x="452400" y="3562725"/>
            <a:ext cx="8239200" cy="9087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000000"/>
                </a:solidFill>
                <a:latin typeface="Poppins"/>
                <a:ea typeface="Poppins"/>
                <a:cs typeface="Poppins"/>
                <a:sym typeface="Poppins"/>
              </a:rPr>
              <a:t>Input: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sentence = "The quick brown fox jumps over the lazy dog"</a:t>
            </a:r>
            <a:endParaRPr sz="1800">
              <a:latin typeface="Consolas"/>
              <a:ea typeface="Consolas"/>
              <a:cs typeface="Consolas"/>
              <a:sym typeface="Consolas"/>
            </a:endParaRPr>
          </a:p>
          <a:p>
            <a:pPr indent="0" lvl="0" marL="0" rtl="0" algn="l">
              <a:lnSpc>
                <a:spcPct val="115000"/>
              </a:lnSpc>
              <a:spcBef>
                <a:spcPts val="1000"/>
              </a:spcBef>
              <a:spcAft>
                <a:spcPts val="1000"/>
              </a:spcAft>
              <a:buNone/>
            </a:pPr>
            <a:r>
              <a:rPr b="1" lang="en" sz="1800">
                <a:solidFill>
                  <a:srgbClr val="000000"/>
                </a:solidFill>
                <a:latin typeface="Poppins"/>
                <a:ea typeface="Poppins"/>
                <a:cs typeface="Poppins"/>
                <a:sym typeface="Poppins"/>
              </a:rPr>
              <a:t>Output:</a:t>
            </a:r>
            <a:r>
              <a:rPr lang="en" sz="1800">
                <a:solidFill>
                  <a:srgbClr val="000000"/>
                </a:solidFill>
                <a:latin typeface="Poppins"/>
                <a:ea typeface="Poppins"/>
                <a:cs typeface="Poppins"/>
                <a:sym typeface="Poppins"/>
              </a:rPr>
              <a:t> </a:t>
            </a:r>
            <a:r>
              <a:rPr lang="en" sz="1800">
                <a:latin typeface="Consolas"/>
                <a:ea typeface="Consolas"/>
                <a:cs typeface="Consolas"/>
                <a:sym typeface="Consolas"/>
              </a:rPr>
              <a:t>True</a:t>
            </a:r>
            <a:endParaRPr sz="1800">
              <a:solidFill>
                <a:srgbClr val="000000"/>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1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819" name="Google Shape;819;p111"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12"/>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825" name="Google Shape;825;p11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13"/>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831" name="Google Shape;831;p11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2" name="Google Shape;832;p113"/>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14"/>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838" name="Google Shape;838;p11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1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1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9" name="Google Shape;849;p116"/>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850" name="Google Shape;850;p116"/>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851" name="Google Shape;851;p116"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17"/>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857" name="Google Shape;857;p11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8" name="Google Shape;858;p11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No big reminders, remaining time will be for </a:t>
            </a:r>
            <a:r>
              <a:rPr b="1" lang="en"/>
              <a:t>Q&amp;A</a:t>
            </a:r>
            <a:endParaRPr b="1"/>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Remember</a:t>
            </a:r>
            <a:r>
              <a:rPr lang="en"/>
              <a:t> to check out the </a:t>
            </a:r>
            <a:r>
              <a:rPr b="1" lang="en"/>
              <a:t>Codepath AI Tutor Bot </a:t>
            </a:r>
            <a:r>
              <a:rPr lang="en"/>
              <a:t>and earn an absence back! </a:t>
            </a:r>
            <a:r>
              <a:rPr b="1" lang="en"/>
              <a:t>➡️</a:t>
            </a:r>
            <a:endParaRPr/>
          </a:p>
        </p:txBody>
      </p:sp>
      <p:pic>
        <p:nvPicPr>
          <p:cNvPr id="859" name="Google Shape;859;p117"/>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I get the most out of this course?</a:t>
            </a:r>
            <a:endParaRPr/>
          </a:p>
        </p:txBody>
      </p:sp>
      <p:sp>
        <p:nvSpPr>
          <p:cNvPr id="865" name="Google Shape;865;p11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66" name="Google Shape;866;p118" title="Screenshot 2026-02-05 at 10.20.32 PM.png"/>
          <p:cNvPicPr preferRelativeResize="0"/>
          <p:nvPr/>
        </p:nvPicPr>
        <p:blipFill rotWithShape="1">
          <a:blip r:embed="rId3">
            <a:alphaModFix/>
          </a:blip>
          <a:srcRect b="89137" l="669" r="66039" t="1938"/>
          <a:stretch/>
        </p:blipFill>
        <p:spPr>
          <a:xfrm>
            <a:off x="452412" y="1401825"/>
            <a:ext cx="3359250" cy="510275"/>
          </a:xfrm>
          <a:prstGeom prst="rect">
            <a:avLst/>
          </a:prstGeom>
          <a:noFill/>
          <a:ln>
            <a:noFill/>
          </a:ln>
        </p:spPr>
      </p:pic>
      <p:pic>
        <p:nvPicPr>
          <p:cNvPr id="867" name="Google Shape;867;p118"/>
          <p:cNvPicPr preferRelativeResize="0"/>
          <p:nvPr/>
        </p:nvPicPr>
        <p:blipFill>
          <a:blip r:embed="rId4">
            <a:alphaModFix/>
          </a:blip>
          <a:stretch>
            <a:fillRect/>
          </a:stretch>
        </p:blipFill>
        <p:spPr>
          <a:xfrm>
            <a:off x="326775" y="1975552"/>
            <a:ext cx="3734099" cy="2333800"/>
          </a:xfrm>
          <a:prstGeom prst="rect">
            <a:avLst/>
          </a:prstGeom>
          <a:noFill/>
          <a:ln>
            <a:noFill/>
          </a:ln>
        </p:spPr>
      </p:pic>
      <p:sp>
        <p:nvSpPr>
          <p:cNvPr id="868" name="Google Shape;868;p118"/>
          <p:cNvSpPr txBox="1"/>
          <p:nvPr/>
        </p:nvSpPr>
        <p:spPr>
          <a:xfrm>
            <a:off x="4181700" y="1793150"/>
            <a:ext cx="4773900" cy="21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chemeClr val="dk1"/>
                </a:solidFill>
                <a:latin typeface="Poppins"/>
                <a:ea typeface="Poppins"/>
                <a:cs typeface="Poppins"/>
                <a:sym typeface="Poppins"/>
              </a:rPr>
              <a:t>Build your skills with support! Take the following steps: </a:t>
            </a:r>
            <a:endParaRPr sz="1100">
              <a:solidFill>
                <a:schemeClr val="dk1"/>
              </a:solidFill>
              <a:latin typeface="Poppins"/>
              <a:ea typeface="Poppins"/>
              <a:cs typeface="Poppins"/>
              <a:sym typeface="Poppins"/>
            </a:endParaRPr>
          </a:p>
          <a:p>
            <a:pPr indent="-298450" lvl="0" marL="457200" rtl="0" algn="l">
              <a:lnSpc>
                <a:spcPct val="115000"/>
              </a:lnSpc>
              <a:spcBef>
                <a:spcPts val="1000"/>
              </a:spcBef>
              <a:spcAft>
                <a:spcPts val="0"/>
              </a:spcAft>
              <a:buClr>
                <a:srgbClr val="6EC396"/>
              </a:buClr>
              <a:buSzPts val="1100"/>
              <a:buFont typeface="Poppins"/>
              <a:buChar char="✱"/>
            </a:pPr>
            <a:r>
              <a:rPr lang="en" sz="1100">
                <a:solidFill>
                  <a:schemeClr val="dk1"/>
                </a:solidFill>
                <a:latin typeface="Poppins"/>
                <a:ea typeface="Poppins"/>
                <a:cs typeface="Poppins"/>
                <a:sym typeface="Poppins"/>
              </a:rPr>
              <a:t>Install the AI Tutor on chrome: </a:t>
            </a:r>
            <a:r>
              <a:rPr lang="en" sz="1100" u="sng">
                <a:solidFill>
                  <a:schemeClr val="accent5"/>
                </a:solidFill>
                <a:latin typeface="Poppins"/>
                <a:ea typeface="Poppins"/>
                <a:cs typeface="Poppins"/>
                <a:sym typeface="Poppins"/>
                <a:hlinkClick r:id="rId5">
                  <a:extLst>
                    <a:ext uri="{A12FA001-AC4F-418D-AE19-62706E023703}">
                      <ahyp:hlinkClr val="tx"/>
                    </a:ext>
                  </a:extLst>
                </a:hlinkClick>
              </a:rPr>
              <a:t>https://go.codepath.org/tiptutor</a:t>
            </a:r>
            <a:endParaRPr sz="1100">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rgbClr val="6EC396"/>
              </a:buClr>
              <a:buSzPts val="1100"/>
              <a:buFont typeface="Poppins"/>
              <a:buChar char="✱"/>
            </a:pPr>
            <a:r>
              <a:rPr lang="en" sz="1100">
                <a:solidFill>
                  <a:schemeClr val="dk1"/>
                </a:solidFill>
                <a:latin typeface="Poppins"/>
                <a:ea typeface="Poppins"/>
                <a:cs typeface="Poppins"/>
                <a:sym typeface="Poppins"/>
              </a:rPr>
              <a:t>Solve 2 LeetCode problems on 2 different days</a:t>
            </a:r>
            <a:endParaRPr sz="1100">
              <a:solidFill>
                <a:schemeClr val="dk1"/>
              </a:solidFill>
              <a:latin typeface="Poppins"/>
              <a:ea typeface="Poppins"/>
              <a:cs typeface="Poppins"/>
              <a:sym typeface="Poppins"/>
            </a:endParaRPr>
          </a:p>
          <a:p>
            <a:pPr indent="0" lvl="0" marL="0" rtl="0" algn="l">
              <a:lnSpc>
                <a:spcPct val="115000"/>
              </a:lnSpc>
              <a:spcBef>
                <a:spcPts val="1000"/>
              </a:spcBef>
              <a:spcAft>
                <a:spcPts val="0"/>
              </a:spcAft>
              <a:buNone/>
            </a:pPr>
            <a:r>
              <a:rPr lang="en" sz="1100">
                <a:solidFill>
                  <a:schemeClr val="dk1"/>
                </a:solidFill>
                <a:latin typeface="Poppins"/>
                <a:ea typeface="Poppins"/>
                <a:cs typeface="Poppins"/>
                <a:sym typeface="Poppins"/>
              </a:rPr>
              <a:t>Once you’ve taken the steps above, unlock a new opportunity! </a:t>
            </a:r>
            <a:endParaRPr sz="1100">
              <a:solidFill>
                <a:schemeClr val="dk1"/>
              </a:solidFill>
              <a:latin typeface="Poppins"/>
              <a:ea typeface="Poppins"/>
              <a:cs typeface="Poppins"/>
              <a:sym typeface="Poppins"/>
            </a:endParaRPr>
          </a:p>
          <a:p>
            <a:pPr indent="-298450" lvl="0" marL="457200" rtl="0" algn="l">
              <a:lnSpc>
                <a:spcPct val="115000"/>
              </a:lnSpc>
              <a:spcBef>
                <a:spcPts val="1000"/>
              </a:spcBef>
              <a:spcAft>
                <a:spcPts val="0"/>
              </a:spcAft>
              <a:buClr>
                <a:srgbClr val="6EC396"/>
              </a:buClr>
              <a:buSzPts val="1100"/>
              <a:buFont typeface="Poppins"/>
              <a:buChar char="✱"/>
            </a:pPr>
            <a:r>
              <a:rPr lang="en" sz="1100">
                <a:solidFill>
                  <a:schemeClr val="dk1"/>
                </a:solidFill>
                <a:latin typeface="Poppins"/>
                <a:ea typeface="Poppins"/>
                <a:cs typeface="Poppins"/>
                <a:sym typeface="Poppins"/>
              </a:rPr>
              <a:t>+1 absence back for completion(one-time offer)</a:t>
            </a:r>
            <a:endParaRPr sz="1100">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rPr lang="en" sz="1500" u="sng">
                <a:solidFill>
                  <a:schemeClr val="hlink"/>
                </a:solidFill>
                <a:latin typeface="Poppins"/>
                <a:ea typeface="Poppins"/>
                <a:cs typeface="Poppins"/>
                <a:sym typeface="Poppins"/>
                <a:hlinkClick r:id="rId6"/>
              </a:rPr>
              <a:t>Take a look at the FAQ if you have any questions</a:t>
            </a:r>
            <a:endParaRPr sz="1100"/>
          </a:p>
        </p:txBody>
      </p:sp>
      <p:pic>
        <p:nvPicPr>
          <p:cNvPr id="869" name="Google Shape;869;p118"/>
          <p:cNvPicPr preferRelativeResize="0"/>
          <p:nvPr/>
        </p:nvPicPr>
        <p:blipFill>
          <a:blip r:embed="rId7">
            <a:alphaModFix/>
          </a:blip>
          <a:stretch>
            <a:fillRect/>
          </a:stretch>
        </p:blipFill>
        <p:spPr>
          <a:xfrm>
            <a:off x="7008424" y="2195898"/>
            <a:ext cx="223750" cy="223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