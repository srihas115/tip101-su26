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739" r:id="rId5"/>
    <p:sldMasterId id="2147483740" r:id="rId6"/>
    <p:sldMasterId id="2147483741" r:id="rId7"/>
    <p:sldMasterId id="2147483742"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Lst>
  <p:sldSz cy="5143500" cx="9144000"/>
  <p:notesSz cx="6858000" cy="9144000"/>
  <p:embeddedFontLst>
    <p:embeddedFont>
      <p:font typeface="Space Mono"/>
      <p:regular r:id="rId31"/>
      <p:bold r:id="rId32"/>
      <p:italic r:id="rId33"/>
      <p:boldItalic r:id="rId34"/>
    </p:embeddedFont>
    <p:embeddedFont>
      <p:font typeface="Poppins"/>
      <p:regular r:id="rId35"/>
      <p:bold r:id="rId36"/>
      <p:italic r:id="rId37"/>
      <p:boldItalic r:id="rId38"/>
    </p:embeddedFont>
    <p:embeddedFont>
      <p:font typeface="Roboto Mono"/>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pos="576">
          <p15:clr>
            <a:srgbClr val="9AA0A6"/>
          </p15:clr>
        </p15:guide>
        <p15:guide id="4" pos="1152">
          <p15:clr>
            <a:srgbClr val="9AA0A6"/>
          </p15:clr>
        </p15:guide>
        <p15:guide id="5" pos="1728">
          <p15:clr>
            <a:srgbClr val="9AA0A6"/>
          </p15:clr>
        </p15:guide>
        <p15:guide id="6" pos="2304">
          <p15:clr>
            <a:srgbClr val="9AA0A6"/>
          </p15:clr>
        </p15:guide>
        <p15:guide id="7" pos="3456">
          <p15:clr>
            <a:srgbClr val="9AA0A6"/>
          </p15:clr>
        </p15:guide>
        <p15:guide id="8" pos="4032">
          <p15:clr>
            <a:srgbClr val="9AA0A6"/>
          </p15:clr>
        </p15:guide>
        <p15:guide id="9" pos="4608">
          <p15:clr>
            <a:srgbClr val="9AA0A6"/>
          </p15:clr>
        </p15:guide>
        <p15:guide id="10" pos="5184">
          <p15:clr>
            <a:srgbClr val="9AA0A6"/>
          </p15:clr>
        </p15:guide>
        <p15:guide id="11" orient="horz" pos="468">
          <p15:clr>
            <a:srgbClr val="9AA0A6"/>
          </p15:clr>
        </p15:guide>
        <p15:guide id="12" orient="horz" pos="1044">
          <p15:clr>
            <a:srgbClr val="9AA0A6"/>
          </p15:clr>
        </p15:guide>
        <p15:guide id="13" orient="horz" pos="2772">
          <p15:clr>
            <a:srgbClr val="9AA0A6"/>
          </p15:clr>
        </p15:guide>
        <p15:guide id="14" orient="horz" pos="2196">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AECDA35-E18B-4234-8EA5-38166A9553DF}">
  <a:tblStyle styleId="{FAECDA35-E18B-4234-8EA5-38166A9553D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576"/>
        <p:guide pos="1152"/>
        <p:guide pos="1728"/>
        <p:guide pos="2304"/>
        <p:guide pos="3456"/>
        <p:guide pos="4032"/>
        <p:guide pos="4608"/>
        <p:guide pos="5184"/>
        <p:guide pos="468" orient="horz"/>
        <p:guide pos="1044" orient="horz"/>
        <p:guide pos="2772" orient="horz"/>
        <p:guide pos="2196"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ono-bold.fntdata"/><Relationship Id="rId20" Type="http://schemas.openxmlformats.org/officeDocument/2006/relationships/slide" Target="slides/slide11.xml"/><Relationship Id="rId42" Type="http://schemas.openxmlformats.org/officeDocument/2006/relationships/font" Target="fonts/RobotoMono-boldItalic.fntdata"/><Relationship Id="rId41" Type="http://schemas.openxmlformats.org/officeDocument/2006/relationships/font" Target="fonts/RobotoMono-italic.fntdata"/><Relationship Id="rId22" Type="http://schemas.openxmlformats.org/officeDocument/2006/relationships/slide" Target="slides/slide13.xml"/><Relationship Id="rId21" Type="http://schemas.openxmlformats.org/officeDocument/2006/relationships/slide" Target="slides/slide12.xml"/><Relationship Id="rId24" Type="http://schemas.openxmlformats.org/officeDocument/2006/relationships/slide" Target="slides/slide15.xml"/><Relationship Id="rId23" Type="http://schemas.openxmlformats.org/officeDocument/2006/relationships/slide" Target="slides/slide14.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notesMaster" Target="notesMasters/notesMaster1.xml"/><Relationship Id="rId26" Type="http://schemas.openxmlformats.org/officeDocument/2006/relationships/slide" Target="slides/slide17.xml"/><Relationship Id="rId25" Type="http://schemas.openxmlformats.org/officeDocument/2006/relationships/slide" Target="slides/slide16.xml"/><Relationship Id="rId28" Type="http://schemas.openxmlformats.org/officeDocument/2006/relationships/slide" Target="slides/slide19.xml"/><Relationship Id="rId27" Type="http://schemas.openxmlformats.org/officeDocument/2006/relationships/slide" Target="slides/slide18.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0.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font" Target="fonts/SpaceMono-regular.fntdata"/><Relationship Id="rId30" Type="http://schemas.openxmlformats.org/officeDocument/2006/relationships/slide" Target="slides/slide21.xml"/><Relationship Id="rId11" Type="http://schemas.openxmlformats.org/officeDocument/2006/relationships/slide" Target="slides/slide2.xml"/><Relationship Id="rId33" Type="http://schemas.openxmlformats.org/officeDocument/2006/relationships/font" Target="fonts/SpaceMono-italic.fntdata"/><Relationship Id="rId10" Type="http://schemas.openxmlformats.org/officeDocument/2006/relationships/slide" Target="slides/slide1.xml"/><Relationship Id="rId32" Type="http://schemas.openxmlformats.org/officeDocument/2006/relationships/font" Target="fonts/SpaceMono-bold.fntdata"/><Relationship Id="rId13" Type="http://schemas.openxmlformats.org/officeDocument/2006/relationships/slide" Target="slides/slide4.xml"/><Relationship Id="rId35" Type="http://schemas.openxmlformats.org/officeDocument/2006/relationships/font" Target="fonts/Poppins-regular.fntdata"/><Relationship Id="rId12" Type="http://schemas.openxmlformats.org/officeDocument/2006/relationships/slide" Target="slides/slide3.xml"/><Relationship Id="rId34" Type="http://schemas.openxmlformats.org/officeDocument/2006/relationships/font" Target="fonts/SpaceMono-boldItalic.fntdata"/><Relationship Id="rId15" Type="http://schemas.openxmlformats.org/officeDocument/2006/relationships/slide" Target="slides/slide6.xml"/><Relationship Id="rId37" Type="http://schemas.openxmlformats.org/officeDocument/2006/relationships/font" Target="fonts/Poppins-italic.fntdata"/><Relationship Id="rId14" Type="http://schemas.openxmlformats.org/officeDocument/2006/relationships/slide" Target="slides/slide5.xml"/><Relationship Id="rId36" Type="http://schemas.openxmlformats.org/officeDocument/2006/relationships/font" Target="fonts/Poppins-bold.fntdata"/><Relationship Id="rId17" Type="http://schemas.openxmlformats.org/officeDocument/2006/relationships/slide" Target="slides/slide8.xml"/><Relationship Id="rId39" Type="http://schemas.openxmlformats.org/officeDocument/2006/relationships/font" Target="fonts/RobotoMono-regular.fntdata"/><Relationship Id="rId16" Type="http://schemas.openxmlformats.org/officeDocument/2006/relationships/slide" Target="slides/slide7.xml"/><Relationship Id="rId38" Type="http://schemas.openxmlformats.org/officeDocument/2006/relationships/font" Target="fonts/Poppins-boldItalic.fntdata"/><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mailto:support@codepath.org"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o.codepath.org/tiptutor"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g322078ffa24_0_20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5" name="Google Shape;705;g322078ffa24_0_20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 </a:t>
            </a:r>
            <a:r>
              <a:rPr b="1" lang="en">
                <a:solidFill>
                  <a:schemeClr val="dk1"/>
                </a:solidFill>
              </a:rPr>
              <a:t>Purpose:</a:t>
            </a:r>
            <a:r>
              <a:rPr lang="en">
                <a:solidFill>
                  <a:schemeClr val="dk1"/>
                </a:solidFill>
              </a:rPr>
              <a:t> Welcome students and set the stage for learning about string manipulation in Python.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Welcome students with energy and enthusiasm.</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Highlight the importance of string manipulation as a key skill for problem-solving.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Welcome to Week 3, Session 2 of TIP101! Today, we’re diving deeper into string manipulation, a powerful tool in Python that will help you solve a variety of coding challenges.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By the end of today, you’ll feel more confident working with strings, whether it’s reversing words, handling spaces, or applying transformations.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Remember, mastering string operations is essential for tackling problems efficiently and effectively.</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"What’s one thing you’ve found interesting or challenging about working with strings so far? Feel free to share in the chat."</a:t>
            </a:r>
            <a:endParaRPr>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22078ffa24_0_20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1" name="Google Shape;711;g322078ffa24_0_20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 </a:t>
            </a:r>
            <a:r>
              <a:rPr b="1" lang="en">
                <a:solidFill>
                  <a:schemeClr val="dk1"/>
                </a:solidFill>
              </a:rPr>
              <a:t>Purpose:</a:t>
            </a:r>
            <a:r>
              <a:rPr lang="en">
                <a:solidFill>
                  <a:schemeClr val="dk1"/>
                </a:solidFill>
              </a:rPr>
              <a:t> Provide a roadmap for the session and ensure clarity on the session structure.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Walk through the session’s schedule, emphasizing the flow from instruction to practice.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Here’s our agenda for today: We’ll begin by exploring string manipulation concepts and techniques. After a short break, we’ll move into collaborative problem-solving to apply what you’ve learned.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We’ll wrap up with reflections and some final reminders.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Our focus today is to make you comfortable with advanced string operations and help you understand their real-world applications.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Pause and ask: "Does anyone have specific questions about today’s plan? Or is there anything you’d like to focus on during the string manipulation segment?"</a:t>
            </a:r>
            <a:endParaRPr>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g322078ffa24_0_20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7" name="Google Shape;717;g322078ffa24_0_20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SLIDES_API22783791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3" name="Google Shape;723;SLIDES_API22783791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Encourage visual engagement to foster connection during the session.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Prompt students to enable their cameras and submit the entry ticket.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kick off our session by turning on our cameras!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Also, don’t forget to fill out the entry ticket to help us organize breakout rooms later.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Use humor or compliments: "Let’s see those smiles!"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Acknowledge and thank students who turn on their cameras.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b="1">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3ec12d2daf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2" name="Google Shape;732;g3ec12d2daf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purpose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Stuff</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Stuff</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stuff</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3ec12d2daf7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0" name="Google Shape;740;g3ec12d2daf7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g3ec12d2daf7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7" name="Google Shape;747;g3ec12d2daf7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Share feedback from the previous session and highlight areas of success and improvement.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Summarize feedback from the previous session's survey and present key takeaways.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From your feedback, it seems many of you enjoyed [highlighted aspect]. One suggestion was [area for improvement]. We’ll work on that today.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Ask: "Does anyone have additional feedback or suggestions?"</a:t>
            </a:r>
            <a:endParaRPr>
              <a:solidFill>
                <a:schemeClr val="dk1"/>
              </a:solidFill>
            </a:endParaRPr>
          </a:p>
          <a:p>
            <a:pPr indent="0" lvl="0" marL="0" rtl="0" algn="l">
              <a:spcBef>
                <a:spcPts val="0"/>
              </a:spcBef>
              <a:spcAft>
                <a:spcPts val="0"/>
              </a:spcAft>
              <a:buNone/>
            </a:pPr>
            <a:r>
              <a:t/>
            </a:r>
            <a:endParaRPr b="1">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32235785e60_0_6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32235785e60_0_6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3ec12d2daf7_0_4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0" name="Google Shape;760;g3ec12d2daf7_0_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 </a:t>
            </a:r>
            <a:r>
              <a:rPr b="1" lang="en">
                <a:solidFill>
                  <a:schemeClr val="dk1"/>
                </a:solidFill>
              </a:rPr>
              <a:t>Purpose:</a:t>
            </a:r>
            <a:r>
              <a:rPr lang="en">
                <a:solidFill>
                  <a:schemeClr val="dk1"/>
                </a:solidFill>
              </a:rPr>
              <a:t> Introduce key properties of strings and common operations.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Use examples to explain string immutability, slicing, and formatting.</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Strings are sequences of characters, and they’re immutable, meaning you can’t change them directly. Think of them like sentences written in pen—you can rewrite them, but you can’t erase specific parts.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Some common operations include concatenation, slicing, and using methods like </a:t>
            </a:r>
            <a:r>
              <a:rPr lang="en">
                <a:solidFill>
                  <a:srgbClr val="188038"/>
                </a:solidFill>
                <a:latin typeface="Roboto Mono"/>
                <a:ea typeface="Roboto Mono"/>
                <a:cs typeface="Roboto Mono"/>
                <a:sym typeface="Roboto Mono"/>
              </a:rPr>
              <a:t>.lower()</a:t>
            </a:r>
            <a:r>
              <a:rPr lang="en">
                <a:solidFill>
                  <a:schemeClr val="dk1"/>
                </a:solidFill>
              </a:rPr>
              <a:t> and </a:t>
            </a:r>
            <a:r>
              <a:rPr lang="en">
                <a:solidFill>
                  <a:srgbClr val="188038"/>
                </a:solidFill>
                <a:latin typeface="Roboto Mono"/>
                <a:ea typeface="Roboto Mono"/>
                <a:cs typeface="Roboto Mono"/>
                <a:sym typeface="Roboto Mono"/>
              </a:rPr>
              <a:t>.split()</a:t>
            </a:r>
            <a:r>
              <a:rPr lang="en">
                <a:solidFill>
                  <a:schemeClr val="dk1"/>
                </a:solidFill>
              </a:rPr>
              <a:t>. For example, in the string </a:t>
            </a:r>
            <a:r>
              <a:rPr lang="en">
                <a:solidFill>
                  <a:srgbClr val="188038"/>
                </a:solidFill>
                <a:latin typeface="Roboto Mono"/>
                <a:ea typeface="Roboto Mono"/>
                <a:cs typeface="Roboto Mono"/>
                <a:sym typeface="Roboto Mono"/>
              </a:rPr>
              <a:t>s = 'Hello World'</a:t>
            </a:r>
            <a:r>
              <a:rPr lang="en">
                <a:solidFill>
                  <a:schemeClr val="dk1"/>
                </a:solidFill>
              </a:rPr>
              <a:t>, calling </a:t>
            </a:r>
            <a:r>
              <a:rPr lang="en">
                <a:solidFill>
                  <a:srgbClr val="188038"/>
                </a:solidFill>
                <a:latin typeface="Roboto Mono"/>
                <a:ea typeface="Roboto Mono"/>
                <a:cs typeface="Roboto Mono"/>
                <a:sym typeface="Roboto Mono"/>
              </a:rPr>
              <a:t>s.lower()</a:t>
            </a:r>
            <a:r>
              <a:rPr lang="en">
                <a:solidFill>
                  <a:schemeClr val="dk1"/>
                </a:solidFill>
              </a:rPr>
              <a:t> will return </a:t>
            </a:r>
            <a:r>
              <a:rPr lang="en">
                <a:solidFill>
                  <a:srgbClr val="188038"/>
                </a:solidFill>
                <a:latin typeface="Roboto Mono"/>
                <a:ea typeface="Roboto Mono"/>
                <a:cs typeface="Roboto Mono"/>
                <a:sym typeface="Roboto Mono"/>
              </a:rPr>
              <a:t>'hello world'</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Let’s try slicing—what do you think </a:t>
            </a:r>
            <a:r>
              <a:rPr lang="en">
                <a:solidFill>
                  <a:srgbClr val="188038"/>
                </a:solidFill>
                <a:latin typeface="Roboto Mono"/>
                <a:ea typeface="Roboto Mono"/>
                <a:cs typeface="Roboto Mono"/>
                <a:sym typeface="Roboto Mono"/>
              </a:rPr>
              <a:t>s[:5]</a:t>
            </a:r>
            <a:r>
              <a:rPr lang="en">
                <a:solidFill>
                  <a:schemeClr val="dk1"/>
                </a:solidFill>
              </a:rPr>
              <a:t> will return?</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"Can someone explain why slicing is useful? How might you use it in a coding challenge?"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ec12d2daf7_0_4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8" name="Google Shape;768;g3ec12d2daf7_0_4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 </a:t>
            </a:r>
            <a:r>
              <a:rPr b="1" lang="en">
                <a:solidFill>
                  <a:schemeClr val="dk1"/>
                </a:solidFill>
              </a:rPr>
              <a:t>Purpose:</a:t>
            </a:r>
            <a:r>
              <a:rPr lang="en">
                <a:solidFill>
                  <a:schemeClr val="dk1"/>
                </a:solidFill>
              </a:rPr>
              <a:t> Introduce key properties of strings and common operations.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Use examples to explain string immutability, slicing, and formatting.</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Strings are sequences of characters, and they’re immutable, meaning you can’t change them directly. Think of them like sentences written in pen—you can rewrite them, but you can’t erase specific parts.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Some common operations include concatenation, slicing, and using methods like </a:t>
            </a:r>
            <a:r>
              <a:rPr lang="en">
                <a:solidFill>
                  <a:srgbClr val="188038"/>
                </a:solidFill>
                <a:latin typeface="Roboto Mono"/>
                <a:ea typeface="Roboto Mono"/>
                <a:cs typeface="Roboto Mono"/>
                <a:sym typeface="Roboto Mono"/>
              </a:rPr>
              <a:t>.lower()</a:t>
            </a:r>
            <a:r>
              <a:rPr lang="en">
                <a:solidFill>
                  <a:schemeClr val="dk1"/>
                </a:solidFill>
              </a:rPr>
              <a:t> and </a:t>
            </a:r>
            <a:r>
              <a:rPr lang="en">
                <a:solidFill>
                  <a:srgbClr val="188038"/>
                </a:solidFill>
                <a:latin typeface="Roboto Mono"/>
                <a:ea typeface="Roboto Mono"/>
                <a:cs typeface="Roboto Mono"/>
                <a:sym typeface="Roboto Mono"/>
              </a:rPr>
              <a:t>.split()</a:t>
            </a:r>
            <a:r>
              <a:rPr lang="en">
                <a:solidFill>
                  <a:schemeClr val="dk1"/>
                </a:solidFill>
              </a:rPr>
              <a:t>. For example, in the string </a:t>
            </a:r>
            <a:r>
              <a:rPr lang="en">
                <a:solidFill>
                  <a:srgbClr val="188038"/>
                </a:solidFill>
                <a:latin typeface="Roboto Mono"/>
                <a:ea typeface="Roboto Mono"/>
                <a:cs typeface="Roboto Mono"/>
                <a:sym typeface="Roboto Mono"/>
              </a:rPr>
              <a:t>s = 'Hello World'</a:t>
            </a:r>
            <a:r>
              <a:rPr lang="en">
                <a:solidFill>
                  <a:schemeClr val="dk1"/>
                </a:solidFill>
              </a:rPr>
              <a:t>, calling </a:t>
            </a:r>
            <a:r>
              <a:rPr lang="en">
                <a:solidFill>
                  <a:srgbClr val="188038"/>
                </a:solidFill>
                <a:latin typeface="Roboto Mono"/>
                <a:ea typeface="Roboto Mono"/>
                <a:cs typeface="Roboto Mono"/>
                <a:sym typeface="Roboto Mono"/>
              </a:rPr>
              <a:t>s.lower()</a:t>
            </a:r>
            <a:r>
              <a:rPr lang="en">
                <a:solidFill>
                  <a:schemeClr val="dk1"/>
                </a:solidFill>
              </a:rPr>
              <a:t> will return </a:t>
            </a:r>
            <a:r>
              <a:rPr lang="en">
                <a:solidFill>
                  <a:srgbClr val="188038"/>
                </a:solidFill>
                <a:latin typeface="Roboto Mono"/>
                <a:ea typeface="Roboto Mono"/>
                <a:cs typeface="Roboto Mono"/>
                <a:sym typeface="Roboto Mono"/>
              </a:rPr>
              <a:t>'hello world'</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Let’s try slicing—what do you think </a:t>
            </a:r>
            <a:r>
              <a:rPr lang="en">
                <a:solidFill>
                  <a:srgbClr val="188038"/>
                </a:solidFill>
                <a:latin typeface="Roboto Mono"/>
                <a:ea typeface="Roboto Mono"/>
                <a:cs typeface="Roboto Mono"/>
                <a:sym typeface="Roboto Mono"/>
              </a:rPr>
              <a:t>s[:5]</a:t>
            </a:r>
            <a:r>
              <a:rPr lang="en">
                <a:solidFill>
                  <a:schemeClr val="dk1"/>
                </a:solidFill>
              </a:rPr>
              <a:t> will return?</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"Can someone explain why slicing is useful? How might you use it in a coding challenge?"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g3ec12d2daf7_0_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6" name="Google Shape;776;g3ec12d2daf7_0_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 </a:t>
            </a:r>
            <a:r>
              <a:rPr b="1" lang="en">
                <a:solidFill>
                  <a:schemeClr val="dk1"/>
                </a:solidFill>
              </a:rPr>
              <a:t>Purpose:</a:t>
            </a:r>
            <a:r>
              <a:rPr lang="en">
                <a:solidFill>
                  <a:schemeClr val="dk1"/>
                </a:solidFill>
              </a:rPr>
              <a:t> Introduce key properties of strings and common operations.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Use examples to explain string immutability, slicing, and formatting.</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Strings are sequences of characters, and they’re immutable, meaning you can’t change them directly. Think of them like sentences written in pen—you can rewrite them, but you can’t erase specific parts.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Some common operations include concatenation, slicing, and using methods like </a:t>
            </a:r>
            <a:r>
              <a:rPr lang="en">
                <a:solidFill>
                  <a:srgbClr val="188038"/>
                </a:solidFill>
                <a:latin typeface="Roboto Mono"/>
                <a:ea typeface="Roboto Mono"/>
                <a:cs typeface="Roboto Mono"/>
                <a:sym typeface="Roboto Mono"/>
              </a:rPr>
              <a:t>.lower()</a:t>
            </a:r>
            <a:r>
              <a:rPr lang="en">
                <a:solidFill>
                  <a:schemeClr val="dk1"/>
                </a:solidFill>
              </a:rPr>
              <a:t> and </a:t>
            </a:r>
            <a:r>
              <a:rPr lang="en">
                <a:solidFill>
                  <a:srgbClr val="188038"/>
                </a:solidFill>
                <a:latin typeface="Roboto Mono"/>
                <a:ea typeface="Roboto Mono"/>
                <a:cs typeface="Roboto Mono"/>
                <a:sym typeface="Roboto Mono"/>
              </a:rPr>
              <a:t>.split()</a:t>
            </a:r>
            <a:r>
              <a:rPr lang="en">
                <a:solidFill>
                  <a:schemeClr val="dk1"/>
                </a:solidFill>
              </a:rPr>
              <a:t>. For example, in the string </a:t>
            </a:r>
            <a:r>
              <a:rPr lang="en">
                <a:solidFill>
                  <a:srgbClr val="188038"/>
                </a:solidFill>
                <a:latin typeface="Roboto Mono"/>
                <a:ea typeface="Roboto Mono"/>
                <a:cs typeface="Roboto Mono"/>
                <a:sym typeface="Roboto Mono"/>
              </a:rPr>
              <a:t>s = 'Hello World'</a:t>
            </a:r>
            <a:r>
              <a:rPr lang="en">
                <a:solidFill>
                  <a:schemeClr val="dk1"/>
                </a:solidFill>
              </a:rPr>
              <a:t>, calling </a:t>
            </a:r>
            <a:r>
              <a:rPr lang="en">
                <a:solidFill>
                  <a:srgbClr val="188038"/>
                </a:solidFill>
                <a:latin typeface="Roboto Mono"/>
                <a:ea typeface="Roboto Mono"/>
                <a:cs typeface="Roboto Mono"/>
                <a:sym typeface="Roboto Mono"/>
              </a:rPr>
              <a:t>s.lower()</a:t>
            </a:r>
            <a:r>
              <a:rPr lang="en">
                <a:solidFill>
                  <a:schemeClr val="dk1"/>
                </a:solidFill>
              </a:rPr>
              <a:t> will return </a:t>
            </a:r>
            <a:r>
              <a:rPr lang="en">
                <a:solidFill>
                  <a:srgbClr val="188038"/>
                </a:solidFill>
                <a:latin typeface="Roboto Mono"/>
                <a:ea typeface="Roboto Mono"/>
                <a:cs typeface="Roboto Mono"/>
                <a:sym typeface="Roboto Mono"/>
              </a:rPr>
              <a:t>'hello world'</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Let’s try slicing—what do you think </a:t>
            </a:r>
            <a:r>
              <a:rPr lang="en">
                <a:solidFill>
                  <a:srgbClr val="188038"/>
                </a:solidFill>
                <a:latin typeface="Roboto Mono"/>
                <a:ea typeface="Roboto Mono"/>
                <a:cs typeface="Roboto Mono"/>
                <a:sym typeface="Roboto Mono"/>
              </a:rPr>
              <a:t>s[:5]</a:t>
            </a:r>
            <a:r>
              <a:rPr lang="en">
                <a:solidFill>
                  <a:schemeClr val="dk1"/>
                </a:solidFill>
              </a:rPr>
              <a:t> will return?</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"Can someone explain why slicing is useful? How might you use it in a coding challenge?"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322078ffa24_0_20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4" name="Google Shape;784;g322078ffa24_0_20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Demonstrate solving a problem using the UMPIRE strategy, emphasizing practical string manipulation techniques, debugging, and student engagement.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Walk students through the problem of reversing words in a string while demonstrating the UMPIRE strategy.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Show how to approach real-world applications of string manipulation using Python.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Normalize mistakes by intentionally introducing errors and debugging them.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1. Understand the Problem</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"Let’s start with the first step of UMPIRE—Understand. The problem asks us to reverse the order of words in a string while ensuring that there are no extra spaces and that words are separated by a single space."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example, the input string </a:t>
            </a:r>
            <a:r>
              <a:rPr lang="en">
                <a:solidFill>
                  <a:srgbClr val="188038"/>
                </a:solidFill>
                <a:latin typeface="Roboto Mono"/>
                <a:ea typeface="Roboto Mono"/>
                <a:cs typeface="Roboto Mono"/>
                <a:sym typeface="Roboto Mono"/>
              </a:rPr>
              <a:t>' the sky is blue '</a:t>
            </a:r>
            <a:r>
              <a:rPr lang="en">
                <a:solidFill>
                  <a:schemeClr val="dk1"/>
                </a:solidFill>
              </a:rPr>
              <a:t> should return </a:t>
            </a:r>
            <a:r>
              <a:rPr lang="en">
                <a:solidFill>
                  <a:srgbClr val="188038"/>
                </a:solidFill>
                <a:latin typeface="Roboto Mono"/>
                <a:ea typeface="Roboto Mono"/>
                <a:cs typeface="Roboto Mono"/>
                <a:sym typeface="Roboto Mono"/>
              </a:rPr>
              <a:t>'blue is sky the'</a:t>
            </a:r>
            <a:r>
              <a:rPr lang="en">
                <a:solidFill>
                  <a:schemeClr val="dk1"/>
                </a:solidFill>
              </a:rPr>
              <a:t>. Notice how the leading, trailing, and extra spaces are removed in the output."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"Edge cases include empty strings, strings with only spaces, or single-word inputs."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Ask Students:</a:t>
            </a:r>
            <a:r>
              <a:rPr lang="en">
                <a:solidFill>
                  <a:schemeClr val="dk1"/>
                </a:solidFill>
              </a:rPr>
              <a:t> "What other edge cases can you think of? For example, what happens if the input contains special characters or numbers?"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2. Plan the Solution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"Next, let’s plan our solution. Here’s the step-by-step approach:</a:t>
            </a:r>
            <a:endParaRPr>
              <a:solidFill>
                <a:schemeClr val="dk1"/>
              </a:solidFill>
            </a:endParaRPr>
          </a:p>
          <a:p>
            <a:pPr indent="-298450" lvl="1" marL="914400" rtl="0" algn="l">
              <a:lnSpc>
                <a:spcPct val="115000"/>
              </a:lnSpc>
              <a:spcBef>
                <a:spcPts val="0"/>
              </a:spcBef>
              <a:spcAft>
                <a:spcPts val="0"/>
              </a:spcAft>
              <a:buClr>
                <a:schemeClr val="dk1"/>
              </a:buClr>
              <a:buSzPts val="1100"/>
              <a:buAutoNum type="arabicPeriod"/>
            </a:pPr>
            <a:r>
              <a:rPr lang="en">
                <a:solidFill>
                  <a:schemeClr val="dk1"/>
                </a:solidFill>
              </a:rPr>
              <a:t>Use the </a:t>
            </a:r>
            <a:r>
              <a:rPr lang="en">
                <a:solidFill>
                  <a:srgbClr val="188038"/>
                </a:solidFill>
                <a:latin typeface="Roboto Mono"/>
                <a:ea typeface="Roboto Mono"/>
                <a:cs typeface="Roboto Mono"/>
                <a:sym typeface="Roboto Mono"/>
              </a:rPr>
              <a:t>.strip()</a:t>
            </a:r>
            <a:r>
              <a:rPr lang="en">
                <a:solidFill>
                  <a:schemeClr val="dk1"/>
                </a:solidFill>
              </a:rPr>
              <a:t> method to remove leading and trailing spaces.</a:t>
            </a:r>
            <a:endParaRPr>
              <a:solidFill>
                <a:schemeClr val="dk1"/>
              </a:solidFill>
            </a:endParaRPr>
          </a:p>
          <a:p>
            <a:pPr indent="-298450" lvl="1" marL="914400" rtl="0" algn="l">
              <a:lnSpc>
                <a:spcPct val="115000"/>
              </a:lnSpc>
              <a:spcBef>
                <a:spcPts val="0"/>
              </a:spcBef>
              <a:spcAft>
                <a:spcPts val="0"/>
              </a:spcAft>
              <a:buClr>
                <a:schemeClr val="dk1"/>
              </a:buClr>
              <a:buSzPts val="1100"/>
              <a:buAutoNum type="arabicPeriod"/>
            </a:pPr>
            <a:r>
              <a:rPr lang="en">
                <a:solidFill>
                  <a:schemeClr val="dk1"/>
                </a:solidFill>
              </a:rPr>
              <a:t>Split the string into a list of words using the </a:t>
            </a:r>
            <a:r>
              <a:rPr lang="en">
                <a:solidFill>
                  <a:srgbClr val="188038"/>
                </a:solidFill>
                <a:latin typeface="Roboto Mono"/>
                <a:ea typeface="Roboto Mono"/>
                <a:cs typeface="Roboto Mono"/>
                <a:sym typeface="Roboto Mono"/>
              </a:rPr>
              <a:t>.split()</a:t>
            </a:r>
            <a:r>
              <a:rPr lang="en">
                <a:solidFill>
                  <a:schemeClr val="dk1"/>
                </a:solidFill>
              </a:rPr>
              <a:t> method, which automatically handles multiple spaces.</a:t>
            </a:r>
            <a:endParaRPr>
              <a:solidFill>
                <a:schemeClr val="dk1"/>
              </a:solidFill>
            </a:endParaRPr>
          </a:p>
          <a:p>
            <a:pPr indent="-298450" lvl="1" marL="914400" rtl="0" algn="l">
              <a:lnSpc>
                <a:spcPct val="115000"/>
              </a:lnSpc>
              <a:spcBef>
                <a:spcPts val="0"/>
              </a:spcBef>
              <a:spcAft>
                <a:spcPts val="0"/>
              </a:spcAft>
              <a:buClr>
                <a:schemeClr val="dk1"/>
              </a:buClr>
              <a:buSzPts val="1100"/>
              <a:buAutoNum type="arabicPeriod"/>
            </a:pPr>
            <a:r>
              <a:rPr lang="en">
                <a:solidFill>
                  <a:schemeClr val="dk1"/>
                </a:solidFill>
              </a:rPr>
              <a:t>Reverse the list of words.</a:t>
            </a:r>
            <a:endParaRPr>
              <a:solidFill>
                <a:schemeClr val="dk1"/>
              </a:solidFill>
            </a:endParaRPr>
          </a:p>
          <a:p>
            <a:pPr indent="-298450" lvl="1" marL="914400" rtl="0" algn="l">
              <a:lnSpc>
                <a:spcPct val="115000"/>
              </a:lnSpc>
              <a:spcBef>
                <a:spcPts val="0"/>
              </a:spcBef>
              <a:spcAft>
                <a:spcPts val="0"/>
              </a:spcAft>
              <a:buClr>
                <a:schemeClr val="dk1"/>
              </a:buClr>
              <a:buSzPts val="1100"/>
              <a:buAutoNum type="arabicPeriod"/>
            </a:pPr>
            <a:r>
              <a:rPr lang="en">
                <a:solidFill>
                  <a:schemeClr val="dk1"/>
                </a:solidFill>
              </a:rPr>
              <a:t>Join the words back into a single string using </a:t>
            </a:r>
            <a:r>
              <a:rPr lang="en">
                <a:solidFill>
                  <a:srgbClr val="188038"/>
                </a:solidFill>
                <a:latin typeface="Roboto Mono"/>
                <a:ea typeface="Roboto Mono"/>
                <a:cs typeface="Roboto Mono"/>
                <a:sym typeface="Roboto Mono"/>
              </a:rPr>
              <a:t>' '.join()</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approach ensures that we handle extra spaces and reverse the word order efficiently."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Ask Students:</a:t>
            </a:r>
            <a:r>
              <a:rPr lang="en">
                <a:solidFill>
                  <a:schemeClr val="dk1"/>
                </a:solidFill>
              </a:rPr>
              <a:t> "Does this plan make sense? Is there another way we could approach this problem?"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3. Implement the Solution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"Now, let’s implement the solution step by step. I’ll start by defining the function and writing the code based on our plan."</a:t>
            </a:r>
            <a:endParaRPr>
              <a:solidFill>
                <a:schemeClr val="dk1"/>
              </a:solidFill>
            </a:endParaRPr>
          </a:p>
          <a:p>
            <a:pPr indent="0" lvl="0" marL="0" rtl="0" algn="l">
              <a:spcBef>
                <a:spcPts val="1200"/>
              </a:spcBef>
              <a:spcAft>
                <a:spcPts val="0"/>
              </a:spcAft>
              <a:buNone/>
            </a:pPr>
            <a:r>
              <a:rPr b="1" lang="en">
                <a:solidFill>
                  <a:schemeClr val="dk1"/>
                </a:solidFill>
              </a:rPr>
              <a:t>Write the code:</a:t>
            </a:r>
            <a:br>
              <a:rPr b="1" lang="en">
                <a:solidFill>
                  <a:schemeClr val="dk1"/>
                </a:solidFill>
              </a:rPr>
            </a:br>
            <a:r>
              <a:rPr lang="en">
                <a:solidFill>
                  <a:schemeClr val="dk1"/>
                </a:solidFill>
                <a:latin typeface="Consolas"/>
                <a:ea typeface="Consolas"/>
                <a:cs typeface="Consolas"/>
                <a:sym typeface="Consolas"/>
              </a:rPr>
              <a:t> def reverse_words(s):</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Step 1: Remove leading and trailing spaces</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s = s.strip()</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Step 2: Split the string into words</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words = s.split()</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Step 3: Reverse the list of words</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reversed_words = words[::-1]</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Step 4: Join the reversed words into a single string</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return ' '.join(reversed_words)</a:t>
            </a:r>
            <a:endParaRPr>
              <a:solidFill>
                <a:schemeClr val="dk1"/>
              </a:solidFill>
              <a:latin typeface="Consolas"/>
              <a:ea typeface="Consolas"/>
              <a:cs typeface="Consolas"/>
              <a:sym typeface="Consolas"/>
            </a:endParaRPr>
          </a:p>
          <a:p>
            <a:pPr indent="0" lvl="0" marL="0" rtl="0" algn="l">
              <a:lnSpc>
                <a:spcPct val="115000"/>
              </a:lnSpc>
              <a:spcBef>
                <a:spcPts val="1200"/>
              </a:spcBef>
              <a:spcAft>
                <a:spcPts val="0"/>
              </a:spcAft>
              <a:buNone/>
            </a:pPr>
            <a:r>
              <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Normalize Mistakes:</a:t>
            </a:r>
            <a:r>
              <a:rPr lang="en">
                <a:solidFill>
                  <a:schemeClr val="dk1"/>
                </a:solidFill>
              </a:rPr>
              <a:t> Introduce a small error, such as forgetting to use </a:t>
            </a:r>
            <a:r>
              <a:rPr lang="en">
                <a:solidFill>
                  <a:srgbClr val="188038"/>
                </a:solidFill>
                <a:latin typeface="Roboto Mono"/>
                <a:ea typeface="Roboto Mono"/>
                <a:cs typeface="Roboto Mono"/>
                <a:sym typeface="Roboto Mono"/>
              </a:rPr>
              <a:t>.strip()</a:t>
            </a:r>
            <a:r>
              <a:rPr lang="en">
                <a:solidFill>
                  <a:schemeClr val="dk1"/>
                </a:solidFill>
              </a:rPr>
              <a:t>, and debug it.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Example: Skip </a:t>
            </a:r>
            <a:r>
              <a:rPr lang="en">
                <a:solidFill>
                  <a:srgbClr val="188038"/>
                </a:solidFill>
                <a:latin typeface="Roboto Mono"/>
                <a:ea typeface="Roboto Mono"/>
                <a:cs typeface="Roboto Mono"/>
                <a:sym typeface="Roboto Mono"/>
              </a:rPr>
              <a:t>.strip()</a:t>
            </a:r>
            <a:r>
              <a:rPr lang="en">
                <a:solidFill>
                  <a:schemeClr val="dk1"/>
                </a:solidFill>
              </a:rPr>
              <a:t> and run the code.</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chemeClr val="dk1"/>
                </a:solidFill>
              </a:rPr>
              <a:t>"Hmm, why is the output not as expected? Let’s debug by printing the intermediate results at each step."</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chemeClr val="dk1"/>
                </a:solidFill>
              </a:rPr>
              <a:t>Fix the code and explain how </a:t>
            </a:r>
            <a:r>
              <a:rPr lang="en">
                <a:solidFill>
                  <a:srgbClr val="188038"/>
                </a:solidFill>
                <a:latin typeface="Roboto Mono"/>
                <a:ea typeface="Roboto Mono"/>
                <a:cs typeface="Roboto Mono"/>
                <a:sym typeface="Roboto Mono"/>
              </a:rPr>
              <a:t>.strip()</a:t>
            </a:r>
            <a:r>
              <a:rPr lang="en">
                <a:solidFill>
                  <a:schemeClr val="dk1"/>
                </a:solidFill>
              </a:rPr>
              <a:t> resolves the issue.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4. Test the Solution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"Let’s test the function with some examples. First, we’ll try the input </a:t>
            </a:r>
            <a:r>
              <a:rPr lang="en">
                <a:solidFill>
                  <a:srgbClr val="188038"/>
                </a:solidFill>
                <a:latin typeface="Roboto Mono"/>
                <a:ea typeface="Roboto Mono"/>
                <a:cs typeface="Roboto Mono"/>
                <a:sym typeface="Roboto Mono"/>
              </a:rPr>
              <a:t>' the sky is blue '</a:t>
            </a:r>
            <a:r>
              <a:rPr lang="en">
                <a:solidFill>
                  <a:schemeClr val="dk1"/>
                </a:solidFill>
              </a:rPr>
              <a:t>. The expected output is </a:t>
            </a:r>
            <a:r>
              <a:rPr lang="en">
                <a:solidFill>
                  <a:srgbClr val="188038"/>
                </a:solidFill>
                <a:latin typeface="Roboto Mono"/>
                <a:ea typeface="Roboto Mono"/>
                <a:cs typeface="Roboto Mono"/>
                <a:sym typeface="Roboto Mono"/>
              </a:rPr>
              <a:t>'blue is sky the'</a:t>
            </a:r>
            <a:r>
              <a:rPr lang="en">
                <a:solidFill>
                  <a:schemeClr val="dk1"/>
                </a:solidFill>
              </a:rPr>
              <a:t>. Let’s run it and see."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"Now let’s test edge cases like an empty string (</a:t>
            </a:r>
            <a:r>
              <a:rPr lang="en">
                <a:solidFill>
                  <a:srgbClr val="188038"/>
                </a:solidFill>
                <a:latin typeface="Roboto Mono"/>
                <a:ea typeface="Roboto Mono"/>
                <a:cs typeface="Roboto Mono"/>
                <a:sym typeface="Roboto Mono"/>
              </a:rPr>
              <a:t>''</a:t>
            </a:r>
            <a:r>
              <a:rPr lang="en">
                <a:solidFill>
                  <a:schemeClr val="dk1"/>
                </a:solidFill>
              </a:rPr>
              <a:t>), a string with only spaces (</a:t>
            </a:r>
            <a:r>
              <a:rPr lang="en">
                <a:solidFill>
                  <a:srgbClr val="188038"/>
                </a:solidFill>
                <a:latin typeface="Roboto Mono"/>
                <a:ea typeface="Roboto Mono"/>
                <a:cs typeface="Roboto Mono"/>
                <a:sym typeface="Roboto Mono"/>
              </a:rPr>
              <a:t>' '</a:t>
            </a:r>
            <a:r>
              <a:rPr lang="en">
                <a:solidFill>
                  <a:schemeClr val="dk1"/>
                </a:solidFill>
              </a:rPr>
              <a:t>), and a single word (</a:t>
            </a:r>
            <a:r>
              <a:rPr lang="en">
                <a:solidFill>
                  <a:srgbClr val="188038"/>
                </a:solidFill>
                <a:latin typeface="Roboto Mono"/>
                <a:ea typeface="Roboto Mono"/>
                <a:cs typeface="Roboto Mono"/>
                <a:sym typeface="Roboto Mono"/>
              </a:rPr>
              <a:t>'hello'</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Ask Students:</a:t>
            </a:r>
            <a:r>
              <a:rPr lang="en">
                <a:solidFill>
                  <a:schemeClr val="dk1"/>
                </a:solidFill>
              </a:rPr>
              <a:t> "What other test cases should we consider? For example, what about strings with special characters or numbers?"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5. Review and Reflect</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"We used the UMPIRE strategy to solve this problem step by step. String methods like </a:t>
            </a:r>
            <a:r>
              <a:rPr lang="en">
                <a:solidFill>
                  <a:srgbClr val="188038"/>
                </a:solidFill>
                <a:latin typeface="Roboto Mono"/>
                <a:ea typeface="Roboto Mono"/>
                <a:cs typeface="Roboto Mono"/>
                <a:sym typeface="Roboto Mono"/>
              </a:rPr>
              <a:t>.strip()</a:t>
            </a:r>
            <a:r>
              <a:rPr lang="en">
                <a:solidFill>
                  <a:schemeClr val="dk1"/>
                </a:solidFill>
              </a:rPr>
              <a:t>, </a:t>
            </a:r>
            <a:r>
              <a:rPr lang="en">
                <a:solidFill>
                  <a:srgbClr val="188038"/>
                </a:solidFill>
                <a:latin typeface="Roboto Mono"/>
                <a:ea typeface="Roboto Mono"/>
                <a:cs typeface="Roboto Mono"/>
                <a:sym typeface="Roboto Mono"/>
              </a:rPr>
              <a:t>.split()</a:t>
            </a:r>
            <a:r>
              <a:rPr lang="en">
                <a:solidFill>
                  <a:schemeClr val="dk1"/>
                </a:solidFill>
              </a:rPr>
              <a:t>, and </a:t>
            </a:r>
            <a:r>
              <a:rPr lang="en">
                <a:solidFill>
                  <a:srgbClr val="188038"/>
                </a:solidFill>
                <a:latin typeface="Roboto Mono"/>
                <a:ea typeface="Roboto Mono"/>
                <a:cs typeface="Roboto Mono"/>
                <a:sym typeface="Roboto Mono"/>
              </a:rPr>
              <a:t>.join()</a:t>
            </a:r>
            <a:r>
              <a:rPr lang="en">
                <a:solidFill>
                  <a:schemeClr val="dk1"/>
                </a:solidFill>
              </a:rPr>
              <a:t> made this task straightforward."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problem shows how important it is to break down complex problems into smaller, manageable steps."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Ask Students:</a:t>
            </a:r>
            <a:r>
              <a:rPr lang="en">
                <a:solidFill>
                  <a:schemeClr val="dk1"/>
                </a:solidFill>
              </a:rPr>
              <a:t> "Why do you think splitting the string into words first makes the problem easier to solve? Can you think of other problems where this approach might be useful?"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Prompt predictions: "What do you think the output will be before we run this?"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Encourage debugging participation: "What’s one way we could figure out what went wrong here?"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Validate contributions:</a:t>
            </a:r>
            <a:r>
              <a:rPr lang="en">
                <a:solidFill>
                  <a:schemeClr val="dk1"/>
                </a:solidFill>
              </a:rPr>
              <a:t> "Great suggestion! That’s exactly why splitting the string first simplifies things."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g3ec12d2daf7_0_6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2" name="Google Shape;792;g3ec12d2daf7_0_6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Demonstrate solving a problem using the UMPIRE strategy, emphasizing practical string manipulation techniques, debugging, and student engagement.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Walk students through the problem of reversing words in a string while demonstrating the UMPIRE strategy.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Show how to approach real-world applications of string manipulation using Python.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Normalize mistakes by intentionally introducing errors and debugging them.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1. Understand the Problem</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"Let’s start with the first step of UMPIRE—Understand. The problem asks us to reverse the order of words in a string while ensuring that there are no extra spaces and that words are separated by a single space."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example, the input string </a:t>
            </a:r>
            <a:r>
              <a:rPr lang="en">
                <a:solidFill>
                  <a:srgbClr val="188038"/>
                </a:solidFill>
                <a:latin typeface="Roboto Mono"/>
                <a:ea typeface="Roboto Mono"/>
                <a:cs typeface="Roboto Mono"/>
                <a:sym typeface="Roboto Mono"/>
              </a:rPr>
              <a:t>' the sky is blue '</a:t>
            </a:r>
            <a:r>
              <a:rPr lang="en">
                <a:solidFill>
                  <a:schemeClr val="dk1"/>
                </a:solidFill>
              </a:rPr>
              <a:t> should return </a:t>
            </a:r>
            <a:r>
              <a:rPr lang="en">
                <a:solidFill>
                  <a:srgbClr val="188038"/>
                </a:solidFill>
                <a:latin typeface="Roboto Mono"/>
                <a:ea typeface="Roboto Mono"/>
                <a:cs typeface="Roboto Mono"/>
                <a:sym typeface="Roboto Mono"/>
              </a:rPr>
              <a:t>'blue is sky the'</a:t>
            </a:r>
            <a:r>
              <a:rPr lang="en">
                <a:solidFill>
                  <a:schemeClr val="dk1"/>
                </a:solidFill>
              </a:rPr>
              <a:t>. Notice how the leading, trailing, and extra spaces are removed in the output."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"Edge cases include empty strings, strings with only spaces, or single-word inputs."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Ask Students:</a:t>
            </a:r>
            <a:r>
              <a:rPr lang="en">
                <a:solidFill>
                  <a:schemeClr val="dk1"/>
                </a:solidFill>
              </a:rPr>
              <a:t> "What other edge cases can you think of? For example, what happens if the input contains special characters or numbers?"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2. Plan the Solution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"Next, let’s plan our solution. Here’s the step-by-step approach:</a:t>
            </a:r>
            <a:endParaRPr>
              <a:solidFill>
                <a:schemeClr val="dk1"/>
              </a:solidFill>
            </a:endParaRPr>
          </a:p>
          <a:p>
            <a:pPr indent="-298450" lvl="1" marL="914400" rtl="0" algn="l">
              <a:lnSpc>
                <a:spcPct val="115000"/>
              </a:lnSpc>
              <a:spcBef>
                <a:spcPts val="0"/>
              </a:spcBef>
              <a:spcAft>
                <a:spcPts val="0"/>
              </a:spcAft>
              <a:buClr>
                <a:schemeClr val="dk1"/>
              </a:buClr>
              <a:buSzPts val="1100"/>
              <a:buAutoNum type="arabicPeriod"/>
            </a:pPr>
            <a:r>
              <a:rPr lang="en">
                <a:solidFill>
                  <a:schemeClr val="dk1"/>
                </a:solidFill>
              </a:rPr>
              <a:t>Use the </a:t>
            </a:r>
            <a:r>
              <a:rPr lang="en">
                <a:solidFill>
                  <a:srgbClr val="188038"/>
                </a:solidFill>
                <a:latin typeface="Roboto Mono"/>
                <a:ea typeface="Roboto Mono"/>
                <a:cs typeface="Roboto Mono"/>
                <a:sym typeface="Roboto Mono"/>
              </a:rPr>
              <a:t>.strip()</a:t>
            </a:r>
            <a:r>
              <a:rPr lang="en">
                <a:solidFill>
                  <a:schemeClr val="dk1"/>
                </a:solidFill>
              </a:rPr>
              <a:t> method to remove leading and trailing spaces.</a:t>
            </a:r>
            <a:endParaRPr>
              <a:solidFill>
                <a:schemeClr val="dk1"/>
              </a:solidFill>
            </a:endParaRPr>
          </a:p>
          <a:p>
            <a:pPr indent="-298450" lvl="1" marL="914400" rtl="0" algn="l">
              <a:lnSpc>
                <a:spcPct val="115000"/>
              </a:lnSpc>
              <a:spcBef>
                <a:spcPts val="0"/>
              </a:spcBef>
              <a:spcAft>
                <a:spcPts val="0"/>
              </a:spcAft>
              <a:buClr>
                <a:schemeClr val="dk1"/>
              </a:buClr>
              <a:buSzPts val="1100"/>
              <a:buAutoNum type="arabicPeriod"/>
            </a:pPr>
            <a:r>
              <a:rPr lang="en">
                <a:solidFill>
                  <a:schemeClr val="dk1"/>
                </a:solidFill>
              </a:rPr>
              <a:t>Split the string into a list of words using the </a:t>
            </a:r>
            <a:r>
              <a:rPr lang="en">
                <a:solidFill>
                  <a:srgbClr val="188038"/>
                </a:solidFill>
                <a:latin typeface="Roboto Mono"/>
                <a:ea typeface="Roboto Mono"/>
                <a:cs typeface="Roboto Mono"/>
                <a:sym typeface="Roboto Mono"/>
              </a:rPr>
              <a:t>.split()</a:t>
            </a:r>
            <a:r>
              <a:rPr lang="en">
                <a:solidFill>
                  <a:schemeClr val="dk1"/>
                </a:solidFill>
              </a:rPr>
              <a:t> method, which automatically handles multiple spaces.</a:t>
            </a:r>
            <a:endParaRPr>
              <a:solidFill>
                <a:schemeClr val="dk1"/>
              </a:solidFill>
            </a:endParaRPr>
          </a:p>
          <a:p>
            <a:pPr indent="-298450" lvl="1" marL="914400" rtl="0" algn="l">
              <a:lnSpc>
                <a:spcPct val="115000"/>
              </a:lnSpc>
              <a:spcBef>
                <a:spcPts val="0"/>
              </a:spcBef>
              <a:spcAft>
                <a:spcPts val="0"/>
              </a:spcAft>
              <a:buClr>
                <a:schemeClr val="dk1"/>
              </a:buClr>
              <a:buSzPts val="1100"/>
              <a:buAutoNum type="arabicPeriod"/>
            </a:pPr>
            <a:r>
              <a:rPr lang="en">
                <a:solidFill>
                  <a:schemeClr val="dk1"/>
                </a:solidFill>
              </a:rPr>
              <a:t>Reverse the list of words.</a:t>
            </a:r>
            <a:endParaRPr>
              <a:solidFill>
                <a:schemeClr val="dk1"/>
              </a:solidFill>
            </a:endParaRPr>
          </a:p>
          <a:p>
            <a:pPr indent="-298450" lvl="1" marL="914400" rtl="0" algn="l">
              <a:lnSpc>
                <a:spcPct val="115000"/>
              </a:lnSpc>
              <a:spcBef>
                <a:spcPts val="0"/>
              </a:spcBef>
              <a:spcAft>
                <a:spcPts val="0"/>
              </a:spcAft>
              <a:buClr>
                <a:schemeClr val="dk1"/>
              </a:buClr>
              <a:buSzPts val="1100"/>
              <a:buAutoNum type="arabicPeriod"/>
            </a:pPr>
            <a:r>
              <a:rPr lang="en">
                <a:solidFill>
                  <a:schemeClr val="dk1"/>
                </a:solidFill>
              </a:rPr>
              <a:t>Join the words back into a single string using </a:t>
            </a:r>
            <a:r>
              <a:rPr lang="en">
                <a:solidFill>
                  <a:srgbClr val="188038"/>
                </a:solidFill>
                <a:latin typeface="Roboto Mono"/>
                <a:ea typeface="Roboto Mono"/>
                <a:cs typeface="Roboto Mono"/>
                <a:sym typeface="Roboto Mono"/>
              </a:rPr>
              <a:t>' '.join()</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approach ensures that we handle extra spaces and reverse the word order efficiently."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Ask Students:</a:t>
            </a:r>
            <a:r>
              <a:rPr lang="en">
                <a:solidFill>
                  <a:schemeClr val="dk1"/>
                </a:solidFill>
              </a:rPr>
              <a:t> "Does this plan make sense? Is there another way we could approach this problem?"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3. Implement the Solution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"Now, let’s implement the solution step by step. I’ll start by defining the function and writing the code based on our plan."</a:t>
            </a:r>
            <a:endParaRPr>
              <a:solidFill>
                <a:schemeClr val="dk1"/>
              </a:solidFill>
            </a:endParaRPr>
          </a:p>
          <a:p>
            <a:pPr indent="0" lvl="0" marL="0" rtl="0" algn="l">
              <a:spcBef>
                <a:spcPts val="1200"/>
              </a:spcBef>
              <a:spcAft>
                <a:spcPts val="0"/>
              </a:spcAft>
              <a:buNone/>
            </a:pPr>
            <a:r>
              <a:rPr b="1" lang="en">
                <a:solidFill>
                  <a:schemeClr val="dk1"/>
                </a:solidFill>
              </a:rPr>
              <a:t>Write the code:</a:t>
            </a:r>
            <a:br>
              <a:rPr b="1" lang="en">
                <a:solidFill>
                  <a:schemeClr val="dk1"/>
                </a:solidFill>
              </a:rPr>
            </a:br>
            <a:r>
              <a:rPr lang="en">
                <a:solidFill>
                  <a:schemeClr val="dk1"/>
                </a:solidFill>
                <a:latin typeface="Consolas"/>
                <a:ea typeface="Consolas"/>
                <a:cs typeface="Consolas"/>
                <a:sym typeface="Consolas"/>
              </a:rPr>
              <a:t> def reverse_words(s):</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Step 1: Remove leading and trailing spaces</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s = s.strip()</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Step 2: Split the string into words</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words = s.split()</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Step 3: Reverse the list of words</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reversed_words = words[::-1]</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Step 4: Join the reversed words into a single string</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return ' '.join(reversed_words)</a:t>
            </a:r>
            <a:endParaRPr>
              <a:solidFill>
                <a:schemeClr val="dk1"/>
              </a:solidFill>
              <a:latin typeface="Consolas"/>
              <a:ea typeface="Consolas"/>
              <a:cs typeface="Consolas"/>
              <a:sym typeface="Consolas"/>
            </a:endParaRPr>
          </a:p>
          <a:p>
            <a:pPr indent="0" lvl="0" marL="0" rtl="0" algn="l">
              <a:lnSpc>
                <a:spcPct val="115000"/>
              </a:lnSpc>
              <a:spcBef>
                <a:spcPts val="1200"/>
              </a:spcBef>
              <a:spcAft>
                <a:spcPts val="0"/>
              </a:spcAft>
              <a:buNone/>
            </a:pPr>
            <a:r>
              <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Normalize Mistakes:</a:t>
            </a:r>
            <a:r>
              <a:rPr lang="en">
                <a:solidFill>
                  <a:schemeClr val="dk1"/>
                </a:solidFill>
              </a:rPr>
              <a:t> Introduce a small error, such as forgetting to use </a:t>
            </a:r>
            <a:r>
              <a:rPr lang="en">
                <a:solidFill>
                  <a:srgbClr val="188038"/>
                </a:solidFill>
                <a:latin typeface="Roboto Mono"/>
                <a:ea typeface="Roboto Mono"/>
                <a:cs typeface="Roboto Mono"/>
                <a:sym typeface="Roboto Mono"/>
              </a:rPr>
              <a:t>.strip()</a:t>
            </a:r>
            <a:r>
              <a:rPr lang="en">
                <a:solidFill>
                  <a:schemeClr val="dk1"/>
                </a:solidFill>
              </a:rPr>
              <a:t>, and debug it.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Example: Skip </a:t>
            </a:r>
            <a:r>
              <a:rPr lang="en">
                <a:solidFill>
                  <a:srgbClr val="188038"/>
                </a:solidFill>
                <a:latin typeface="Roboto Mono"/>
                <a:ea typeface="Roboto Mono"/>
                <a:cs typeface="Roboto Mono"/>
                <a:sym typeface="Roboto Mono"/>
              </a:rPr>
              <a:t>.strip()</a:t>
            </a:r>
            <a:r>
              <a:rPr lang="en">
                <a:solidFill>
                  <a:schemeClr val="dk1"/>
                </a:solidFill>
              </a:rPr>
              <a:t> and run the code.</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chemeClr val="dk1"/>
                </a:solidFill>
              </a:rPr>
              <a:t>"Hmm, why is the output not as expected? Let’s debug by printing the intermediate results at each step."</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chemeClr val="dk1"/>
                </a:solidFill>
              </a:rPr>
              <a:t>Fix the code and explain how </a:t>
            </a:r>
            <a:r>
              <a:rPr lang="en">
                <a:solidFill>
                  <a:srgbClr val="188038"/>
                </a:solidFill>
                <a:latin typeface="Roboto Mono"/>
                <a:ea typeface="Roboto Mono"/>
                <a:cs typeface="Roboto Mono"/>
                <a:sym typeface="Roboto Mono"/>
              </a:rPr>
              <a:t>.strip()</a:t>
            </a:r>
            <a:r>
              <a:rPr lang="en">
                <a:solidFill>
                  <a:schemeClr val="dk1"/>
                </a:solidFill>
              </a:rPr>
              <a:t> resolves the issue.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4. Test the Solution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"Let’s test the function with some examples. First, we’ll try the input </a:t>
            </a:r>
            <a:r>
              <a:rPr lang="en">
                <a:solidFill>
                  <a:srgbClr val="188038"/>
                </a:solidFill>
                <a:latin typeface="Roboto Mono"/>
                <a:ea typeface="Roboto Mono"/>
                <a:cs typeface="Roboto Mono"/>
                <a:sym typeface="Roboto Mono"/>
              </a:rPr>
              <a:t>' the sky is blue '</a:t>
            </a:r>
            <a:r>
              <a:rPr lang="en">
                <a:solidFill>
                  <a:schemeClr val="dk1"/>
                </a:solidFill>
              </a:rPr>
              <a:t>. The expected output is </a:t>
            </a:r>
            <a:r>
              <a:rPr lang="en">
                <a:solidFill>
                  <a:srgbClr val="188038"/>
                </a:solidFill>
                <a:latin typeface="Roboto Mono"/>
                <a:ea typeface="Roboto Mono"/>
                <a:cs typeface="Roboto Mono"/>
                <a:sym typeface="Roboto Mono"/>
              </a:rPr>
              <a:t>'blue is sky the'</a:t>
            </a:r>
            <a:r>
              <a:rPr lang="en">
                <a:solidFill>
                  <a:schemeClr val="dk1"/>
                </a:solidFill>
              </a:rPr>
              <a:t>. Let’s run it and see."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"Now let’s test edge cases like an empty string (</a:t>
            </a:r>
            <a:r>
              <a:rPr lang="en">
                <a:solidFill>
                  <a:srgbClr val="188038"/>
                </a:solidFill>
                <a:latin typeface="Roboto Mono"/>
                <a:ea typeface="Roboto Mono"/>
                <a:cs typeface="Roboto Mono"/>
                <a:sym typeface="Roboto Mono"/>
              </a:rPr>
              <a:t>''</a:t>
            </a:r>
            <a:r>
              <a:rPr lang="en">
                <a:solidFill>
                  <a:schemeClr val="dk1"/>
                </a:solidFill>
              </a:rPr>
              <a:t>), a string with only spaces (</a:t>
            </a:r>
            <a:r>
              <a:rPr lang="en">
                <a:solidFill>
                  <a:srgbClr val="188038"/>
                </a:solidFill>
                <a:latin typeface="Roboto Mono"/>
                <a:ea typeface="Roboto Mono"/>
                <a:cs typeface="Roboto Mono"/>
                <a:sym typeface="Roboto Mono"/>
              </a:rPr>
              <a:t>' '</a:t>
            </a:r>
            <a:r>
              <a:rPr lang="en">
                <a:solidFill>
                  <a:schemeClr val="dk1"/>
                </a:solidFill>
              </a:rPr>
              <a:t>), and a single word (</a:t>
            </a:r>
            <a:r>
              <a:rPr lang="en">
                <a:solidFill>
                  <a:srgbClr val="188038"/>
                </a:solidFill>
                <a:latin typeface="Roboto Mono"/>
                <a:ea typeface="Roboto Mono"/>
                <a:cs typeface="Roboto Mono"/>
                <a:sym typeface="Roboto Mono"/>
              </a:rPr>
              <a:t>'hello'</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Ask Students:</a:t>
            </a:r>
            <a:r>
              <a:rPr lang="en">
                <a:solidFill>
                  <a:schemeClr val="dk1"/>
                </a:solidFill>
              </a:rPr>
              <a:t> "What other test cases should we consider? For example, what about strings with special characters or numbers?"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5. Review and Reflect</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"We used the UMPIRE strategy to solve this problem step by step. String methods like </a:t>
            </a:r>
            <a:r>
              <a:rPr lang="en">
                <a:solidFill>
                  <a:srgbClr val="188038"/>
                </a:solidFill>
                <a:latin typeface="Roboto Mono"/>
                <a:ea typeface="Roboto Mono"/>
                <a:cs typeface="Roboto Mono"/>
                <a:sym typeface="Roboto Mono"/>
              </a:rPr>
              <a:t>.strip()</a:t>
            </a:r>
            <a:r>
              <a:rPr lang="en">
                <a:solidFill>
                  <a:schemeClr val="dk1"/>
                </a:solidFill>
              </a:rPr>
              <a:t>, </a:t>
            </a:r>
            <a:r>
              <a:rPr lang="en">
                <a:solidFill>
                  <a:srgbClr val="188038"/>
                </a:solidFill>
                <a:latin typeface="Roboto Mono"/>
                <a:ea typeface="Roboto Mono"/>
                <a:cs typeface="Roboto Mono"/>
                <a:sym typeface="Roboto Mono"/>
              </a:rPr>
              <a:t>.split()</a:t>
            </a:r>
            <a:r>
              <a:rPr lang="en">
                <a:solidFill>
                  <a:schemeClr val="dk1"/>
                </a:solidFill>
              </a:rPr>
              <a:t>, and </a:t>
            </a:r>
            <a:r>
              <a:rPr lang="en">
                <a:solidFill>
                  <a:srgbClr val="188038"/>
                </a:solidFill>
                <a:latin typeface="Roboto Mono"/>
                <a:ea typeface="Roboto Mono"/>
                <a:cs typeface="Roboto Mono"/>
                <a:sym typeface="Roboto Mono"/>
              </a:rPr>
              <a:t>.join()</a:t>
            </a:r>
            <a:r>
              <a:rPr lang="en">
                <a:solidFill>
                  <a:schemeClr val="dk1"/>
                </a:solidFill>
              </a:rPr>
              <a:t> made this task straightforward."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problem shows how important it is to break down complex problems into smaller, manageable steps."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Ask Students:</a:t>
            </a:r>
            <a:r>
              <a:rPr lang="en">
                <a:solidFill>
                  <a:schemeClr val="dk1"/>
                </a:solidFill>
              </a:rPr>
              <a:t> "Why do you think splitting the string into words first makes the problem easier to solve? Can you think of other problems where this approach might be useful?"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Prompt predictions: "What do you think the output will be before we run this?"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Encourage debugging participation: "What’s one way we could figure out what went wrong here?"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Validate contributions: "Great suggestion! That’s exactly why splitting the string first simplifies things."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32260e06d59_0_4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1" name="Google Shape;801;g32260e06d59_0_4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Provide a short break to refresh and re-energize.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Announce the break and remind students to return on time.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Play the countdown timer video (be sure to share sound).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take 5 minutes to step away from the screen. Be sure to return promptly.</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g32260e06d59_0_5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7" name="Google Shape;807;g32260e06d59_0_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g32260e06d59_0_5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3" name="Google Shape;813;g32260e06d59_0_5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g32260e06d59_0_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0" name="Google Shape;820;g32260e06d59_0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32260e06d59_0_5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6" name="Google Shape;826;g32260e06d59_0_5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End the session on a positive note.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Prompt students to share their reflections in the chat.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celebrate your wins. Share one good thing you learned or accomplished today!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Read a few responses aloud and celebrate with enthusiasm.</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f167837b3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1" name="Google Shape;831;g3f167837b3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How to locate email:</a:t>
            </a:r>
            <a:endParaRPr b="1">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Open Email (email student enrolled in CodePath with)</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Email sent by </a:t>
            </a:r>
            <a:r>
              <a:rPr lang="en" u="sng">
                <a:solidFill>
                  <a:schemeClr val="hlink"/>
                </a:solidFill>
                <a:hlinkClick r:id="rId2"/>
              </a:rPr>
              <a:t>support@codepath.org</a:t>
            </a:r>
            <a:endParaRPr>
              <a:solidFill>
                <a:schemeClr val="dk1"/>
              </a:solidFill>
            </a:endParaRPr>
          </a:p>
          <a:p>
            <a:pPr indent="0" lvl="0" marL="0" rtl="0" algn="l">
              <a:spcBef>
                <a:spcPts val="0"/>
              </a:spcBef>
              <a:spcAft>
                <a:spcPts val="0"/>
              </a:spcAft>
              <a:buNone/>
            </a:pPr>
            <a:br>
              <a:rPr b="1" lang="en">
                <a:solidFill>
                  <a:schemeClr val="dk1"/>
                </a:solidFill>
              </a:rPr>
            </a:br>
            <a:r>
              <a:rPr b="1" lang="en">
                <a:solidFill>
                  <a:schemeClr val="dk1"/>
                </a:solidFill>
              </a:rPr>
              <a:t>If a student cannot locate the email, they should message in the Zoom chat, and Ops / Floor Leads will assist in providing their personal survey link.</a:t>
            </a:r>
            <a:endParaRPr b="1">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3f167837b38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0" name="Google Shape;850;g3f167837b38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Reinforce key tasks and deadlines.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Summarize next steps and encourage continued engagement.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Don’t forget to complete the problem sets and take the HackerRank assessment by Sunday!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Encourage students to ask any lingering questions before signing off.</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g3f167837b38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8" name="Google Shape;858;g3f167837b38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Show the new CodePath AI Tutor.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Encourage the use of the new AI Tutor: </a:t>
            </a:r>
            <a:r>
              <a:rPr lang="en" u="sng">
                <a:solidFill>
                  <a:schemeClr val="hlink"/>
                </a:solidFill>
                <a:hlinkClick r:id="rId2"/>
              </a:rPr>
              <a:t>https://go.codepath.org/tiptutor</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Specifically for use with LeetCode problems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It’s common to get stuck on a difficult problem when practicing independently. Try using the AI Tutor as a way to get unstuck, guiding you through the UMPIRE method for the problem.</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Complement your additional practice with the support and guidance from the AI Tutor.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5.png"/><Relationship Id="rId3" Type="http://schemas.openxmlformats.org/officeDocument/2006/relationships/image" Target="../media/image13.png"/><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24.png"/><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48.png"/><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8.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25.png"/><Relationship Id="rId4" Type="http://schemas.openxmlformats.org/officeDocument/2006/relationships/image" Target="../media/image3.png"/><Relationship Id="rId5" Type="http://schemas.openxmlformats.org/officeDocument/2006/relationships/image" Target="../media/image2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24.png"/><Relationship Id="rId4" Type="http://schemas.openxmlformats.org/officeDocument/2006/relationships/image" Target="../media/image3.png"/><Relationship Id="rId5" Type="http://schemas.openxmlformats.org/officeDocument/2006/relationships/image" Target="../media/image37.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5.png"/><Relationship Id="rId3" Type="http://schemas.openxmlformats.org/officeDocument/2006/relationships/image" Target="../media/image22.png"/><Relationship Id="rId4" Type="http://schemas.openxmlformats.org/officeDocument/2006/relationships/image" Target="../media/image47.png"/><Relationship Id="rId5"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24.png"/><Relationship Id="rId4" Type="http://schemas.openxmlformats.org/officeDocument/2006/relationships/image" Target="../media/image33.png"/><Relationship Id="rId5"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24.png"/><Relationship Id="rId4" Type="http://schemas.openxmlformats.org/officeDocument/2006/relationships/image" Target="../media/image3.png"/><Relationship Id="rId5" Type="http://schemas.openxmlformats.org/officeDocument/2006/relationships/image" Target="../media/image3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22.png"/><Relationship Id="rId4" Type="http://schemas.openxmlformats.org/officeDocument/2006/relationships/image" Target="../media/image27.png"/><Relationship Id="rId5" Type="http://schemas.openxmlformats.org/officeDocument/2006/relationships/image" Target="../media/image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30.png"/><Relationship Id="rId5" Type="http://schemas.openxmlformats.org/officeDocument/2006/relationships/image" Target="../media/image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29.png"/><Relationship Id="rId4" Type="http://schemas.openxmlformats.org/officeDocument/2006/relationships/image" Target="../media/image3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7.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22.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2.png"/><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38.png"/><Relationship Id="rId6" Type="http://schemas.openxmlformats.org/officeDocument/2006/relationships/image" Target="../media/image42.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 Id="rId3" Type="http://schemas.openxmlformats.org/officeDocument/2006/relationships/image" Target="../media/image2.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5.png"/><Relationship Id="rId3" Type="http://schemas.openxmlformats.org/officeDocument/2006/relationships/image" Target="../media/image13.png"/><Relationship Id="rId4" Type="http://schemas.openxmlformats.org/officeDocument/2006/relationships/image" Target="../media/image2.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24.png"/><Relationship Id="rId4" Type="http://schemas.openxmlformats.org/officeDocument/2006/relationships/image" Target="../media/image3.png"/><Relationship Id="rId5" Type="http://schemas.openxmlformats.org/officeDocument/2006/relationships/image" Target="../media/image5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6.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3.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48.png"/><Relationship Id="rId4" Type="http://schemas.openxmlformats.org/officeDocument/2006/relationships/image" Target="../media/image3.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8.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3.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3.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3.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png"/><Relationship Id="rId3" Type="http://schemas.openxmlformats.org/officeDocument/2006/relationships/image" Target="../media/image25.png"/><Relationship Id="rId4" Type="http://schemas.openxmlformats.org/officeDocument/2006/relationships/image" Target="../media/image3.png"/><Relationship Id="rId5" Type="http://schemas.openxmlformats.org/officeDocument/2006/relationships/image" Target="../media/image24.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 Id="rId3" Type="http://schemas.openxmlformats.org/officeDocument/2006/relationships/image" Target="../media/image24.png"/><Relationship Id="rId4" Type="http://schemas.openxmlformats.org/officeDocument/2006/relationships/image" Target="../media/image3.png"/><Relationship Id="rId5" Type="http://schemas.openxmlformats.org/officeDocument/2006/relationships/image" Target="../media/image37.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5.png"/><Relationship Id="rId3" Type="http://schemas.openxmlformats.org/officeDocument/2006/relationships/image" Target="../media/image22.png"/><Relationship Id="rId4" Type="http://schemas.openxmlformats.org/officeDocument/2006/relationships/image" Target="../media/image47.png"/><Relationship Id="rId5" Type="http://schemas.openxmlformats.org/officeDocument/2006/relationships/image" Target="../media/image3.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1.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3.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3.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 Id="rId3" Type="http://schemas.openxmlformats.org/officeDocument/2006/relationships/image" Target="../media/image24.png"/><Relationship Id="rId4" Type="http://schemas.openxmlformats.org/officeDocument/2006/relationships/image" Target="../media/image33.png"/><Relationship Id="rId5" Type="http://schemas.openxmlformats.org/officeDocument/2006/relationships/image" Target="../media/image3.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 Id="rId3" Type="http://schemas.openxmlformats.org/officeDocument/2006/relationships/image" Target="../media/image24.png"/><Relationship Id="rId4" Type="http://schemas.openxmlformats.org/officeDocument/2006/relationships/image" Target="../media/image3.png"/><Relationship Id="rId5" Type="http://schemas.openxmlformats.org/officeDocument/2006/relationships/image" Target="../media/image33.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 Id="rId3" Type="http://schemas.openxmlformats.org/officeDocument/2006/relationships/image" Target="../media/image22.png"/><Relationship Id="rId4" Type="http://schemas.openxmlformats.org/officeDocument/2006/relationships/image" Target="../media/image27.png"/><Relationship Id="rId5" Type="http://schemas.openxmlformats.org/officeDocument/2006/relationships/image" Target="../media/image3.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30.png"/><Relationship Id="rId5" Type="http://schemas.openxmlformats.org/officeDocument/2006/relationships/image" Target="../media/image3.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29.png"/><Relationship Id="rId4" Type="http://schemas.openxmlformats.org/officeDocument/2006/relationships/image" Target="../media/image31.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7.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6.png"/><Relationship Id="rId3" Type="http://schemas.openxmlformats.org/officeDocument/2006/relationships/image" Target="../media/image22.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2.png"/><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38.png"/><Relationship Id="rId6" Type="http://schemas.openxmlformats.org/officeDocument/2006/relationships/image" Target="../media/image42.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 Id="rId3" Type="http://schemas.openxmlformats.org/officeDocument/2006/relationships/image" Target="../media/image22.png"/><Relationship Id="rId4" Type="http://schemas.openxmlformats.org/officeDocument/2006/relationships/image" Target="../media/image3.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2.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5.png"/><Relationship Id="rId3" Type="http://schemas.openxmlformats.org/officeDocument/2006/relationships/image" Target="../media/image13.png"/><Relationship Id="rId4" Type="http://schemas.openxmlformats.org/officeDocument/2006/relationships/image" Target="../media/image2.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image" Target="../media/image24.png"/><Relationship Id="rId4" Type="http://schemas.openxmlformats.org/officeDocument/2006/relationships/image" Target="../media/image3.png"/><Relationship Id="rId5" Type="http://schemas.openxmlformats.org/officeDocument/2006/relationships/image" Target="../media/image53.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6.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3.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48.png"/><Relationship Id="rId4" Type="http://schemas.openxmlformats.org/officeDocument/2006/relationships/image" Target="../media/image3.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8.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3.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3.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image" Target="../media/image3.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png"/><Relationship Id="rId3" Type="http://schemas.openxmlformats.org/officeDocument/2006/relationships/image" Target="../media/image25.png"/><Relationship Id="rId4" Type="http://schemas.openxmlformats.org/officeDocument/2006/relationships/image" Target="../media/image3.png"/><Relationship Id="rId5" Type="http://schemas.openxmlformats.org/officeDocument/2006/relationships/image" Target="../media/image24.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24.png"/><Relationship Id="rId4" Type="http://schemas.openxmlformats.org/officeDocument/2006/relationships/image" Target="../media/image3.png"/><Relationship Id="rId5" Type="http://schemas.openxmlformats.org/officeDocument/2006/relationships/image" Target="../media/image37.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5.png"/><Relationship Id="rId3" Type="http://schemas.openxmlformats.org/officeDocument/2006/relationships/image" Target="../media/image22.png"/><Relationship Id="rId4" Type="http://schemas.openxmlformats.org/officeDocument/2006/relationships/image" Target="../media/image47.png"/><Relationship Id="rId5" Type="http://schemas.openxmlformats.org/officeDocument/2006/relationships/image" Target="../media/image3.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1.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3.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3.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 Id="rId3" Type="http://schemas.openxmlformats.org/officeDocument/2006/relationships/image" Target="../media/image24.png"/><Relationship Id="rId4" Type="http://schemas.openxmlformats.org/officeDocument/2006/relationships/image" Target="../media/image33.png"/><Relationship Id="rId5" Type="http://schemas.openxmlformats.org/officeDocument/2006/relationships/image" Target="../media/image3.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 Id="rId3" Type="http://schemas.openxmlformats.org/officeDocument/2006/relationships/image" Target="../media/image24.png"/><Relationship Id="rId4" Type="http://schemas.openxmlformats.org/officeDocument/2006/relationships/image" Target="../media/image3.png"/><Relationship Id="rId5" Type="http://schemas.openxmlformats.org/officeDocument/2006/relationships/image" Target="../media/image33.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22.png"/><Relationship Id="rId4" Type="http://schemas.openxmlformats.org/officeDocument/2006/relationships/image" Target="../media/image27.png"/><Relationship Id="rId5" Type="http://schemas.openxmlformats.org/officeDocument/2006/relationships/image" Target="../media/image3.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30.png"/><Relationship Id="rId5" Type="http://schemas.openxmlformats.org/officeDocument/2006/relationships/image" Target="../media/image3.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29.png"/><Relationship Id="rId4" Type="http://schemas.openxmlformats.org/officeDocument/2006/relationships/image" Target="../media/image31.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7.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6.png"/><Relationship Id="rId3" Type="http://schemas.openxmlformats.org/officeDocument/2006/relationships/image" Target="../media/image22.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2.png"/><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38.png"/><Relationship Id="rId6" Type="http://schemas.openxmlformats.org/officeDocument/2006/relationships/image" Target="../media/image42.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22.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53" name="Shape 53"/>
        <p:cNvGrpSpPr/>
        <p:nvPr/>
      </p:nvGrpSpPr>
      <p:grpSpPr>
        <a:xfrm>
          <a:off x="0" y="0"/>
          <a:ext cx="0" cy="0"/>
          <a:chOff x="0" y="0"/>
          <a:chExt cx="0" cy="0"/>
        </a:xfrm>
      </p:grpSpPr>
      <p:pic>
        <p:nvPicPr>
          <p:cNvPr id="54" name="Google Shape;54;p14"/>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55" name="Google Shape;55;p1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56" name="Shape 56"/>
        <p:cNvGrpSpPr/>
        <p:nvPr/>
      </p:nvGrpSpPr>
      <p:grpSpPr>
        <a:xfrm>
          <a:off x="0" y="0"/>
          <a:ext cx="0" cy="0"/>
          <a:chOff x="0" y="0"/>
          <a:chExt cx="0" cy="0"/>
        </a:xfrm>
      </p:grpSpPr>
      <p:pic>
        <p:nvPicPr>
          <p:cNvPr id="57" name="Google Shape;57;p15"/>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58" name="Google Shape;58;p15"/>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59" name="Google Shape;59;p1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5"/>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61" name="Shape 61"/>
        <p:cNvGrpSpPr/>
        <p:nvPr/>
      </p:nvGrpSpPr>
      <p:grpSpPr>
        <a:xfrm>
          <a:off x="0" y="0"/>
          <a:ext cx="0" cy="0"/>
          <a:chOff x="0" y="0"/>
          <a:chExt cx="0" cy="0"/>
        </a:xfrm>
      </p:grpSpPr>
      <p:pic>
        <p:nvPicPr>
          <p:cNvPr descr="Divider4.png" id="62" name="Google Shape;62;p16"/>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63" name="Google Shape;63;p16"/>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64" name="Google Shape;64;p16"/>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65" name="Google Shape;65;p16"/>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66" name="Google Shape;66;p16"/>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67" name="Google Shape;67;p16"/>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68" name="Shape 68"/>
        <p:cNvGrpSpPr/>
        <p:nvPr/>
      </p:nvGrpSpPr>
      <p:grpSpPr>
        <a:xfrm>
          <a:off x="0" y="0"/>
          <a:ext cx="0" cy="0"/>
          <a:chOff x="0" y="0"/>
          <a:chExt cx="0" cy="0"/>
        </a:xfrm>
      </p:grpSpPr>
      <p:sp>
        <p:nvSpPr>
          <p:cNvPr id="69" name="Google Shape;69;p17"/>
          <p:cNvSpPr txBox="1"/>
          <p:nvPr/>
        </p:nvSpPr>
        <p:spPr>
          <a:xfrm>
            <a:off x="552800" y="344402"/>
            <a:ext cx="8239200" cy="657000"/>
          </a:xfrm>
          <a:prstGeom prst="rect">
            <a:avLst/>
          </a:prstGeom>
          <a:noFill/>
          <a:ln>
            <a:noFill/>
          </a:ln>
        </p:spPr>
        <p:txBody>
          <a:bodyPr anchorCtr="0" anchor="t"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3600">
                <a:solidFill>
                  <a:schemeClr val="dk1"/>
                </a:solidFill>
                <a:latin typeface="Space Mono"/>
                <a:ea typeface="Space Mono"/>
                <a:cs typeface="Space Mono"/>
                <a:sym typeface="Space Mono"/>
              </a:rPr>
              <a:t>Agenda</a:t>
            </a:r>
            <a:endParaRPr b="1" sz="3600">
              <a:solidFill>
                <a:srgbClr val="05103E"/>
              </a:solidFill>
              <a:latin typeface="Space Mono"/>
              <a:ea typeface="Space Mono"/>
              <a:cs typeface="Space Mono"/>
              <a:sym typeface="Space Mono"/>
            </a:endParaRPr>
          </a:p>
        </p:txBody>
      </p:sp>
      <p:grpSp>
        <p:nvGrpSpPr>
          <p:cNvPr id="70" name="Google Shape;70;p17"/>
          <p:cNvGrpSpPr/>
          <p:nvPr/>
        </p:nvGrpSpPr>
        <p:grpSpPr>
          <a:xfrm rot="5400000">
            <a:off x="5719749" y="1629787"/>
            <a:ext cx="4964577" cy="1883925"/>
            <a:chOff x="4152224" y="1218499"/>
            <a:chExt cx="4964577" cy="1883925"/>
          </a:xfrm>
        </p:grpSpPr>
        <p:pic>
          <p:nvPicPr>
            <p:cNvPr id="71" name="Google Shape;71;p17"/>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72" name="Google Shape;72;p17"/>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73" name="Google Shape;73;p1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74" name="Google Shape;74;p1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75" name="Shape 75"/>
        <p:cNvGrpSpPr/>
        <p:nvPr/>
      </p:nvGrpSpPr>
      <p:grpSpPr>
        <a:xfrm>
          <a:off x="0" y="0"/>
          <a:ext cx="0" cy="0"/>
          <a:chOff x="0" y="0"/>
          <a:chExt cx="0" cy="0"/>
        </a:xfrm>
      </p:grpSpPr>
      <p:pic>
        <p:nvPicPr>
          <p:cNvPr id="76" name="Google Shape;76;p18"/>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77" name="Google Shape;77;p18"/>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78" name="Google Shape;78;p18"/>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79" name="Google Shape;79;p18"/>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0" name="Google Shape;80;p1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1" name="Google Shape;81;p1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82" name="Google Shape;82;p18"/>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83" name="Google Shape;83;p18"/>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84" name="Shape 84"/>
        <p:cNvGrpSpPr/>
        <p:nvPr/>
      </p:nvGrpSpPr>
      <p:grpSpPr>
        <a:xfrm>
          <a:off x="0" y="0"/>
          <a:ext cx="0" cy="0"/>
          <a:chOff x="0" y="0"/>
          <a:chExt cx="0" cy="0"/>
        </a:xfrm>
      </p:grpSpPr>
      <p:pic>
        <p:nvPicPr>
          <p:cNvPr id="85" name="Google Shape;85;p19"/>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86" name="Google Shape;86;p19"/>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87" name="Google Shape;87;p19"/>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88" name="Google Shape;88;p19"/>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89" name="Google Shape;89;p1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0" name="Google Shape;90;p1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1" name="Google Shape;91;p19"/>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92" name="Shape 92"/>
        <p:cNvGrpSpPr/>
        <p:nvPr/>
      </p:nvGrpSpPr>
      <p:grpSpPr>
        <a:xfrm>
          <a:off x="0" y="0"/>
          <a:ext cx="0" cy="0"/>
          <a:chOff x="0" y="0"/>
          <a:chExt cx="0" cy="0"/>
        </a:xfrm>
      </p:grpSpPr>
      <p:pic>
        <p:nvPicPr>
          <p:cNvPr id="93" name="Google Shape;93;p20"/>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94" name="Google Shape;94;p20"/>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95" name="Google Shape;95;p20"/>
          <p:cNvGrpSpPr/>
          <p:nvPr/>
        </p:nvGrpSpPr>
        <p:grpSpPr>
          <a:xfrm>
            <a:off x="5709066" y="201260"/>
            <a:ext cx="2296623" cy="4424889"/>
            <a:chOff x="5598780" y="137712"/>
            <a:chExt cx="2577001" cy="4664652"/>
          </a:xfrm>
        </p:grpSpPr>
        <p:pic>
          <p:nvPicPr>
            <p:cNvPr id="96" name="Google Shape;96;p20"/>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97" name="Google Shape;97;p20"/>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20"/>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99" name="Google Shape;99;p2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0" name="Google Shape;100;p2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20"/>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102" name="Shape 102"/>
        <p:cNvGrpSpPr/>
        <p:nvPr/>
      </p:nvGrpSpPr>
      <p:grpSpPr>
        <a:xfrm>
          <a:off x="0" y="0"/>
          <a:ext cx="0" cy="0"/>
          <a:chOff x="0" y="0"/>
          <a:chExt cx="0" cy="0"/>
        </a:xfrm>
      </p:grpSpPr>
      <p:pic>
        <p:nvPicPr>
          <p:cNvPr id="103" name="Google Shape;103;p21"/>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04" name="Google Shape;104;p21"/>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5" name="Google Shape;105;p21"/>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6" name="Google Shape;106;p21"/>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07" name="Google Shape;107;p2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21"/>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21"/>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110" name="Shape 110"/>
        <p:cNvGrpSpPr/>
        <p:nvPr/>
      </p:nvGrpSpPr>
      <p:grpSpPr>
        <a:xfrm>
          <a:off x="0" y="0"/>
          <a:ext cx="0" cy="0"/>
          <a:chOff x="0" y="0"/>
          <a:chExt cx="0" cy="0"/>
        </a:xfrm>
      </p:grpSpPr>
      <p:pic>
        <p:nvPicPr>
          <p:cNvPr id="111" name="Google Shape;111;p22"/>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112" name="Google Shape;112;p22"/>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13" name="Google Shape;113;p22"/>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14" name="Google Shape;114;p22"/>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15" name="Google Shape;115;p2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116" name="Google Shape;116;p22"/>
          <p:cNvGrpSpPr/>
          <p:nvPr/>
        </p:nvGrpSpPr>
        <p:grpSpPr>
          <a:xfrm>
            <a:off x="4344100" y="398125"/>
            <a:ext cx="4546500" cy="4222800"/>
            <a:chOff x="4344100" y="398125"/>
            <a:chExt cx="4546500" cy="4222800"/>
          </a:xfrm>
        </p:grpSpPr>
        <p:sp>
          <p:nvSpPr>
            <p:cNvPr id="117" name="Google Shape;117;p22"/>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8" name="Google Shape;118;p22"/>
            <p:cNvGrpSpPr/>
            <p:nvPr/>
          </p:nvGrpSpPr>
          <p:grpSpPr>
            <a:xfrm>
              <a:off x="4445450" y="524200"/>
              <a:ext cx="399495" cy="101100"/>
              <a:chOff x="4445450" y="524200"/>
              <a:chExt cx="399495" cy="101100"/>
            </a:xfrm>
          </p:grpSpPr>
          <p:sp>
            <p:nvSpPr>
              <p:cNvPr id="119" name="Google Shape;119;p22"/>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2"/>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2"/>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22"/>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123" name="Shape 123"/>
        <p:cNvGrpSpPr/>
        <p:nvPr/>
      </p:nvGrpSpPr>
      <p:grpSpPr>
        <a:xfrm>
          <a:off x="0" y="0"/>
          <a:ext cx="0" cy="0"/>
          <a:chOff x="0" y="0"/>
          <a:chExt cx="0" cy="0"/>
        </a:xfrm>
      </p:grpSpPr>
      <p:pic>
        <p:nvPicPr>
          <p:cNvPr id="124" name="Google Shape;124;p23"/>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25" name="Google Shape;125;p23"/>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26" name="Google Shape;126;p23"/>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27" name="Google Shape;127;p23"/>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28" name="Google Shape;128;p2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129" name="Shape 129"/>
        <p:cNvGrpSpPr/>
        <p:nvPr/>
      </p:nvGrpSpPr>
      <p:grpSpPr>
        <a:xfrm>
          <a:off x="0" y="0"/>
          <a:ext cx="0" cy="0"/>
          <a:chOff x="0" y="0"/>
          <a:chExt cx="0" cy="0"/>
        </a:xfrm>
      </p:grpSpPr>
      <p:pic>
        <p:nvPicPr>
          <p:cNvPr id="130" name="Google Shape;130;p24"/>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131" name="Google Shape;131;p24"/>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4"/>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133" name="Google Shape;133;p24"/>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34" name="Google Shape;134;p2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35" name="Google Shape;135;p24"/>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36" name="Google Shape;136;p24"/>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137" name="Google Shape;137;p24"/>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138" name="Shape 138"/>
        <p:cNvGrpSpPr/>
        <p:nvPr/>
      </p:nvGrpSpPr>
      <p:grpSpPr>
        <a:xfrm>
          <a:off x="0" y="0"/>
          <a:ext cx="0" cy="0"/>
          <a:chOff x="0" y="0"/>
          <a:chExt cx="0" cy="0"/>
        </a:xfrm>
      </p:grpSpPr>
      <p:pic>
        <p:nvPicPr>
          <p:cNvPr id="139" name="Google Shape;139;p25"/>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140" name="Google Shape;140;p25"/>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141" name="Google Shape;141;p25"/>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42" name="Google Shape;142;p2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43" name="Google Shape;143;p2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44" name="Google Shape;144;p2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145" name="Google Shape;145;p2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46" name="Google Shape;146;p2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47" name="Google Shape;147;p25"/>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148" name="Shape 148"/>
        <p:cNvGrpSpPr/>
        <p:nvPr/>
      </p:nvGrpSpPr>
      <p:grpSpPr>
        <a:xfrm>
          <a:off x="0" y="0"/>
          <a:ext cx="0" cy="0"/>
          <a:chOff x="0" y="0"/>
          <a:chExt cx="0" cy="0"/>
        </a:xfrm>
      </p:grpSpPr>
      <p:pic>
        <p:nvPicPr>
          <p:cNvPr id="149" name="Google Shape;149;p26"/>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50" name="Google Shape;150;p26"/>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151" name="Google Shape;151;p26"/>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52" name="Google Shape;152;p2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53" name="Google Shape;153;p2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154" name="Google Shape;154;p26"/>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155" name="Google Shape;155;p2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156" name="Google Shape;156;p26"/>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157" name="Shape 157"/>
        <p:cNvGrpSpPr/>
        <p:nvPr/>
      </p:nvGrpSpPr>
      <p:grpSpPr>
        <a:xfrm>
          <a:off x="0" y="0"/>
          <a:ext cx="0" cy="0"/>
          <a:chOff x="0" y="0"/>
          <a:chExt cx="0" cy="0"/>
        </a:xfrm>
      </p:grpSpPr>
      <p:pic>
        <p:nvPicPr>
          <p:cNvPr id="158" name="Google Shape;158;p27"/>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159" name="Google Shape;159;p27"/>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60" name="Google Shape;160;p27"/>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61" name="Google Shape;161;p27"/>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62" name="Google Shape;162;p2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63" name="Google Shape;163;p2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64" name="Google Shape;164;p27"/>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165" name="Google Shape;165;p2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66" name="Google Shape;166;p2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167" name="Shape 167"/>
        <p:cNvGrpSpPr/>
        <p:nvPr/>
      </p:nvGrpSpPr>
      <p:grpSpPr>
        <a:xfrm>
          <a:off x="0" y="0"/>
          <a:ext cx="0" cy="0"/>
          <a:chOff x="0" y="0"/>
          <a:chExt cx="0" cy="0"/>
        </a:xfrm>
      </p:grpSpPr>
      <p:pic>
        <p:nvPicPr>
          <p:cNvPr id="168" name="Google Shape;168;p28"/>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169" name="Google Shape;169;p28"/>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170" name="Google Shape;170;p28"/>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71" name="Google Shape;171;p28"/>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72" name="Google Shape;172;p2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73" name="Google Shape;173;p2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74" name="Google Shape;174;p28"/>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175" name="Google Shape;175;p2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76" name="Google Shape;176;p28"/>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177" name="Shape 177"/>
        <p:cNvGrpSpPr/>
        <p:nvPr/>
      </p:nvGrpSpPr>
      <p:grpSpPr>
        <a:xfrm>
          <a:off x="0" y="0"/>
          <a:ext cx="0" cy="0"/>
          <a:chOff x="0" y="0"/>
          <a:chExt cx="0" cy="0"/>
        </a:xfrm>
      </p:grpSpPr>
      <p:pic>
        <p:nvPicPr>
          <p:cNvPr id="178" name="Google Shape;178;p29"/>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179" name="Google Shape;179;p29"/>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80" name="Google Shape;180;p2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81" name="Google Shape;181;p29"/>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82" name="Google Shape;182;p2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83" name="Google Shape;183;p2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84" name="Google Shape;184;p29"/>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185" name="Google Shape;185;p2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86" name="Google Shape;186;p29"/>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187" name="Google Shape;187;p29"/>
          <p:cNvSpPr/>
          <p:nvPr/>
        </p:nvSpPr>
        <p:spPr>
          <a:xfrm>
            <a:off x="7040775" y="1347600"/>
            <a:ext cx="1764000" cy="1755000"/>
          </a:xfrm>
          <a:prstGeom prst="roundRect">
            <a:avLst>
              <a:gd fmla="val 4613" name="adj"/>
            </a:avLst>
          </a:prstGeom>
          <a:solidFill>
            <a:srgbClr val="FFF6B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Questions? </a:t>
            </a:r>
            <a:r>
              <a:rPr lang="en" sz="1800">
                <a:latin typeface="Poppins"/>
                <a:ea typeface="Poppins"/>
                <a:cs typeface="Poppins"/>
                <a:sym typeface="Poppins"/>
              </a:rPr>
              <a:t>Post on Slack and tag:</a:t>
            </a:r>
            <a:endParaRPr sz="1800">
              <a:latin typeface="Poppins"/>
              <a:ea typeface="Poppins"/>
              <a:cs typeface="Poppins"/>
              <a:sym typeface="Poppins"/>
            </a:endParaRPr>
          </a:p>
        </p:txBody>
      </p:sp>
      <p:sp>
        <p:nvSpPr>
          <p:cNvPr id="188" name="Google Shape;188;p29"/>
          <p:cNvSpPr txBox="1"/>
          <p:nvPr>
            <p:ph idx="3" type="subTitle"/>
          </p:nvPr>
        </p:nvSpPr>
        <p:spPr>
          <a:xfrm>
            <a:off x="7040775" y="2436050"/>
            <a:ext cx="1764000" cy="4317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800"/>
              <a:buNone/>
              <a:defRPr b="1">
                <a:solidFill>
                  <a:schemeClr val="dk1"/>
                </a:solidFill>
              </a:defRPr>
            </a:lvl1pPr>
            <a:lvl2pPr lvl="1" algn="ctr">
              <a:spcBef>
                <a:spcPts val="0"/>
              </a:spcBef>
              <a:spcAft>
                <a:spcPts val="0"/>
              </a:spcAft>
              <a:buClr>
                <a:schemeClr val="dk1"/>
              </a:buClr>
              <a:buSzPts val="1400"/>
              <a:buNone/>
              <a:defRPr b="1">
                <a:solidFill>
                  <a:schemeClr val="dk1"/>
                </a:solidFill>
              </a:defRPr>
            </a:lvl2pPr>
            <a:lvl3pPr lvl="2" algn="ctr">
              <a:spcBef>
                <a:spcPts val="0"/>
              </a:spcBef>
              <a:spcAft>
                <a:spcPts val="0"/>
              </a:spcAft>
              <a:buClr>
                <a:schemeClr val="dk1"/>
              </a:buClr>
              <a:buSzPts val="1400"/>
              <a:buNone/>
              <a:defRPr b="1">
                <a:solidFill>
                  <a:schemeClr val="dk1"/>
                </a:solidFill>
              </a:defRPr>
            </a:lvl3pPr>
            <a:lvl4pPr lvl="3" algn="ctr">
              <a:spcBef>
                <a:spcPts val="0"/>
              </a:spcBef>
              <a:spcAft>
                <a:spcPts val="0"/>
              </a:spcAft>
              <a:buClr>
                <a:schemeClr val="dk1"/>
              </a:buClr>
              <a:buSzPts val="1400"/>
              <a:buNone/>
              <a:defRPr b="1">
                <a:solidFill>
                  <a:schemeClr val="dk1"/>
                </a:solidFill>
              </a:defRPr>
            </a:lvl4pPr>
            <a:lvl5pPr lvl="4" algn="ctr">
              <a:spcBef>
                <a:spcPts val="0"/>
              </a:spcBef>
              <a:spcAft>
                <a:spcPts val="0"/>
              </a:spcAft>
              <a:buClr>
                <a:schemeClr val="dk1"/>
              </a:buClr>
              <a:buSzPts val="1400"/>
              <a:buNone/>
              <a:defRPr b="1">
                <a:solidFill>
                  <a:schemeClr val="dk1"/>
                </a:solidFill>
              </a:defRPr>
            </a:lvl5pPr>
            <a:lvl6pPr lvl="5" algn="ctr">
              <a:spcBef>
                <a:spcPts val="0"/>
              </a:spcBef>
              <a:spcAft>
                <a:spcPts val="0"/>
              </a:spcAft>
              <a:buClr>
                <a:schemeClr val="dk1"/>
              </a:buClr>
              <a:buSzPts val="1400"/>
              <a:buNone/>
              <a:defRPr b="1">
                <a:solidFill>
                  <a:schemeClr val="dk1"/>
                </a:solidFill>
              </a:defRPr>
            </a:lvl6pPr>
            <a:lvl7pPr lvl="6" algn="ctr">
              <a:spcBef>
                <a:spcPts val="0"/>
              </a:spcBef>
              <a:spcAft>
                <a:spcPts val="0"/>
              </a:spcAft>
              <a:buClr>
                <a:schemeClr val="dk1"/>
              </a:buClr>
              <a:buSzPts val="1400"/>
              <a:buNone/>
              <a:defRPr b="1">
                <a:solidFill>
                  <a:schemeClr val="dk1"/>
                </a:solidFill>
              </a:defRPr>
            </a:lvl7pPr>
            <a:lvl8pPr lvl="7" algn="ctr">
              <a:spcBef>
                <a:spcPts val="0"/>
              </a:spcBef>
              <a:spcAft>
                <a:spcPts val="0"/>
              </a:spcAft>
              <a:buClr>
                <a:schemeClr val="dk1"/>
              </a:buClr>
              <a:buSzPts val="1400"/>
              <a:buNone/>
              <a:defRPr b="1">
                <a:solidFill>
                  <a:schemeClr val="dk1"/>
                </a:solidFill>
              </a:defRPr>
            </a:lvl8pPr>
            <a:lvl9pPr lvl="8" algn="ctr">
              <a:spcBef>
                <a:spcPts val="0"/>
              </a:spcBef>
              <a:spcAft>
                <a:spcPts val="0"/>
              </a:spcAft>
              <a:buClr>
                <a:schemeClr val="dk1"/>
              </a:buClr>
              <a:buSzPts val="1400"/>
              <a:buNone/>
              <a:defRPr b="1">
                <a:solidFill>
                  <a:schemeClr val="dk1"/>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189" name="Shape 189"/>
        <p:cNvGrpSpPr/>
        <p:nvPr/>
      </p:nvGrpSpPr>
      <p:grpSpPr>
        <a:xfrm>
          <a:off x="0" y="0"/>
          <a:ext cx="0" cy="0"/>
          <a:chOff x="0" y="0"/>
          <a:chExt cx="0" cy="0"/>
        </a:xfrm>
      </p:grpSpPr>
      <p:pic>
        <p:nvPicPr>
          <p:cNvPr id="190" name="Google Shape;190;p30"/>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191" name="Google Shape;191;p30"/>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192" name="Google Shape;192;p30"/>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93" name="Google Shape;193;p30"/>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94" name="Google Shape;194;p30"/>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95" name="Google Shape;195;p3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96" name="Google Shape;196;p30"/>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197" name="Google Shape;197;p3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98" name="Google Shape;198;p3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199" name="Shape 199"/>
        <p:cNvGrpSpPr/>
        <p:nvPr/>
      </p:nvGrpSpPr>
      <p:grpSpPr>
        <a:xfrm>
          <a:off x="0" y="0"/>
          <a:ext cx="0" cy="0"/>
          <a:chOff x="0" y="0"/>
          <a:chExt cx="0" cy="0"/>
        </a:xfrm>
      </p:grpSpPr>
      <p:pic>
        <p:nvPicPr>
          <p:cNvPr id="200" name="Google Shape;200;p31"/>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201" name="Google Shape;201;p31"/>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202" name="Google Shape;202;p31"/>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203" name="Google Shape;203;p3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04" name="Google Shape;204;p3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05" name="Google Shape;205;p31"/>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31"/>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207" name="Google Shape;207;p31"/>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08" name="Google Shape;208;p31"/>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209" name="Google Shape;209;p31"/>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210" name="Shape 210"/>
        <p:cNvGrpSpPr/>
        <p:nvPr/>
      </p:nvGrpSpPr>
      <p:grpSpPr>
        <a:xfrm>
          <a:off x="0" y="0"/>
          <a:ext cx="0" cy="0"/>
          <a:chOff x="0" y="0"/>
          <a:chExt cx="0" cy="0"/>
        </a:xfrm>
      </p:grpSpPr>
      <p:pic>
        <p:nvPicPr>
          <p:cNvPr id="211" name="Google Shape;211;p32"/>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212" name="Google Shape;212;p32"/>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213" name="Google Shape;213;p32"/>
          <p:cNvPicPr preferRelativeResize="0"/>
          <p:nvPr/>
        </p:nvPicPr>
        <p:blipFill>
          <a:blip r:embed="rId4">
            <a:alphaModFix/>
          </a:blip>
          <a:stretch>
            <a:fillRect/>
          </a:stretch>
        </p:blipFill>
        <p:spPr>
          <a:xfrm>
            <a:off x="452400" y="439975"/>
            <a:ext cx="654950" cy="654950"/>
          </a:xfrm>
          <a:prstGeom prst="rect">
            <a:avLst/>
          </a:prstGeom>
          <a:noFill/>
          <a:ln>
            <a:noFill/>
          </a:ln>
        </p:spPr>
      </p:pic>
      <p:pic>
        <p:nvPicPr>
          <p:cNvPr id="214" name="Google Shape;214;p32"/>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215" name="Google Shape;215;p3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16" name="Google Shape;216;p32"/>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217" name="Google Shape;217;p3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218" name="Google Shape;218;p32"/>
          <p:cNvSpPr txBox="1"/>
          <p:nvPr>
            <p:ph idx="1"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219" name="Shape 219"/>
        <p:cNvGrpSpPr/>
        <p:nvPr/>
      </p:nvGrpSpPr>
      <p:grpSpPr>
        <a:xfrm>
          <a:off x="0" y="0"/>
          <a:ext cx="0" cy="0"/>
          <a:chOff x="0" y="0"/>
          <a:chExt cx="0" cy="0"/>
        </a:xfrm>
      </p:grpSpPr>
      <p:pic>
        <p:nvPicPr>
          <p:cNvPr id="220" name="Google Shape;220;p33"/>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221" name="Google Shape;221;p33"/>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222" name="Google Shape;222;p33"/>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223" name="Google Shape;223;p33"/>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24" name="Google Shape;224;p3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225" name="Google Shape;225;p3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26" name="Google Shape;226;p33"/>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227" name="Google Shape;227;p3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228" name="Google Shape;228;p33"/>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229" name="Shape 229"/>
        <p:cNvGrpSpPr/>
        <p:nvPr/>
      </p:nvGrpSpPr>
      <p:grpSpPr>
        <a:xfrm>
          <a:off x="0" y="0"/>
          <a:ext cx="0" cy="0"/>
          <a:chOff x="0" y="0"/>
          <a:chExt cx="0" cy="0"/>
        </a:xfrm>
      </p:grpSpPr>
      <p:pic>
        <p:nvPicPr>
          <p:cNvPr id="230" name="Google Shape;230;p34"/>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231" name="Google Shape;231;p3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32" name="Google Shape;232;p34"/>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233" name="Google Shape;233;p34"/>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234" name="Google Shape;234;p34"/>
          <p:cNvSpPr txBox="1"/>
          <p:nvPr/>
        </p:nvSpPr>
        <p:spPr>
          <a:xfrm>
            <a:off x="1050100" y="1332050"/>
            <a:ext cx="72048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235" name="Google Shape;235;p34"/>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236" name="Shape 236"/>
        <p:cNvGrpSpPr/>
        <p:nvPr/>
      </p:nvGrpSpPr>
      <p:grpSpPr>
        <a:xfrm>
          <a:off x="0" y="0"/>
          <a:ext cx="0" cy="0"/>
          <a:chOff x="0" y="0"/>
          <a:chExt cx="0" cy="0"/>
        </a:xfrm>
      </p:grpSpPr>
      <p:pic>
        <p:nvPicPr>
          <p:cNvPr descr="Divider1.png" id="237" name="Google Shape;237;p35"/>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238" name="Google Shape;238;p35"/>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9" name="Google Shape;239;p35"/>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240" name="Shape 240"/>
        <p:cNvGrpSpPr/>
        <p:nvPr/>
      </p:nvGrpSpPr>
      <p:grpSpPr>
        <a:xfrm>
          <a:off x="0" y="0"/>
          <a:ext cx="0" cy="0"/>
          <a:chOff x="0" y="0"/>
          <a:chExt cx="0" cy="0"/>
        </a:xfrm>
      </p:grpSpPr>
      <p:pic>
        <p:nvPicPr>
          <p:cNvPr id="241" name="Google Shape;241;p36"/>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242" name="Google Shape;242;p36"/>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243" name="Google Shape;243;p36"/>
          <p:cNvSpPr/>
          <p:nvPr/>
        </p:nvSpPr>
        <p:spPr>
          <a:xfrm>
            <a:off x="914400" y="1656900"/>
            <a:ext cx="7315200" cy="18297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36"/>
          <p:cNvSpPr txBox="1"/>
          <p:nvPr>
            <p:ph type="title"/>
          </p:nvPr>
        </p:nvSpPr>
        <p:spPr>
          <a:xfrm>
            <a:off x="914400" y="1656900"/>
            <a:ext cx="7315200" cy="18297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245" name="Shape 245"/>
        <p:cNvGrpSpPr/>
        <p:nvPr/>
      </p:nvGrpSpPr>
      <p:grpSpPr>
        <a:xfrm>
          <a:off x="0" y="0"/>
          <a:ext cx="0" cy="0"/>
          <a:chOff x="0" y="0"/>
          <a:chExt cx="0" cy="0"/>
        </a:xfrm>
      </p:grpSpPr>
      <p:pic>
        <p:nvPicPr>
          <p:cNvPr id="246" name="Google Shape;246;p37"/>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47" name="Shape 247"/>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248" name="Shape 248"/>
        <p:cNvGrpSpPr/>
        <p:nvPr/>
      </p:nvGrpSpPr>
      <p:grpSpPr>
        <a:xfrm>
          <a:off x="0" y="0"/>
          <a:ext cx="0" cy="0"/>
          <a:chOff x="0" y="0"/>
          <a:chExt cx="0" cy="0"/>
        </a:xfrm>
      </p:grpSpPr>
      <p:grpSp>
        <p:nvGrpSpPr>
          <p:cNvPr id="249" name="Google Shape;249;p39"/>
          <p:cNvGrpSpPr/>
          <p:nvPr/>
        </p:nvGrpSpPr>
        <p:grpSpPr>
          <a:xfrm>
            <a:off x="6262100" y="-3850"/>
            <a:ext cx="2886900" cy="485125"/>
            <a:chOff x="6262100" y="-3850"/>
            <a:chExt cx="2886900" cy="485125"/>
          </a:xfrm>
        </p:grpSpPr>
        <p:pic>
          <p:nvPicPr>
            <p:cNvPr descr="1.png" id="250" name="Google Shape;250;p39"/>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251" name="Google Shape;251;p39"/>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252" name="Google Shape;252;p39"/>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253" name="Google Shape;253;p39"/>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254" name="Google Shape;254;p39"/>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55" name="Google Shape;255;p3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56" name="Google Shape;256;p39"/>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257" name="Google Shape;257;p39"/>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258" name="Google Shape;258;p39"/>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259" name="Google Shape;259;p39"/>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260" name="Google Shape;260;p39"/>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261" name="Google Shape;261;p39"/>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262" name="Google Shape;262;p39"/>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266" name="Shape 266"/>
        <p:cNvGrpSpPr/>
        <p:nvPr/>
      </p:nvGrpSpPr>
      <p:grpSpPr>
        <a:xfrm>
          <a:off x="0" y="0"/>
          <a:ext cx="0" cy="0"/>
          <a:chOff x="0" y="0"/>
          <a:chExt cx="0" cy="0"/>
        </a:xfrm>
      </p:grpSpPr>
      <p:pic>
        <p:nvPicPr>
          <p:cNvPr id="267" name="Google Shape;267;p41"/>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268" name="Google Shape;268;p4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269" name="Shape 269"/>
        <p:cNvGrpSpPr/>
        <p:nvPr/>
      </p:nvGrpSpPr>
      <p:grpSpPr>
        <a:xfrm>
          <a:off x="0" y="0"/>
          <a:ext cx="0" cy="0"/>
          <a:chOff x="0" y="0"/>
          <a:chExt cx="0" cy="0"/>
        </a:xfrm>
      </p:grpSpPr>
      <p:pic>
        <p:nvPicPr>
          <p:cNvPr id="270" name="Google Shape;270;p42"/>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271" name="Google Shape;271;p42"/>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272" name="Google Shape;272;p4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73" name="Google Shape;273;p42"/>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274" name="Shape 274"/>
        <p:cNvGrpSpPr/>
        <p:nvPr/>
      </p:nvGrpSpPr>
      <p:grpSpPr>
        <a:xfrm>
          <a:off x="0" y="0"/>
          <a:ext cx="0" cy="0"/>
          <a:chOff x="0" y="0"/>
          <a:chExt cx="0" cy="0"/>
        </a:xfrm>
      </p:grpSpPr>
      <p:pic>
        <p:nvPicPr>
          <p:cNvPr descr="Divider4.png" id="275" name="Google Shape;275;p43"/>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276" name="Google Shape;276;p43"/>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277" name="Google Shape;277;p43"/>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278" name="Google Shape;278;p43"/>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279" name="Google Shape;279;p43"/>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280" name="Google Shape;280;p43"/>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281" name="Shape 281"/>
        <p:cNvGrpSpPr/>
        <p:nvPr/>
      </p:nvGrpSpPr>
      <p:grpSpPr>
        <a:xfrm>
          <a:off x="0" y="0"/>
          <a:ext cx="0" cy="0"/>
          <a:chOff x="0" y="0"/>
          <a:chExt cx="0" cy="0"/>
        </a:xfrm>
      </p:grpSpPr>
      <p:sp>
        <p:nvSpPr>
          <p:cNvPr id="282" name="Google Shape;282;p44"/>
          <p:cNvSpPr txBox="1"/>
          <p:nvPr/>
        </p:nvSpPr>
        <p:spPr>
          <a:xfrm>
            <a:off x="1147575" y="344400"/>
            <a:ext cx="7644600" cy="657000"/>
          </a:xfrm>
          <a:prstGeom prst="rect">
            <a:avLst/>
          </a:prstGeom>
          <a:noFill/>
          <a:ln>
            <a:noFill/>
          </a:ln>
        </p:spPr>
        <p:txBody>
          <a:bodyPr anchorCtr="0" anchor="ctr"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How are we going to get there?</a:t>
            </a:r>
            <a:endParaRPr b="1" sz="2400">
              <a:solidFill>
                <a:srgbClr val="05103E"/>
              </a:solidFill>
              <a:latin typeface="Space Mono"/>
              <a:ea typeface="Space Mono"/>
              <a:cs typeface="Space Mono"/>
              <a:sym typeface="Space Mono"/>
            </a:endParaRPr>
          </a:p>
        </p:txBody>
      </p:sp>
      <p:grpSp>
        <p:nvGrpSpPr>
          <p:cNvPr id="283" name="Google Shape;283;p44"/>
          <p:cNvGrpSpPr/>
          <p:nvPr/>
        </p:nvGrpSpPr>
        <p:grpSpPr>
          <a:xfrm rot="5400000">
            <a:off x="5719749" y="1629787"/>
            <a:ext cx="4964577" cy="1883925"/>
            <a:chOff x="4152224" y="1218499"/>
            <a:chExt cx="4964577" cy="1883925"/>
          </a:xfrm>
        </p:grpSpPr>
        <p:pic>
          <p:nvPicPr>
            <p:cNvPr id="284" name="Google Shape;284;p44"/>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285" name="Google Shape;285;p44"/>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286" name="Google Shape;286;p4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87" name="Google Shape;287;p4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288" name="Google Shape;288;p44"/>
          <p:cNvPicPr preferRelativeResize="0"/>
          <p:nvPr/>
        </p:nvPicPr>
        <p:blipFill>
          <a:blip r:embed="rId5">
            <a:alphaModFix/>
          </a:blip>
          <a:stretch>
            <a:fillRect/>
          </a:stretch>
        </p:blipFill>
        <p:spPr>
          <a:xfrm>
            <a:off x="499775" y="420262"/>
            <a:ext cx="505275" cy="505275"/>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289" name="Shape 289"/>
        <p:cNvGrpSpPr/>
        <p:nvPr/>
      </p:nvGrpSpPr>
      <p:grpSpPr>
        <a:xfrm>
          <a:off x="0" y="0"/>
          <a:ext cx="0" cy="0"/>
          <a:chOff x="0" y="0"/>
          <a:chExt cx="0" cy="0"/>
        </a:xfrm>
      </p:grpSpPr>
      <p:pic>
        <p:nvPicPr>
          <p:cNvPr id="290" name="Google Shape;290;p45"/>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291" name="Google Shape;291;p45"/>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292" name="Google Shape;292;p45"/>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293" name="Google Shape;293;p45"/>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294" name="Google Shape;294;p4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95" name="Google Shape;295;p4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296" name="Google Shape;296;p45"/>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297" name="Google Shape;297;p45"/>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298" name="Shape 298"/>
        <p:cNvGrpSpPr/>
        <p:nvPr/>
      </p:nvGrpSpPr>
      <p:grpSpPr>
        <a:xfrm>
          <a:off x="0" y="0"/>
          <a:ext cx="0" cy="0"/>
          <a:chOff x="0" y="0"/>
          <a:chExt cx="0" cy="0"/>
        </a:xfrm>
      </p:grpSpPr>
      <p:pic>
        <p:nvPicPr>
          <p:cNvPr id="299" name="Google Shape;299;p46"/>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300" name="Google Shape;300;p46"/>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301" name="Google Shape;301;p46"/>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302" name="Google Shape;302;p46"/>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303" name="Google Shape;303;p4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04" name="Google Shape;304;p4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05" name="Google Shape;305;p46"/>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306" name="Shape 306"/>
        <p:cNvGrpSpPr/>
        <p:nvPr/>
      </p:nvGrpSpPr>
      <p:grpSpPr>
        <a:xfrm>
          <a:off x="0" y="0"/>
          <a:ext cx="0" cy="0"/>
          <a:chOff x="0" y="0"/>
          <a:chExt cx="0" cy="0"/>
        </a:xfrm>
      </p:grpSpPr>
      <p:pic>
        <p:nvPicPr>
          <p:cNvPr id="307" name="Google Shape;307;p47"/>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08" name="Google Shape;308;p47"/>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309" name="Google Shape;309;p47"/>
          <p:cNvGrpSpPr/>
          <p:nvPr/>
        </p:nvGrpSpPr>
        <p:grpSpPr>
          <a:xfrm>
            <a:off x="5709066" y="201260"/>
            <a:ext cx="2296623" cy="4424889"/>
            <a:chOff x="5598780" y="137712"/>
            <a:chExt cx="2577001" cy="4664652"/>
          </a:xfrm>
        </p:grpSpPr>
        <p:pic>
          <p:nvPicPr>
            <p:cNvPr id="310" name="Google Shape;310;p47"/>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311" name="Google Shape;311;p47"/>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2" name="Google Shape;312;p47"/>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13" name="Google Shape;313;p4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14" name="Google Shape;314;p4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15" name="Google Shape;315;p47"/>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316" name="Shape 316"/>
        <p:cNvGrpSpPr/>
        <p:nvPr/>
      </p:nvGrpSpPr>
      <p:grpSpPr>
        <a:xfrm>
          <a:off x="0" y="0"/>
          <a:ext cx="0" cy="0"/>
          <a:chOff x="0" y="0"/>
          <a:chExt cx="0" cy="0"/>
        </a:xfrm>
      </p:grpSpPr>
      <p:pic>
        <p:nvPicPr>
          <p:cNvPr id="317" name="Google Shape;317;p48"/>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18" name="Google Shape;318;p48"/>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19" name="Google Shape;319;p48"/>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20" name="Google Shape;320;p48"/>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21" name="Google Shape;321;p4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22" name="Google Shape;322;p48"/>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3" name="Google Shape;323;p48"/>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324" name="Shape 324"/>
        <p:cNvGrpSpPr/>
        <p:nvPr/>
      </p:nvGrpSpPr>
      <p:grpSpPr>
        <a:xfrm>
          <a:off x="0" y="0"/>
          <a:ext cx="0" cy="0"/>
          <a:chOff x="0" y="0"/>
          <a:chExt cx="0" cy="0"/>
        </a:xfrm>
      </p:grpSpPr>
      <p:pic>
        <p:nvPicPr>
          <p:cNvPr id="325" name="Google Shape;325;p49"/>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326" name="Google Shape;326;p49"/>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27" name="Google Shape;327;p49"/>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28" name="Google Shape;328;p49"/>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29" name="Google Shape;329;p4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330" name="Google Shape;330;p49"/>
          <p:cNvGrpSpPr/>
          <p:nvPr/>
        </p:nvGrpSpPr>
        <p:grpSpPr>
          <a:xfrm>
            <a:off x="4344100" y="398125"/>
            <a:ext cx="4546500" cy="4222800"/>
            <a:chOff x="4344100" y="398125"/>
            <a:chExt cx="4546500" cy="4222800"/>
          </a:xfrm>
        </p:grpSpPr>
        <p:sp>
          <p:nvSpPr>
            <p:cNvPr id="331" name="Google Shape;331;p49"/>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2" name="Google Shape;332;p49"/>
            <p:cNvGrpSpPr/>
            <p:nvPr/>
          </p:nvGrpSpPr>
          <p:grpSpPr>
            <a:xfrm>
              <a:off x="4445450" y="524200"/>
              <a:ext cx="399495" cy="101100"/>
              <a:chOff x="4445450" y="524200"/>
              <a:chExt cx="399495" cy="101100"/>
            </a:xfrm>
          </p:grpSpPr>
          <p:sp>
            <p:nvSpPr>
              <p:cNvPr id="333" name="Google Shape;333;p49"/>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49"/>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49"/>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6" name="Google Shape;336;p49"/>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337" name="Shape 337"/>
        <p:cNvGrpSpPr/>
        <p:nvPr/>
      </p:nvGrpSpPr>
      <p:grpSpPr>
        <a:xfrm>
          <a:off x="0" y="0"/>
          <a:ext cx="0" cy="0"/>
          <a:chOff x="0" y="0"/>
          <a:chExt cx="0" cy="0"/>
        </a:xfrm>
      </p:grpSpPr>
      <p:pic>
        <p:nvPicPr>
          <p:cNvPr id="338" name="Google Shape;338;p50"/>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39" name="Google Shape;339;p50"/>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40" name="Google Shape;340;p50"/>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41" name="Google Shape;341;p50"/>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42" name="Google Shape;342;p5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343" name="Shape 343"/>
        <p:cNvGrpSpPr/>
        <p:nvPr/>
      </p:nvGrpSpPr>
      <p:grpSpPr>
        <a:xfrm>
          <a:off x="0" y="0"/>
          <a:ext cx="0" cy="0"/>
          <a:chOff x="0" y="0"/>
          <a:chExt cx="0" cy="0"/>
        </a:xfrm>
      </p:grpSpPr>
      <p:pic>
        <p:nvPicPr>
          <p:cNvPr id="344" name="Google Shape;344;p51"/>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345" name="Google Shape;345;p51"/>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51"/>
          <p:cNvSpPr txBox="1"/>
          <p:nvPr/>
        </p:nvSpPr>
        <p:spPr>
          <a:xfrm>
            <a:off x="357200" y="408225"/>
            <a:ext cx="4419000" cy="461700"/>
          </a:xfrm>
          <a:prstGeom prst="rect">
            <a:avLst/>
          </a:prstGeom>
          <a:noFill/>
          <a:ln>
            <a:noFill/>
          </a:ln>
        </p:spPr>
        <p:txBody>
          <a:bodyPr anchorCtr="0" anchor="t" bIns="91425" lIns="91425" spcFirstLastPara="1" rIns="91425" wrap="square" tIns="91425">
            <a:no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347" name="Google Shape;347;p51"/>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48" name="Google Shape;348;p5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49" name="Google Shape;349;p51"/>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50" name="Google Shape;350;p51"/>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351" name="Google Shape;351;p51"/>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352" name="Shape 352"/>
        <p:cNvGrpSpPr/>
        <p:nvPr/>
      </p:nvGrpSpPr>
      <p:grpSpPr>
        <a:xfrm>
          <a:off x="0" y="0"/>
          <a:ext cx="0" cy="0"/>
          <a:chOff x="0" y="0"/>
          <a:chExt cx="0" cy="0"/>
        </a:xfrm>
      </p:grpSpPr>
      <p:pic>
        <p:nvPicPr>
          <p:cNvPr id="353" name="Google Shape;353;p52"/>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354" name="Google Shape;354;p52"/>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355" name="Google Shape;355;p52"/>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56" name="Google Shape;356;p5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57" name="Google Shape;357;p5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58" name="Google Shape;358;p52"/>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359" name="Google Shape;359;p5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60" name="Google Shape;360;p5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61" name="Google Shape;361;p52"/>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362" name="Shape 362"/>
        <p:cNvGrpSpPr/>
        <p:nvPr/>
      </p:nvGrpSpPr>
      <p:grpSpPr>
        <a:xfrm>
          <a:off x="0" y="0"/>
          <a:ext cx="0" cy="0"/>
          <a:chOff x="0" y="0"/>
          <a:chExt cx="0" cy="0"/>
        </a:xfrm>
      </p:grpSpPr>
      <p:pic>
        <p:nvPicPr>
          <p:cNvPr id="363" name="Google Shape;363;p53"/>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364" name="Google Shape;364;p53"/>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365" name="Google Shape;365;p53"/>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66" name="Google Shape;366;p5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67" name="Google Shape;367;p5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368" name="Google Shape;368;p53"/>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369" name="Google Shape;369;p53"/>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370" name="Google Shape;370;p53"/>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371" name="Shape 371"/>
        <p:cNvGrpSpPr/>
        <p:nvPr/>
      </p:nvGrpSpPr>
      <p:grpSpPr>
        <a:xfrm>
          <a:off x="0" y="0"/>
          <a:ext cx="0" cy="0"/>
          <a:chOff x="0" y="0"/>
          <a:chExt cx="0" cy="0"/>
        </a:xfrm>
      </p:grpSpPr>
      <p:pic>
        <p:nvPicPr>
          <p:cNvPr id="372" name="Google Shape;372;p54"/>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373" name="Google Shape;373;p54"/>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374" name="Google Shape;374;p54"/>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375" name="Google Shape;375;p54"/>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76" name="Google Shape;376;p5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77" name="Google Shape;377;p5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78" name="Google Shape;378;p54"/>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379" name="Google Shape;379;p5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80" name="Google Shape;380;p54"/>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381" name="Shape 381"/>
        <p:cNvGrpSpPr/>
        <p:nvPr/>
      </p:nvGrpSpPr>
      <p:grpSpPr>
        <a:xfrm>
          <a:off x="0" y="0"/>
          <a:ext cx="0" cy="0"/>
          <a:chOff x="0" y="0"/>
          <a:chExt cx="0" cy="0"/>
        </a:xfrm>
      </p:grpSpPr>
      <p:pic>
        <p:nvPicPr>
          <p:cNvPr id="382" name="Google Shape;382;p55"/>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383" name="Google Shape;383;p55"/>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384" name="Google Shape;384;p55"/>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385" name="Google Shape;385;p55"/>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86" name="Google Shape;386;p55"/>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87" name="Google Shape;387;p5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88" name="Google Shape;388;p5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389" name="Google Shape;389;p5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90" name="Google Shape;390;p5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391" name="Shape 391"/>
        <p:cNvGrpSpPr/>
        <p:nvPr/>
      </p:nvGrpSpPr>
      <p:grpSpPr>
        <a:xfrm>
          <a:off x="0" y="0"/>
          <a:ext cx="0" cy="0"/>
          <a:chOff x="0" y="0"/>
          <a:chExt cx="0" cy="0"/>
        </a:xfrm>
      </p:grpSpPr>
      <p:pic>
        <p:nvPicPr>
          <p:cNvPr id="392" name="Google Shape;392;p56"/>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393" name="Google Shape;393;p56"/>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394" name="Google Shape;394;p56"/>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395" name="Google Shape;395;p56"/>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96" name="Google Shape;396;p5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97" name="Google Shape;397;p5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98" name="Google Shape;398;p5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399" name="Google Shape;399;p56"/>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00" name="Google Shape;400;p56"/>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401" name="Shape 401"/>
        <p:cNvGrpSpPr/>
        <p:nvPr/>
      </p:nvGrpSpPr>
      <p:grpSpPr>
        <a:xfrm>
          <a:off x="0" y="0"/>
          <a:ext cx="0" cy="0"/>
          <a:chOff x="0" y="0"/>
          <a:chExt cx="0" cy="0"/>
        </a:xfrm>
      </p:grpSpPr>
      <p:pic>
        <p:nvPicPr>
          <p:cNvPr id="402" name="Google Shape;402;p57"/>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403" name="Google Shape;403;p57"/>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404" name="Google Shape;404;p57"/>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05" name="Google Shape;405;p57"/>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06" name="Google Shape;406;p5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07" name="Google Shape;407;p5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08" name="Google Shape;408;p57"/>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409" name="Google Shape;409;p5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10" name="Google Shape;410;p5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411" name="Shape 411"/>
        <p:cNvGrpSpPr/>
        <p:nvPr/>
      </p:nvGrpSpPr>
      <p:grpSpPr>
        <a:xfrm>
          <a:off x="0" y="0"/>
          <a:ext cx="0" cy="0"/>
          <a:chOff x="0" y="0"/>
          <a:chExt cx="0" cy="0"/>
        </a:xfrm>
      </p:grpSpPr>
      <p:pic>
        <p:nvPicPr>
          <p:cNvPr id="412" name="Google Shape;412;p58"/>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413" name="Google Shape;413;p58"/>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414" name="Google Shape;414;p58"/>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415" name="Google Shape;415;p5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16" name="Google Shape;416;p5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17" name="Google Shape;417;p58"/>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58"/>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419" name="Google Shape;419;p58"/>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20" name="Google Shape;420;p58"/>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421" name="Google Shape;421;p58"/>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422" name="Shape 422"/>
        <p:cNvGrpSpPr/>
        <p:nvPr/>
      </p:nvGrpSpPr>
      <p:grpSpPr>
        <a:xfrm>
          <a:off x="0" y="0"/>
          <a:ext cx="0" cy="0"/>
          <a:chOff x="0" y="0"/>
          <a:chExt cx="0" cy="0"/>
        </a:xfrm>
      </p:grpSpPr>
      <p:pic>
        <p:nvPicPr>
          <p:cNvPr id="423" name="Google Shape;423;p59"/>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424" name="Google Shape;424;p59"/>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425" name="Google Shape;425;p5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26" name="Google Shape;426;p59"/>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27" name="Google Shape;427;p5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28" name="Google Shape;428;p5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29" name="Google Shape;429;p59"/>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430" name="Google Shape;430;p5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31" name="Google Shape;431;p5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432" name="Shape 432"/>
        <p:cNvGrpSpPr/>
        <p:nvPr/>
      </p:nvGrpSpPr>
      <p:grpSpPr>
        <a:xfrm>
          <a:off x="0" y="0"/>
          <a:ext cx="0" cy="0"/>
          <a:chOff x="0" y="0"/>
          <a:chExt cx="0" cy="0"/>
        </a:xfrm>
      </p:grpSpPr>
      <p:pic>
        <p:nvPicPr>
          <p:cNvPr id="433" name="Google Shape;433;p60"/>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434" name="Google Shape;434;p60"/>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435" name="Google Shape;435;p60"/>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36" name="Google Shape;436;p60"/>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37" name="Google Shape;437;p60"/>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38" name="Google Shape;438;p6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39" name="Google Shape;439;p60"/>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440" name="Google Shape;440;p6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41" name="Google Shape;441;p6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442" name="Shape 442"/>
        <p:cNvGrpSpPr/>
        <p:nvPr/>
      </p:nvGrpSpPr>
      <p:grpSpPr>
        <a:xfrm>
          <a:off x="0" y="0"/>
          <a:ext cx="0" cy="0"/>
          <a:chOff x="0" y="0"/>
          <a:chExt cx="0" cy="0"/>
        </a:xfrm>
      </p:grpSpPr>
      <p:pic>
        <p:nvPicPr>
          <p:cNvPr id="443" name="Google Shape;443;p61"/>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444" name="Google Shape;444;p6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45" name="Google Shape;445;p61"/>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446" name="Google Shape;446;p61"/>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447" name="Google Shape;447;p61"/>
          <p:cNvSpPr txBox="1"/>
          <p:nvPr/>
        </p:nvSpPr>
        <p:spPr>
          <a:xfrm>
            <a:off x="1050100" y="1332050"/>
            <a:ext cx="7204800" cy="267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448" name="Google Shape;448;p61"/>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449" name="Shape 449"/>
        <p:cNvGrpSpPr/>
        <p:nvPr/>
      </p:nvGrpSpPr>
      <p:grpSpPr>
        <a:xfrm>
          <a:off x="0" y="0"/>
          <a:ext cx="0" cy="0"/>
          <a:chOff x="0" y="0"/>
          <a:chExt cx="0" cy="0"/>
        </a:xfrm>
      </p:grpSpPr>
      <p:pic>
        <p:nvPicPr>
          <p:cNvPr descr="Divider1.png" id="450" name="Google Shape;450;p62"/>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451" name="Google Shape;451;p62"/>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52" name="Google Shape;452;p62"/>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453" name="Shape 453"/>
        <p:cNvGrpSpPr/>
        <p:nvPr/>
      </p:nvGrpSpPr>
      <p:grpSpPr>
        <a:xfrm>
          <a:off x="0" y="0"/>
          <a:ext cx="0" cy="0"/>
          <a:chOff x="0" y="0"/>
          <a:chExt cx="0" cy="0"/>
        </a:xfrm>
      </p:grpSpPr>
      <p:pic>
        <p:nvPicPr>
          <p:cNvPr id="454" name="Google Shape;454;p63"/>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455" name="Google Shape;455;p63"/>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456" name="Google Shape;456;p63"/>
          <p:cNvSpPr/>
          <p:nvPr/>
        </p:nvSpPr>
        <p:spPr>
          <a:xfrm>
            <a:off x="1071950" y="892850"/>
            <a:ext cx="5283900" cy="28203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63"/>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458" name="Shape 458"/>
        <p:cNvGrpSpPr/>
        <p:nvPr/>
      </p:nvGrpSpPr>
      <p:grpSpPr>
        <a:xfrm>
          <a:off x="0" y="0"/>
          <a:ext cx="0" cy="0"/>
          <a:chOff x="0" y="0"/>
          <a:chExt cx="0" cy="0"/>
        </a:xfrm>
      </p:grpSpPr>
      <p:pic>
        <p:nvPicPr>
          <p:cNvPr id="459" name="Google Shape;459;p64"/>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460" name="Shape 460"/>
        <p:cNvGrpSpPr/>
        <p:nvPr/>
      </p:nvGrpSpPr>
      <p:grpSpPr>
        <a:xfrm>
          <a:off x="0" y="0"/>
          <a:ext cx="0" cy="0"/>
          <a:chOff x="0" y="0"/>
          <a:chExt cx="0" cy="0"/>
        </a:xfrm>
      </p:grpSpPr>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461" name="Shape 461"/>
        <p:cNvGrpSpPr/>
        <p:nvPr/>
      </p:nvGrpSpPr>
      <p:grpSpPr>
        <a:xfrm>
          <a:off x="0" y="0"/>
          <a:ext cx="0" cy="0"/>
          <a:chOff x="0" y="0"/>
          <a:chExt cx="0" cy="0"/>
        </a:xfrm>
      </p:grpSpPr>
      <p:grpSp>
        <p:nvGrpSpPr>
          <p:cNvPr id="462" name="Google Shape;462;p66"/>
          <p:cNvGrpSpPr/>
          <p:nvPr/>
        </p:nvGrpSpPr>
        <p:grpSpPr>
          <a:xfrm>
            <a:off x="6262100" y="-3850"/>
            <a:ext cx="2886900" cy="485125"/>
            <a:chOff x="6262100" y="-3850"/>
            <a:chExt cx="2886900" cy="485125"/>
          </a:xfrm>
        </p:grpSpPr>
        <p:pic>
          <p:nvPicPr>
            <p:cNvPr descr="1.png" id="463" name="Google Shape;463;p66"/>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464" name="Google Shape;464;p66"/>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465" name="Google Shape;465;p66"/>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466" name="Google Shape;466;p66"/>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467" name="Google Shape;467;p6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68" name="Google Shape;468;p6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69" name="Google Shape;469;p66"/>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470" name="Google Shape;470;p66"/>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471" name="Google Shape;471;p66"/>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472" name="Google Shape;472;p66"/>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473" name="Google Shape;473;p66"/>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474" name="Google Shape;474;p66"/>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475" name="Google Shape;475;p66"/>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Intro">
  <p:cSld name="CUSTOM_6_2_1_1_1_2_1">
    <p:spTree>
      <p:nvGrpSpPr>
        <p:cNvPr id="476" name="Shape 476"/>
        <p:cNvGrpSpPr/>
        <p:nvPr/>
      </p:nvGrpSpPr>
      <p:grpSpPr>
        <a:xfrm>
          <a:off x="0" y="0"/>
          <a:ext cx="0" cy="0"/>
          <a:chOff x="0" y="0"/>
          <a:chExt cx="0" cy="0"/>
        </a:xfrm>
      </p:grpSpPr>
      <p:pic>
        <p:nvPicPr>
          <p:cNvPr id="477" name="Google Shape;477;p67"/>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478" name="Google Shape;478;p67"/>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479" name="Google Shape;479;p6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80" name="Google Shape;480;p6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81" name="Google Shape;481;p67"/>
          <p:cNvSpPr txBox="1"/>
          <p:nvPr/>
        </p:nvSpPr>
        <p:spPr>
          <a:xfrm>
            <a:off x="565375" y="333100"/>
            <a:ext cx="5005800" cy="4080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Meet the Instructor</a:t>
            </a:r>
            <a:endParaRPr sz="2600">
              <a:solidFill>
                <a:srgbClr val="05103E"/>
              </a:solidFill>
              <a:latin typeface="Space Mono"/>
              <a:ea typeface="Space Mono"/>
              <a:cs typeface="Space Mono"/>
              <a:sym typeface="Space Mono"/>
            </a:endParaRPr>
          </a:p>
        </p:txBody>
      </p:sp>
      <p:sp>
        <p:nvSpPr>
          <p:cNvPr id="482" name="Google Shape;482;p67"/>
          <p:cNvSpPr/>
          <p:nvPr>
            <p:ph idx="2" type="pic"/>
          </p:nvPr>
        </p:nvSpPr>
        <p:spPr>
          <a:xfrm>
            <a:off x="592550" y="1010825"/>
            <a:ext cx="2579400" cy="2289000"/>
          </a:xfrm>
          <a:prstGeom prst="roundRect">
            <a:avLst>
              <a:gd fmla="val 7884" name="adj"/>
            </a:avLst>
          </a:prstGeom>
          <a:noFill/>
          <a:ln cap="flat" cmpd="sng" w="28575">
            <a:solidFill>
              <a:srgbClr val="00C384"/>
            </a:solidFill>
            <a:prstDash val="solid"/>
            <a:round/>
            <a:headEnd len="sm" w="sm" type="none"/>
            <a:tailEnd len="sm" w="sm" type="none"/>
          </a:ln>
        </p:spPr>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486" name="Shape 486"/>
        <p:cNvGrpSpPr/>
        <p:nvPr/>
      </p:nvGrpSpPr>
      <p:grpSpPr>
        <a:xfrm>
          <a:off x="0" y="0"/>
          <a:ext cx="0" cy="0"/>
          <a:chOff x="0" y="0"/>
          <a:chExt cx="0" cy="0"/>
        </a:xfrm>
      </p:grpSpPr>
      <p:pic>
        <p:nvPicPr>
          <p:cNvPr id="487" name="Google Shape;487;p69"/>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488" name="Google Shape;488;p6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489" name="Shape 489"/>
        <p:cNvGrpSpPr/>
        <p:nvPr/>
      </p:nvGrpSpPr>
      <p:grpSpPr>
        <a:xfrm>
          <a:off x="0" y="0"/>
          <a:ext cx="0" cy="0"/>
          <a:chOff x="0" y="0"/>
          <a:chExt cx="0" cy="0"/>
        </a:xfrm>
      </p:grpSpPr>
      <p:pic>
        <p:nvPicPr>
          <p:cNvPr id="490" name="Google Shape;490;p70"/>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491" name="Google Shape;491;p70"/>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492" name="Google Shape;492;p7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93" name="Google Shape;493;p70"/>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494" name="Shape 494"/>
        <p:cNvGrpSpPr/>
        <p:nvPr/>
      </p:nvGrpSpPr>
      <p:grpSpPr>
        <a:xfrm>
          <a:off x="0" y="0"/>
          <a:ext cx="0" cy="0"/>
          <a:chOff x="0" y="0"/>
          <a:chExt cx="0" cy="0"/>
        </a:xfrm>
      </p:grpSpPr>
      <p:pic>
        <p:nvPicPr>
          <p:cNvPr descr="Divider4.png" id="495" name="Google Shape;495;p71"/>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496" name="Google Shape;496;p71"/>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497" name="Google Shape;497;p71"/>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498" name="Google Shape;498;p71"/>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499" name="Google Shape;499;p71"/>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500" name="Google Shape;500;p71"/>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501" name="Shape 501"/>
        <p:cNvGrpSpPr/>
        <p:nvPr/>
      </p:nvGrpSpPr>
      <p:grpSpPr>
        <a:xfrm>
          <a:off x="0" y="0"/>
          <a:ext cx="0" cy="0"/>
          <a:chOff x="0" y="0"/>
          <a:chExt cx="0" cy="0"/>
        </a:xfrm>
      </p:grpSpPr>
      <p:sp>
        <p:nvSpPr>
          <p:cNvPr id="502" name="Google Shape;502;p72"/>
          <p:cNvSpPr txBox="1"/>
          <p:nvPr/>
        </p:nvSpPr>
        <p:spPr>
          <a:xfrm>
            <a:off x="1147575" y="344400"/>
            <a:ext cx="7644600" cy="657000"/>
          </a:xfrm>
          <a:prstGeom prst="rect">
            <a:avLst/>
          </a:prstGeom>
          <a:noFill/>
          <a:ln>
            <a:noFill/>
          </a:ln>
        </p:spPr>
        <p:txBody>
          <a:bodyPr anchorCtr="0" anchor="ctr"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How are we going to get there?</a:t>
            </a:r>
            <a:endParaRPr b="1" sz="2400">
              <a:solidFill>
                <a:srgbClr val="05103E"/>
              </a:solidFill>
              <a:latin typeface="Space Mono"/>
              <a:ea typeface="Space Mono"/>
              <a:cs typeface="Space Mono"/>
              <a:sym typeface="Space Mono"/>
            </a:endParaRPr>
          </a:p>
        </p:txBody>
      </p:sp>
      <p:grpSp>
        <p:nvGrpSpPr>
          <p:cNvPr id="503" name="Google Shape;503;p72"/>
          <p:cNvGrpSpPr/>
          <p:nvPr/>
        </p:nvGrpSpPr>
        <p:grpSpPr>
          <a:xfrm rot="5400000">
            <a:off x="5719749" y="1629787"/>
            <a:ext cx="4964577" cy="1883925"/>
            <a:chOff x="4152224" y="1218499"/>
            <a:chExt cx="4964577" cy="1883925"/>
          </a:xfrm>
        </p:grpSpPr>
        <p:pic>
          <p:nvPicPr>
            <p:cNvPr id="504" name="Google Shape;504;p72"/>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505" name="Google Shape;505;p72"/>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506" name="Google Shape;506;p7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07" name="Google Shape;507;p7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508" name="Google Shape;508;p72"/>
          <p:cNvPicPr preferRelativeResize="0"/>
          <p:nvPr/>
        </p:nvPicPr>
        <p:blipFill>
          <a:blip r:embed="rId5">
            <a:alphaModFix/>
          </a:blip>
          <a:stretch>
            <a:fillRect/>
          </a:stretch>
        </p:blipFill>
        <p:spPr>
          <a:xfrm>
            <a:off x="499775" y="420262"/>
            <a:ext cx="505275" cy="505275"/>
          </a:xfrm>
          <a:prstGeom prst="rect">
            <a:avLst/>
          </a:prstGeom>
          <a:noFill/>
          <a:ln>
            <a:noFill/>
          </a:ln>
        </p:spPr>
      </p:pic>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509" name="Shape 509"/>
        <p:cNvGrpSpPr/>
        <p:nvPr/>
      </p:nvGrpSpPr>
      <p:grpSpPr>
        <a:xfrm>
          <a:off x="0" y="0"/>
          <a:ext cx="0" cy="0"/>
          <a:chOff x="0" y="0"/>
          <a:chExt cx="0" cy="0"/>
        </a:xfrm>
      </p:grpSpPr>
      <p:pic>
        <p:nvPicPr>
          <p:cNvPr id="510" name="Google Shape;510;p73"/>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511" name="Google Shape;511;p73"/>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512" name="Google Shape;512;p73"/>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13" name="Google Shape;513;p73"/>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14" name="Google Shape;514;p7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15" name="Google Shape;515;p7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516" name="Google Shape;516;p73"/>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517" name="Google Shape;517;p73"/>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518" name="Shape 518"/>
        <p:cNvGrpSpPr/>
        <p:nvPr/>
      </p:nvGrpSpPr>
      <p:grpSpPr>
        <a:xfrm>
          <a:off x="0" y="0"/>
          <a:ext cx="0" cy="0"/>
          <a:chOff x="0" y="0"/>
          <a:chExt cx="0" cy="0"/>
        </a:xfrm>
      </p:grpSpPr>
      <p:pic>
        <p:nvPicPr>
          <p:cNvPr id="519" name="Google Shape;519;p74"/>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520" name="Google Shape;520;p74"/>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521" name="Google Shape;521;p74"/>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522" name="Google Shape;522;p74"/>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523" name="Google Shape;523;p7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524" name="Google Shape;524;p7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25" name="Google Shape;525;p74"/>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526" name="Shape 526"/>
        <p:cNvGrpSpPr/>
        <p:nvPr/>
      </p:nvGrpSpPr>
      <p:grpSpPr>
        <a:xfrm>
          <a:off x="0" y="0"/>
          <a:ext cx="0" cy="0"/>
          <a:chOff x="0" y="0"/>
          <a:chExt cx="0" cy="0"/>
        </a:xfrm>
      </p:grpSpPr>
      <p:pic>
        <p:nvPicPr>
          <p:cNvPr id="527" name="Google Shape;527;p75"/>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528" name="Google Shape;528;p75"/>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529" name="Google Shape;529;p75"/>
          <p:cNvGrpSpPr/>
          <p:nvPr/>
        </p:nvGrpSpPr>
        <p:grpSpPr>
          <a:xfrm>
            <a:off x="5709066" y="201260"/>
            <a:ext cx="2296623" cy="4424889"/>
            <a:chOff x="5598780" y="137712"/>
            <a:chExt cx="2577001" cy="4664652"/>
          </a:xfrm>
        </p:grpSpPr>
        <p:pic>
          <p:nvPicPr>
            <p:cNvPr id="530" name="Google Shape;530;p75"/>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531" name="Google Shape;531;p75"/>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2" name="Google Shape;532;p75"/>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33" name="Google Shape;533;p7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34" name="Google Shape;534;p7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35" name="Google Shape;535;p75"/>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536" name="Shape 536"/>
        <p:cNvGrpSpPr/>
        <p:nvPr/>
      </p:nvGrpSpPr>
      <p:grpSpPr>
        <a:xfrm>
          <a:off x="0" y="0"/>
          <a:ext cx="0" cy="0"/>
          <a:chOff x="0" y="0"/>
          <a:chExt cx="0" cy="0"/>
        </a:xfrm>
      </p:grpSpPr>
      <p:pic>
        <p:nvPicPr>
          <p:cNvPr id="537" name="Google Shape;537;p76"/>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538" name="Google Shape;538;p76"/>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39" name="Google Shape;539;p76"/>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40" name="Google Shape;540;p76"/>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41" name="Google Shape;541;p7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42" name="Google Shape;542;p76"/>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43" name="Google Shape;543;p76"/>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544" name="Shape 544"/>
        <p:cNvGrpSpPr/>
        <p:nvPr/>
      </p:nvGrpSpPr>
      <p:grpSpPr>
        <a:xfrm>
          <a:off x="0" y="0"/>
          <a:ext cx="0" cy="0"/>
          <a:chOff x="0" y="0"/>
          <a:chExt cx="0" cy="0"/>
        </a:xfrm>
      </p:grpSpPr>
      <p:pic>
        <p:nvPicPr>
          <p:cNvPr id="545" name="Google Shape;545;p77"/>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546" name="Google Shape;546;p77"/>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47" name="Google Shape;547;p77"/>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48" name="Google Shape;548;p77"/>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49" name="Google Shape;549;p7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550" name="Google Shape;550;p77"/>
          <p:cNvGrpSpPr/>
          <p:nvPr/>
        </p:nvGrpSpPr>
        <p:grpSpPr>
          <a:xfrm>
            <a:off x="4344100" y="398125"/>
            <a:ext cx="4546500" cy="4222800"/>
            <a:chOff x="4344100" y="398125"/>
            <a:chExt cx="4546500" cy="4222800"/>
          </a:xfrm>
        </p:grpSpPr>
        <p:sp>
          <p:nvSpPr>
            <p:cNvPr id="551" name="Google Shape;551;p77"/>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2" name="Google Shape;552;p77"/>
            <p:cNvGrpSpPr/>
            <p:nvPr/>
          </p:nvGrpSpPr>
          <p:grpSpPr>
            <a:xfrm>
              <a:off x="4445450" y="524200"/>
              <a:ext cx="399495" cy="101100"/>
              <a:chOff x="4445450" y="524200"/>
              <a:chExt cx="399495" cy="101100"/>
            </a:xfrm>
          </p:grpSpPr>
          <p:sp>
            <p:nvSpPr>
              <p:cNvPr id="553" name="Google Shape;553;p77"/>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77"/>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77"/>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6" name="Google Shape;556;p77"/>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557" name="Shape 557"/>
        <p:cNvGrpSpPr/>
        <p:nvPr/>
      </p:nvGrpSpPr>
      <p:grpSpPr>
        <a:xfrm>
          <a:off x="0" y="0"/>
          <a:ext cx="0" cy="0"/>
          <a:chOff x="0" y="0"/>
          <a:chExt cx="0" cy="0"/>
        </a:xfrm>
      </p:grpSpPr>
      <p:pic>
        <p:nvPicPr>
          <p:cNvPr id="558" name="Google Shape;558;p78"/>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559" name="Google Shape;559;p78"/>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60" name="Google Shape;560;p78"/>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61" name="Google Shape;561;p78"/>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62" name="Google Shape;562;p7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563" name="Shape 563"/>
        <p:cNvGrpSpPr/>
        <p:nvPr/>
      </p:nvGrpSpPr>
      <p:grpSpPr>
        <a:xfrm>
          <a:off x="0" y="0"/>
          <a:ext cx="0" cy="0"/>
          <a:chOff x="0" y="0"/>
          <a:chExt cx="0" cy="0"/>
        </a:xfrm>
      </p:grpSpPr>
      <p:pic>
        <p:nvPicPr>
          <p:cNvPr id="564" name="Google Shape;564;p79"/>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565" name="Google Shape;565;p79"/>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79"/>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567" name="Google Shape;567;p79"/>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68" name="Google Shape;568;p7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69" name="Google Shape;569;p79"/>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70" name="Google Shape;570;p79"/>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571" name="Google Shape;571;p79"/>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572" name="Shape 572"/>
        <p:cNvGrpSpPr/>
        <p:nvPr/>
      </p:nvGrpSpPr>
      <p:grpSpPr>
        <a:xfrm>
          <a:off x="0" y="0"/>
          <a:ext cx="0" cy="0"/>
          <a:chOff x="0" y="0"/>
          <a:chExt cx="0" cy="0"/>
        </a:xfrm>
      </p:grpSpPr>
      <p:pic>
        <p:nvPicPr>
          <p:cNvPr id="573" name="Google Shape;573;p80"/>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574" name="Google Shape;574;p80"/>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575" name="Google Shape;575;p80"/>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576" name="Google Shape;576;p8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77" name="Google Shape;577;p8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78" name="Google Shape;578;p80"/>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579" name="Google Shape;579;p8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580" name="Google Shape;580;p8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81" name="Google Shape;581;p80"/>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582" name="Shape 582"/>
        <p:cNvGrpSpPr/>
        <p:nvPr/>
      </p:nvGrpSpPr>
      <p:grpSpPr>
        <a:xfrm>
          <a:off x="0" y="0"/>
          <a:ext cx="0" cy="0"/>
          <a:chOff x="0" y="0"/>
          <a:chExt cx="0" cy="0"/>
        </a:xfrm>
      </p:grpSpPr>
      <p:pic>
        <p:nvPicPr>
          <p:cNvPr id="583" name="Google Shape;583;p81"/>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584" name="Google Shape;584;p81"/>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585" name="Google Shape;585;p81"/>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586" name="Google Shape;586;p8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87" name="Google Shape;587;p8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588" name="Google Shape;588;p81"/>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589" name="Google Shape;589;p81"/>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590" name="Google Shape;590;p81"/>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591" name="Shape 591"/>
        <p:cNvGrpSpPr/>
        <p:nvPr/>
      </p:nvGrpSpPr>
      <p:grpSpPr>
        <a:xfrm>
          <a:off x="0" y="0"/>
          <a:ext cx="0" cy="0"/>
          <a:chOff x="0" y="0"/>
          <a:chExt cx="0" cy="0"/>
        </a:xfrm>
      </p:grpSpPr>
      <p:pic>
        <p:nvPicPr>
          <p:cNvPr id="592" name="Google Shape;592;p82"/>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593" name="Google Shape;593;p82"/>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594" name="Google Shape;594;p82"/>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595" name="Google Shape;595;p82"/>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596" name="Google Shape;596;p82"/>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597" name="Google Shape;597;p8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98" name="Google Shape;598;p82"/>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599" name="Google Shape;599;p8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00" name="Google Shape;600;p8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601" name="Shape 601"/>
        <p:cNvGrpSpPr/>
        <p:nvPr/>
      </p:nvGrpSpPr>
      <p:grpSpPr>
        <a:xfrm>
          <a:off x="0" y="0"/>
          <a:ext cx="0" cy="0"/>
          <a:chOff x="0" y="0"/>
          <a:chExt cx="0" cy="0"/>
        </a:xfrm>
      </p:grpSpPr>
      <p:pic>
        <p:nvPicPr>
          <p:cNvPr id="602" name="Google Shape;602;p83"/>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603" name="Google Shape;603;p83"/>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604" name="Google Shape;604;p83"/>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605" name="Google Shape;605;p83"/>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06" name="Google Shape;606;p8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07" name="Google Shape;607;p8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08" name="Google Shape;608;p83"/>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609" name="Google Shape;609;p8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10" name="Google Shape;610;p83"/>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611" name="Shape 611"/>
        <p:cNvGrpSpPr/>
        <p:nvPr/>
      </p:nvGrpSpPr>
      <p:grpSpPr>
        <a:xfrm>
          <a:off x="0" y="0"/>
          <a:ext cx="0" cy="0"/>
          <a:chOff x="0" y="0"/>
          <a:chExt cx="0" cy="0"/>
        </a:xfrm>
      </p:grpSpPr>
      <p:pic>
        <p:nvPicPr>
          <p:cNvPr id="612" name="Google Shape;612;p84"/>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613" name="Google Shape;613;p84"/>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614" name="Google Shape;614;p84"/>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15" name="Google Shape;615;p84"/>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16" name="Google Shape;616;p8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17" name="Google Shape;617;p8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18" name="Google Shape;618;p84"/>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619" name="Google Shape;619;p8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20" name="Google Shape;620;p84"/>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621" name="Shape 621"/>
        <p:cNvGrpSpPr/>
        <p:nvPr/>
      </p:nvGrpSpPr>
      <p:grpSpPr>
        <a:xfrm>
          <a:off x="0" y="0"/>
          <a:ext cx="0" cy="0"/>
          <a:chOff x="0" y="0"/>
          <a:chExt cx="0" cy="0"/>
        </a:xfrm>
      </p:grpSpPr>
      <p:pic>
        <p:nvPicPr>
          <p:cNvPr id="622" name="Google Shape;622;p85"/>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623" name="Google Shape;623;p85"/>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624" name="Google Shape;624;p85"/>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25" name="Google Shape;625;p85"/>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26" name="Google Shape;626;p85"/>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27" name="Google Shape;627;p8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28" name="Google Shape;628;p85"/>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629" name="Google Shape;629;p8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30" name="Google Shape;630;p8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631" name="Shape 631"/>
        <p:cNvGrpSpPr/>
        <p:nvPr/>
      </p:nvGrpSpPr>
      <p:grpSpPr>
        <a:xfrm>
          <a:off x="0" y="0"/>
          <a:ext cx="0" cy="0"/>
          <a:chOff x="0" y="0"/>
          <a:chExt cx="0" cy="0"/>
        </a:xfrm>
      </p:grpSpPr>
      <p:pic>
        <p:nvPicPr>
          <p:cNvPr id="632" name="Google Shape;632;p86"/>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633" name="Google Shape;633;p86"/>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634" name="Google Shape;634;p86"/>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635" name="Google Shape;635;p8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36" name="Google Shape;636;p8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37" name="Google Shape;637;p86"/>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86"/>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639" name="Google Shape;639;p86"/>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40" name="Google Shape;640;p86"/>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641" name="Google Shape;641;p86"/>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642" name="Shape 642"/>
        <p:cNvGrpSpPr/>
        <p:nvPr/>
      </p:nvGrpSpPr>
      <p:grpSpPr>
        <a:xfrm>
          <a:off x="0" y="0"/>
          <a:ext cx="0" cy="0"/>
          <a:chOff x="0" y="0"/>
          <a:chExt cx="0" cy="0"/>
        </a:xfrm>
      </p:grpSpPr>
      <p:pic>
        <p:nvPicPr>
          <p:cNvPr id="643" name="Google Shape;643;p87"/>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644" name="Google Shape;644;p87"/>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645" name="Google Shape;645;p87"/>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46" name="Google Shape;646;p87"/>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47" name="Google Shape;647;p8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48" name="Google Shape;648;p8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49" name="Google Shape;649;p87"/>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650" name="Google Shape;650;p8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51" name="Google Shape;651;p8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652" name="Shape 652"/>
        <p:cNvGrpSpPr/>
        <p:nvPr/>
      </p:nvGrpSpPr>
      <p:grpSpPr>
        <a:xfrm>
          <a:off x="0" y="0"/>
          <a:ext cx="0" cy="0"/>
          <a:chOff x="0" y="0"/>
          <a:chExt cx="0" cy="0"/>
        </a:xfrm>
      </p:grpSpPr>
      <p:pic>
        <p:nvPicPr>
          <p:cNvPr id="653" name="Google Shape;653;p88"/>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654" name="Google Shape;654;p88"/>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655" name="Google Shape;655;p88"/>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56" name="Google Shape;656;p88"/>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57" name="Google Shape;657;p8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58" name="Google Shape;658;p8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59" name="Google Shape;659;p88"/>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660" name="Google Shape;660;p8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61" name="Google Shape;661;p88"/>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662" name="Shape 662"/>
        <p:cNvGrpSpPr/>
        <p:nvPr/>
      </p:nvGrpSpPr>
      <p:grpSpPr>
        <a:xfrm>
          <a:off x="0" y="0"/>
          <a:ext cx="0" cy="0"/>
          <a:chOff x="0" y="0"/>
          <a:chExt cx="0" cy="0"/>
        </a:xfrm>
      </p:grpSpPr>
      <p:pic>
        <p:nvPicPr>
          <p:cNvPr id="663" name="Google Shape;663;p89"/>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664" name="Google Shape;664;p8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65" name="Google Shape;665;p89"/>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666" name="Google Shape;666;p89"/>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667" name="Google Shape;667;p89"/>
          <p:cNvSpPr txBox="1"/>
          <p:nvPr/>
        </p:nvSpPr>
        <p:spPr>
          <a:xfrm>
            <a:off x="1050100" y="1332050"/>
            <a:ext cx="72048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668" name="Google Shape;668;p89"/>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669" name="Shape 669"/>
        <p:cNvGrpSpPr/>
        <p:nvPr/>
      </p:nvGrpSpPr>
      <p:grpSpPr>
        <a:xfrm>
          <a:off x="0" y="0"/>
          <a:ext cx="0" cy="0"/>
          <a:chOff x="0" y="0"/>
          <a:chExt cx="0" cy="0"/>
        </a:xfrm>
      </p:grpSpPr>
      <p:pic>
        <p:nvPicPr>
          <p:cNvPr descr="Divider1.png" id="670" name="Google Shape;670;p90"/>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671" name="Google Shape;671;p90"/>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72" name="Google Shape;672;p90"/>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673" name="Shape 673"/>
        <p:cNvGrpSpPr/>
        <p:nvPr/>
      </p:nvGrpSpPr>
      <p:grpSpPr>
        <a:xfrm>
          <a:off x="0" y="0"/>
          <a:ext cx="0" cy="0"/>
          <a:chOff x="0" y="0"/>
          <a:chExt cx="0" cy="0"/>
        </a:xfrm>
      </p:grpSpPr>
      <p:pic>
        <p:nvPicPr>
          <p:cNvPr id="674" name="Google Shape;674;p91"/>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675" name="Google Shape;675;p91"/>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676" name="Google Shape;676;p91"/>
          <p:cNvSpPr/>
          <p:nvPr/>
        </p:nvSpPr>
        <p:spPr>
          <a:xfrm>
            <a:off x="1071950" y="892850"/>
            <a:ext cx="5283900" cy="28203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91"/>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678" name="Shape 678"/>
        <p:cNvGrpSpPr/>
        <p:nvPr/>
      </p:nvGrpSpPr>
      <p:grpSpPr>
        <a:xfrm>
          <a:off x="0" y="0"/>
          <a:ext cx="0" cy="0"/>
          <a:chOff x="0" y="0"/>
          <a:chExt cx="0" cy="0"/>
        </a:xfrm>
      </p:grpSpPr>
      <p:pic>
        <p:nvPicPr>
          <p:cNvPr id="679" name="Google Shape;679;p92"/>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680" name="Shape 680"/>
        <p:cNvGrpSpPr/>
        <p:nvPr/>
      </p:nvGrpSpPr>
      <p:grpSpPr>
        <a:xfrm>
          <a:off x="0" y="0"/>
          <a:ext cx="0" cy="0"/>
          <a:chOff x="0" y="0"/>
          <a:chExt cx="0" cy="0"/>
        </a:xfrm>
      </p:grpSpPr>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681" name="Shape 681"/>
        <p:cNvGrpSpPr/>
        <p:nvPr/>
      </p:nvGrpSpPr>
      <p:grpSpPr>
        <a:xfrm>
          <a:off x="0" y="0"/>
          <a:ext cx="0" cy="0"/>
          <a:chOff x="0" y="0"/>
          <a:chExt cx="0" cy="0"/>
        </a:xfrm>
      </p:grpSpPr>
      <p:grpSp>
        <p:nvGrpSpPr>
          <p:cNvPr id="682" name="Google Shape;682;p94"/>
          <p:cNvGrpSpPr/>
          <p:nvPr/>
        </p:nvGrpSpPr>
        <p:grpSpPr>
          <a:xfrm>
            <a:off x="6262100" y="-3850"/>
            <a:ext cx="2886900" cy="485125"/>
            <a:chOff x="6262100" y="-3850"/>
            <a:chExt cx="2886900" cy="485125"/>
          </a:xfrm>
        </p:grpSpPr>
        <p:pic>
          <p:nvPicPr>
            <p:cNvPr descr="1.png" id="683" name="Google Shape;683;p94"/>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684" name="Google Shape;684;p94"/>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685" name="Google Shape;685;p94"/>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686" name="Google Shape;686;p94"/>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687" name="Google Shape;687;p9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88" name="Google Shape;688;p9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89" name="Google Shape;689;p94"/>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690" name="Google Shape;690;p94"/>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691" name="Google Shape;691;p94"/>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692" name="Google Shape;692;p94"/>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693" name="Google Shape;693;p94"/>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694" name="Google Shape;694;p94"/>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695" name="Google Shape;695;p94"/>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Intro">
  <p:cSld name="CUSTOM_6_2_1_1_1_2_1">
    <p:spTree>
      <p:nvGrpSpPr>
        <p:cNvPr id="696" name="Shape 696"/>
        <p:cNvGrpSpPr/>
        <p:nvPr/>
      </p:nvGrpSpPr>
      <p:grpSpPr>
        <a:xfrm>
          <a:off x="0" y="0"/>
          <a:ext cx="0" cy="0"/>
          <a:chOff x="0" y="0"/>
          <a:chExt cx="0" cy="0"/>
        </a:xfrm>
      </p:grpSpPr>
      <p:pic>
        <p:nvPicPr>
          <p:cNvPr id="697" name="Google Shape;697;p95"/>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698" name="Google Shape;698;p95"/>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699" name="Google Shape;699;p9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700" name="Google Shape;700;p9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01" name="Google Shape;701;p95"/>
          <p:cNvSpPr txBox="1"/>
          <p:nvPr/>
        </p:nvSpPr>
        <p:spPr>
          <a:xfrm>
            <a:off x="565375" y="333100"/>
            <a:ext cx="5005800" cy="408000"/>
          </a:xfrm>
          <a:prstGeom prst="rect">
            <a:avLst/>
          </a:prstGeom>
          <a:noFill/>
          <a:ln>
            <a:noFill/>
          </a:ln>
        </p:spPr>
        <p:txBody>
          <a:bodyPr anchorCtr="0" anchor="t" bIns="19050" lIns="19050" spcFirstLastPara="1" rIns="19050" wrap="square" tIns="19050">
            <a:spAutoFit/>
          </a:bodyPr>
          <a:lstStyle/>
          <a:p>
            <a:pPr indent="0" lvl="0" marL="0" rtl="0" algn="l">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Meet the Instructor</a:t>
            </a:r>
            <a:endParaRPr sz="2600">
              <a:solidFill>
                <a:srgbClr val="05103E"/>
              </a:solidFill>
              <a:latin typeface="Space Mono"/>
              <a:ea typeface="Space Mono"/>
              <a:cs typeface="Space Mono"/>
              <a:sym typeface="Space Mono"/>
            </a:endParaRPr>
          </a:p>
        </p:txBody>
      </p:sp>
      <p:sp>
        <p:nvSpPr>
          <p:cNvPr id="702" name="Google Shape;702;p95"/>
          <p:cNvSpPr/>
          <p:nvPr>
            <p:ph idx="2" type="pic"/>
          </p:nvPr>
        </p:nvSpPr>
        <p:spPr>
          <a:xfrm>
            <a:off x="592550" y="1010825"/>
            <a:ext cx="2579400" cy="2289000"/>
          </a:xfrm>
          <a:prstGeom prst="roundRect">
            <a:avLst>
              <a:gd fmla="val 7884" name="adj"/>
            </a:avLst>
          </a:prstGeom>
          <a:noFill/>
          <a:ln cap="flat" cmpd="sng" w="28575">
            <a:solidFill>
              <a:srgbClr val="00C384"/>
            </a:solidFill>
            <a:prstDash val="solid"/>
            <a:round/>
            <a:headEnd len="sm" w="sm" type="none"/>
            <a:tailEnd len="sm" w="sm" type="none"/>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7" Type="http://schemas.openxmlformats.org/officeDocument/2006/relationships/theme" Target="../theme/theme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57.xml"/><Relationship Id="rId22" Type="http://schemas.openxmlformats.org/officeDocument/2006/relationships/slideLayout" Target="../slideLayouts/slideLayout59.xml"/><Relationship Id="rId21" Type="http://schemas.openxmlformats.org/officeDocument/2006/relationships/slideLayout" Target="../slideLayouts/slideLayout58.xml"/><Relationship Id="rId24" Type="http://schemas.openxmlformats.org/officeDocument/2006/relationships/slideLayout" Target="../slideLayouts/slideLayout61.xml"/><Relationship Id="rId23" Type="http://schemas.openxmlformats.org/officeDocument/2006/relationships/slideLayout" Target="../slideLayouts/slideLayout60.xml"/><Relationship Id="rId1" Type="http://schemas.openxmlformats.org/officeDocument/2006/relationships/slideLayout" Target="../slideLayouts/slideLayout38.xml"/><Relationship Id="rId2" Type="http://schemas.openxmlformats.org/officeDocument/2006/relationships/slideLayout" Target="../slideLayouts/slideLayout39.xml"/><Relationship Id="rId3" Type="http://schemas.openxmlformats.org/officeDocument/2006/relationships/slideLayout" Target="../slideLayouts/slideLayout40.xml"/><Relationship Id="rId4" Type="http://schemas.openxmlformats.org/officeDocument/2006/relationships/slideLayout" Target="../slideLayouts/slideLayout41.xml"/><Relationship Id="rId9" Type="http://schemas.openxmlformats.org/officeDocument/2006/relationships/slideLayout" Target="../slideLayouts/slideLayout46.xml"/><Relationship Id="rId26" Type="http://schemas.openxmlformats.org/officeDocument/2006/relationships/slideLayout" Target="../slideLayouts/slideLayout63.xml"/><Relationship Id="rId25" Type="http://schemas.openxmlformats.org/officeDocument/2006/relationships/slideLayout" Target="../slideLayouts/slideLayout62.xml"/><Relationship Id="rId28" Type="http://schemas.openxmlformats.org/officeDocument/2006/relationships/theme" Target="../theme/theme1.xml"/><Relationship Id="rId27" Type="http://schemas.openxmlformats.org/officeDocument/2006/relationships/slideLayout" Target="../slideLayouts/slideLayout64.xml"/><Relationship Id="rId5" Type="http://schemas.openxmlformats.org/officeDocument/2006/relationships/slideLayout" Target="../slideLayouts/slideLayout42.xml"/><Relationship Id="rId6" Type="http://schemas.openxmlformats.org/officeDocument/2006/relationships/slideLayout" Target="../slideLayouts/slideLayout43.xml"/><Relationship Id="rId7" Type="http://schemas.openxmlformats.org/officeDocument/2006/relationships/slideLayout" Target="../slideLayouts/slideLayout44.xml"/><Relationship Id="rId8" Type="http://schemas.openxmlformats.org/officeDocument/2006/relationships/slideLayout" Target="../slideLayouts/slideLayout45.xml"/><Relationship Id="rId11" Type="http://schemas.openxmlformats.org/officeDocument/2006/relationships/slideLayout" Target="../slideLayouts/slideLayout48.xml"/><Relationship Id="rId10" Type="http://schemas.openxmlformats.org/officeDocument/2006/relationships/slideLayout" Target="../slideLayouts/slideLayout47.xml"/><Relationship Id="rId13" Type="http://schemas.openxmlformats.org/officeDocument/2006/relationships/slideLayout" Target="../slideLayouts/slideLayout50.xml"/><Relationship Id="rId12" Type="http://schemas.openxmlformats.org/officeDocument/2006/relationships/slideLayout" Target="../slideLayouts/slideLayout49.xml"/><Relationship Id="rId15" Type="http://schemas.openxmlformats.org/officeDocument/2006/relationships/slideLayout" Target="../slideLayouts/slideLayout52.xml"/><Relationship Id="rId14" Type="http://schemas.openxmlformats.org/officeDocument/2006/relationships/slideLayout" Target="../slideLayouts/slideLayout51.xml"/><Relationship Id="rId17" Type="http://schemas.openxmlformats.org/officeDocument/2006/relationships/slideLayout" Target="../slideLayouts/slideLayout54.xml"/><Relationship Id="rId16" Type="http://schemas.openxmlformats.org/officeDocument/2006/relationships/slideLayout" Target="../slideLayouts/slideLayout53.xml"/><Relationship Id="rId19" Type="http://schemas.openxmlformats.org/officeDocument/2006/relationships/slideLayout" Target="../slideLayouts/slideLayout56.xml"/><Relationship Id="rId18" Type="http://schemas.openxmlformats.org/officeDocument/2006/relationships/slideLayout" Target="../slideLayouts/slideLayout55.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84.xml"/><Relationship Id="rId22" Type="http://schemas.openxmlformats.org/officeDocument/2006/relationships/slideLayout" Target="../slideLayouts/slideLayout86.xml"/><Relationship Id="rId21" Type="http://schemas.openxmlformats.org/officeDocument/2006/relationships/slideLayout" Target="../slideLayouts/slideLayout85.xml"/><Relationship Id="rId24" Type="http://schemas.openxmlformats.org/officeDocument/2006/relationships/slideLayout" Target="../slideLayouts/slideLayout88.xml"/><Relationship Id="rId23" Type="http://schemas.openxmlformats.org/officeDocument/2006/relationships/slideLayout" Target="../slideLayouts/slideLayout87.xml"/><Relationship Id="rId1" Type="http://schemas.openxmlformats.org/officeDocument/2006/relationships/slideLayout" Target="../slideLayouts/slideLayout65.xml"/><Relationship Id="rId2" Type="http://schemas.openxmlformats.org/officeDocument/2006/relationships/slideLayout" Target="../slideLayouts/slideLayout66.xml"/><Relationship Id="rId3" Type="http://schemas.openxmlformats.org/officeDocument/2006/relationships/slideLayout" Target="../slideLayouts/slideLayout67.xml"/><Relationship Id="rId4" Type="http://schemas.openxmlformats.org/officeDocument/2006/relationships/slideLayout" Target="../slideLayouts/slideLayout68.xml"/><Relationship Id="rId9" Type="http://schemas.openxmlformats.org/officeDocument/2006/relationships/slideLayout" Target="../slideLayouts/slideLayout73.xml"/><Relationship Id="rId26" Type="http://schemas.openxmlformats.org/officeDocument/2006/relationships/slideLayout" Target="../slideLayouts/slideLayout90.xml"/><Relationship Id="rId25" Type="http://schemas.openxmlformats.org/officeDocument/2006/relationships/slideLayout" Target="../slideLayouts/slideLayout89.xml"/><Relationship Id="rId28" Type="http://schemas.openxmlformats.org/officeDocument/2006/relationships/theme" Target="../theme/theme2.xml"/><Relationship Id="rId27" Type="http://schemas.openxmlformats.org/officeDocument/2006/relationships/slideLayout" Target="../slideLayouts/slideLayout91.xml"/><Relationship Id="rId5" Type="http://schemas.openxmlformats.org/officeDocument/2006/relationships/slideLayout" Target="../slideLayouts/slideLayout69.xml"/><Relationship Id="rId6" Type="http://schemas.openxmlformats.org/officeDocument/2006/relationships/slideLayout" Target="../slideLayouts/slideLayout70.xml"/><Relationship Id="rId7" Type="http://schemas.openxmlformats.org/officeDocument/2006/relationships/slideLayout" Target="../slideLayouts/slideLayout71.xml"/><Relationship Id="rId8" Type="http://schemas.openxmlformats.org/officeDocument/2006/relationships/slideLayout" Target="../slideLayouts/slideLayout72.xml"/><Relationship Id="rId11" Type="http://schemas.openxmlformats.org/officeDocument/2006/relationships/slideLayout" Target="../slideLayouts/slideLayout75.xml"/><Relationship Id="rId10" Type="http://schemas.openxmlformats.org/officeDocument/2006/relationships/slideLayout" Target="../slideLayouts/slideLayout74.xml"/><Relationship Id="rId13" Type="http://schemas.openxmlformats.org/officeDocument/2006/relationships/slideLayout" Target="../slideLayouts/slideLayout77.xml"/><Relationship Id="rId12" Type="http://schemas.openxmlformats.org/officeDocument/2006/relationships/slideLayout" Target="../slideLayouts/slideLayout76.xml"/><Relationship Id="rId15" Type="http://schemas.openxmlformats.org/officeDocument/2006/relationships/slideLayout" Target="../slideLayouts/slideLayout79.xml"/><Relationship Id="rId14" Type="http://schemas.openxmlformats.org/officeDocument/2006/relationships/slideLayout" Target="../slideLayouts/slideLayout78.xml"/><Relationship Id="rId17" Type="http://schemas.openxmlformats.org/officeDocument/2006/relationships/slideLayout" Target="../slideLayouts/slideLayout81.xml"/><Relationship Id="rId16" Type="http://schemas.openxmlformats.org/officeDocument/2006/relationships/slideLayout" Target="../slideLayouts/slideLayout80.xml"/><Relationship Id="rId19" Type="http://schemas.openxmlformats.org/officeDocument/2006/relationships/slideLayout" Target="../slideLayouts/slideLayout83.xml"/><Relationship Id="rId18" Type="http://schemas.openxmlformats.org/officeDocument/2006/relationships/slideLayout" Target="../slideLayouts/slideLayout8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63" name="Shape 263"/>
        <p:cNvGrpSpPr/>
        <p:nvPr/>
      </p:nvGrpSpPr>
      <p:grpSpPr>
        <a:xfrm>
          <a:off x="0" y="0"/>
          <a:ext cx="0" cy="0"/>
          <a:chOff x="0" y="0"/>
          <a:chExt cx="0" cy="0"/>
        </a:xfrm>
      </p:grpSpPr>
      <p:sp>
        <p:nvSpPr>
          <p:cNvPr id="264" name="Google Shape;264;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265" name="Google Shape;265;p4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 id="2147483703" r:id="rId19"/>
    <p:sldLayoutId id="2147483704" r:id="rId20"/>
    <p:sldLayoutId id="2147483705" r:id="rId21"/>
    <p:sldLayoutId id="2147483706" r:id="rId22"/>
    <p:sldLayoutId id="2147483707" r:id="rId23"/>
    <p:sldLayoutId id="2147483708" r:id="rId24"/>
    <p:sldLayoutId id="2147483709" r:id="rId25"/>
    <p:sldLayoutId id="2147483710" r:id="rId26"/>
    <p:sldLayoutId id="2147483711"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483" name="Shape 483"/>
        <p:cNvGrpSpPr/>
        <p:nvPr/>
      </p:nvGrpSpPr>
      <p:grpSpPr>
        <a:xfrm>
          <a:off x="0" y="0"/>
          <a:ext cx="0" cy="0"/>
          <a:chOff x="0" y="0"/>
          <a:chExt cx="0" cy="0"/>
        </a:xfrm>
      </p:grpSpPr>
      <p:sp>
        <p:nvSpPr>
          <p:cNvPr id="484" name="Google Shape;484;p6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485" name="Google Shape;485;p6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 id="2147483729" r:id="rId18"/>
    <p:sldLayoutId id="2147483730" r:id="rId19"/>
    <p:sldLayoutId id="2147483731" r:id="rId20"/>
    <p:sldLayoutId id="2147483732" r:id="rId21"/>
    <p:sldLayoutId id="2147483733" r:id="rId22"/>
    <p:sldLayoutId id="2147483734" r:id="rId23"/>
    <p:sldLayoutId id="2147483735" r:id="rId24"/>
    <p:sldLayoutId id="2147483736" r:id="rId25"/>
    <p:sldLayoutId id="2147483737" r:id="rId26"/>
    <p:sldLayoutId id="2147483738"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4.xml"/><Relationship Id="rId3" Type="http://schemas.openxmlformats.org/officeDocument/2006/relationships/image" Target="../media/image143.png"/><Relationship Id="rId4" Type="http://schemas.openxmlformats.org/officeDocument/2006/relationships/image" Target="../media/image14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13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14.xml"/><Relationship Id="rId3" Type="http://schemas.openxmlformats.org/officeDocument/2006/relationships/hyperlink" Target="http://www.youtube.com/watch?v=Jwd_lkXoLKk" TargetMode="External"/><Relationship Id="rId4" Type="http://schemas.openxmlformats.org/officeDocument/2006/relationships/image" Target="../media/image13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9.xml"/><Relationship Id="rId3" Type="http://schemas.openxmlformats.org/officeDocument/2006/relationships/hyperlink" Target="mailto:support@codepath.org" TargetMode="External"/><Relationship Id="rId4" Type="http://schemas.openxmlformats.org/officeDocument/2006/relationships/hyperlink" Target="http://www.youtube.com/watch?v=sV0t_2W_asU" TargetMode="External"/><Relationship Id="rId5" Type="http://schemas.openxmlformats.org/officeDocument/2006/relationships/image" Target="../media/image137.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20.xml"/><Relationship Id="rId3" Type="http://schemas.openxmlformats.org/officeDocument/2006/relationships/image" Target="../media/image14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21.xml"/><Relationship Id="rId3" Type="http://schemas.openxmlformats.org/officeDocument/2006/relationships/image" Target="../media/image145.png"/><Relationship Id="rId4" Type="http://schemas.openxmlformats.org/officeDocument/2006/relationships/image" Target="../media/image136.png"/><Relationship Id="rId5" Type="http://schemas.openxmlformats.org/officeDocument/2006/relationships/hyperlink" Target="https://go.codepath.org/tiptutor" TargetMode="External"/><Relationship Id="rId6" Type="http://schemas.openxmlformats.org/officeDocument/2006/relationships/hyperlink" Target="https://docs.google.com/document/d/1wGZrUGrDlMIMgLmI-TwqWguZoTycEbsMxpi6w4vW9R4/edit?tab=t.0" TargetMode="External"/><Relationship Id="rId7" Type="http://schemas.openxmlformats.org/officeDocument/2006/relationships/image" Target="../media/image14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96"/>
          <p:cNvSpPr txBox="1"/>
          <p:nvPr>
            <p:ph type="title"/>
          </p:nvPr>
        </p:nvSpPr>
        <p:spPr>
          <a:xfrm>
            <a:off x="1628200" y="1807975"/>
            <a:ext cx="5887800" cy="724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600"/>
              <a:t>String Manipulation</a:t>
            </a:r>
            <a:endParaRPr sz="3600"/>
          </a:p>
        </p:txBody>
      </p:sp>
      <p:sp>
        <p:nvSpPr>
          <p:cNvPr id="708" name="Google Shape;708;p96"/>
          <p:cNvSpPr txBox="1"/>
          <p:nvPr>
            <p:ph idx="1" type="subTitle"/>
          </p:nvPr>
        </p:nvSpPr>
        <p:spPr>
          <a:xfrm>
            <a:off x="3582450" y="3160625"/>
            <a:ext cx="1979100" cy="38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TIP101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97"/>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714" name="Google Shape;714;p97"/>
          <p:cNvGraphicFramePr/>
          <p:nvPr/>
        </p:nvGraphicFramePr>
        <p:xfrm>
          <a:off x="451525" y="1242597"/>
          <a:ext cx="3000000" cy="3000000"/>
        </p:xfrm>
        <a:graphic>
          <a:graphicData uri="http://schemas.openxmlformats.org/drawingml/2006/table">
            <a:tbl>
              <a:tblPr>
                <a:noFill/>
                <a:tableStyleId>{FAECDA35-E18B-4234-8EA5-38166A9553DF}</a:tableStyleId>
              </a:tblPr>
              <a:tblGrid>
                <a:gridCol w="411100"/>
                <a:gridCol w="4569375"/>
                <a:gridCol w="1883200"/>
              </a:tblGrid>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1</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Poppins"/>
                          <a:ea typeface="Poppins"/>
                          <a:cs typeface="Poppins"/>
                          <a:sym typeface="Poppins"/>
                        </a:rPr>
                        <a:t>Welcome 👋🏽</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10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2</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String Manipulation</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7FFEE"/>
                    </a:solidFill>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35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3</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sz="1800">
                          <a:solidFill>
                            <a:schemeClr val="dk1"/>
                          </a:solidFill>
                          <a:latin typeface="Poppins"/>
                          <a:ea typeface="Poppins"/>
                          <a:cs typeface="Poppins"/>
                          <a:sym typeface="Poppins"/>
                        </a:rPr>
                        <a:t>BREAK</a:t>
                      </a:r>
                      <a:endParaRPr sz="1800">
                        <a:solidFill>
                          <a:schemeClr val="dk1"/>
                        </a:solidFill>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5 minutes</a:t>
                      </a:r>
                      <a:endParaRPr sz="1800">
                        <a:solidFill>
                          <a:schemeClr val="dk1"/>
                        </a:solidFill>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4</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Collaborative Problem Solving</a:t>
                      </a:r>
                      <a:endParaRPr b="1"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7FFEE"/>
                    </a:solidFill>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60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5</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Wrap Up</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10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98"/>
          <p:cNvSpPr txBox="1"/>
          <p:nvPr>
            <p:ph type="title"/>
          </p:nvPr>
        </p:nvSpPr>
        <p:spPr>
          <a:xfrm>
            <a:off x="884825" y="2317200"/>
            <a:ext cx="34953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Welcome! 👋🏽</a:t>
            </a:r>
            <a:endParaRPr/>
          </a:p>
        </p:txBody>
      </p:sp>
      <p:sp>
        <p:nvSpPr>
          <p:cNvPr id="720" name="Google Shape;720;p98"/>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10 minutes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99"/>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726" name="Google Shape;726;p99"/>
          <p:cNvPicPr preferRelativeResize="0"/>
          <p:nvPr/>
        </p:nvPicPr>
        <p:blipFill>
          <a:blip r:embed="rId3">
            <a:alphaModFix/>
          </a:blip>
          <a:stretch>
            <a:fillRect/>
          </a:stretch>
        </p:blipFill>
        <p:spPr>
          <a:xfrm>
            <a:off x="1045500" y="424463"/>
            <a:ext cx="3066374" cy="3066374"/>
          </a:xfrm>
          <a:prstGeom prst="rect">
            <a:avLst/>
          </a:prstGeom>
          <a:noFill/>
          <a:ln>
            <a:noFill/>
          </a:ln>
        </p:spPr>
      </p:pic>
      <p:sp>
        <p:nvSpPr>
          <p:cNvPr id="727" name="Google Shape;727;p99"/>
          <p:cNvSpPr txBox="1"/>
          <p:nvPr>
            <p:ph type="title"/>
          </p:nvPr>
        </p:nvSpPr>
        <p:spPr>
          <a:xfrm>
            <a:off x="1364138" y="3490838"/>
            <a:ext cx="2429100" cy="92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Turn on your cameras</a:t>
            </a:r>
            <a:endParaRPr/>
          </a:p>
        </p:txBody>
      </p:sp>
      <p:pic>
        <p:nvPicPr>
          <p:cNvPr id="728" name="Google Shape;728;p99"/>
          <p:cNvPicPr preferRelativeResize="0"/>
          <p:nvPr/>
        </p:nvPicPr>
        <p:blipFill>
          <a:blip r:embed="rId4">
            <a:alphaModFix/>
          </a:blip>
          <a:stretch>
            <a:fillRect/>
          </a:stretch>
        </p:blipFill>
        <p:spPr>
          <a:xfrm>
            <a:off x="5032137" y="424475"/>
            <a:ext cx="3066350" cy="3066350"/>
          </a:xfrm>
          <a:prstGeom prst="rect">
            <a:avLst/>
          </a:prstGeom>
          <a:noFill/>
          <a:ln>
            <a:noFill/>
          </a:ln>
        </p:spPr>
      </p:pic>
      <p:sp>
        <p:nvSpPr>
          <p:cNvPr id="729" name="Google Shape;729;p99"/>
          <p:cNvSpPr txBox="1"/>
          <p:nvPr>
            <p:ph type="title"/>
          </p:nvPr>
        </p:nvSpPr>
        <p:spPr>
          <a:xfrm>
            <a:off x="5195963" y="3490838"/>
            <a:ext cx="2738700" cy="92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Fill out the entry ticket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100"/>
          <p:cNvSpPr txBox="1"/>
          <p:nvPr>
            <p:ph type="title"/>
          </p:nvPr>
        </p:nvSpPr>
        <p:spPr>
          <a:xfrm>
            <a:off x="1132000" y="481275"/>
            <a:ext cx="75594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Announcements &amp; Reminders</a:t>
            </a:r>
            <a:endParaRPr/>
          </a:p>
        </p:txBody>
      </p:sp>
      <p:sp>
        <p:nvSpPr>
          <p:cNvPr id="735" name="Google Shape;735;p100"/>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SzPts val="1700"/>
              <a:buChar char="✱"/>
            </a:pPr>
            <a:r>
              <a:rPr lang="en" sz="1700"/>
              <a:t>Assessment Reminder:</a:t>
            </a:r>
            <a:endParaRPr sz="1700"/>
          </a:p>
          <a:p>
            <a:pPr indent="-336550" lvl="1" marL="914400" rtl="0" algn="l">
              <a:spcBef>
                <a:spcPts val="0"/>
              </a:spcBef>
              <a:spcAft>
                <a:spcPts val="0"/>
              </a:spcAft>
              <a:buSzPts val="1700"/>
              <a:buChar char="●"/>
            </a:pPr>
            <a:r>
              <a:rPr lang="en" sz="1700"/>
              <a:t>Fix it garage sessions ended for now (onboarding specific to errors relating to VS Code, the course portal, Slack, etc.)</a:t>
            </a:r>
            <a:endParaRPr sz="1700"/>
          </a:p>
          <a:p>
            <a:pPr indent="-336550" lvl="1" marL="914400" rtl="0" algn="l">
              <a:spcBef>
                <a:spcPts val="0"/>
              </a:spcBef>
              <a:spcAft>
                <a:spcPts val="0"/>
              </a:spcAft>
              <a:buSzPts val="1700"/>
              <a:buChar char="●"/>
            </a:pPr>
            <a:r>
              <a:rPr lang="en" sz="1700"/>
              <a:t>Study hall sessions will remain active !</a:t>
            </a:r>
            <a:endParaRPr sz="1700"/>
          </a:p>
          <a:p>
            <a:pPr indent="-336550" lvl="1" marL="914400" rtl="0" algn="l">
              <a:spcBef>
                <a:spcPts val="0"/>
              </a:spcBef>
              <a:spcAft>
                <a:spcPts val="0"/>
              </a:spcAft>
              <a:buSzPts val="1700"/>
              <a:buChar char="●"/>
            </a:pPr>
            <a:r>
              <a:rPr lang="en" sz="1700"/>
              <a:t>Utilize VS Code debugging functionalities.</a:t>
            </a:r>
            <a:endParaRPr sz="1700"/>
          </a:p>
          <a:p>
            <a:pPr indent="0" lvl="0" marL="0" rtl="0" algn="l">
              <a:spcBef>
                <a:spcPts val="1600"/>
              </a:spcBef>
              <a:spcAft>
                <a:spcPts val="0"/>
              </a:spcAft>
              <a:buNone/>
            </a:pPr>
            <a:r>
              <a:t/>
            </a:r>
            <a:endParaRPr sz="1150" u="sng">
              <a:solidFill>
                <a:srgbClr val="4252FF"/>
              </a:solidFill>
              <a:latin typeface="Arial"/>
              <a:ea typeface="Arial"/>
              <a:cs typeface="Arial"/>
              <a:sym typeface="Arial"/>
            </a:endParaRPr>
          </a:p>
          <a:p>
            <a:pPr indent="0" lvl="0" marL="0" rtl="0" algn="l">
              <a:spcBef>
                <a:spcPts val="1600"/>
              </a:spcBef>
              <a:spcAft>
                <a:spcPts val="1600"/>
              </a:spcAft>
              <a:buNone/>
            </a:pPr>
            <a:r>
              <a:t/>
            </a:r>
            <a:endParaRPr/>
          </a:p>
        </p:txBody>
      </p:sp>
      <p:sp>
        <p:nvSpPr>
          <p:cNvPr id="736" name="Google Shape;736;p100"/>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737" name="Google Shape;737;p100"/>
          <p:cNvPicPr preferRelativeResize="0"/>
          <p:nvPr/>
        </p:nvPicPr>
        <p:blipFill>
          <a:blip r:embed="rId3">
            <a:alphaModFix/>
          </a:blip>
          <a:stretch>
            <a:fillRect/>
          </a:stretch>
        </p:blipFill>
        <p:spPr>
          <a:xfrm>
            <a:off x="452400" y="350275"/>
            <a:ext cx="679601" cy="6796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101"/>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5 minutes</a:t>
            </a:r>
            <a:endParaRPr/>
          </a:p>
        </p:txBody>
      </p:sp>
      <p:sp>
        <p:nvSpPr>
          <p:cNvPr id="743" name="Google Shape;743;p101"/>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44" name="Google Shape;744;p101"/>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🗣️Question:</a:t>
            </a:r>
            <a:endParaRPr b="1"/>
          </a:p>
          <a:p>
            <a:pPr indent="0" lvl="0" marL="0" rtl="0" algn="l">
              <a:spcBef>
                <a:spcPts val="1000"/>
              </a:spcBef>
              <a:spcAft>
                <a:spcPts val="0"/>
              </a:spcAft>
              <a:buNone/>
            </a:pPr>
            <a:r>
              <a:rPr lang="en"/>
              <a:t>You have been selected to give the next TED Talk on any topic of your choice. What are you choosing as your topic?</a:t>
            </a:r>
            <a:endParaRPr/>
          </a:p>
          <a:p>
            <a:pPr indent="0" lvl="0" marL="0" rtl="0" algn="l">
              <a:spcBef>
                <a:spcPts val="1000"/>
              </a:spcBef>
              <a:spcAft>
                <a:spcPts val="0"/>
              </a:spcAft>
              <a:buNone/>
            </a:pPr>
            <a:r>
              <a:t/>
            </a:r>
            <a:endParaRPr/>
          </a:p>
          <a:p>
            <a:pPr indent="0" lvl="0" marL="0" rtl="0" algn="l">
              <a:spcBef>
                <a:spcPts val="1000"/>
              </a:spcBef>
              <a:spcAft>
                <a:spcPts val="0"/>
              </a:spcAft>
              <a:buNone/>
            </a:pPr>
            <a:r>
              <a:rPr b="1" lang="en"/>
              <a:t>💬Answer: </a:t>
            </a:r>
            <a:endParaRPr b="1"/>
          </a:p>
          <a:p>
            <a:pPr indent="0" lvl="0" marL="0" rtl="0" algn="l">
              <a:spcBef>
                <a:spcPts val="1000"/>
              </a:spcBef>
              <a:spcAft>
                <a:spcPts val="1000"/>
              </a:spcAft>
              <a:buNone/>
            </a:pPr>
            <a:r>
              <a:rPr lang="en"/>
              <a:t>Share your answer in the Zoom chat below. Multiple options are encouraged.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p102"/>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Students specifically calling each other out for their support.</a:t>
            </a:r>
            <a:endParaRPr/>
          </a:p>
          <a:p>
            <a:pPr indent="-342900" lvl="0" marL="457200" rtl="0" algn="l">
              <a:spcBef>
                <a:spcPts val="0"/>
              </a:spcBef>
              <a:spcAft>
                <a:spcPts val="0"/>
              </a:spcAft>
              <a:buSzPts val="1800"/>
              <a:buChar char="+"/>
            </a:pPr>
            <a:r>
              <a:rPr lang="en"/>
              <a:t>Appreciated seeing more built in functions.</a:t>
            </a:r>
            <a:endParaRPr/>
          </a:p>
        </p:txBody>
      </p:sp>
      <p:sp>
        <p:nvSpPr>
          <p:cNvPr id="750" name="Google Shape;750;p102"/>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51" name="Google Shape;751;p102"/>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 Still some mixed feedback on pacing (too fast vs too slow). </a:t>
            </a:r>
            <a:endParaRPr sz="1700"/>
          </a:p>
          <a:p>
            <a:pPr indent="0" lvl="0" marL="0" rtl="0" algn="l">
              <a:spcBef>
                <a:spcPts val="1600"/>
              </a:spcBef>
              <a:spcAft>
                <a:spcPts val="1600"/>
              </a:spcAft>
              <a:buNone/>
            </a:pPr>
            <a:r>
              <a:rPr lang="en" sz="1700"/>
              <a:t>-Jumping between content (dictionary-&gt;strings)</a:t>
            </a:r>
            <a:endParaRPr sz="17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103"/>
          <p:cNvSpPr txBox="1"/>
          <p:nvPr>
            <p:ph type="title"/>
          </p:nvPr>
        </p:nvSpPr>
        <p:spPr>
          <a:xfrm>
            <a:off x="884825" y="2317200"/>
            <a:ext cx="49992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String Manipulation</a:t>
            </a:r>
            <a:endParaRPr/>
          </a:p>
        </p:txBody>
      </p:sp>
      <p:sp>
        <p:nvSpPr>
          <p:cNvPr id="757" name="Google Shape;757;p103"/>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35 minutes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104"/>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String Basics (Reminder)</a:t>
            </a:r>
            <a:endParaRPr/>
          </a:p>
        </p:txBody>
      </p:sp>
      <p:sp>
        <p:nvSpPr>
          <p:cNvPr id="763" name="Google Shape;763;p104"/>
          <p:cNvSpPr txBox="1"/>
          <p:nvPr>
            <p:ph idx="1" type="body"/>
          </p:nvPr>
        </p:nvSpPr>
        <p:spPr>
          <a:xfrm>
            <a:off x="452400" y="1132825"/>
            <a:ext cx="8239200" cy="1355400"/>
          </a:xfrm>
          <a:prstGeom prst="rect">
            <a:avLst/>
          </a:prstGeom>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lang="en"/>
              <a:t>Strings are sequences of characters.</a:t>
            </a:r>
            <a:endParaRPr/>
          </a:p>
          <a:p>
            <a:pPr indent="-342900" lvl="0" marL="457200" rtl="0" algn="l">
              <a:spcBef>
                <a:spcPts val="1000"/>
              </a:spcBef>
              <a:spcAft>
                <a:spcPts val="0"/>
              </a:spcAft>
              <a:buSzPts val="1800"/>
              <a:buChar char="✱"/>
            </a:pPr>
            <a:r>
              <a:rPr lang="en"/>
              <a:t>Common operations: concatenation, slicing, and formatting.</a:t>
            </a:r>
            <a:endParaRPr/>
          </a:p>
          <a:p>
            <a:pPr indent="-342900" lvl="0" marL="457200" rtl="0" algn="l">
              <a:spcBef>
                <a:spcPts val="1000"/>
              </a:spcBef>
              <a:spcAft>
                <a:spcPts val="1000"/>
              </a:spcAft>
              <a:buSzPts val="1800"/>
              <a:buChar char="✱"/>
            </a:pPr>
            <a:r>
              <a:rPr lang="en"/>
              <a:t>Useful methods: </a:t>
            </a:r>
            <a:r>
              <a:rPr lang="en">
                <a:latin typeface="Consolas"/>
                <a:ea typeface="Consolas"/>
                <a:cs typeface="Consolas"/>
                <a:sym typeface="Consolas"/>
              </a:rPr>
              <a:t>.lower()</a:t>
            </a:r>
            <a:r>
              <a:rPr lang="en"/>
              <a:t>, </a:t>
            </a:r>
            <a:r>
              <a:rPr lang="en">
                <a:latin typeface="Consolas"/>
                <a:ea typeface="Consolas"/>
                <a:cs typeface="Consolas"/>
                <a:sym typeface="Consolas"/>
              </a:rPr>
              <a:t>.upper()</a:t>
            </a:r>
            <a:r>
              <a:rPr lang="en"/>
              <a:t>, </a:t>
            </a:r>
            <a:r>
              <a:rPr lang="en">
                <a:latin typeface="Consolas"/>
                <a:ea typeface="Consolas"/>
                <a:cs typeface="Consolas"/>
                <a:sym typeface="Consolas"/>
              </a:rPr>
              <a:t>.split(),.replace())</a:t>
            </a:r>
            <a:r>
              <a:rPr lang="en"/>
              <a:t>. </a:t>
            </a:r>
            <a:endParaRPr/>
          </a:p>
        </p:txBody>
      </p:sp>
      <p:sp>
        <p:nvSpPr>
          <p:cNvPr id="764" name="Google Shape;764;p104"/>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65" name="Google Shape;765;p104"/>
          <p:cNvSpPr txBox="1"/>
          <p:nvPr/>
        </p:nvSpPr>
        <p:spPr>
          <a:xfrm>
            <a:off x="2071650" y="2945350"/>
            <a:ext cx="5000700" cy="1283700"/>
          </a:xfrm>
          <a:prstGeom prst="rect">
            <a:avLst/>
          </a:prstGeom>
          <a:solidFill>
            <a:srgbClr val="EEEEEE"/>
          </a:solidFill>
          <a:ln>
            <a:noFill/>
          </a:ln>
        </p:spPr>
        <p:txBody>
          <a:bodyPr anchorCtr="0" anchor="t" bIns="182875" lIns="182875" spcFirstLastPara="1" rIns="182875" wrap="square" tIns="182875">
            <a:spAutoFit/>
          </a:bodyPr>
          <a:lstStyle/>
          <a:p>
            <a:pPr indent="0" lvl="0" marL="0" rtl="0" algn="l">
              <a:lnSpc>
                <a:spcPct val="115000"/>
              </a:lnSpc>
              <a:spcBef>
                <a:spcPts val="0"/>
              </a:spcBef>
              <a:spcAft>
                <a:spcPts val="0"/>
              </a:spcAft>
              <a:buClr>
                <a:schemeClr val="dk1"/>
              </a:buClr>
              <a:buSzPts val="1100"/>
              <a:buFont typeface="Arial"/>
              <a:buNone/>
            </a:pPr>
            <a:r>
              <a:rPr lang="en" sz="1800">
                <a:latin typeface="Consolas"/>
                <a:ea typeface="Consolas"/>
                <a:cs typeface="Consolas"/>
                <a:sym typeface="Consolas"/>
              </a:rPr>
              <a:t>s = "Hello World"</a:t>
            </a:r>
            <a:endParaRPr sz="1800">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800">
                <a:latin typeface="Consolas"/>
                <a:ea typeface="Consolas"/>
                <a:cs typeface="Consolas"/>
                <a:sym typeface="Consolas"/>
              </a:rPr>
              <a:t>print(s.lower())  # "hello world"</a:t>
            </a:r>
            <a:endParaRPr sz="1800">
              <a:latin typeface="Consolas"/>
              <a:ea typeface="Consolas"/>
              <a:cs typeface="Consolas"/>
              <a:sym typeface="Consolas"/>
            </a:endParaRPr>
          </a:p>
          <a:p>
            <a:pPr indent="0" lvl="0" marL="0" rtl="0" algn="l">
              <a:lnSpc>
                <a:spcPct val="115000"/>
              </a:lnSpc>
              <a:spcBef>
                <a:spcPts val="0"/>
              </a:spcBef>
              <a:spcAft>
                <a:spcPts val="0"/>
              </a:spcAft>
              <a:buNone/>
            </a:pPr>
            <a:r>
              <a:rPr lang="en" sz="1800">
                <a:latin typeface="Consolas"/>
                <a:ea typeface="Consolas"/>
                <a:cs typeface="Consolas"/>
                <a:sym typeface="Consolas"/>
              </a:rPr>
              <a:t>print(s[:5])      # "Hello"</a:t>
            </a:r>
            <a:endParaRPr sz="1800">
              <a:latin typeface="Consolas"/>
              <a:ea typeface="Consolas"/>
              <a:cs typeface="Consolas"/>
              <a:sym typeface="Consola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105"/>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String Formatting (two ways)</a:t>
            </a:r>
            <a:endParaRPr/>
          </a:p>
        </p:txBody>
      </p:sp>
      <p:sp>
        <p:nvSpPr>
          <p:cNvPr id="771" name="Google Shape;771;p105"/>
          <p:cNvSpPr txBox="1"/>
          <p:nvPr>
            <p:ph idx="1" type="body"/>
          </p:nvPr>
        </p:nvSpPr>
        <p:spPr>
          <a:xfrm>
            <a:off x="452400" y="1132825"/>
            <a:ext cx="8239200" cy="1992900"/>
          </a:xfrm>
          <a:prstGeom prst="rect">
            <a:avLst/>
          </a:prstGeom>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lang="en"/>
              <a:t>String formatting allows you to create a string “template” that can dynamically fill in placeholders in the string. For example, something like this string which will contain user specific data:</a:t>
            </a:r>
            <a:endParaRPr/>
          </a:p>
          <a:p>
            <a:pPr indent="-342900" lvl="1" marL="914400" rtl="0" algn="l">
              <a:spcBef>
                <a:spcPts val="1000"/>
              </a:spcBef>
              <a:spcAft>
                <a:spcPts val="0"/>
              </a:spcAft>
              <a:buSzPts val="1800"/>
              <a:buChar char="●"/>
            </a:pPr>
            <a:r>
              <a:rPr lang="en"/>
              <a:t>“{userName} has signed in at {currentTime}.”</a:t>
            </a:r>
            <a:endParaRPr/>
          </a:p>
          <a:p>
            <a:pPr indent="0" lvl="0" marL="914400" rtl="0" algn="l">
              <a:spcBef>
                <a:spcPts val="1000"/>
              </a:spcBef>
              <a:spcAft>
                <a:spcPts val="1000"/>
              </a:spcAft>
              <a:buNone/>
            </a:pPr>
            <a:r>
              <a:t/>
            </a:r>
            <a:endParaRPr/>
          </a:p>
        </p:txBody>
      </p:sp>
      <p:sp>
        <p:nvSpPr>
          <p:cNvPr id="772" name="Google Shape;772;p105"/>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73" name="Google Shape;773;p105"/>
          <p:cNvSpPr txBox="1"/>
          <p:nvPr/>
        </p:nvSpPr>
        <p:spPr>
          <a:xfrm>
            <a:off x="671375" y="3036875"/>
            <a:ext cx="8283600" cy="1182000"/>
          </a:xfrm>
          <a:prstGeom prst="rect">
            <a:avLst/>
          </a:prstGeom>
          <a:solidFill>
            <a:srgbClr val="EEEEEE"/>
          </a:solidFill>
          <a:ln>
            <a:noFill/>
          </a:ln>
        </p:spPr>
        <p:txBody>
          <a:bodyPr anchorCtr="0" anchor="t" bIns="182875" lIns="182875" spcFirstLastPara="1" rIns="182875" wrap="square" tIns="182875">
            <a:spAutoFit/>
          </a:bodyPr>
          <a:lstStyle/>
          <a:p>
            <a:pPr indent="0" lvl="0" marL="0" rtl="0" algn="l">
              <a:lnSpc>
                <a:spcPct val="115000"/>
              </a:lnSpc>
              <a:spcBef>
                <a:spcPts val="0"/>
              </a:spcBef>
              <a:spcAft>
                <a:spcPts val="0"/>
              </a:spcAft>
              <a:buNone/>
            </a:pPr>
            <a:r>
              <a:rPr lang="en" sz="1600">
                <a:latin typeface="Consolas"/>
                <a:ea typeface="Consolas"/>
                <a:cs typeface="Consolas"/>
                <a:sym typeface="Consolas"/>
              </a:rPr>
              <a:t>userName = "Cory2026"</a:t>
            </a:r>
            <a:endParaRPr sz="1600">
              <a:latin typeface="Consolas"/>
              <a:ea typeface="Consolas"/>
              <a:cs typeface="Consolas"/>
              <a:sym typeface="Consolas"/>
            </a:endParaRPr>
          </a:p>
          <a:p>
            <a:pPr indent="0" lvl="0" marL="0" rtl="0" algn="l">
              <a:lnSpc>
                <a:spcPct val="115000"/>
              </a:lnSpc>
              <a:spcBef>
                <a:spcPts val="0"/>
              </a:spcBef>
              <a:spcAft>
                <a:spcPts val="0"/>
              </a:spcAft>
              <a:buNone/>
            </a:pPr>
            <a:r>
              <a:rPr lang="en" sz="1600">
                <a:latin typeface="Consolas"/>
                <a:ea typeface="Consolas"/>
                <a:cs typeface="Consolas"/>
                <a:sym typeface="Consolas"/>
              </a:rPr>
              <a:t>currentTime = “March 10th, 8:15pm”</a:t>
            </a:r>
            <a:endParaRPr sz="1600">
              <a:latin typeface="Consolas"/>
              <a:ea typeface="Consolas"/>
              <a:cs typeface="Consolas"/>
              <a:sym typeface="Consolas"/>
            </a:endParaRPr>
          </a:p>
          <a:p>
            <a:pPr indent="0" lvl="0" marL="0" rtl="0" algn="l">
              <a:lnSpc>
                <a:spcPct val="115000"/>
              </a:lnSpc>
              <a:spcBef>
                <a:spcPts val="0"/>
              </a:spcBef>
              <a:spcAft>
                <a:spcPts val="0"/>
              </a:spcAft>
              <a:buNone/>
            </a:pPr>
            <a:r>
              <a:rPr lang="en" sz="1600">
                <a:latin typeface="Consolas"/>
                <a:ea typeface="Consolas"/>
                <a:cs typeface="Consolas"/>
                <a:sym typeface="Consolas"/>
              </a:rPr>
              <a:t>print(</a:t>
            </a:r>
            <a:r>
              <a:rPr b="1" lang="en" sz="1600">
                <a:latin typeface="Consolas"/>
                <a:ea typeface="Consolas"/>
                <a:cs typeface="Consolas"/>
                <a:sym typeface="Consolas"/>
              </a:rPr>
              <a:t>f</a:t>
            </a:r>
            <a:r>
              <a:rPr lang="en" sz="1600">
                <a:solidFill>
                  <a:schemeClr val="dk1"/>
                </a:solidFill>
                <a:latin typeface="Poppins"/>
                <a:ea typeface="Poppins"/>
                <a:cs typeface="Poppins"/>
                <a:sym typeface="Poppins"/>
              </a:rPr>
              <a:t>“{userName} has signed in at {currentTime}.”</a:t>
            </a:r>
            <a:r>
              <a:rPr lang="en" sz="1600">
                <a:latin typeface="Consolas"/>
                <a:ea typeface="Consolas"/>
                <a:cs typeface="Consolas"/>
                <a:sym typeface="Consolas"/>
              </a:rPr>
              <a:t>) </a:t>
            </a:r>
            <a:endParaRPr sz="1600">
              <a:latin typeface="Consolas"/>
              <a:ea typeface="Consolas"/>
              <a:cs typeface="Consolas"/>
              <a:sym typeface="Consola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p106"/>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String Formatting (two ways)</a:t>
            </a:r>
            <a:endParaRPr/>
          </a:p>
        </p:txBody>
      </p:sp>
      <p:sp>
        <p:nvSpPr>
          <p:cNvPr id="779" name="Google Shape;779;p106"/>
          <p:cNvSpPr txBox="1"/>
          <p:nvPr>
            <p:ph idx="1" type="body"/>
          </p:nvPr>
        </p:nvSpPr>
        <p:spPr>
          <a:xfrm>
            <a:off x="452400" y="1132825"/>
            <a:ext cx="8239200" cy="1992900"/>
          </a:xfrm>
          <a:prstGeom prst="rect">
            <a:avLst/>
          </a:prstGeom>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lang="en"/>
              <a:t>String formatting allows you to create a string “template” that can dynamically fill in placeholders in the string. For example, something like this string which will contain user specific data:</a:t>
            </a:r>
            <a:endParaRPr/>
          </a:p>
          <a:p>
            <a:pPr indent="-342900" lvl="1" marL="914400" rtl="0" algn="l">
              <a:spcBef>
                <a:spcPts val="1000"/>
              </a:spcBef>
              <a:spcAft>
                <a:spcPts val="0"/>
              </a:spcAft>
              <a:buSzPts val="1800"/>
              <a:buChar char="●"/>
            </a:pPr>
            <a:r>
              <a:rPr lang="en"/>
              <a:t>“{userName} has signed in at {currentTime}.”</a:t>
            </a:r>
            <a:endParaRPr/>
          </a:p>
          <a:p>
            <a:pPr indent="0" lvl="0" marL="914400" rtl="0" algn="l">
              <a:spcBef>
                <a:spcPts val="1000"/>
              </a:spcBef>
              <a:spcAft>
                <a:spcPts val="1000"/>
              </a:spcAft>
              <a:buNone/>
            </a:pPr>
            <a:r>
              <a:t/>
            </a:r>
            <a:endParaRPr/>
          </a:p>
        </p:txBody>
      </p:sp>
      <p:sp>
        <p:nvSpPr>
          <p:cNvPr id="780" name="Google Shape;780;p106"/>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81" name="Google Shape;781;p106"/>
          <p:cNvSpPr txBox="1"/>
          <p:nvPr/>
        </p:nvSpPr>
        <p:spPr>
          <a:xfrm>
            <a:off x="671375" y="3036875"/>
            <a:ext cx="8283600" cy="1182000"/>
          </a:xfrm>
          <a:prstGeom prst="rect">
            <a:avLst/>
          </a:prstGeom>
          <a:solidFill>
            <a:srgbClr val="EEEEEE"/>
          </a:solidFill>
          <a:ln>
            <a:noFill/>
          </a:ln>
        </p:spPr>
        <p:txBody>
          <a:bodyPr anchorCtr="0" anchor="t" bIns="182875" lIns="182875" spcFirstLastPara="1" rIns="182875" wrap="square" tIns="182875">
            <a:spAutoFit/>
          </a:bodyPr>
          <a:lstStyle/>
          <a:p>
            <a:pPr indent="0" lvl="0" marL="0" rtl="0" algn="l">
              <a:lnSpc>
                <a:spcPct val="115000"/>
              </a:lnSpc>
              <a:spcBef>
                <a:spcPts val="0"/>
              </a:spcBef>
              <a:spcAft>
                <a:spcPts val="0"/>
              </a:spcAft>
              <a:buNone/>
            </a:pPr>
            <a:r>
              <a:rPr lang="en" sz="1600">
                <a:latin typeface="Consolas"/>
                <a:ea typeface="Consolas"/>
                <a:cs typeface="Consolas"/>
                <a:sym typeface="Consolas"/>
              </a:rPr>
              <a:t>userName = "Cory2026"</a:t>
            </a:r>
            <a:endParaRPr sz="1600">
              <a:latin typeface="Consolas"/>
              <a:ea typeface="Consolas"/>
              <a:cs typeface="Consolas"/>
              <a:sym typeface="Consolas"/>
            </a:endParaRPr>
          </a:p>
          <a:p>
            <a:pPr indent="0" lvl="0" marL="0" rtl="0" algn="l">
              <a:lnSpc>
                <a:spcPct val="115000"/>
              </a:lnSpc>
              <a:spcBef>
                <a:spcPts val="0"/>
              </a:spcBef>
              <a:spcAft>
                <a:spcPts val="0"/>
              </a:spcAft>
              <a:buNone/>
            </a:pPr>
            <a:r>
              <a:rPr lang="en" sz="1600">
                <a:latin typeface="Consolas"/>
                <a:ea typeface="Consolas"/>
                <a:cs typeface="Consolas"/>
                <a:sym typeface="Consolas"/>
              </a:rPr>
              <a:t>currentTime = “March 10th, 8:15pm”</a:t>
            </a:r>
            <a:endParaRPr sz="1600">
              <a:latin typeface="Consolas"/>
              <a:ea typeface="Consolas"/>
              <a:cs typeface="Consolas"/>
              <a:sym typeface="Consolas"/>
            </a:endParaRPr>
          </a:p>
          <a:p>
            <a:pPr indent="0" lvl="0" marL="0" rtl="0" algn="l">
              <a:lnSpc>
                <a:spcPct val="115000"/>
              </a:lnSpc>
              <a:spcBef>
                <a:spcPts val="0"/>
              </a:spcBef>
              <a:spcAft>
                <a:spcPts val="0"/>
              </a:spcAft>
              <a:buNone/>
            </a:pPr>
            <a:r>
              <a:rPr lang="en" sz="1600">
                <a:latin typeface="Consolas"/>
                <a:ea typeface="Consolas"/>
                <a:cs typeface="Consolas"/>
                <a:sym typeface="Consolas"/>
              </a:rPr>
              <a:t>print(</a:t>
            </a:r>
            <a:r>
              <a:rPr lang="en" sz="1600">
                <a:solidFill>
                  <a:schemeClr val="dk1"/>
                </a:solidFill>
                <a:latin typeface="Poppins"/>
                <a:ea typeface="Poppins"/>
                <a:cs typeface="Poppins"/>
                <a:sym typeface="Poppins"/>
              </a:rPr>
              <a:t>“{} has signed in at {}.”</a:t>
            </a:r>
            <a:r>
              <a:rPr lang="en" sz="1600">
                <a:latin typeface="Consolas"/>
                <a:ea typeface="Consolas"/>
                <a:cs typeface="Consolas"/>
                <a:sym typeface="Consolas"/>
              </a:rPr>
              <a:t>.</a:t>
            </a:r>
            <a:r>
              <a:rPr b="1" lang="en" sz="1600">
                <a:latin typeface="Consolas"/>
                <a:ea typeface="Consolas"/>
                <a:cs typeface="Consolas"/>
                <a:sym typeface="Consolas"/>
              </a:rPr>
              <a:t>format</a:t>
            </a:r>
            <a:r>
              <a:rPr lang="en" sz="1600">
                <a:latin typeface="Consolas"/>
                <a:ea typeface="Consolas"/>
                <a:cs typeface="Consolas"/>
                <a:sym typeface="Consolas"/>
              </a:rPr>
              <a:t>(userName, currentTime))</a:t>
            </a:r>
            <a:endParaRPr sz="1600">
              <a:latin typeface="Consolas"/>
              <a:ea typeface="Consolas"/>
              <a:cs typeface="Consolas"/>
              <a:sym typeface="Consola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107"/>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87" name="Google Shape;787;p107"/>
          <p:cNvSpPr txBox="1"/>
          <p:nvPr/>
        </p:nvSpPr>
        <p:spPr>
          <a:xfrm>
            <a:off x="452400" y="1260488"/>
            <a:ext cx="8239200" cy="109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 sz="1800">
                <a:latin typeface="Poppins"/>
                <a:ea typeface="Poppins"/>
                <a:cs typeface="Poppins"/>
                <a:sym typeface="Poppins"/>
              </a:rPr>
              <a:t>Given a string </a:t>
            </a:r>
            <a:r>
              <a:rPr b="1" lang="en" sz="1800">
                <a:latin typeface="Consolas"/>
                <a:ea typeface="Consolas"/>
                <a:cs typeface="Consolas"/>
                <a:sym typeface="Consolas"/>
              </a:rPr>
              <a:t>s</a:t>
            </a:r>
            <a:r>
              <a:rPr lang="en" sz="1800">
                <a:latin typeface="Poppins"/>
                <a:ea typeface="Poppins"/>
                <a:cs typeface="Poppins"/>
                <a:sym typeface="Poppins"/>
              </a:rPr>
              <a:t> containing words separated by spaces, reverse the order of the words. Remove extra spaces and ensure that words are separated by a single space in the output.</a:t>
            </a:r>
            <a:endParaRPr sz="1800">
              <a:solidFill>
                <a:srgbClr val="000000"/>
              </a:solidFill>
              <a:latin typeface="Poppins"/>
              <a:ea typeface="Poppins"/>
              <a:cs typeface="Poppins"/>
              <a:sym typeface="Poppins"/>
            </a:endParaRPr>
          </a:p>
        </p:txBody>
      </p:sp>
      <p:sp>
        <p:nvSpPr>
          <p:cNvPr id="788" name="Google Shape;788;p107"/>
          <p:cNvSpPr txBox="1"/>
          <p:nvPr/>
        </p:nvSpPr>
        <p:spPr>
          <a:xfrm>
            <a:off x="452400" y="2466063"/>
            <a:ext cx="8239200" cy="965100"/>
          </a:xfrm>
          <a:prstGeom prst="rect">
            <a:avLst/>
          </a:prstGeom>
          <a:solidFill>
            <a:srgbClr val="EEEEEE"/>
          </a:solidFill>
          <a:ln>
            <a:noFill/>
          </a:ln>
        </p:spPr>
        <p:txBody>
          <a:bodyPr anchorCtr="0" anchor="t" bIns="182875" lIns="182875" spcFirstLastPara="1" rIns="182875" wrap="square" tIns="182875">
            <a:spAutoFit/>
          </a:bodyPr>
          <a:lstStyle/>
          <a:p>
            <a:pPr indent="0" lvl="0" marL="0" rtl="0" algn="l">
              <a:lnSpc>
                <a:spcPct val="115000"/>
              </a:lnSpc>
              <a:spcBef>
                <a:spcPts val="0"/>
              </a:spcBef>
              <a:spcAft>
                <a:spcPts val="0"/>
              </a:spcAft>
              <a:buNone/>
            </a:pPr>
            <a:r>
              <a:rPr lang="en" sz="1800">
                <a:latin typeface="Consolas"/>
                <a:ea typeface="Consolas"/>
                <a:cs typeface="Consolas"/>
                <a:sym typeface="Consolas"/>
              </a:rPr>
              <a:t>def reverse_words(s)</a:t>
            </a:r>
            <a:r>
              <a:rPr lang="en" sz="1800">
                <a:latin typeface="Consolas"/>
                <a:ea typeface="Consolas"/>
                <a:cs typeface="Consolas"/>
                <a:sym typeface="Consolas"/>
              </a:rPr>
              <a:t>:</a:t>
            </a:r>
            <a:endParaRPr sz="1800">
              <a:latin typeface="Consolas"/>
              <a:ea typeface="Consolas"/>
              <a:cs typeface="Consolas"/>
              <a:sym typeface="Consolas"/>
            </a:endParaRPr>
          </a:p>
          <a:p>
            <a:pPr indent="0" lvl="0" marL="0" rtl="0" algn="l">
              <a:lnSpc>
                <a:spcPct val="115000"/>
              </a:lnSpc>
              <a:spcBef>
                <a:spcPts val="0"/>
              </a:spcBef>
              <a:spcAft>
                <a:spcPts val="0"/>
              </a:spcAft>
              <a:buNone/>
            </a:pPr>
            <a:r>
              <a:rPr lang="en" sz="1800">
                <a:latin typeface="Consolas"/>
                <a:ea typeface="Consolas"/>
                <a:cs typeface="Consolas"/>
                <a:sym typeface="Consolas"/>
              </a:rPr>
              <a:t>   pass</a:t>
            </a:r>
            <a:endParaRPr sz="1800">
              <a:latin typeface="Consolas"/>
              <a:ea typeface="Consolas"/>
              <a:cs typeface="Consolas"/>
              <a:sym typeface="Consolas"/>
            </a:endParaRPr>
          </a:p>
        </p:txBody>
      </p:sp>
      <p:sp>
        <p:nvSpPr>
          <p:cNvPr id="789" name="Google Shape;789;p107"/>
          <p:cNvSpPr txBox="1"/>
          <p:nvPr/>
        </p:nvSpPr>
        <p:spPr>
          <a:xfrm>
            <a:off x="452400" y="3598288"/>
            <a:ext cx="8239200" cy="908700"/>
          </a:xfrm>
          <a:prstGeom prst="rect">
            <a:avLst/>
          </a:prstGeom>
          <a:solidFill>
            <a:srgbClr val="FFFFFF"/>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800">
                <a:solidFill>
                  <a:srgbClr val="000000"/>
                </a:solidFill>
                <a:latin typeface="Poppins"/>
                <a:ea typeface="Poppins"/>
                <a:cs typeface="Poppins"/>
                <a:sym typeface="Poppins"/>
              </a:rPr>
              <a:t>Input:</a:t>
            </a:r>
            <a:r>
              <a:rPr lang="en" sz="1800">
                <a:solidFill>
                  <a:srgbClr val="000000"/>
                </a:solidFill>
                <a:latin typeface="Poppins"/>
                <a:ea typeface="Poppins"/>
                <a:cs typeface="Poppins"/>
                <a:sym typeface="Poppins"/>
              </a:rPr>
              <a:t> </a:t>
            </a:r>
            <a:r>
              <a:rPr lang="en" sz="1800">
                <a:latin typeface="Consolas"/>
                <a:ea typeface="Consolas"/>
                <a:cs typeface="Consolas"/>
                <a:sym typeface="Consolas"/>
              </a:rPr>
              <a:t>s = "  the sky is  blue  "</a:t>
            </a:r>
            <a:endParaRPr sz="1800">
              <a:latin typeface="Consolas"/>
              <a:ea typeface="Consolas"/>
              <a:cs typeface="Consolas"/>
              <a:sym typeface="Consolas"/>
            </a:endParaRPr>
          </a:p>
          <a:p>
            <a:pPr indent="0" lvl="0" marL="0" rtl="0" algn="l">
              <a:lnSpc>
                <a:spcPct val="115000"/>
              </a:lnSpc>
              <a:spcBef>
                <a:spcPts val="1000"/>
              </a:spcBef>
              <a:spcAft>
                <a:spcPts val="1000"/>
              </a:spcAft>
              <a:buNone/>
            </a:pPr>
            <a:r>
              <a:rPr b="1" lang="en" sz="1800">
                <a:solidFill>
                  <a:srgbClr val="000000"/>
                </a:solidFill>
                <a:latin typeface="Poppins"/>
                <a:ea typeface="Poppins"/>
                <a:cs typeface="Poppins"/>
                <a:sym typeface="Poppins"/>
              </a:rPr>
              <a:t>Output:</a:t>
            </a:r>
            <a:r>
              <a:rPr lang="en" sz="1800">
                <a:solidFill>
                  <a:srgbClr val="000000"/>
                </a:solidFill>
                <a:latin typeface="Poppins"/>
                <a:ea typeface="Poppins"/>
                <a:cs typeface="Poppins"/>
                <a:sym typeface="Poppins"/>
              </a:rPr>
              <a:t> </a:t>
            </a:r>
            <a:r>
              <a:rPr lang="en" sz="1800">
                <a:latin typeface="Consolas"/>
                <a:ea typeface="Consolas"/>
                <a:cs typeface="Consolas"/>
                <a:sym typeface="Consolas"/>
              </a:rPr>
              <a:t>"blue is sky the"</a:t>
            </a:r>
            <a:endParaRPr sz="1800">
              <a:solidFill>
                <a:srgbClr val="000000"/>
              </a:solidFill>
              <a:latin typeface="Consolas"/>
              <a:ea typeface="Consolas"/>
              <a:cs typeface="Consolas"/>
              <a:sym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p108"/>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95" name="Google Shape;795;p108"/>
          <p:cNvSpPr txBox="1"/>
          <p:nvPr/>
        </p:nvSpPr>
        <p:spPr>
          <a:xfrm>
            <a:off x="452400" y="1260488"/>
            <a:ext cx="8239200" cy="109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 sz="1800">
                <a:latin typeface="Poppins"/>
                <a:ea typeface="Poppins"/>
                <a:cs typeface="Poppins"/>
                <a:sym typeface="Poppins"/>
              </a:rPr>
              <a:t>Given a string </a:t>
            </a:r>
            <a:r>
              <a:rPr b="1" lang="en" sz="1800">
                <a:latin typeface="Consolas"/>
                <a:ea typeface="Consolas"/>
                <a:cs typeface="Consolas"/>
                <a:sym typeface="Consolas"/>
              </a:rPr>
              <a:t>s</a:t>
            </a:r>
            <a:r>
              <a:rPr lang="en" sz="1800">
                <a:latin typeface="Poppins"/>
                <a:ea typeface="Poppins"/>
                <a:cs typeface="Poppins"/>
                <a:sym typeface="Poppins"/>
              </a:rPr>
              <a:t> containing words separated by spaces, reverse the order of the words. Remove extra spaces and ensure that words are separated by a single space in the output. </a:t>
            </a:r>
            <a:endParaRPr sz="1800">
              <a:solidFill>
                <a:srgbClr val="000000"/>
              </a:solidFill>
              <a:latin typeface="Poppins"/>
              <a:ea typeface="Poppins"/>
              <a:cs typeface="Poppins"/>
              <a:sym typeface="Poppins"/>
            </a:endParaRPr>
          </a:p>
        </p:txBody>
      </p:sp>
      <p:sp>
        <p:nvSpPr>
          <p:cNvPr id="796" name="Google Shape;796;p108"/>
          <p:cNvSpPr txBox="1"/>
          <p:nvPr/>
        </p:nvSpPr>
        <p:spPr>
          <a:xfrm>
            <a:off x="452400" y="2466073"/>
            <a:ext cx="8239200" cy="965100"/>
          </a:xfrm>
          <a:prstGeom prst="rect">
            <a:avLst/>
          </a:prstGeom>
          <a:solidFill>
            <a:srgbClr val="EEEEEE"/>
          </a:solidFill>
          <a:ln>
            <a:noFill/>
          </a:ln>
        </p:spPr>
        <p:txBody>
          <a:bodyPr anchorCtr="0" anchor="t" bIns="182875" lIns="182875" spcFirstLastPara="1" rIns="182875" wrap="square" tIns="182875">
            <a:spAutoFit/>
          </a:bodyPr>
          <a:lstStyle/>
          <a:p>
            <a:pPr indent="0" lvl="0" marL="0" rtl="0" algn="l">
              <a:lnSpc>
                <a:spcPct val="115000"/>
              </a:lnSpc>
              <a:spcBef>
                <a:spcPts val="0"/>
              </a:spcBef>
              <a:spcAft>
                <a:spcPts val="0"/>
              </a:spcAft>
              <a:buNone/>
            </a:pPr>
            <a:r>
              <a:rPr lang="en" sz="1800">
                <a:latin typeface="Consolas"/>
                <a:ea typeface="Consolas"/>
                <a:cs typeface="Consolas"/>
                <a:sym typeface="Consolas"/>
              </a:rPr>
              <a:t>def reverse_words(s):</a:t>
            </a:r>
            <a:endParaRPr sz="1800">
              <a:latin typeface="Consolas"/>
              <a:ea typeface="Consolas"/>
              <a:cs typeface="Consolas"/>
              <a:sym typeface="Consolas"/>
            </a:endParaRPr>
          </a:p>
          <a:p>
            <a:pPr indent="0" lvl="0" marL="0" rtl="0" algn="l">
              <a:lnSpc>
                <a:spcPct val="115000"/>
              </a:lnSpc>
              <a:spcBef>
                <a:spcPts val="0"/>
              </a:spcBef>
              <a:spcAft>
                <a:spcPts val="0"/>
              </a:spcAft>
              <a:buNone/>
            </a:pPr>
            <a:r>
              <a:rPr lang="en" sz="1800">
                <a:latin typeface="Consolas"/>
                <a:ea typeface="Consolas"/>
                <a:cs typeface="Consolas"/>
                <a:sym typeface="Consolas"/>
              </a:rPr>
              <a:t>   pass</a:t>
            </a:r>
            <a:endParaRPr sz="1800">
              <a:latin typeface="Consolas"/>
              <a:ea typeface="Consolas"/>
              <a:cs typeface="Consolas"/>
              <a:sym typeface="Consolas"/>
            </a:endParaRPr>
          </a:p>
        </p:txBody>
      </p:sp>
      <p:sp>
        <p:nvSpPr>
          <p:cNvPr id="797" name="Google Shape;797;p108"/>
          <p:cNvSpPr txBox="1"/>
          <p:nvPr/>
        </p:nvSpPr>
        <p:spPr>
          <a:xfrm>
            <a:off x="452400" y="3598298"/>
            <a:ext cx="8239200" cy="908700"/>
          </a:xfrm>
          <a:prstGeom prst="rect">
            <a:avLst/>
          </a:prstGeom>
          <a:solidFill>
            <a:srgbClr val="FFFFFF"/>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800">
                <a:solidFill>
                  <a:srgbClr val="000000"/>
                </a:solidFill>
                <a:latin typeface="Poppins"/>
                <a:ea typeface="Poppins"/>
                <a:cs typeface="Poppins"/>
                <a:sym typeface="Poppins"/>
              </a:rPr>
              <a:t>Input:</a:t>
            </a:r>
            <a:r>
              <a:rPr lang="en" sz="1800">
                <a:solidFill>
                  <a:srgbClr val="000000"/>
                </a:solidFill>
                <a:latin typeface="Poppins"/>
                <a:ea typeface="Poppins"/>
                <a:cs typeface="Poppins"/>
                <a:sym typeface="Poppins"/>
              </a:rPr>
              <a:t> </a:t>
            </a:r>
            <a:r>
              <a:rPr lang="en" sz="1800">
                <a:latin typeface="Consolas"/>
                <a:ea typeface="Consolas"/>
                <a:cs typeface="Consolas"/>
                <a:sym typeface="Consolas"/>
              </a:rPr>
              <a:t>s = "  the sky is  blue  "</a:t>
            </a:r>
            <a:endParaRPr sz="1800">
              <a:latin typeface="Consolas"/>
              <a:ea typeface="Consolas"/>
              <a:cs typeface="Consolas"/>
              <a:sym typeface="Consolas"/>
            </a:endParaRPr>
          </a:p>
          <a:p>
            <a:pPr indent="0" lvl="0" marL="0" rtl="0" algn="l">
              <a:lnSpc>
                <a:spcPct val="115000"/>
              </a:lnSpc>
              <a:spcBef>
                <a:spcPts val="1000"/>
              </a:spcBef>
              <a:spcAft>
                <a:spcPts val="1000"/>
              </a:spcAft>
              <a:buNone/>
            </a:pPr>
            <a:r>
              <a:rPr b="1" lang="en" sz="1800">
                <a:solidFill>
                  <a:srgbClr val="000000"/>
                </a:solidFill>
                <a:latin typeface="Poppins"/>
                <a:ea typeface="Poppins"/>
                <a:cs typeface="Poppins"/>
                <a:sym typeface="Poppins"/>
              </a:rPr>
              <a:t>Output:</a:t>
            </a:r>
            <a:r>
              <a:rPr lang="en" sz="1800">
                <a:solidFill>
                  <a:srgbClr val="000000"/>
                </a:solidFill>
                <a:latin typeface="Poppins"/>
                <a:ea typeface="Poppins"/>
                <a:cs typeface="Poppins"/>
                <a:sym typeface="Poppins"/>
              </a:rPr>
              <a:t> </a:t>
            </a:r>
            <a:r>
              <a:rPr lang="en" sz="1800">
                <a:latin typeface="Consolas"/>
                <a:ea typeface="Consolas"/>
                <a:cs typeface="Consolas"/>
                <a:sym typeface="Consolas"/>
              </a:rPr>
              <a:t>"blue is sky the"</a:t>
            </a:r>
            <a:endParaRPr sz="1800">
              <a:solidFill>
                <a:srgbClr val="000000"/>
              </a:solidFill>
              <a:latin typeface="Consolas"/>
              <a:ea typeface="Consolas"/>
              <a:cs typeface="Consolas"/>
              <a:sym typeface="Consolas"/>
            </a:endParaRPr>
          </a:p>
        </p:txBody>
      </p:sp>
      <p:sp>
        <p:nvSpPr>
          <p:cNvPr id="798" name="Google Shape;798;p108"/>
          <p:cNvSpPr/>
          <p:nvPr/>
        </p:nvSpPr>
        <p:spPr>
          <a:xfrm>
            <a:off x="6348225" y="2476450"/>
            <a:ext cx="2195400" cy="2318700"/>
          </a:xfrm>
          <a:prstGeom prst="roundRect">
            <a:avLst>
              <a:gd fmla="val 16667" name="adj"/>
            </a:avLst>
          </a:prstGeom>
          <a:solidFill>
            <a:srgbClr val="EA999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latin typeface="Poppins"/>
                <a:ea typeface="Poppins"/>
                <a:cs typeface="Poppins"/>
                <a:sym typeface="Poppins"/>
              </a:rPr>
              <a:t>Challenge!</a:t>
            </a:r>
            <a:endParaRPr sz="1200">
              <a:solidFill>
                <a:srgbClr val="000000"/>
              </a:solidFill>
              <a:latin typeface="Poppins"/>
              <a:ea typeface="Poppins"/>
              <a:cs typeface="Poppins"/>
              <a:sym typeface="Poppins"/>
            </a:endParaRPr>
          </a:p>
          <a:p>
            <a:pPr indent="0" lvl="0" marL="0" rtl="0" algn="ctr">
              <a:spcBef>
                <a:spcPts val="0"/>
              </a:spcBef>
              <a:spcAft>
                <a:spcPts val="0"/>
              </a:spcAft>
              <a:buNone/>
            </a:pPr>
            <a:r>
              <a:t/>
            </a:r>
            <a:endParaRPr sz="1200">
              <a:solidFill>
                <a:srgbClr val="000000"/>
              </a:solidFill>
              <a:latin typeface="Poppins"/>
              <a:ea typeface="Poppins"/>
              <a:cs typeface="Poppins"/>
              <a:sym typeface="Poppins"/>
            </a:endParaRPr>
          </a:p>
          <a:p>
            <a:pPr indent="0" lvl="0" marL="0" rtl="0" algn="ctr">
              <a:spcBef>
                <a:spcPts val="0"/>
              </a:spcBef>
              <a:spcAft>
                <a:spcPts val="0"/>
              </a:spcAft>
              <a:buNone/>
            </a:pPr>
            <a:r>
              <a:rPr lang="en" sz="1200">
                <a:latin typeface="Poppins"/>
                <a:ea typeface="Poppins"/>
                <a:cs typeface="Poppins"/>
                <a:sym typeface="Poppins"/>
              </a:rPr>
              <a:t>Sometimes in interviews, you will be given a specific restriction or requirement.</a:t>
            </a:r>
            <a:endParaRPr sz="1200">
              <a:latin typeface="Poppins"/>
              <a:ea typeface="Poppins"/>
              <a:cs typeface="Poppins"/>
              <a:sym typeface="Poppins"/>
            </a:endParaRPr>
          </a:p>
          <a:p>
            <a:pPr indent="0" lvl="0" marL="0" rtl="0" algn="ctr">
              <a:spcBef>
                <a:spcPts val="0"/>
              </a:spcBef>
              <a:spcAft>
                <a:spcPts val="0"/>
              </a:spcAft>
              <a:buNone/>
            </a:pPr>
            <a:r>
              <a:t/>
            </a:r>
            <a:endParaRPr sz="1200">
              <a:latin typeface="Poppins"/>
              <a:ea typeface="Poppins"/>
              <a:cs typeface="Poppins"/>
              <a:sym typeface="Poppins"/>
            </a:endParaRPr>
          </a:p>
          <a:p>
            <a:pPr indent="0" lvl="0" marL="0" rtl="0" algn="ctr">
              <a:spcBef>
                <a:spcPts val="0"/>
              </a:spcBef>
              <a:spcAft>
                <a:spcPts val="0"/>
              </a:spcAft>
              <a:buNone/>
            </a:pPr>
            <a:r>
              <a:rPr lang="en" sz="1200">
                <a:latin typeface="Poppins"/>
                <a:ea typeface="Poppins"/>
                <a:cs typeface="Poppins"/>
                <a:sym typeface="Poppins"/>
              </a:rPr>
              <a:t>What if the interviewer says that you may not use the .reverse() method?</a:t>
            </a:r>
            <a:endParaRPr b="1" sz="1200">
              <a:solidFill>
                <a:srgbClr val="000000"/>
              </a:solidFill>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109"/>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p>
            <a:pPr indent="0" lvl="0" marL="0" rtl="0" algn="ctr">
              <a:spcBef>
                <a:spcPts val="0"/>
              </a:spcBef>
              <a:spcAft>
                <a:spcPts val="0"/>
              </a:spcAft>
              <a:buClr>
                <a:schemeClr val="dk1"/>
              </a:buClr>
              <a:buSzPts val="1100"/>
              <a:buFont typeface="Arial"/>
              <a:buNone/>
            </a:pPr>
            <a:r>
              <a:rPr b="1" lang="en" sz="2300"/>
              <a:t>Break Time!</a:t>
            </a:r>
            <a:endParaRPr b="1" sz="2300"/>
          </a:p>
          <a:p>
            <a:pPr indent="0" lvl="0" marL="0" rtl="0" algn="ctr">
              <a:spcBef>
                <a:spcPts val="1000"/>
              </a:spcBef>
              <a:spcAft>
                <a:spcPts val="0"/>
              </a:spcAft>
              <a:buClr>
                <a:schemeClr val="dk1"/>
              </a:buClr>
              <a:buSzPts val="1100"/>
              <a:buFont typeface="Arial"/>
              <a:buNone/>
            </a:pPr>
            <a:r>
              <a:rPr lang="en" sz="1900"/>
              <a:t>Take 5 mins to step away from the computer. Feel free to turn off your camera and return promptly after 5 mins.</a:t>
            </a:r>
            <a:endParaRPr/>
          </a:p>
        </p:txBody>
      </p:sp>
      <p:pic>
        <p:nvPicPr>
          <p:cNvPr descr="5 minutes timer with relaxing music#5minutetimer #timer #relaxingmusic #relaxation" id="804" name="Google Shape;804;p109" title="5 Minutes Timer With Relaxing Music">
            <a:hlinkClick r:id="rId3"/>
          </p:cNvPr>
          <p:cNvPicPr preferRelativeResize="0"/>
          <p:nvPr/>
        </p:nvPicPr>
        <p:blipFill>
          <a:blip r:embed="rId4">
            <a:alphaModFix/>
          </a:blip>
          <a:stretch>
            <a:fillRect/>
          </a:stretch>
        </p:blipFill>
        <p:spPr>
          <a:xfrm>
            <a:off x="6355850" y="1739175"/>
            <a:ext cx="2198300" cy="1236550"/>
          </a:xfrm>
          <a:prstGeom prst="rect">
            <a:avLst/>
          </a:prstGeom>
          <a:noFill/>
          <a:ln cap="flat" cmpd="sng" w="76200">
            <a:solidFill>
              <a:srgbClr val="1B1C57"/>
            </a:solidFill>
            <a:prstDash val="solid"/>
            <a:round/>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110"/>
          <p:cNvSpPr txBox="1"/>
          <p:nvPr>
            <p:ph type="title"/>
          </p:nvPr>
        </p:nvSpPr>
        <p:spPr>
          <a:xfrm>
            <a:off x="884825" y="2317200"/>
            <a:ext cx="74328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Collaborative Problem Solving</a:t>
            </a:r>
            <a:endParaRPr/>
          </a:p>
        </p:txBody>
      </p:sp>
      <p:sp>
        <p:nvSpPr>
          <p:cNvPr id="810" name="Google Shape;810;p110"/>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 minutes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111"/>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60 minutes</a:t>
            </a:r>
            <a:endParaRPr/>
          </a:p>
        </p:txBody>
      </p:sp>
      <p:sp>
        <p:nvSpPr>
          <p:cNvPr id="816" name="Google Shape;816;p111"/>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17" name="Google Shape;817;p111"/>
          <p:cNvSpPr txBox="1"/>
          <p:nvPr/>
        </p:nvSpPr>
        <p:spPr>
          <a:xfrm>
            <a:off x="452400" y="1260500"/>
            <a:ext cx="7685700" cy="1558800"/>
          </a:xfrm>
          <a:prstGeom prst="rect">
            <a:avLst/>
          </a:prstGeom>
          <a:noFill/>
          <a:ln>
            <a:noFill/>
          </a:ln>
        </p:spPr>
        <p:txBody>
          <a:bodyPr anchorCtr="0" anchor="t" bIns="91425" lIns="91425" spcFirstLastPara="1" rIns="91425" wrap="square" tIns="91425">
            <a:spAutoFit/>
          </a:bodyPr>
          <a:lstStyle/>
          <a:p>
            <a:pPr indent="-368300" lvl="0" marL="457200" rtl="0" algn="l">
              <a:lnSpc>
                <a:spcPct val="115000"/>
              </a:lnSpc>
              <a:spcBef>
                <a:spcPts val="0"/>
              </a:spcBef>
              <a:spcAft>
                <a:spcPts val="0"/>
              </a:spcAft>
              <a:buClr>
                <a:srgbClr val="6EC396"/>
              </a:buClr>
              <a:buSzPts val="2200"/>
              <a:buFont typeface="Poppins"/>
              <a:buAutoNum type="arabicPeriod"/>
            </a:pPr>
            <a:r>
              <a:rPr lang="en" sz="2200">
                <a:solidFill>
                  <a:srgbClr val="000000"/>
                </a:solidFill>
                <a:latin typeface="Poppins"/>
                <a:ea typeface="Poppins"/>
                <a:cs typeface="Poppins"/>
                <a:sym typeface="Poppins"/>
              </a:rPr>
              <a:t>🏃🏽 Navigate to your breakout room.</a:t>
            </a:r>
            <a:endParaRPr sz="2200">
              <a:solidFill>
                <a:srgbClr val="000000"/>
              </a:solidFill>
              <a:latin typeface="Poppins"/>
              <a:ea typeface="Poppins"/>
              <a:cs typeface="Poppins"/>
              <a:sym typeface="Poppins"/>
            </a:endParaRPr>
          </a:p>
          <a:p>
            <a:pPr indent="-368300" lvl="0" marL="457200" rtl="0" algn="l">
              <a:lnSpc>
                <a:spcPct val="115000"/>
              </a:lnSpc>
              <a:spcBef>
                <a:spcPts val="1000"/>
              </a:spcBef>
              <a:spcAft>
                <a:spcPts val="0"/>
              </a:spcAft>
              <a:buClr>
                <a:srgbClr val="6EC396"/>
              </a:buClr>
              <a:buSzPts val="2200"/>
              <a:buFont typeface="Poppins"/>
              <a:buAutoNum type="arabicPeriod"/>
            </a:pPr>
            <a:r>
              <a:rPr lang="en" sz="2200">
                <a:solidFill>
                  <a:srgbClr val="000000"/>
                </a:solidFill>
                <a:latin typeface="Poppins"/>
                <a:ea typeface="Poppins"/>
                <a:cs typeface="Poppins"/>
                <a:sym typeface="Poppins"/>
              </a:rPr>
              <a:t>👋🏽 Introduce yourselves!</a:t>
            </a:r>
            <a:endParaRPr sz="2200">
              <a:solidFill>
                <a:srgbClr val="000000"/>
              </a:solidFill>
              <a:latin typeface="Poppins"/>
              <a:ea typeface="Poppins"/>
              <a:cs typeface="Poppins"/>
              <a:sym typeface="Poppins"/>
            </a:endParaRPr>
          </a:p>
          <a:p>
            <a:pPr indent="-368300" lvl="0" marL="457200" rtl="0" algn="l">
              <a:lnSpc>
                <a:spcPct val="115000"/>
              </a:lnSpc>
              <a:spcBef>
                <a:spcPts val="1000"/>
              </a:spcBef>
              <a:spcAft>
                <a:spcPts val="1000"/>
              </a:spcAft>
              <a:buClr>
                <a:srgbClr val="6EC396"/>
              </a:buClr>
              <a:buSzPts val="2200"/>
              <a:buFont typeface="Poppins"/>
              <a:buAutoNum type="arabicPeriod"/>
            </a:pPr>
            <a:r>
              <a:rPr lang="en" sz="2200">
                <a:solidFill>
                  <a:srgbClr val="000000"/>
                </a:solidFill>
                <a:latin typeface="Poppins"/>
                <a:ea typeface="Poppins"/>
                <a:cs typeface="Poppins"/>
                <a:sym typeface="Poppins"/>
              </a:rPr>
              <a:t>🧑🏽‍💻 Work on the problems for your </a:t>
            </a:r>
            <a:r>
              <a:rPr lang="en" sz="2200">
                <a:latin typeface="Poppins"/>
                <a:ea typeface="Poppins"/>
                <a:cs typeface="Poppins"/>
                <a:sym typeface="Poppins"/>
              </a:rPr>
              <a:t>selected unit</a:t>
            </a:r>
            <a:r>
              <a:rPr lang="en" sz="2200">
                <a:solidFill>
                  <a:srgbClr val="000000"/>
                </a:solidFill>
                <a:latin typeface="Poppins"/>
                <a:ea typeface="Poppins"/>
                <a:cs typeface="Poppins"/>
                <a:sym typeface="Poppins"/>
              </a:rPr>
              <a:t>.</a:t>
            </a:r>
            <a:endParaRPr sz="2200">
              <a:solidFill>
                <a:srgbClr val="000000"/>
              </a:solidFill>
              <a:latin typeface="Poppins"/>
              <a:ea typeface="Poppins"/>
              <a:cs typeface="Poppins"/>
              <a:sym typeface="Poppi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112"/>
          <p:cNvSpPr txBox="1"/>
          <p:nvPr>
            <p:ph type="title"/>
          </p:nvPr>
        </p:nvSpPr>
        <p:spPr>
          <a:xfrm>
            <a:off x="884825" y="2317200"/>
            <a:ext cx="19827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Wrap Up</a:t>
            </a:r>
            <a:endParaRPr/>
          </a:p>
        </p:txBody>
      </p:sp>
      <p:sp>
        <p:nvSpPr>
          <p:cNvPr id="823" name="Google Shape;823;p112"/>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10 minutes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p113"/>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114"/>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834" name="Google Shape;834;p114"/>
          <p:cNvCxnSpPr>
            <a:endCxn id="835" idx="1"/>
          </p:cNvCxnSpPr>
          <p:nvPr/>
        </p:nvCxnSpPr>
        <p:spPr>
          <a:xfrm flipH="1" rot="-5400000">
            <a:off x="853075" y="2219200"/>
            <a:ext cx="417600" cy="317400"/>
          </a:xfrm>
          <a:prstGeom prst="bentConnector2">
            <a:avLst/>
          </a:prstGeom>
          <a:noFill/>
          <a:ln cap="flat" cmpd="sng" w="19050">
            <a:solidFill>
              <a:srgbClr val="1B1C57"/>
            </a:solidFill>
            <a:prstDash val="solid"/>
            <a:round/>
            <a:headEnd len="med" w="med" type="none"/>
            <a:tailEnd len="med" w="med" type="triangle"/>
          </a:ln>
        </p:spPr>
      </p:cxnSp>
      <p:sp>
        <p:nvSpPr>
          <p:cNvPr id="836" name="Google Shape;836;p114"/>
          <p:cNvSpPr/>
          <p:nvPr/>
        </p:nvSpPr>
        <p:spPr>
          <a:xfrm>
            <a:off x="705825" y="1160013"/>
            <a:ext cx="432900" cy="429900"/>
          </a:xfrm>
          <a:prstGeom prst="ellipse">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114"/>
          <p:cNvSpPr txBox="1"/>
          <p:nvPr/>
        </p:nvSpPr>
        <p:spPr>
          <a:xfrm>
            <a:off x="705825" y="1008438"/>
            <a:ext cx="6318000" cy="747600"/>
          </a:xfrm>
          <a:prstGeom prst="rect">
            <a:avLst/>
          </a:prstGeom>
          <a:noFill/>
          <a:ln>
            <a:noFill/>
          </a:ln>
        </p:spPr>
        <p:txBody>
          <a:bodyPr anchorCtr="0" anchor="ctr" bIns="91425" lIns="91425" spcFirstLastPara="1" rIns="91425" wrap="square" tIns="91425">
            <a:noAutofit/>
          </a:bodyPr>
          <a:lstStyle/>
          <a:p>
            <a:pPr indent="-342900" lvl="0" marL="457200" rtl="0" algn="l">
              <a:spcBef>
                <a:spcPts val="0"/>
              </a:spcBef>
              <a:spcAft>
                <a:spcPts val="0"/>
              </a:spcAft>
              <a:buClr>
                <a:schemeClr val="lt1"/>
              </a:buClr>
              <a:buSzPts val="1800"/>
              <a:buFont typeface="Poppins"/>
              <a:buAutoNum type="arabicPeriod"/>
            </a:pPr>
            <a:r>
              <a:rPr b="1" lang="en" sz="1800">
                <a:solidFill>
                  <a:schemeClr val="dk1"/>
                </a:solidFill>
                <a:latin typeface="Poppins"/>
                <a:ea typeface="Poppins"/>
                <a:cs typeface="Poppins"/>
                <a:sym typeface="Poppins"/>
              </a:rPr>
              <a:t>Open </a:t>
            </a:r>
            <a:r>
              <a:rPr lang="en" sz="1800">
                <a:solidFill>
                  <a:schemeClr val="dk1"/>
                </a:solidFill>
                <a:latin typeface="Poppins"/>
                <a:ea typeface="Poppins"/>
                <a:cs typeface="Poppins"/>
                <a:sym typeface="Poppins"/>
              </a:rPr>
              <a:t>the email you enrolled in CodePath with</a:t>
            </a:r>
            <a:endParaRPr sz="1800">
              <a:solidFill>
                <a:schemeClr val="dk1"/>
              </a:solidFill>
              <a:latin typeface="Poppins"/>
              <a:ea typeface="Poppins"/>
              <a:cs typeface="Poppins"/>
              <a:sym typeface="Poppins"/>
            </a:endParaRPr>
          </a:p>
        </p:txBody>
      </p:sp>
      <p:sp>
        <p:nvSpPr>
          <p:cNvPr id="835" name="Google Shape;835;p114"/>
          <p:cNvSpPr/>
          <p:nvPr/>
        </p:nvSpPr>
        <p:spPr>
          <a:xfrm>
            <a:off x="1220575" y="2259550"/>
            <a:ext cx="6603000" cy="654300"/>
          </a:xfrm>
          <a:prstGeom prst="roundRect">
            <a:avLst>
              <a:gd fmla="val 17017" name="adj"/>
            </a:avLst>
          </a:prstGeom>
          <a:solidFill>
            <a:srgbClr val="00C385"/>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800">
                <a:solidFill>
                  <a:schemeClr val="lt1"/>
                </a:solidFill>
                <a:latin typeface="Poppins"/>
                <a:ea typeface="Poppins"/>
                <a:cs typeface="Poppins"/>
                <a:sym typeface="Poppins"/>
              </a:rPr>
              <a:t>[Course Code] Early Course Survey - Please Complete</a:t>
            </a:r>
            <a:endParaRPr b="1" sz="1800">
              <a:solidFill>
                <a:schemeClr val="lt1"/>
              </a:solidFill>
              <a:latin typeface="Poppins"/>
              <a:ea typeface="Poppins"/>
              <a:cs typeface="Poppins"/>
              <a:sym typeface="Poppins"/>
            </a:endParaRPr>
          </a:p>
        </p:txBody>
      </p:sp>
      <p:sp>
        <p:nvSpPr>
          <p:cNvPr id="838" name="Google Shape;838;p114"/>
          <p:cNvSpPr/>
          <p:nvPr/>
        </p:nvSpPr>
        <p:spPr>
          <a:xfrm>
            <a:off x="458100" y="472975"/>
            <a:ext cx="8227800" cy="473400"/>
          </a:xfrm>
          <a:prstGeom prst="roundRect">
            <a:avLst>
              <a:gd fmla="val 14982" name="adj"/>
            </a:avLst>
          </a:prstGeom>
          <a:solidFill>
            <a:srgbClr val="1B1C5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600">
                <a:solidFill>
                  <a:schemeClr val="lt1"/>
                </a:solidFill>
                <a:latin typeface="Space Mono"/>
                <a:ea typeface="Space Mono"/>
                <a:cs typeface="Space Mono"/>
                <a:sym typeface="Space Mono"/>
              </a:rPr>
              <a:t>EARLY</a:t>
            </a:r>
            <a:r>
              <a:rPr b="1" lang="en" sz="2600">
                <a:solidFill>
                  <a:schemeClr val="lt1"/>
                </a:solidFill>
                <a:latin typeface="Space Mono"/>
                <a:ea typeface="Space Mono"/>
                <a:cs typeface="Space Mono"/>
                <a:sym typeface="Space Mono"/>
              </a:rPr>
              <a:t>-COURSE SURVEY</a:t>
            </a:r>
            <a:endParaRPr sz="1800">
              <a:solidFill>
                <a:schemeClr val="lt1"/>
              </a:solidFill>
            </a:endParaRPr>
          </a:p>
        </p:txBody>
      </p:sp>
      <p:sp>
        <p:nvSpPr>
          <p:cNvPr id="839" name="Google Shape;839;p114"/>
          <p:cNvSpPr/>
          <p:nvPr/>
        </p:nvSpPr>
        <p:spPr>
          <a:xfrm>
            <a:off x="705825" y="1794901"/>
            <a:ext cx="432900" cy="429900"/>
          </a:xfrm>
          <a:prstGeom prst="ellipse">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114"/>
          <p:cNvSpPr txBox="1"/>
          <p:nvPr/>
        </p:nvSpPr>
        <p:spPr>
          <a:xfrm>
            <a:off x="722275" y="1726350"/>
            <a:ext cx="7348800" cy="567000"/>
          </a:xfrm>
          <a:prstGeom prst="rect">
            <a:avLst/>
          </a:prstGeom>
          <a:noFill/>
          <a:ln>
            <a:noFill/>
          </a:ln>
        </p:spPr>
        <p:txBody>
          <a:bodyPr anchorCtr="0" anchor="ctr" bIns="91425" lIns="91425" spcFirstLastPara="1" rIns="91425" wrap="square" tIns="91425">
            <a:noAutofit/>
          </a:bodyPr>
          <a:lstStyle/>
          <a:p>
            <a:pPr indent="-342900" lvl="0" marL="457200" rtl="0" algn="l">
              <a:spcBef>
                <a:spcPts val="0"/>
              </a:spcBef>
              <a:spcAft>
                <a:spcPts val="0"/>
              </a:spcAft>
              <a:buClr>
                <a:schemeClr val="lt1"/>
              </a:buClr>
              <a:buSzPts val="1800"/>
              <a:buFont typeface="Poppins"/>
              <a:buAutoNum type="arabicPeriod" startAt="2"/>
            </a:pPr>
            <a:r>
              <a:rPr b="1" lang="en" sz="1800">
                <a:solidFill>
                  <a:schemeClr val="dk1"/>
                </a:solidFill>
                <a:latin typeface="Poppins"/>
                <a:ea typeface="Poppins"/>
                <a:cs typeface="Poppins"/>
                <a:sym typeface="Poppins"/>
              </a:rPr>
              <a:t>Locate </a:t>
            </a:r>
            <a:r>
              <a:rPr lang="en" sz="1800">
                <a:solidFill>
                  <a:schemeClr val="dk1"/>
                </a:solidFill>
                <a:latin typeface="Poppins"/>
                <a:ea typeface="Poppins"/>
                <a:cs typeface="Poppins"/>
                <a:sym typeface="Poppins"/>
              </a:rPr>
              <a:t> the message from </a:t>
            </a:r>
            <a:r>
              <a:rPr lang="en" sz="1800" u="sng">
                <a:solidFill>
                  <a:schemeClr val="hlink"/>
                </a:solidFill>
                <a:latin typeface="Poppins"/>
                <a:ea typeface="Poppins"/>
                <a:cs typeface="Poppins"/>
                <a:sym typeface="Poppins"/>
                <a:hlinkClick r:id="rId3"/>
              </a:rPr>
              <a:t>support@codepath.org</a:t>
            </a:r>
            <a:r>
              <a:rPr lang="en" sz="1800">
                <a:solidFill>
                  <a:schemeClr val="accent1"/>
                </a:solidFill>
                <a:latin typeface="Poppins"/>
                <a:ea typeface="Poppins"/>
                <a:cs typeface="Poppins"/>
                <a:sym typeface="Poppins"/>
              </a:rPr>
              <a:t> </a:t>
            </a:r>
            <a:r>
              <a:rPr lang="en" sz="1800">
                <a:solidFill>
                  <a:schemeClr val="dk1"/>
                </a:solidFill>
                <a:latin typeface="Poppins"/>
                <a:ea typeface="Poppins"/>
                <a:cs typeface="Poppins"/>
                <a:sym typeface="Poppins"/>
              </a:rPr>
              <a:t>titled:</a:t>
            </a:r>
            <a:endParaRPr sz="1800">
              <a:solidFill>
                <a:schemeClr val="dk1"/>
              </a:solidFill>
              <a:latin typeface="Poppins"/>
              <a:ea typeface="Poppins"/>
              <a:cs typeface="Poppins"/>
              <a:sym typeface="Poppins"/>
            </a:endParaRPr>
          </a:p>
        </p:txBody>
      </p:sp>
      <p:sp>
        <p:nvSpPr>
          <p:cNvPr id="841" name="Google Shape;841;p114"/>
          <p:cNvSpPr/>
          <p:nvPr/>
        </p:nvSpPr>
        <p:spPr>
          <a:xfrm>
            <a:off x="705825" y="2997626"/>
            <a:ext cx="432900" cy="429900"/>
          </a:xfrm>
          <a:prstGeom prst="ellipse">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114"/>
          <p:cNvSpPr/>
          <p:nvPr/>
        </p:nvSpPr>
        <p:spPr>
          <a:xfrm>
            <a:off x="705825" y="3621538"/>
            <a:ext cx="432900" cy="429900"/>
          </a:xfrm>
          <a:prstGeom prst="ellipse">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114"/>
          <p:cNvSpPr/>
          <p:nvPr/>
        </p:nvSpPr>
        <p:spPr>
          <a:xfrm>
            <a:off x="689375" y="4270413"/>
            <a:ext cx="432900" cy="429900"/>
          </a:xfrm>
          <a:prstGeom prst="ellipse">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114"/>
          <p:cNvSpPr txBox="1"/>
          <p:nvPr/>
        </p:nvSpPr>
        <p:spPr>
          <a:xfrm>
            <a:off x="731450" y="4245471"/>
            <a:ext cx="7781700" cy="473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Poppins"/>
                <a:ea typeface="Poppins"/>
                <a:cs typeface="Poppins"/>
                <a:sym typeface="Poppins"/>
              </a:rPr>
              <a:t>5.	</a:t>
            </a:r>
            <a:r>
              <a:rPr b="1" lang="en" sz="1800">
                <a:solidFill>
                  <a:schemeClr val="dk1"/>
                </a:solidFill>
                <a:latin typeface="Poppins"/>
                <a:ea typeface="Poppins"/>
                <a:cs typeface="Poppins"/>
                <a:sym typeface="Poppins"/>
              </a:rPr>
              <a:t>Celebrate</a:t>
            </a:r>
            <a:r>
              <a:rPr lang="en" sz="1800">
                <a:solidFill>
                  <a:schemeClr val="dk1"/>
                </a:solidFill>
                <a:latin typeface="Poppins"/>
                <a:ea typeface="Poppins"/>
                <a:cs typeface="Poppins"/>
                <a:sym typeface="Poppins"/>
              </a:rPr>
              <a:t>: You’re helping CodePath courses improve!</a:t>
            </a:r>
            <a:endParaRPr b="1" sz="1800">
              <a:solidFill>
                <a:schemeClr val="dk1"/>
              </a:solidFill>
              <a:latin typeface="Poppins"/>
              <a:ea typeface="Poppins"/>
              <a:cs typeface="Poppins"/>
              <a:sym typeface="Poppins"/>
            </a:endParaRPr>
          </a:p>
        </p:txBody>
      </p:sp>
      <p:sp>
        <p:nvSpPr>
          <p:cNvPr id="845" name="Google Shape;845;p114"/>
          <p:cNvSpPr txBox="1"/>
          <p:nvPr/>
        </p:nvSpPr>
        <p:spPr>
          <a:xfrm>
            <a:off x="758952" y="2940538"/>
            <a:ext cx="6575100" cy="567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Poppins"/>
                <a:ea typeface="Poppins"/>
                <a:cs typeface="Poppins"/>
                <a:sym typeface="Poppins"/>
              </a:rPr>
              <a:t>3.	</a:t>
            </a:r>
            <a:r>
              <a:rPr b="1" lang="en" sz="1800">
                <a:solidFill>
                  <a:schemeClr val="dk1"/>
                </a:solidFill>
                <a:latin typeface="Poppins"/>
                <a:ea typeface="Poppins"/>
                <a:cs typeface="Poppins"/>
                <a:sym typeface="Poppins"/>
              </a:rPr>
              <a:t>Open</a:t>
            </a:r>
            <a:r>
              <a:rPr lang="en" sz="1800">
                <a:solidFill>
                  <a:schemeClr val="dk1"/>
                </a:solidFill>
                <a:latin typeface="Poppins"/>
                <a:ea typeface="Poppins"/>
                <a:cs typeface="Poppins"/>
                <a:sym typeface="Poppins"/>
              </a:rPr>
              <a:t> your unique survey link</a:t>
            </a:r>
            <a:endParaRPr sz="1800">
              <a:solidFill>
                <a:schemeClr val="dk1"/>
              </a:solidFill>
              <a:latin typeface="Poppins"/>
              <a:ea typeface="Poppins"/>
              <a:cs typeface="Poppins"/>
              <a:sym typeface="Poppins"/>
            </a:endParaRPr>
          </a:p>
        </p:txBody>
      </p:sp>
      <p:sp>
        <p:nvSpPr>
          <p:cNvPr id="846" name="Google Shape;846;p114"/>
          <p:cNvSpPr txBox="1"/>
          <p:nvPr/>
        </p:nvSpPr>
        <p:spPr>
          <a:xfrm>
            <a:off x="731449" y="3599788"/>
            <a:ext cx="7241700" cy="473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Poppins"/>
                <a:ea typeface="Poppins"/>
                <a:cs typeface="Poppins"/>
                <a:sym typeface="Poppins"/>
              </a:rPr>
              <a:t>4.	</a:t>
            </a:r>
            <a:r>
              <a:rPr b="1" lang="en" sz="1800">
                <a:solidFill>
                  <a:schemeClr val="dk1"/>
                </a:solidFill>
                <a:latin typeface="Poppins"/>
                <a:ea typeface="Poppins"/>
                <a:cs typeface="Poppins"/>
                <a:sym typeface="Poppins"/>
              </a:rPr>
              <a:t>Answer </a:t>
            </a:r>
            <a:r>
              <a:rPr lang="en" sz="1800">
                <a:solidFill>
                  <a:schemeClr val="dk1"/>
                </a:solidFill>
                <a:latin typeface="Poppins"/>
                <a:ea typeface="Poppins"/>
                <a:cs typeface="Poppins"/>
                <a:sym typeface="Poppins"/>
              </a:rPr>
              <a:t>each question completely and honestly</a:t>
            </a:r>
            <a:endParaRPr b="1" sz="1800">
              <a:solidFill>
                <a:schemeClr val="dk1"/>
              </a:solidFill>
              <a:latin typeface="Poppins"/>
              <a:ea typeface="Poppins"/>
              <a:cs typeface="Poppins"/>
              <a:sym typeface="Poppins"/>
            </a:endParaRPr>
          </a:p>
        </p:txBody>
      </p:sp>
      <p:pic>
        <p:nvPicPr>
          <p:cNvPr descr="Audio Library is one of the most trusted platforms dedicated to providing Background and No Copyright Music for content creators.&#10;&#10;✨ *FREE DOWNLOAD HERE:*  https://audiolibrary.com.co/scott-buckley/wildflowers&#10;&#10;&#10;✅ *HOW DO I MONETIZE MY VIDEO WITH THIS TRACK?* &#10;&#10;You can use this song for *FREE* in any YouTube video and monetize it—just make sure to include the following in your description *(copy and paste into your description)* 👇&#10;&#10;––––––––––––––––––––––––––––––&#10;Music: Wildflowers by Scott Buckley https://www.scottbuckley.com.au/&#10;License: Creative Commons — Attribution 4.0 International — CC BY 4.0&#10;Free Download / Stream: https://audiolibrary.com.co/scott-buckley/wildflowers&#10;Music promoted by Audio Library: https://youtu.be/sV0t_2W_asU&#10;––––––––––––––––––––––––––––––&#10;&#10;&#10;🎶 *ABOUT THE SONG* &#10;&#10;This *uplifting* and *serene* composition titled &quot;Wildflowers&quot; showcases Scott Buckley's incredible talent for creating *atmospheric* scores. With its *inspiring* melodies and rich *string* sections, this track is ideal as *background music* for *travel vlogs* , *documentaries* , and *motivational* content.&#10;&#10;&#10;🎶 *KEY MUSICAL SEGMENTS FROM THE SONG* &#10;&#10;0:00 - Piano Prelude: Soft and delicate piano notes set a peaceful mood.&#10;0:59 - Gentle Strings: Melodic strings enter to add emotional depth.&#10;1:57 - Emotional Build: Orchestral layers increase with hopeful energy.&#10;2:55 - Grand Crescendo: A powerful and soaring peak of orchestral sound.&#10;3:54 - Reflective Calm: The intensity fades into a quiet, pensive melody.&#10;&#10;&#10;🎧 *LISTEN ON YOUR FAVORITE PLATFORMS* &#10;&#10;Spotify: https://open.spotify.com/track/0SMAEGqP9OByA9mVrPCbMT&#10;iTunes: https://geo.music.apple.com/co/album/_/1866469047&#10;YouTube Music: https://music.youtube.com/watch?v=xcCvM6-vHaA&#10;&#10;&#10;👋 *GET IN TOUCH WITH SCOTT BUCKLEY* &#10;&#10;https://scottbuckley.com.au&#10;https://instagram.com/musoscientific&#10;https://facebook.com/musicbyscottbuckley&#10;&#10;&#10;⚠️ *HOW TO USE THIS MUSIC FOR FREE (GUIDELINES)* &#10;&#10;-  You must include full credits in your video description.&#10;-  You cannot claim the music as your own.&#10;-  You cannot sell, license, or distribute the music in any form.&#10;-  You cannot remove or alter any part of the credits.&#10;-  You cannot use this music as background for your own musical compositions without the artist’s explicit consent.&#10;-  If you wish to use this music in projects outside of YouTube, you must obtain permission from the artist.&#10;-  Failure to comply with these guidelines may result in a copyright claim or strike.&#10;-  If you have any questions or need further clarification, please contact the artist directly.&#10;&#10;&#10;🔥 *MORE FREE MUSIC FROM AUDIO LIBRARY* &#10;&#10;Spotify playlists: https://spoti.fi/3XTlK4h&#10;Official Releases: https://www.youtube.com/c/audiolibraryplus&#10;&#10;&#10;❤️ *GET IN TOUCH WITH AUDIO LIBRARY* &#10;&#10;hello@audiolibrary.com.co&#10;https://beacons.ai/audiolibrary&#10;https://www.audiolibrary.com.co/demo&#10;&#10;———&#10;&#10;_To report broken links, copyright claims/strikes, or cases of music misuse (such as uncredited usage or unauthorized sales), please email (report@audiolibrary.com.co)_&#10;&#10;_*Disclaimer:* The terms &quot;No Copyright&quot; and &quot;Free Copyright&quot; are only search keywords used to find music released by their respective authors as free to use under Creative Commons or custom licenses. All rights remain with the original authors, who allow free use in exchange for proper credit._&#10;&#10;_This channel serves as a promotional platform for music. Any use of the tracks is at your own discretion, and it is your responsibility to check the licensing terms with the original authors._&#10;&#10;———&#10;&#10;#BackgroundMusic · #AudioLibrary · #FreeMusic" id="847" name="Google Shape;847;p114" title="DAILY No Copyright For You – Wildflowers by Scott Buckley 🎵">
            <a:hlinkClick r:id="rId4"/>
          </p:cNvPr>
          <p:cNvPicPr preferRelativeResize="0"/>
          <p:nvPr/>
        </p:nvPicPr>
        <p:blipFill>
          <a:blip r:embed="rId5">
            <a:alphaModFix/>
          </a:blip>
          <a:stretch>
            <a:fillRect/>
          </a:stretch>
        </p:blipFill>
        <p:spPr>
          <a:xfrm>
            <a:off x="6787825" y="0"/>
            <a:ext cx="2356175" cy="13253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7"/>
                                        </p:tgtEl>
                                        <p:attrNameLst>
                                          <p:attrName>style.visibility</p:attrName>
                                        </p:attrNameLst>
                                      </p:cBhvr>
                                      <p:to>
                                        <p:strVal val="visible"/>
                                      </p:to>
                                    </p:set>
                                    <p:animEffect filter="fade" transition="in">
                                      <p:cBhvr>
                                        <p:cTn dur="1000"/>
                                        <p:tgtEl>
                                          <p:spTgt spid="8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115"/>
          <p:cNvSpPr txBox="1"/>
          <p:nvPr>
            <p:ph type="title"/>
          </p:nvPr>
        </p:nvSpPr>
        <p:spPr>
          <a:xfrm>
            <a:off x="1123700" y="481275"/>
            <a:ext cx="75681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 Reminders</a:t>
            </a:r>
            <a:endParaRPr/>
          </a:p>
        </p:txBody>
      </p:sp>
      <p:sp>
        <p:nvSpPr>
          <p:cNvPr id="853" name="Google Shape;853;p115"/>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54" name="Google Shape;854;p115"/>
          <p:cNvSpPr txBox="1"/>
          <p:nvPr>
            <p:ph idx="1" type="body"/>
          </p:nvPr>
        </p:nvSpPr>
        <p:spPr>
          <a:xfrm>
            <a:off x="452400" y="1115950"/>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Finish the problem sets for additional practice</a:t>
            </a:r>
            <a:endParaRPr/>
          </a:p>
          <a:p>
            <a:pPr indent="-342900" lvl="0" marL="457200" rtl="0" algn="l">
              <a:spcBef>
                <a:spcPts val="0"/>
              </a:spcBef>
              <a:spcAft>
                <a:spcPts val="0"/>
              </a:spcAft>
              <a:buSzPts val="1800"/>
              <a:buChar char="❒"/>
            </a:pPr>
            <a:r>
              <a:rPr lang="en"/>
              <a:t>Take the weekly HackerRank assessment by Sunday @ midnight</a:t>
            </a:r>
            <a:endParaRPr/>
          </a:p>
          <a:p>
            <a:pPr indent="-342900" lvl="0" marL="457200" rtl="0" algn="l">
              <a:spcBef>
                <a:spcPts val="0"/>
              </a:spcBef>
              <a:spcAft>
                <a:spcPts val="0"/>
              </a:spcAft>
              <a:buSzPts val="1800"/>
              <a:buChar char="❒"/>
            </a:pPr>
            <a:r>
              <a:rPr lang="en"/>
              <a:t>Visit a </a:t>
            </a:r>
            <a:r>
              <a:rPr b="1" lang="en"/>
              <a:t>Study Hall Session</a:t>
            </a:r>
            <a:r>
              <a:rPr lang="en"/>
              <a:t> to deepen your understanding, work through challenges, and connect with course material alongside your peers!</a:t>
            </a:r>
            <a:endParaRPr/>
          </a:p>
          <a:p>
            <a:pPr indent="-342900" lvl="0" marL="457200" rtl="0" algn="l">
              <a:spcBef>
                <a:spcPts val="0"/>
              </a:spcBef>
              <a:spcAft>
                <a:spcPts val="0"/>
              </a:spcAft>
              <a:buSzPts val="1800"/>
              <a:buChar char="❒"/>
            </a:pPr>
            <a:r>
              <a:rPr lang="en"/>
              <a:t>Remember to check out the </a:t>
            </a:r>
            <a:r>
              <a:rPr b="1" lang="en"/>
              <a:t>Codepath AI Tutor Bot </a:t>
            </a:r>
            <a:r>
              <a:rPr lang="en"/>
              <a:t>and earn an absence back! </a:t>
            </a:r>
            <a:r>
              <a:rPr b="1" lang="en"/>
              <a:t>➡️</a:t>
            </a:r>
            <a:endParaRPr/>
          </a:p>
        </p:txBody>
      </p:sp>
      <p:pic>
        <p:nvPicPr>
          <p:cNvPr id="855" name="Google Shape;855;p115"/>
          <p:cNvPicPr preferRelativeResize="0"/>
          <p:nvPr/>
        </p:nvPicPr>
        <p:blipFill>
          <a:blip r:embed="rId3">
            <a:alphaModFix/>
          </a:blip>
          <a:stretch>
            <a:fillRect/>
          </a:stretch>
        </p:blipFill>
        <p:spPr>
          <a:xfrm>
            <a:off x="452400" y="438175"/>
            <a:ext cx="608050" cy="6080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sp>
        <p:nvSpPr>
          <p:cNvPr id="860" name="Google Shape;860;p116"/>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do I get the most out of this course?</a:t>
            </a:r>
            <a:endParaRPr/>
          </a:p>
        </p:txBody>
      </p:sp>
      <p:sp>
        <p:nvSpPr>
          <p:cNvPr id="861" name="Google Shape;861;p116"/>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862" name="Google Shape;862;p116" title="Screenshot 2026-02-05 at 10.20.32 PM.png"/>
          <p:cNvPicPr preferRelativeResize="0"/>
          <p:nvPr/>
        </p:nvPicPr>
        <p:blipFill rotWithShape="1">
          <a:blip r:embed="rId3">
            <a:alphaModFix/>
          </a:blip>
          <a:srcRect b="89137" l="669" r="66039" t="1938"/>
          <a:stretch/>
        </p:blipFill>
        <p:spPr>
          <a:xfrm>
            <a:off x="452412" y="1401825"/>
            <a:ext cx="3359250" cy="510275"/>
          </a:xfrm>
          <a:prstGeom prst="rect">
            <a:avLst/>
          </a:prstGeom>
          <a:noFill/>
          <a:ln>
            <a:noFill/>
          </a:ln>
        </p:spPr>
      </p:pic>
      <p:pic>
        <p:nvPicPr>
          <p:cNvPr id="863" name="Google Shape;863;p116"/>
          <p:cNvPicPr preferRelativeResize="0"/>
          <p:nvPr/>
        </p:nvPicPr>
        <p:blipFill>
          <a:blip r:embed="rId4">
            <a:alphaModFix/>
          </a:blip>
          <a:stretch>
            <a:fillRect/>
          </a:stretch>
        </p:blipFill>
        <p:spPr>
          <a:xfrm>
            <a:off x="326775" y="1975552"/>
            <a:ext cx="3734099" cy="2333800"/>
          </a:xfrm>
          <a:prstGeom prst="rect">
            <a:avLst/>
          </a:prstGeom>
          <a:noFill/>
          <a:ln>
            <a:noFill/>
          </a:ln>
        </p:spPr>
      </p:pic>
      <p:sp>
        <p:nvSpPr>
          <p:cNvPr id="864" name="Google Shape;864;p116"/>
          <p:cNvSpPr txBox="1"/>
          <p:nvPr/>
        </p:nvSpPr>
        <p:spPr>
          <a:xfrm>
            <a:off x="4181700" y="1793150"/>
            <a:ext cx="4773900" cy="2122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00">
                <a:solidFill>
                  <a:schemeClr val="dk1"/>
                </a:solidFill>
                <a:latin typeface="Poppins"/>
                <a:ea typeface="Poppins"/>
                <a:cs typeface="Poppins"/>
                <a:sym typeface="Poppins"/>
              </a:rPr>
              <a:t>Build your skills with support! Take the following steps: </a:t>
            </a:r>
            <a:endParaRPr sz="1100">
              <a:solidFill>
                <a:schemeClr val="dk1"/>
              </a:solidFill>
              <a:latin typeface="Poppins"/>
              <a:ea typeface="Poppins"/>
              <a:cs typeface="Poppins"/>
              <a:sym typeface="Poppins"/>
            </a:endParaRPr>
          </a:p>
          <a:p>
            <a:pPr indent="-298450" lvl="0" marL="457200" rtl="0" algn="l">
              <a:lnSpc>
                <a:spcPct val="115000"/>
              </a:lnSpc>
              <a:spcBef>
                <a:spcPts val="1000"/>
              </a:spcBef>
              <a:spcAft>
                <a:spcPts val="0"/>
              </a:spcAft>
              <a:buClr>
                <a:srgbClr val="6EC396"/>
              </a:buClr>
              <a:buSzPts val="1100"/>
              <a:buFont typeface="Poppins"/>
              <a:buChar char="✱"/>
            </a:pPr>
            <a:r>
              <a:rPr lang="en" sz="1100">
                <a:solidFill>
                  <a:schemeClr val="dk1"/>
                </a:solidFill>
                <a:latin typeface="Poppins"/>
                <a:ea typeface="Poppins"/>
                <a:cs typeface="Poppins"/>
                <a:sym typeface="Poppins"/>
              </a:rPr>
              <a:t>Install the AI Tutor on chrome: </a:t>
            </a:r>
            <a:r>
              <a:rPr lang="en" sz="1100" u="sng">
                <a:solidFill>
                  <a:schemeClr val="accent5"/>
                </a:solidFill>
                <a:latin typeface="Poppins"/>
                <a:ea typeface="Poppins"/>
                <a:cs typeface="Poppins"/>
                <a:sym typeface="Poppins"/>
                <a:hlinkClick r:id="rId5">
                  <a:extLst>
                    <a:ext uri="{A12FA001-AC4F-418D-AE19-62706E023703}">
                      <ahyp:hlinkClr val="tx"/>
                    </a:ext>
                  </a:extLst>
                </a:hlinkClick>
              </a:rPr>
              <a:t>https://go.codepath.org/tiptutor</a:t>
            </a:r>
            <a:endParaRPr sz="1100">
              <a:solidFill>
                <a:schemeClr val="dk1"/>
              </a:solidFill>
              <a:latin typeface="Poppins"/>
              <a:ea typeface="Poppins"/>
              <a:cs typeface="Poppins"/>
              <a:sym typeface="Poppins"/>
            </a:endParaRPr>
          </a:p>
          <a:p>
            <a:pPr indent="-298450" lvl="0" marL="457200" rtl="0" algn="l">
              <a:lnSpc>
                <a:spcPct val="115000"/>
              </a:lnSpc>
              <a:spcBef>
                <a:spcPts val="0"/>
              </a:spcBef>
              <a:spcAft>
                <a:spcPts val="0"/>
              </a:spcAft>
              <a:buClr>
                <a:srgbClr val="6EC396"/>
              </a:buClr>
              <a:buSzPts val="1100"/>
              <a:buFont typeface="Poppins"/>
              <a:buChar char="✱"/>
            </a:pPr>
            <a:r>
              <a:rPr lang="en" sz="1100">
                <a:solidFill>
                  <a:schemeClr val="dk1"/>
                </a:solidFill>
                <a:latin typeface="Poppins"/>
                <a:ea typeface="Poppins"/>
                <a:cs typeface="Poppins"/>
                <a:sym typeface="Poppins"/>
              </a:rPr>
              <a:t>Solve 2 LeetCode problems on 2 different days</a:t>
            </a:r>
            <a:endParaRPr sz="1100">
              <a:solidFill>
                <a:schemeClr val="dk1"/>
              </a:solidFill>
              <a:latin typeface="Poppins"/>
              <a:ea typeface="Poppins"/>
              <a:cs typeface="Poppins"/>
              <a:sym typeface="Poppins"/>
            </a:endParaRPr>
          </a:p>
          <a:p>
            <a:pPr indent="0" lvl="0" marL="0" rtl="0" algn="l">
              <a:lnSpc>
                <a:spcPct val="115000"/>
              </a:lnSpc>
              <a:spcBef>
                <a:spcPts val="1000"/>
              </a:spcBef>
              <a:spcAft>
                <a:spcPts val="0"/>
              </a:spcAft>
              <a:buNone/>
            </a:pPr>
            <a:r>
              <a:rPr lang="en" sz="1100">
                <a:solidFill>
                  <a:schemeClr val="dk1"/>
                </a:solidFill>
                <a:latin typeface="Poppins"/>
                <a:ea typeface="Poppins"/>
                <a:cs typeface="Poppins"/>
                <a:sym typeface="Poppins"/>
              </a:rPr>
              <a:t>Once you’ve taken the steps above, unlock a new opportunity! </a:t>
            </a:r>
            <a:endParaRPr sz="1100">
              <a:solidFill>
                <a:schemeClr val="dk1"/>
              </a:solidFill>
              <a:latin typeface="Poppins"/>
              <a:ea typeface="Poppins"/>
              <a:cs typeface="Poppins"/>
              <a:sym typeface="Poppins"/>
            </a:endParaRPr>
          </a:p>
          <a:p>
            <a:pPr indent="-298450" lvl="0" marL="457200" rtl="0" algn="l">
              <a:lnSpc>
                <a:spcPct val="115000"/>
              </a:lnSpc>
              <a:spcBef>
                <a:spcPts val="1000"/>
              </a:spcBef>
              <a:spcAft>
                <a:spcPts val="0"/>
              </a:spcAft>
              <a:buClr>
                <a:srgbClr val="6EC396"/>
              </a:buClr>
              <a:buSzPts val="1100"/>
              <a:buFont typeface="Poppins"/>
              <a:buChar char="✱"/>
            </a:pPr>
            <a:r>
              <a:rPr lang="en" sz="1100">
                <a:solidFill>
                  <a:schemeClr val="dk1"/>
                </a:solidFill>
                <a:latin typeface="Poppins"/>
                <a:ea typeface="Poppins"/>
                <a:cs typeface="Poppins"/>
                <a:sym typeface="Poppins"/>
              </a:rPr>
              <a:t>+1 absence back for completion(one-time offer)</a:t>
            </a:r>
            <a:endParaRPr sz="1100">
              <a:solidFill>
                <a:schemeClr val="dk1"/>
              </a:solidFill>
              <a:latin typeface="Poppins"/>
              <a:ea typeface="Poppins"/>
              <a:cs typeface="Poppins"/>
              <a:sym typeface="Poppins"/>
            </a:endParaRPr>
          </a:p>
          <a:p>
            <a:pPr indent="0" lvl="0" marL="0" rtl="0" algn="l">
              <a:lnSpc>
                <a:spcPct val="115000"/>
              </a:lnSpc>
              <a:spcBef>
                <a:spcPts val="1200"/>
              </a:spcBef>
              <a:spcAft>
                <a:spcPts val="1200"/>
              </a:spcAft>
              <a:buNone/>
            </a:pPr>
            <a:r>
              <a:rPr lang="en" sz="1500" u="sng">
                <a:solidFill>
                  <a:schemeClr val="hlink"/>
                </a:solidFill>
                <a:latin typeface="Poppins"/>
                <a:ea typeface="Poppins"/>
                <a:cs typeface="Poppins"/>
                <a:sym typeface="Poppins"/>
                <a:hlinkClick r:id="rId6"/>
              </a:rPr>
              <a:t>Take a look at the FAQ if you have any questions</a:t>
            </a:r>
            <a:endParaRPr sz="1100"/>
          </a:p>
        </p:txBody>
      </p:sp>
      <p:pic>
        <p:nvPicPr>
          <p:cNvPr id="865" name="Google Shape;865;p116"/>
          <p:cNvPicPr preferRelativeResize="0"/>
          <p:nvPr/>
        </p:nvPicPr>
        <p:blipFill>
          <a:blip r:embed="rId7">
            <a:alphaModFix/>
          </a:blip>
          <a:stretch>
            <a:fillRect/>
          </a:stretch>
        </p:blipFill>
        <p:spPr>
          <a:xfrm>
            <a:off x="7008424" y="2195898"/>
            <a:ext cx="223750" cy="2237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