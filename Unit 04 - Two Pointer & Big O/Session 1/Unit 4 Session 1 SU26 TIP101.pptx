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39" r:id="rId5"/>
    <p:sldMasterId id="2147483740" r:id="rId6"/>
    <p:sldMasterId id="2147483741" r:id="rId7"/>
    <p:sldMasterId id="214748374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y="5143500" cx="9144000"/>
  <p:notesSz cx="6858000" cy="9144000"/>
  <p:embeddedFontLst>
    <p:embeddedFont>
      <p:font typeface="Space Mono"/>
      <p:regular r:id="rId33"/>
      <p:bold r:id="rId34"/>
      <p:italic r:id="rId35"/>
      <p:boldItalic r:id="rId36"/>
    </p:embeddedFont>
    <p:embeddedFont>
      <p:font typeface="Poppins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576">
          <p15:clr>
            <a:srgbClr val="9AA0A6"/>
          </p15:clr>
        </p15:guide>
        <p15:guide id="4" pos="1152">
          <p15:clr>
            <a:srgbClr val="9AA0A6"/>
          </p15:clr>
        </p15:guide>
        <p15:guide id="5" pos="1728">
          <p15:clr>
            <a:srgbClr val="9AA0A6"/>
          </p15:clr>
        </p15:guide>
        <p15:guide id="6" pos="2304">
          <p15:clr>
            <a:srgbClr val="9AA0A6"/>
          </p15:clr>
        </p15:guide>
        <p15:guide id="7" pos="3456">
          <p15:clr>
            <a:srgbClr val="9AA0A6"/>
          </p15:clr>
        </p15:guide>
        <p15:guide id="8" pos="4032">
          <p15:clr>
            <a:srgbClr val="9AA0A6"/>
          </p15:clr>
        </p15:guide>
        <p15:guide id="9" pos="4608">
          <p15:clr>
            <a:srgbClr val="9AA0A6"/>
          </p15:clr>
        </p15:guide>
        <p15:guide id="10" pos="5184">
          <p15:clr>
            <a:srgbClr val="9AA0A6"/>
          </p15:clr>
        </p15:guide>
        <p15:guide id="11" orient="horz" pos="468">
          <p15:clr>
            <a:srgbClr val="9AA0A6"/>
          </p15:clr>
        </p15:guide>
        <p15:guide id="12" orient="horz" pos="1044">
          <p15:clr>
            <a:srgbClr val="9AA0A6"/>
          </p15:clr>
        </p15:guide>
        <p15:guide id="13" orient="horz" pos="2772">
          <p15:clr>
            <a:srgbClr val="9AA0A6"/>
          </p15:clr>
        </p15:guide>
        <p15:guide id="14" orient="horz" pos="219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9458DE-AF1F-4E27-AEC3-604AA298160F}">
  <a:tblStyle styleId="{E09458DE-AF1F-4E27-AEC3-604AA29816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576"/>
        <p:guide pos="1152"/>
        <p:guide pos="1728"/>
        <p:guide pos="2304"/>
        <p:guide pos="3456"/>
        <p:guide pos="4032"/>
        <p:guide pos="4608"/>
        <p:guide pos="5184"/>
        <p:guide pos="468" orient="horz"/>
        <p:guide pos="1044" orient="horz"/>
        <p:guide pos="2772" orient="horz"/>
        <p:guide pos="219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Italic.fntdata"/><Relationship Id="rId20" Type="http://schemas.openxmlformats.org/officeDocument/2006/relationships/slide" Target="slides/slide11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3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2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font" Target="fonts/SpaceMono-regular.fntdata"/><Relationship Id="rId10" Type="http://schemas.openxmlformats.org/officeDocument/2006/relationships/slide" Target="slides/slide1.xml"/><Relationship Id="rId32" Type="http://schemas.openxmlformats.org/officeDocument/2006/relationships/slide" Target="slides/slide23.xml"/><Relationship Id="rId13" Type="http://schemas.openxmlformats.org/officeDocument/2006/relationships/slide" Target="slides/slide4.xml"/><Relationship Id="rId35" Type="http://schemas.openxmlformats.org/officeDocument/2006/relationships/font" Target="fonts/SpaceMono-italic.fntdata"/><Relationship Id="rId12" Type="http://schemas.openxmlformats.org/officeDocument/2006/relationships/slide" Target="slides/slide3.xml"/><Relationship Id="rId34" Type="http://schemas.openxmlformats.org/officeDocument/2006/relationships/font" Target="fonts/SpaceMono-bold.fntdata"/><Relationship Id="rId15" Type="http://schemas.openxmlformats.org/officeDocument/2006/relationships/slide" Target="slides/slide6.xml"/><Relationship Id="rId37" Type="http://schemas.openxmlformats.org/officeDocument/2006/relationships/font" Target="fonts/Poppins-regular.fntdata"/><Relationship Id="rId14" Type="http://schemas.openxmlformats.org/officeDocument/2006/relationships/slide" Target="slides/slide5.xml"/><Relationship Id="rId36" Type="http://schemas.openxmlformats.org/officeDocument/2006/relationships/font" Target="fonts/SpaceMono-boldItalic.fntdata"/><Relationship Id="rId17" Type="http://schemas.openxmlformats.org/officeDocument/2006/relationships/slide" Target="slides/slide8.xml"/><Relationship Id="rId39" Type="http://schemas.openxmlformats.org/officeDocument/2006/relationships/font" Target="fonts/Poppins-italic.fntdata"/><Relationship Id="rId16" Type="http://schemas.openxmlformats.org/officeDocument/2006/relationships/slide" Target="slides/slide7.xml"/><Relationship Id="rId38" Type="http://schemas.openxmlformats.org/officeDocument/2006/relationships/font" Target="fonts/Poppins-bold.fntdata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2206a1b769_0_1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2206a1b769_0_1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Introduce the session and prepare students to learn about the Two-Pointer technique.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Welcome students and set an engaging tone for the session.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Highlight the importance of the Two-Pointer technique in solving problems efficiently.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Welcome to Week 4, Session 1 of TIP101! Today, we’ll explore the Two-Pointer technique, a powerful strategy for solving problems involving arrays, strings, and more.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By the end of today, you’ll understand how to use Two Pointers to simplify complex problems and improve efficiency in your solutions.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 do you think the Two-Pointer technique might involve? Have you encountered it before in any challenges?"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2206a1b769_0_1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2206a1b769_0_1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Provide a clear roadmap for the session to set expectations.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Walk students through the session’s schedule and emphasize the structure from learning to applying.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Here’s today’s plan: We’ll start with a brief review of the UMPIRE strategy and then dive into the Two-Pointer technique. After a short break, we’ll spend time collaboratively solving problems and wrap up with reflections and next steps.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goal today is not just to learn but to actively apply these strategies to solve problems together.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"Is there anything specific you’d like to focus on during today’s session?"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2206a1b769_0_1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2206a1b769_0_1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SLIDES_API192202326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SLIDES_API192202326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Encourage visual engagement to foster connection during the session.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Prompt students to enable their cameras and submit the entry ticket.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kick off our session by turning on our cameras!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Also, don’t forget to fill out the entry ticket to help us organize breakout rooms later.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 humor or compliments: "Let’s see those smiles!"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Acknowledge and thank students who turn on their cameras.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ee416dd5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ee416dd5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ef0b1c2ef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ef0b1c2ef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Share feedback from the previous session and highlight areas of success and improvement.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Summarize feedback from the previous session's survey and present key takeaways.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From your feedback, it seems many of you enjoyed [highlighted aspect]. One suggestion was [area for improvement]. We’ll work on that today.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"Does anyone have additional feedback or suggestions?"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2206a1b769_0_2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2206a1b769_0_2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225c3eda8d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225c3eda8d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Review the UMPIRE strategy as a framework for problem-solving.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Recap the steps of the UMPIRE strategy and explain its importance in approaching technical problems.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quickly revisit UMPIRE: Understand the problem requirements, Match the right data structure or algorithm, Plan your approach, Implement your solution, Review for correctness, and Evaluate its efficiency.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framework helps ensure you approach problems methodically and don’t miss any key steps.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today’s Two-Pointer problems, we’ll rely heavily on Matching and Planning to identify where Two Pointers fit.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"Which step of UMPIRE do you find most challenging? Why do you think that is?"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225c3eda8d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225c3eda8d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Teach students how to select appropriate algorithms or data structures for a problem.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Highlight the importance of analyzing the problem and matching it to an efficient approach.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Matching the problem to the right approach is crucial. For instance, if you’re dealing with sorted arrays or scenarios involving comparisons, the Two-Pointer technique is often a great fit.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Consider the constraints—are you optimizing for speed, memory, or simplicity? Your choice of algorithm or data structure should align with those goals.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"Can anyone share a recent problem where choosing the right algorithm made a big difference?"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ee416dd5be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ee416dd5be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Teach students how to select appropriate algorithms or data structures for a problem.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Highlight the importance of analyzing the problem and matching it to an efficient approach.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is the huge “short cut” that practice will grow, you can look up Leetcode Patterns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Matching the problem to the right approach is crucial. For instance, if you’re dealing with sorted arrays or scenarios involving comparisons, the Two-Pointer technique is often a great fit.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Consider the constraints—are you optimizing for speed, memory, or simplicity? Your choice of algorithm or data structure should align with those goals.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"Can anyone share a recent problem where choosing the right algorithm made a big difference?"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225c3eda8d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225c3eda8d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Reinforce the importance of reviewing and refining code for correctness and efficiency.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Walk through the steps of testing and optimizing a solution.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Once your solution is implemented, reviewing it is essential. Test it with various inputs, especially edge cases like empty arrays or large inputs.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Look for inefficiencies—are there loops that can be combined or calculations that can be reused?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good review not only catches errors but also makes your code cleaner and more maintainable.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"What’s your process for reviewing your code? How do you typically identify areas for optimization?"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ee416dd5be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ee416dd5be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Reinforce the importance of reviewing and refining code for correctness and efficiency.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Walk through the steps of testing and optimizing a solution.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Once your solution is implemented, reviewing it is essential. Test it with various inputs, especially edge cases like empty arrays or large inputs.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Look for inefficiencies—are there loops that can be combined or calculations that can be reused?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good review not only catches errors but also makes your code cleaner and more maintainable.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"What’s your process for reviewing your code? How do you typically identify areas for optimization?"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225c3eda8d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3225c3eda8d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Analyze the efficiency of the solution in terms of time and space complexity.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Demonstrate how to calculate the time and space complexity of a solution.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Evaluating your solution ensures it meets the problem’s requirements. For example, the Two-Pointer technique often reduces time complexity by avoiding nested loops.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Consider the space complexity too—does your solution use extra memory unnecessarily? Could you optimize by modifying the input directly instead of creating a copy?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today’s problems, let’s evaluate whether our solutions achieve O(n) efficiency, which is a key advantage of Two Pointers.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"How do you approach analyzing the complexity of your solutions? Is there a particular step that’s tricky for you?"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225c3eda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225c3eda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ee416dd5be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ee416dd5be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Introduce the Two-Pointer technique and its applications.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Explain the concept of Two Pointers and why it’s effective for solving specific types of problems.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Two-Pointer technique involves using two pointers that move towards or away from each other to efficiently process data.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Think of it as two friends starting at opposite ends of a trail and meeting in the middle—it avoids unnecessary backtracking and reduces the need for nested loops.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technique is particularly useful for tasks like searching, sorting, or comparing elements in an array or string.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"If you’re trying to find two numbers in a sorted array that add up to a target, Two Pointers can reduce the time complexity from O(n²) to O(n).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"Can you think of a problem where Two Pointers might help? How might this technique compare to a brute force approach?"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2206a1b769_0_2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2206a1b769_0_2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Demonstrate solving a problem using the UMPIRE strategy, focusing on the Two-Pointer technique for efficient problem-solving and debugging.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 the UMPIRE framework to guide the solution step-by-step.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Highlight the efficiency of the Two-Pointer technique for palindrome validation.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Normalize mistakes by intentionally introducing errors and debugging with the class.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Understand the Problem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"Let’s start with the first step of UMPIRE—Understand. The problem asks us to determine if a given string can become a palindrome by removing at most one character."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"A palindrome reads the same backward as forward, such as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'racecar'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'madam'</a:t>
            </a:r>
            <a:r>
              <a:rPr lang="en">
                <a:solidFill>
                  <a:schemeClr val="dk1"/>
                </a:solidFill>
              </a:rPr>
              <a:t>. If removing one character can make the string a palindrome, we return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>
                <a:solidFill>
                  <a:schemeClr val="dk1"/>
                </a:solidFill>
              </a:rPr>
              <a:t>; otherwise, we return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"For example, the string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'abca'</a:t>
            </a:r>
            <a:r>
              <a:rPr lang="en">
                <a:solidFill>
                  <a:schemeClr val="dk1"/>
                </a:solidFill>
              </a:rPr>
              <a:t> can become a palindrome by removing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'c'</a:t>
            </a:r>
            <a:r>
              <a:rPr lang="en">
                <a:solidFill>
                  <a:schemeClr val="dk1"/>
                </a:solidFill>
              </a:rPr>
              <a:t>, resulting 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'aba'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Ask Students:</a:t>
            </a:r>
            <a:r>
              <a:rPr lang="en">
                <a:solidFill>
                  <a:schemeClr val="dk1"/>
                </a:solidFill>
              </a:rPr>
              <a:t> "What edge cases should we consider? For instance, what happens with empty strings, single-character strings, or already-palindromic strings?"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Plan the Solution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"Next, let’s create a plan. Here’s how we’ll approach the problem using the Two-Pointer technique: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Use two pointers—one starting at the beginning of the string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n">
                <a:solidFill>
                  <a:schemeClr val="dk1"/>
                </a:solidFill>
              </a:rPr>
              <a:t>) and the other at the end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Move the pointers toward each other while comparing characters at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</a:t>
            </a:r>
            <a:r>
              <a:rPr lang="en">
                <a:solidFill>
                  <a:schemeClr val="dk1"/>
                </a:solidFill>
              </a:rPr>
              <a:t> indices.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If a mismatch is found, check if removing either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</a:t>
            </a:r>
            <a:r>
              <a:rPr lang="en">
                <a:solidFill>
                  <a:schemeClr val="dk1"/>
                </a:solidFill>
              </a:rPr>
              <a:t> character results in a palindrome by recursively validating the substring.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If no mismatches are found, return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Ask Students:</a:t>
            </a:r>
            <a:r>
              <a:rPr lang="en">
                <a:solidFill>
                  <a:schemeClr val="dk1"/>
                </a:solidFill>
              </a:rPr>
              <a:t> "Does this plan make sense? What challenges might arise when implementing it?"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3. Implement the Solution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"Let’s implement the solution step by step. I’ll start by defining the function and writing the main logic."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Write the code: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def valid_palindrome(s):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def is_palindrome_range(left, right):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while left &lt; right: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if s[left] != s[right]: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return False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left +=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right -=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True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left, right = 0, len(s) - 1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left &lt; right: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s[left] != s[right]: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# Check by skipping either the left or right character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return is_palindrome_range(left + 1, right) or is_palindrome_range(left, right - 1)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left +=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right -=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Normalize Mistakes:</a:t>
            </a:r>
            <a:r>
              <a:rPr lang="en">
                <a:solidFill>
                  <a:schemeClr val="dk1"/>
                </a:solidFill>
              </a:rPr>
              <a:t> Introduce an error, such as forgetting to update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</a:t>
            </a:r>
            <a:r>
              <a:rPr lang="en">
                <a:solidFill>
                  <a:schemeClr val="dk1"/>
                </a:solidFill>
              </a:rPr>
              <a:t> pointer inside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">
                <a:solidFill>
                  <a:schemeClr val="dk1"/>
                </a:solidFill>
              </a:rPr>
              <a:t> loop.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Example: Forget to increment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n">
                <a:solidFill>
                  <a:schemeClr val="dk1"/>
                </a:solidFill>
              </a:rPr>
              <a:t> and decrement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</a:t>
            </a:r>
            <a:r>
              <a:rPr lang="en">
                <a:solidFill>
                  <a:schemeClr val="dk1"/>
                </a:solidFill>
              </a:rPr>
              <a:t> after checking a mismatch.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"Hmm, this seems to be stuck in an infinite loop. Let’s debug by printing the values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</a:t>
            </a:r>
            <a:r>
              <a:rPr lang="en">
                <a:solidFill>
                  <a:schemeClr val="dk1"/>
                </a:solidFill>
              </a:rPr>
              <a:t> during each iteration."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Fix the error and explain the importance of updating the pointers.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4. Test the Solution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"Let’s test the function with some examples. For the input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'abca'</a:t>
            </a:r>
            <a:r>
              <a:rPr lang="en">
                <a:solidFill>
                  <a:schemeClr val="dk1"/>
                </a:solidFill>
              </a:rPr>
              <a:t>, the expected output is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>
                <a:solidFill>
                  <a:schemeClr val="dk1"/>
                </a:solidFill>
              </a:rPr>
              <a:t>. Let’s run it."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"Now let’s test edge cases: an empty string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''</a:t>
            </a:r>
            <a:r>
              <a:rPr lang="en">
                <a:solidFill>
                  <a:schemeClr val="dk1"/>
                </a:solidFill>
              </a:rPr>
              <a:t>), a single-character string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'a'</a:t>
            </a:r>
            <a:r>
              <a:rPr lang="en">
                <a:solidFill>
                  <a:schemeClr val="dk1"/>
                </a:solidFill>
              </a:rPr>
              <a:t>), and a string that’s already a palindrome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'racecar'</a:t>
            </a:r>
            <a:r>
              <a:rPr lang="en">
                <a:solidFill>
                  <a:schemeClr val="dk1"/>
                </a:solidFill>
              </a:rPr>
              <a:t>)."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Ask Students:</a:t>
            </a:r>
            <a:r>
              <a:rPr lang="en">
                <a:solidFill>
                  <a:schemeClr val="dk1"/>
                </a:solidFill>
              </a:rPr>
              <a:t> "What other test cases should we try? For example, what about strings with special characters or spaces?"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5. Review and Reflect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"We used the Two-Pointer technique to solve this problem efficiently, avoiding nested loops and reducing time complexity to O(n)."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"This approach highlights the power of the Two-Pointer technique in handling comparisons and optimizing performance."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Ask Students:</a:t>
            </a:r>
            <a:r>
              <a:rPr lang="en">
                <a:solidFill>
                  <a:schemeClr val="dk1"/>
                </a:solidFill>
              </a:rPr>
              <a:t> "Why do you think the Two-Pointer technique works so well for this problem? Can you think of other scenarios where it might be useful?"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Encourage participation by asking: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"What’s our next step?"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"Why do we need to check both substrings when a mismatch is found?"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"What would happen if we didn’t update the pointers correctly?"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Celebrate correct answers and use debugging opportunities to normalize mistakes as part of the learning process.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28732104c3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28732104c3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Provide a short break to refresh and re-energize.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Announce the break and remind students to return on time.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Play the countdown timer video (be sure to share sound).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take 5 minutes to step away from the screen. Be sure to return promptly.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28732104c3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28732104c3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28732104c3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28732104c3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28732104c3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28732104c3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28732104c3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28732104c3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End the session on a positive note.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Prompt students to share their reflections in the chat.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celebrate your wins. Share one good thing you learned or accomplished today!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Read a few responses aloud and celebrate with enthusiasm.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28732104c3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28732104c3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Gather feedback to improve future sessions.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Share the survey link and emphasize its importance.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Your feedback helps us make these sessions even better. Please take a moment to complete the survey.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Thank students for their input and explain how feedback has been used in the past.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ee416dd5be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ee416dd5be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Reinforce key tasks and deadlines.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Summarize next steps and encourage continued engagement.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Don’t forget to complete the problem sets and take the HackerRank assessment by Sunday!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Encourage students to ask any lingering questions before signing off.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3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0.png"/><Relationship Id="rId4" Type="http://schemas.openxmlformats.org/officeDocument/2006/relationships/image" Target="../media/image38.png"/><Relationship Id="rId5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30.png"/><Relationship Id="rId5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0.png"/><Relationship Id="rId4" Type="http://schemas.openxmlformats.org/officeDocument/2006/relationships/image" Target="../media/image31.png"/><Relationship Id="rId5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2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1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44.png"/><Relationship Id="rId6" Type="http://schemas.openxmlformats.org/officeDocument/2006/relationships/image" Target="../media/image40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3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0.png"/><Relationship Id="rId4" Type="http://schemas.openxmlformats.org/officeDocument/2006/relationships/image" Target="../media/image38.png"/><Relationship Id="rId5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30.png"/><Relationship Id="rId5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Relationship Id="rId3" Type="http://schemas.openxmlformats.org/officeDocument/2006/relationships/image" Target="../media/image20.png"/><Relationship Id="rId4" Type="http://schemas.openxmlformats.org/officeDocument/2006/relationships/image" Target="../media/image31.png"/><Relationship Id="rId5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20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1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44.png"/><Relationship Id="rId6" Type="http://schemas.openxmlformats.org/officeDocument/2006/relationships/image" Target="../media/image40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3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2.png"/><Relationship Id="rId3" Type="http://schemas.openxmlformats.org/officeDocument/2006/relationships/image" Target="../media/image20.png"/><Relationship Id="rId4" Type="http://schemas.openxmlformats.org/officeDocument/2006/relationships/image" Target="../media/image38.png"/><Relationship Id="rId5" Type="http://schemas.openxmlformats.org/officeDocument/2006/relationships/image" Target="../media/image1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1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1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30.png"/><Relationship Id="rId5" Type="http://schemas.openxmlformats.org/officeDocument/2006/relationships/image" Target="../media/image1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Relationship Id="rId3" Type="http://schemas.openxmlformats.org/officeDocument/2006/relationships/image" Target="../media/image20.png"/><Relationship Id="rId4" Type="http://schemas.openxmlformats.org/officeDocument/2006/relationships/image" Target="../media/image31.png"/><Relationship Id="rId5" Type="http://schemas.openxmlformats.org/officeDocument/2006/relationships/image" Target="../media/image1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9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1.png"/><Relationship Id="rId3" Type="http://schemas.openxmlformats.org/officeDocument/2006/relationships/image" Target="../media/image20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1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44.png"/><Relationship Id="rId6" Type="http://schemas.openxmlformats.org/officeDocument/2006/relationships/image" Target="../media/image40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5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62" name="Google Shape;6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/>
        </p:nvSpPr>
        <p:spPr>
          <a:xfrm>
            <a:off x="552800" y="344402"/>
            <a:ext cx="82392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Agenda</a:t>
            </a:r>
            <a:endParaRPr b="1" sz="3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70" name="Google Shape;70;p17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71" name="Google Shape;71;p17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7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3" name="Google Shape;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7" name="Google Shape;77;p18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0" name="Google Shape;8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18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3" name="Google Shape;83;p18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6" name="Google Shape;86;p19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9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8" name="Google Shape;88;p19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95" name="Google Shape;95;p20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96" name="Google Shape;96;p20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0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99" name="Google Shape;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0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22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117" name="Google Shape;117;p22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22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119" name="Google Shape;119;p22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22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22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2" name="Google Shape;122;p22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4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7" name="Google Shape;137;p24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42" name="Google Shape;1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145" name="Google Shape;145;p2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156" name="Google Shape;156;p26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7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62" name="Google Shape;1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7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165" name="Google Shape;165;p2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72" name="Google Shape;17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28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9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82" name="Google Shape;18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185" name="Google Shape;185;p29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29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9"/>
          <p:cNvSpPr/>
          <p:nvPr/>
        </p:nvSpPr>
        <p:spPr>
          <a:xfrm>
            <a:off x="7040775" y="1347600"/>
            <a:ext cx="1764000" cy="1755000"/>
          </a:xfrm>
          <a:prstGeom prst="roundRect">
            <a:avLst>
              <a:gd fmla="val 4613" name="adj"/>
            </a:avLst>
          </a:prstGeom>
          <a:solidFill>
            <a:srgbClr val="FFF6B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Questions? </a:t>
            </a: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Post on Slack and tag: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9"/>
          <p:cNvSpPr txBox="1"/>
          <p:nvPr>
            <p:ph idx="3" type="subTitle"/>
          </p:nvPr>
        </p:nvSpPr>
        <p:spPr>
          <a:xfrm>
            <a:off x="7040775" y="2436050"/>
            <a:ext cx="17640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94" name="Google Shape;19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0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3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1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03" name="Google Shape;2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08" name="Google Shape;20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2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2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3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3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24" name="Google Shape;22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33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33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4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4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237" name="Google Shape;23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5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9" name="Google Shape;239;p35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6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/>
          <p:nvPr/>
        </p:nvSpPr>
        <p:spPr>
          <a:xfrm>
            <a:off x="914400" y="1656900"/>
            <a:ext cx="7315200" cy="18297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6"/>
          <p:cNvSpPr txBox="1"/>
          <p:nvPr>
            <p:ph type="title"/>
          </p:nvPr>
        </p:nvSpPr>
        <p:spPr>
          <a:xfrm>
            <a:off x="914400" y="1656900"/>
            <a:ext cx="7315200" cy="18297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7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39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250" name="Google Shape;250;p39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251" name="Google Shape;251;p39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252" name="Google Shape;252;p39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53" name="Google Shape;253;p39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9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39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8" name="Google Shape;25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9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1" name="Google Shape;261;p39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39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2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2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42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275" name="Google Shape;27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3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279" name="Google Shape;279;p43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280" name="Google Shape;280;p43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/>
        </p:nvSpPr>
        <p:spPr>
          <a:xfrm>
            <a:off x="1147575" y="344400"/>
            <a:ext cx="7644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How are we going to get there?</a:t>
            </a:r>
            <a:endParaRPr b="1" sz="24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283" name="Google Shape;283;p44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284" name="Google Shape;284;p44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44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6" name="Google Shape;28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8" name="Google Shape;28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75" y="420262"/>
            <a:ext cx="505275" cy="5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5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91" name="Google Shape;291;p45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5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293" name="Google Shape;293;p45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94" name="Google Shape;29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6" name="Google Shape;296;p45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97" name="Google Shape;297;p45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46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00" name="Google Shape;300;p46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6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02" name="Google Shape;302;p46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6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7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309" name="Google Shape;309;p47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310" name="Google Shape;310;p47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47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47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13" name="Google Shape;31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47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8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19" name="Google Shape;319;p48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20" name="Google Shape;32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48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48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9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9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28" name="Google Shape;32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30" name="Google Shape;330;p49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331" name="Google Shape;331;p49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2" name="Google Shape;332;p49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333" name="Google Shape;333;p49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49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49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6" name="Google Shape;336;p49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40" name="Google Shape;340;p50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41" name="Google Shape;34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1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47" name="Google Shape;34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51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50" name="Google Shape;350;p51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1" name="Google Shape;351;p51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2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56" name="Google Shape;35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52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359" name="Google Shape;359;p5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p52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61" name="Google Shape;361;p52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3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3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66" name="Google Shape;36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8" name="Google Shape;368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3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370" name="Google Shape;370;p53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54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4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4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76" name="Google Shape;37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4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379" name="Google Shape;379;p54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0" name="Google Shape;380;p54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55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5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86" name="Google Shape;386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8" name="Google Shape;388;p55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389" name="Google Shape;389;p5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p5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56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6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6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96" name="Google Shape;396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56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399" name="Google Shape;399;p56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0" name="Google Shape;400;p56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57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7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06" name="Google Shape;40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8" name="Google Shape;408;p57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409" name="Google Shape;409;p5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0" name="Google Shape;410;p5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58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58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8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15" name="Google Shape;41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58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8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419" name="Google Shape;419;p58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20" name="Google Shape;420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8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59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9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27" name="Google Shape;427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59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430" name="Google Shape;430;p59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59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60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60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6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37" name="Google Shape;43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6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60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440" name="Google Shape;440;p60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" name="Google Shape;441;p6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6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5" name="Google Shape;445;p61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446" name="Google Shape;44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61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8" name="Google Shape;44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450" name="Google Shape;450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62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2" name="Google Shape;452;p62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63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3"/>
          <p:cNvSpPr/>
          <p:nvPr/>
        </p:nvSpPr>
        <p:spPr>
          <a:xfrm>
            <a:off x="1071950" y="892850"/>
            <a:ext cx="5283900" cy="28203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3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64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66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463" name="Google Shape;463;p66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464" name="Google Shape;464;p66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465" name="Google Shape;465;p66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66" name="Google Shape;466;p66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6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66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0" name="Google Shape;470;p66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1" name="Google Shape;471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66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74" name="Google Shape;474;p66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5" name="Google Shape;475;p66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or Intro">
  <p:cSld name="CUSTOM_6_2_1_1_1_2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67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67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6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67"/>
          <p:cNvSpPr txBox="1"/>
          <p:nvPr/>
        </p:nvSpPr>
        <p:spPr>
          <a:xfrm>
            <a:off x="565375" y="333100"/>
            <a:ext cx="5005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Meet the Instructor</a:t>
            </a:r>
            <a:endParaRPr sz="2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82" name="Google Shape;482;p67"/>
          <p:cNvSpPr/>
          <p:nvPr>
            <p:ph idx="2" type="pic"/>
          </p:nvPr>
        </p:nvSpPr>
        <p:spPr>
          <a:xfrm>
            <a:off x="592550" y="1010825"/>
            <a:ext cx="2579400" cy="2289000"/>
          </a:xfrm>
          <a:prstGeom prst="roundRect">
            <a:avLst>
              <a:gd fmla="val 7884" name="adj"/>
            </a:avLst>
          </a:prstGeom>
          <a:noFill/>
          <a:ln cap="flat" cmpd="sng" w="28575">
            <a:solidFill>
              <a:srgbClr val="00C38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70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70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7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3" name="Google Shape;493;p70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495" name="Google Shape;495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71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499" name="Google Shape;499;p71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00" name="Google Shape;500;p71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2"/>
          <p:cNvSpPr txBox="1"/>
          <p:nvPr/>
        </p:nvSpPr>
        <p:spPr>
          <a:xfrm>
            <a:off x="1147575" y="344400"/>
            <a:ext cx="7644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How are we going to get there?</a:t>
            </a:r>
            <a:endParaRPr b="1" sz="24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503" name="Google Shape;503;p72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504" name="Google Shape;504;p72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p72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6" name="Google Shape;50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7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8" name="Google Shape;50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75" y="420262"/>
            <a:ext cx="505275" cy="5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73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11" name="Google Shape;511;p73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73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13" name="Google Shape;513;p73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14" name="Google Shape;51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7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6" name="Google Shape;516;p73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17" name="Google Shape;517;p73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74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20" name="Google Shape;520;p74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74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22" name="Google Shape;522;p74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7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5" name="Google Shape;525;p74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75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529" name="Google Shape;529;p75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530" name="Google Shape;530;p75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1" name="Google Shape;531;p75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75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33" name="Google Shape;533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7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" name="Google Shape;535;p75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76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39" name="Google Shape;539;p76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40" name="Google Shape;54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7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76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76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77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77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47" name="Google Shape;547;p77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48" name="Google Shape;54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7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0" name="Google Shape;550;p77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551" name="Google Shape;551;p77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2" name="Google Shape;552;p77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553" name="Google Shape;553;p77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77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77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6" name="Google Shape;556;p77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78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60" name="Google Shape;560;p78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61" name="Google Shape;56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7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79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9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79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67" name="Google Shape;56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7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79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70" name="Google Shape;570;p79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1" name="Google Shape;571;p79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80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8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76" name="Google Shape;57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8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8" name="Google Shape;578;p80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579" name="Google Shape;579;p80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0" name="Google Shape;580;p8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81" name="Google Shape;581;p80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81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81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81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86" name="Google Shape;58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8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8" name="Google Shape;588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81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590" name="Google Shape;590;p81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82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82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8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96" name="Google Shape;596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8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82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599" name="Google Shape;599;p8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p82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83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83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8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06" name="Google Shape;606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8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83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609" name="Google Shape;609;p83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p83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84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84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84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16" name="Google Shape;616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8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8" name="Google Shape;618;p84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619" name="Google Shape;619;p84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0" name="Google Shape;620;p84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85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85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8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26" name="Google Shape;626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8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8" name="Google Shape;628;p85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629" name="Google Shape;629;p8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0" name="Google Shape;630;p8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86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86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86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35" name="Google Shape;63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8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86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86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639" name="Google Shape;639;p86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40" name="Google Shape;640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86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87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87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8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47" name="Google Shape;647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8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9" name="Google Shape;649;p87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650" name="Google Shape;650;p8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8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88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88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88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57" name="Google Shape;657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8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9" name="Google Shape;659;p88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660" name="Google Shape;660;p88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p88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8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p89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666" name="Google Shape;66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89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8" name="Google Shape;66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670" name="Google Shape;670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90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2" name="Google Shape;672;p90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91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91"/>
          <p:cNvSpPr/>
          <p:nvPr/>
        </p:nvSpPr>
        <p:spPr>
          <a:xfrm>
            <a:off x="1071950" y="892850"/>
            <a:ext cx="5283900" cy="28203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91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92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" name="Google Shape;682;p94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683" name="Google Shape;683;p94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684" name="Google Shape;684;p94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685" name="Google Shape;685;p94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686" name="Google Shape;686;p94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9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9" name="Google Shape;689;p94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0" name="Google Shape;690;p94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1" name="Google Shape;69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94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94" name="Google Shape;694;p94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95" name="Google Shape;695;p94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or Intro">
  <p:cSld name="CUSTOM_6_2_1_1_1_2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5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95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9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95"/>
          <p:cNvSpPr txBox="1"/>
          <p:nvPr/>
        </p:nvSpPr>
        <p:spPr>
          <a:xfrm>
            <a:off x="565375" y="333100"/>
            <a:ext cx="5005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Meet the Instructor</a:t>
            </a:r>
            <a:endParaRPr sz="2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702" name="Google Shape;702;p95"/>
          <p:cNvSpPr/>
          <p:nvPr>
            <p:ph idx="2" type="pic"/>
          </p:nvPr>
        </p:nvSpPr>
        <p:spPr>
          <a:xfrm>
            <a:off x="592550" y="1010825"/>
            <a:ext cx="2579400" cy="2289000"/>
          </a:xfrm>
          <a:prstGeom prst="roundRect">
            <a:avLst>
              <a:gd fmla="val 7884" name="adj"/>
            </a:avLst>
          </a:prstGeom>
          <a:noFill/>
          <a:ln cap="flat" cmpd="sng" w="28575">
            <a:solidFill>
              <a:srgbClr val="00C38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62.xml"/><Relationship Id="rId28" Type="http://schemas.openxmlformats.org/officeDocument/2006/relationships/theme" Target="../theme/theme4.xml"/><Relationship Id="rId27" Type="http://schemas.openxmlformats.org/officeDocument/2006/relationships/slideLayout" Target="../slideLayouts/slideLayout64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55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5.xml"/><Relationship Id="rId24" Type="http://schemas.openxmlformats.org/officeDocument/2006/relationships/slideLayout" Target="../slideLayouts/slideLayout88.xml"/><Relationship Id="rId23" Type="http://schemas.openxmlformats.org/officeDocument/2006/relationships/slideLayout" Target="../slideLayouts/slideLayout87.xml"/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90.xml"/><Relationship Id="rId25" Type="http://schemas.openxmlformats.org/officeDocument/2006/relationships/slideLayout" Target="../slideLayouts/slideLayout89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91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5" name="Google Shape;485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8.png"/><Relationship Id="rId4" Type="http://schemas.openxmlformats.org/officeDocument/2006/relationships/image" Target="../media/image1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youtube.com/watch?v=Jwd_lkXoLKk" TargetMode="External"/><Relationship Id="rId4" Type="http://schemas.openxmlformats.org/officeDocument/2006/relationships/image" Target="../media/image13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2.png"/><Relationship Id="rId4" Type="http://schemas.openxmlformats.org/officeDocument/2006/relationships/hyperlink" Target="http://www.youtube.com/watch?v=BTZMUDKSpSs" TargetMode="External"/><Relationship Id="rId5" Type="http://schemas.openxmlformats.org/officeDocument/2006/relationships/image" Target="../media/image14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96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00"/>
              <a:t>Two-Pointer Technique</a:t>
            </a:r>
            <a:endParaRPr sz="3400"/>
          </a:p>
        </p:txBody>
      </p:sp>
      <p:sp>
        <p:nvSpPr>
          <p:cNvPr id="708" name="Google Shape;708;p96"/>
          <p:cNvSpPr txBox="1"/>
          <p:nvPr>
            <p:ph idx="1" type="subTitle"/>
          </p:nvPr>
        </p:nvSpPr>
        <p:spPr>
          <a:xfrm>
            <a:off x="3582450" y="3105825"/>
            <a:ext cx="1979100" cy="3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TIP101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14" name="Google Shape;714;p97"/>
          <p:cNvGraphicFramePr/>
          <p:nvPr/>
        </p:nvGraphicFramePr>
        <p:xfrm>
          <a:off x="451525" y="12425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{E09458DE-AF1F-4E27-AEC3-604AA298160F}</a:tableStyleId>
              </a:tblPr>
              <a:tblGrid>
                <a:gridCol w="411100"/>
                <a:gridCol w="4569375"/>
                <a:gridCol w="1883200"/>
              </a:tblGrid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1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Welcome 👋🏽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UMPIRE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F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 minutes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Two-Pointer Technique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3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BREAK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F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 minutes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4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Collaborative Problem Solving</a:t>
                      </a:r>
                      <a:endParaRPr b="1"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60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5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Wrap Up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F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98"/>
          <p:cNvSpPr txBox="1"/>
          <p:nvPr>
            <p:ph type="title"/>
          </p:nvPr>
        </p:nvSpPr>
        <p:spPr>
          <a:xfrm>
            <a:off x="884825" y="2317200"/>
            <a:ext cx="34953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 👋🏽</a:t>
            </a:r>
            <a:endParaRPr/>
          </a:p>
        </p:txBody>
      </p:sp>
      <p:sp>
        <p:nvSpPr>
          <p:cNvPr id="720" name="Google Shape;720;p98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9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6" name="Google Shape;72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500" y="424463"/>
            <a:ext cx="3066374" cy="3066374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99"/>
          <p:cNvSpPr txBox="1"/>
          <p:nvPr>
            <p:ph type="title"/>
          </p:nvPr>
        </p:nvSpPr>
        <p:spPr>
          <a:xfrm>
            <a:off x="1364138" y="3490838"/>
            <a:ext cx="24291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 on your cameras</a:t>
            </a:r>
            <a:endParaRPr/>
          </a:p>
        </p:txBody>
      </p:sp>
      <p:pic>
        <p:nvPicPr>
          <p:cNvPr id="728" name="Google Shape;728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2137" y="424475"/>
            <a:ext cx="3066350" cy="30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99"/>
          <p:cNvSpPr txBox="1"/>
          <p:nvPr>
            <p:ph type="title"/>
          </p:nvPr>
        </p:nvSpPr>
        <p:spPr>
          <a:xfrm>
            <a:off x="5195963" y="3490838"/>
            <a:ext cx="27387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 out the entry ticket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0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minutes</a:t>
            </a:r>
            <a:endParaRPr/>
          </a:p>
        </p:txBody>
      </p:sp>
      <p:sp>
        <p:nvSpPr>
          <p:cNvPr id="735" name="Google Shape;735;p10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6" name="Google Shape;736;p10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📍Question: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Internships/co-ops can be a great way to experience living in a new city before moving there full time. What would be your dream city for a summer internship?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💬Answer: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Share your answer in the Zoom chat below. Multiple options are encouraged.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01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+"/>
            </a:pPr>
            <a:r>
              <a:rPr lang="en" sz="1700"/>
              <a:t>Got great feedback from our Early Course survey last week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+"/>
            </a:pPr>
            <a:r>
              <a:rPr lang="en" sz="1700"/>
              <a:t>Reaching more complex data structures and topics</a:t>
            </a:r>
            <a:endParaRPr sz="1700"/>
          </a:p>
        </p:txBody>
      </p:sp>
      <p:sp>
        <p:nvSpPr>
          <p:cNvPr id="742" name="Google Shape;742;p10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3" name="Google Shape;743;p101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- Please continue to complete the early course survey if not yet completed last week during class.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- Remember to take turns “navigating” in breakout rooms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02"/>
          <p:cNvSpPr txBox="1"/>
          <p:nvPr>
            <p:ph type="title"/>
          </p:nvPr>
        </p:nvSpPr>
        <p:spPr>
          <a:xfrm>
            <a:off x="884825" y="2317200"/>
            <a:ext cx="18306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UMPIRE</a:t>
            </a:r>
            <a:endParaRPr/>
          </a:p>
        </p:txBody>
      </p:sp>
      <p:sp>
        <p:nvSpPr>
          <p:cNvPr id="749" name="Google Shape;749;p102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5" name="Google Shape;755;p103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UMPIRE</a:t>
            </a:r>
            <a:endParaRPr/>
          </a:p>
        </p:txBody>
      </p:sp>
      <p:sp>
        <p:nvSpPr>
          <p:cNvPr id="756" name="Google Shape;756;p103"/>
          <p:cNvSpPr/>
          <p:nvPr/>
        </p:nvSpPr>
        <p:spPr>
          <a:xfrm>
            <a:off x="577725" y="1329000"/>
            <a:ext cx="2331300" cy="868800"/>
          </a:xfrm>
          <a:prstGeom prst="roundRect">
            <a:avLst>
              <a:gd fmla="val 34507" name="adj"/>
            </a:avLst>
          </a:prstGeom>
          <a:solidFill>
            <a:srgbClr val="D7FFEE"/>
          </a:solidFill>
          <a:ln cap="flat" cmpd="sng" w="28575">
            <a:solidFill>
              <a:srgbClr val="6EC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UNDERSTAND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7" name="Google Shape;757;p103"/>
          <p:cNvSpPr/>
          <p:nvPr/>
        </p:nvSpPr>
        <p:spPr>
          <a:xfrm>
            <a:off x="577725" y="2829575"/>
            <a:ext cx="2331300" cy="868800"/>
          </a:xfrm>
          <a:prstGeom prst="roundRect">
            <a:avLst>
              <a:gd fmla="val 34507" name="adj"/>
            </a:avLst>
          </a:prstGeom>
          <a:solidFill>
            <a:srgbClr val="6EC396"/>
          </a:solidFill>
          <a:ln cap="flat" cmpd="sng" w="28575">
            <a:solidFill>
              <a:srgbClr val="6EC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MATCH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8" name="Google Shape;758;p103"/>
          <p:cNvSpPr/>
          <p:nvPr/>
        </p:nvSpPr>
        <p:spPr>
          <a:xfrm>
            <a:off x="3406350" y="2829575"/>
            <a:ext cx="2331300" cy="868800"/>
          </a:xfrm>
          <a:prstGeom prst="roundRect">
            <a:avLst>
              <a:gd fmla="val 34507" name="adj"/>
            </a:avLst>
          </a:prstGeom>
          <a:solidFill>
            <a:srgbClr val="D7FFEE"/>
          </a:solidFill>
          <a:ln cap="flat" cmpd="sng" w="28575">
            <a:solidFill>
              <a:srgbClr val="6EC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PLAN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9" name="Google Shape;759;p103"/>
          <p:cNvSpPr/>
          <p:nvPr/>
        </p:nvSpPr>
        <p:spPr>
          <a:xfrm>
            <a:off x="3406350" y="1329000"/>
            <a:ext cx="2331300" cy="868800"/>
          </a:xfrm>
          <a:prstGeom prst="roundRect">
            <a:avLst>
              <a:gd fmla="val 34507" name="adj"/>
            </a:avLst>
          </a:prstGeom>
          <a:solidFill>
            <a:srgbClr val="D7FFEE"/>
          </a:solidFill>
          <a:ln cap="flat" cmpd="sng" w="28575">
            <a:solidFill>
              <a:srgbClr val="6EC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IMPLEMENT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0" name="Google Shape;760;p103"/>
          <p:cNvSpPr/>
          <p:nvPr/>
        </p:nvSpPr>
        <p:spPr>
          <a:xfrm>
            <a:off x="6234975" y="1329000"/>
            <a:ext cx="2331300" cy="868800"/>
          </a:xfrm>
          <a:prstGeom prst="roundRect">
            <a:avLst>
              <a:gd fmla="val 34507" name="adj"/>
            </a:avLst>
          </a:prstGeom>
          <a:solidFill>
            <a:srgbClr val="6EC396"/>
          </a:solidFill>
          <a:ln cap="flat" cmpd="sng" w="28575">
            <a:solidFill>
              <a:srgbClr val="6EC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REVIEW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1" name="Google Shape;761;p103"/>
          <p:cNvSpPr/>
          <p:nvPr/>
        </p:nvSpPr>
        <p:spPr>
          <a:xfrm>
            <a:off x="6234975" y="2829575"/>
            <a:ext cx="2331300" cy="868800"/>
          </a:xfrm>
          <a:prstGeom prst="roundRect">
            <a:avLst>
              <a:gd fmla="val 34507" name="adj"/>
            </a:avLst>
          </a:prstGeom>
          <a:solidFill>
            <a:srgbClr val="6EC396"/>
          </a:solidFill>
          <a:ln cap="flat" cmpd="sng" w="28575">
            <a:solidFill>
              <a:srgbClr val="6EC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EVALUATE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62" name="Google Shape;762;p103"/>
          <p:cNvCxnSpPr>
            <a:stCxn id="756" idx="2"/>
            <a:endCxn id="757" idx="0"/>
          </p:cNvCxnSpPr>
          <p:nvPr/>
        </p:nvCxnSpPr>
        <p:spPr>
          <a:xfrm>
            <a:off x="1743375" y="2197800"/>
            <a:ext cx="0" cy="63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3" name="Google Shape;763;p103"/>
          <p:cNvCxnSpPr>
            <a:stCxn id="757" idx="3"/>
            <a:endCxn id="758" idx="1"/>
          </p:cNvCxnSpPr>
          <p:nvPr/>
        </p:nvCxnSpPr>
        <p:spPr>
          <a:xfrm>
            <a:off x="2909025" y="3263975"/>
            <a:ext cx="497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4" name="Google Shape;764;p103"/>
          <p:cNvCxnSpPr>
            <a:stCxn id="758" idx="0"/>
            <a:endCxn id="759" idx="2"/>
          </p:cNvCxnSpPr>
          <p:nvPr/>
        </p:nvCxnSpPr>
        <p:spPr>
          <a:xfrm rot="10800000">
            <a:off x="4572000" y="2197775"/>
            <a:ext cx="0" cy="63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103"/>
          <p:cNvCxnSpPr>
            <a:stCxn id="759" idx="3"/>
            <a:endCxn id="760" idx="1"/>
          </p:cNvCxnSpPr>
          <p:nvPr/>
        </p:nvCxnSpPr>
        <p:spPr>
          <a:xfrm>
            <a:off x="5737650" y="1763400"/>
            <a:ext cx="497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103"/>
          <p:cNvCxnSpPr>
            <a:stCxn id="760" idx="2"/>
            <a:endCxn id="761" idx="0"/>
          </p:cNvCxnSpPr>
          <p:nvPr/>
        </p:nvCxnSpPr>
        <p:spPr>
          <a:xfrm>
            <a:off x="7400625" y="2197800"/>
            <a:ext cx="0" cy="63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04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 the Problem</a:t>
            </a:r>
            <a:endParaRPr/>
          </a:p>
        </p:txBody>
      </p:sp>
      <p:sp>
        <p:nvSpPr>
          <p:cNvPr id="772" name="Google Shape;772;p104"/>
          <p:cNvSpPr txBox="1"/>
          <p:nvPr>
            <p:ph idx="1" type="body"/>
          </p:nvPr>
        </p:nvSpPr>
        <p:spPr>
          <a:xfrm>
            <a:off x="452400" y="1132825"/>
            <a:ext cx="49047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Identify the appropriate data structure or algorithm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✱"/>
            </a:pPr>
            <a:r>
              <a:rPr lang="en"/>
              <a:t>Consider where you’ve seen a similar problem before</a:t>
            </a:r>
            <a:endParaRPr/>
          </a:p>
        </p:txBody>
      </p:sp>
      <p:sp>
        <p:nvSpPr>
          <p:cNvPr id="773" name="Google Shape;773;p10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4" name="Google Shape;77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2275" y="1184500"/>
            <a:ext cx="2651350" cy="2651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5" name="Google Shape;775;p104"/>
          <p:cNvGrpSpPr/>
          <p:nvPr/>
        </p:nvGrpSpPr>
        <p:grpSpPr>
          <a:xfrm>
            <a:off x="89100" y="4739882"/>
            <a:ext cx="324008" cy="322851"/>
            <a:chOff x="0" y="3867912"/>
            <a:chExt cx="1280160" cy="1275588"/>
          </a:xfrm>
        </p:grpSpPr>
        <p:sp>
          <p:nvSpPr>
            <p:cNvPr id="776" name="Google Shape;776;p104"/>
            <p:cNvSpPr/>
            <p:nvPr/>
          </p:nvSpPr>
          <p:spPr>
            <a:xfrm>
              <a:off x="0" y="4229100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04"/>
            <p:cNvSpPr/>
            <p:nvPr/>
          </p:nvSpPr>
          <p:spPr>
            <a:xfrm>
              <a:off x="182880" y="405079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04"/>
            <p:cNvSpPr/>
            <p:nvPr/>
          </p:nvSpPr>
          <p:spPr>
            <a:xfrm>
              <a:off x="365760" y="386791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05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 the Problem</a:t>
            </a:r>
            <a:endParaRPr/>
          </a:p>
        </p:txBody>
      </p:sp>
      <p:sp>
        <p:nvSpPr>
          <p:cNvPr id="784" name="Google Shape;784;p105"/>
          <p:cNvSpPr txBox="1"/>
          <p:nvPr>
            <p:ph idx="1" type="body"/>
          </p:nvPr>
        </p:nvSpPr>
        <p:spPr>
          <a:xfrm>
            <a:off x="452400" y="1132825"/>
            <a:ext cx="4904700" cy="3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Identify the appropriate data structure or algorithm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Consider where you’ve seen a similar problem before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Matching the problem to the right approach is crucial. Are we looking for sums? Are we “searching” or “navigating” through data??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✱"/>
            </a:pPr>
            <a:r>
              <a:rPr lang="en"/>
              <a:t>Try to think of “simple” versions that you have seen before.</a:t>
            </a:r>
            <a:endParaRPr/>
          </a:p>
        </p:txBody>
      </p:sp>
      <p:sp>
        <p:nvSpPr>
          <p:cNvPr id="785" name="Google Shape;785;p10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6" name="Google Shape;786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2275" y="1184500"/>
            <a:ext cx="2651350" cy="2651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7" name="Google Shape;787;p105"/>
          <p:cNvGrpSpPr/>
          <p:nvPr/>
        </p:nvGrpSpPr>
        <p:grpSpPr>
          <a:xfrm>
            <a:off x="89100" y="4739882"/>
            <a:ext cx="324008" cy="322851"/>
            <a:chOff x="0" y="3867912"/>
            <a:chExt cx="1280160" cy="1275588"/>
          </a:xfrm>
        </p:grpSpPr>
        <p:sp>
          <p:nvSpPr>
            <p:cNvPr id="788" name="Google Shape;788;p105"/>
            <p:cNvSpPr/>
            <p:nvPr/>
          </p:nvSpPr>
          <p:spPr>
            <a:xfrm>
              <a:off x="0" y="4229100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05"/>
            <p:cNvSpPr/>
            <p:nvPr/>
          </p:nvSpPr>
          <p:spPr>
            <a:xfrm>
              <a:off x="182880" y="405079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05"/>
            <p:cNvSpPr/>
            <p:nvPr/>
          </p:nvSpPr>
          <p:spPr>
            <a:xfrm>
              <a:off x="365760" y="386791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06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the Code</a:t>
            </a:r>
            <a:endParaRPr/>
          </a:p>
        </p:txBody>
      </p:sp>
      <p:sp>
        <p:nvSpPr>
          <p:cNvPr id="796" name="Google Shape;796;p106"/>
          <p:cNvSpPr txBox="1"/>
          <p:nvPr>
            <p:ph idx="1" type="body"/>
          </p:nvPr>
        </p:nvSpPr>
        <p:spPr>
          <a:xfrm>
            <a:off x="452400" y="1132825"/>
            <a:ext cx="48108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Check for errors, edge cases, and opportunities to optimize.</a:t>
            </a:r>
            <a:endParaRPr/>
          </a:p>
        </p:txBody>
      </p:sp>
      <p:sp>
        <p:nvSpPr>
          <p:cNvPr id="797" name="Google Shape;797;p10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8" name="Google Shape;798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250" y="1132825"/>
            <a:ext cx="3062350" cy="30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07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the Code</a:t>
            </a:r>
            <a:endParaRPr/>
          </a:p>
        </p:txBody>
      </p:sp>
      <p:sp>
        <p:nvSpPr>
          <p:cNvPr id="804" name="Google Shape;804;p107"/>
          <p:cNvSpPr txBox="1"/>
          <p:nvPr>
            <p:ph idx="1" type="body"/>
          </p:nvPr>
        </p:nvSpPr>
        <p:spPr>
          <a:xfrm>
            <a:off x="452400" y="1132825"/>
            <a:ext cx="48108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for errors, edge cases, and opportunities to optimize.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Once your solution is implemented, reviewing it is essential.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Test it with various inputs, especially edge cases like empty arrays or large inputs.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0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6" name="Google Shape;80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250" y="1132825"/>
            <a:ext cx="3062350" cy="30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8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Results</a:t>
            </a:r>
            <a:endParaRPr/>
          </a:p>
        </p:txBody>
      </p:sp>
      <p:sp>
        <p:nvSpPr>
          <p:cNvPr id="812" name="Google Shape;812;p108"/>
          <p:cNvSpPr txBox="1"/>
          <p:nvPr>
            <p:ph idx="1" type="body"/>
          </p:nvPr>
        </p:nvSpPr>
        <p:spPr>
          <a:xfrm>
            <a:off x="452400" y="1132825"/>
            <a:ext cx="5257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Ensure the solution meets the problem’s requirements and handles edge cases</a:t>
            </a:r>
            <a:endParaRPr/>
          </a:p>
        </p:txBody>
      </p:sp>
      <p:sp>
        <p:nvSpPr>
          <p:cNvPr id="813" name="Google Shape;813;p10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4" name="Google Shape;814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650" y="1196250"/>
            <a:ext cx="2897949" cy="289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09"/>
          <p:cNvSpPr txBox="1"/>
          <p:nvPr>
            <p:ph type="title"/>
          </p:nvPr>
        </p:nvSpPr>
        <p:spPr>
          <a:xfrm>
            <a:off x="884825" y="2317200"/>
            <a:ext cx="55161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Two-Pointer Technique</a:t>
            </a:r>
            <a:endParaRPr/>
          </a:p>
        </p:txBody>
      </p:sp>
      <p:sp>
        <p:nvSpPr>
          <p:cNvPr id="820" name="Google Shape;820;p109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 minutes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10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Two-Pointer Technique</a:t>
            </a:r>
            <a:endParaRPr/>
          </a:p>
        </p:txBody>
      </p:sp>
      <p:sp>
        <p:nvSpPr>
          <p:cNvPr id="826" name="Google Shape;826;p110"/>
          <p:cNvSpPr txBox="1"/>
          <p:nvPr>
            <p:ph idx="1" type="body"/>
          </p:nvPr>
        </p:nvSpPr>
        <p:spPr>
          <a:xfrm>
            <a:off x="452400" y="1132825"/>
            <a:ext cx="4822500" cy="3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Two pointers move towards or away from each other.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Common scenarios: 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Searching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Sorting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Comparing elements.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Looking for summed local maxima/minima over a window.</a:t>
            </a:r>
            <a:endParaRPr/>
          </a:p>
        </p:txBody>
      </p:sp>
      <p:sp>
        <p:nvSpPr>
          <p:cNvPr id="827" name="Google Shape;827;p11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8" name="Google Shape;828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9522" y="742200"/>
            <a:ext cx="3180404" cy="387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1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4" name="Google Shape;834;p111"/>
          <p:cNvSpPr txBox="1"/>
          <p:nvPr/>
        </p:nvSpPr>
        <p:spPr>
          <a:xfrm>
            <a:off x="452400" y="1260488"/>
            <a:ext cx="82392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Given a string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, determine if it can become a palindrome by removing </a:t>
            </a: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at most one character.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A palindrome is a word, phrase, or sequence that reads the same backward as forward.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5" name="Google Shape;835;p111"/>
          <p:cNvSpPr txBox="1"/>
          <p:nvPr/>
        </p:nvSpPr>
        <p:spPr>
          <a:xfrm>
            <a:off x="452400" y="2811500"/>
            <a:ext cx="8239200" cy="965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valid_palindrome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(s):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pass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6" name="Google Shape;836;p111"/>
          <p:cNvSpPr txBox="1"/>
          <p:nvPr/>
        </p:nvSpPr>
        <p:spPr>
          <a:xfrm>
            <a:off x="452400" y="3867525"/>
            <a:ext cx="8239200" cy="90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Input:</a:t>
            </a:r>
            <a:r>
              <a:rPr lang="en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 = "abca"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r>
              <a:rPr lang="en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12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Break Time!</a:t>
            </a:r>
            <a:endParaRPr b="1" sz="23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Take 5 mins to step away from the computer. Feel free to turn off your camera and return promptly after 5 mins.</a:t>
            </a:r>
            <a:endParaRPr/>
          </a:p>
        </p:txBody>
      </p:sp>
      <p:pic>
        <p:nvPicPr>
          <p:cNvPr descr="5 minutes timer with relaxing music#5minutetimer #timer #relaxingmusic #relaxation" id="842" name="Google Shape;842;p112" title="5 Minutes Timer With Relaxing Music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850" y="1739175"/>
            <a:ext cx="2198300" cy="1236550"/>
          </a:xfrm>
          <a:prstGeom prst="rect">
            <a:avLst/>
          </a:prstGeom>
          <a:noFill/>
          <a:ln cap="flat" cmpd="sng" w="762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13"/>
          <p:cNvSpPr txBox="1"/>
          <p:nvPr>
            <p:ph type="title"/>
          </p:nvPr>
        </p:nvSpPr>
        <p:spPr>
          <a:xfrm>
            <a:off x="884825" y="2317200"/>
            <a:ext cx="74328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Collaborative Problem Solving</a:t>
            </a:r>
            <a:endParaRPr/>
          </a:p>
        </p:txBody>
      </p:sp>
      <p:sp>
        <p:nvSpPr>
          <p:cNvPr id="848" name="Google Shape;848;p113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60 minutes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14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60 minutes</a:t>
            </a:r>
            <a:endParaRPr/>
          </a:p>
        </p:txBody>
      </p:sp>
      <p:sp>
        <p:nvSpPr>
          <p:cNvPr id="854" name="Google Shape;854;p11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5" name="Google Shape;855;p114"/>
          <p:cNvSpPr txBox="1"/>
          <p:nvPr/>
        </p:nvSpPr>
        <p:spPr>
          <a:xfrm>
            <a:off x="452400" y="1260500"/>
            <a:ext cx="7685700" cy="1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2200"/>
              <a:buFont typeface="Poppins"/>
              <a:buAutoNum type="arabicPeriod"/>
            </a:pP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🏃🏽 Navigate to your breakout room.</a:t>
            </a:r>
            <a:endParaRPr sz="2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EC396"/>
              </a:buClr>
              <a:buSzPts val="2200"/>
              <a:buFont typeface="Poppins"/>
              <a:buAutoNum type="arabicPeriod"/>
            </a:pP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👋🏽 Introduce yourselves!</a:t>
            </a:r>
            <a:endParaRPr sz="2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6EC396"/>
              </a:buClr>
              <a:buSzPts val="2200"/>
              <a:buFont typeface="Poppins"/>
              <a:buAutoNum type="arabicPeriod"/>
            </a:pP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🧑🏽‍💻 Work on the problems for your </a:t>
            </a:r>
            <a:r>
              <a:rPr lang="en" sz="2200">
                <a:latin typeface="Poppins"/>
                <a:ea typeface="Poppins"/>
                <a:cs typeface="Poppins"/>
                <a:sym typeface="Poppins"/>
              </a:rPr>
              <a:t>selected unit</a:t>
            </a: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15"/>
          <p:cNvSpPr txBox="1"/>
          <p:nvPr>
            <p:ph type="title"/>
          </p:nvPr>
        </p:nvSpPr>
        <p:spPr>
          <a:xfrm>
            <a:off x="884825" y="2317200"/>
            <a:ext cx="19827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 Up</a:t>
            </a:r>
            <a:endParaRPr/>
          </a:p>
        </p:txBody>
      </p:sp>
      <p:sp>
        <p:nvSpPr>
          <p:cNvPr id="861" name="Google Shape;861;p115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1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1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2" name="Google Shape;872;p117"/>
          <p:cNvSpPr txBox="1"/>
          <p:nvPr/>
        </p:nvSpPr>
        <p:spPr>
          <a:xfrm>
            <a:off x="1048400" y="1031050"/>
            <a:ext cx="4693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Session Survey Time!</a:t>
            </a:r>
            <a:endParaRPr b="1" sz="4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3" name="Google Shape;873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3375" y="758775"/>
            <a:ext cx="2206851" cy="2206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 Minute Timer Relaxing Music Lofi Sky Background&#10;&#10;&#10;&#10;&#10;&#10;&#10;&#10;&#10;Tags&#10;1 minute&#10;1 minute countdown&#10;1 minute lo-fi hiphop timer&#10;1 minute timer&#10;countdown&#10;lo-fi music&#10;lofi study song&#10;study music&#10;study timer&#10;time&#10;timer&#10;working music&#10;1 minute timer with music&#10;1 minute clock&#10;lofi hiphop&#10;relaxing timers&#10;relaxing music&#10;relaxing lofi timer&#10;nature timer&#10;meditation&#10;meditation music&#10;relaxing sleep music&#10;school timer&#10;sleep timer&#10;chill timer&#10;chill music&#10;lofi timer&#10;lofi hiphop timer&#10;lofi hip hop" id="874" name="Google Shape;874;p117" title="3 Minute Timer Relaxing Music Lofi Sky Backgroun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7925" y="3125450"/>
            <a:ext cx="2268150" cy="127584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18"/>
          <p:cNvSpPr txBox="1"/>
          <p:nvPr>
            <p:ph type="title"/>
          </p:nvPr>
        </p:nvSpPr>
        <p:spPr>
          <a:xfrm>
            <a:off x="1123700" y="481275"/>
            <a:ext cx="7568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Reminders</a:t>
            </a:r>
            <a:endParaRPr/>
          </a:p>
        </p:txBody>
      </p:sp>
      <p:sp>
        <p:nvSpPr>
          <p:cNvPr id="880" name="Google Shape;880;p11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1" name="Google Shape;881;p118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Finish the problem sets for additional practice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Take the weekly HackerRank assessment by Sunday @ midnight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Visit a </a:t>
            </a:r>
            <a:r>
              <a:rPr b="1" lang="en"/>
              <a:t>Study Hall Session</a:t>
            </a:r>
            <a:r>
              <a:rPr lang="en"/>
              <a:t> to deepen your understanding, work through challenges, and connect with course material alongside your peers!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Complete the Early Course Survey if you haven’t done so!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Check your inbox for your personalized link to complete the survey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b="1" lang="en"/>
              <a:t>Next Session Lookahead: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Big</a:t>
            </a:r>
            <a:r>
              <a:rPr b="1" lang="en"/>
              <a:t> </a:t>
            </a:r>
            <a:r>
              <a:rPr lang="en"/>
              <a:t>O</a:t>
            </a:r>
            <a:r>
              <a:rPr b="1" lang="en"/>
              <a:t> </a:t>
            </a:r>
            <a:r>
              <a:rPr lang="en"/>
              <a:t>(Runtime and space complexity analysis).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Will look at examples using dictionaries, strings and lists.</a:t>
            </a:r>
            <a:endParaRPr/>
          </a:p>
        </p:txBody>
      </p:sp>
      <p:pic>
        <p:nvPicPr>
          <p:cNvPr id="882" name="Google Shape;882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00" y="438175"/>
            <a:ext cx="608050" cy="6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