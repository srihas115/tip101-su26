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79" r:id="rId5"/>
    <p:sldMasterId id="2147483780" r:id="rId6"/>
    <p:sldMasterId id="2147483781" r:id="rId7"/>
    <p:sldMasterId id="2147483782" r:id="rId8"/>
    <p:sldMasterId id="2147483783"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Lst>
  <p:sldSz cy="5143500" cx="9144000"/>
  <p:notesSz cx="6858000" cy="9144000"/>
  <p:embeddedFontLst>
    <p:embeddedFont>
      <p:font typeface="Space Mono"/>
      <p:regular r:id="rId49"/>
      <p:bold r:id="rId50"/>
      <p:italic r:id="rId51"/>
      <p:boldItalic r:id="rId52"/>
    </p:embeddedFont>
    <p:embeddedFont>
      <p:font typeface="Proxima Nova"/>
      <p:regular r:id="rId53"/>
      <p:bold r:id="rId54"/>
      <p:italic r:id="rId55"/>
      <p:boldItalic r:id="rId56"/>
    </p:embeddedFont>
    <p:embeddedFont>
      <p:font typeface="Poppins"/>
      <p:regular r:id="rId57"/>
      <p:bold r:id="rId58"/>
      <p:italic r:id="rId59"/>
      <p:boldItalic r:id="rId60"/>
    </p:embeddedFont>
    <p:embeddedFont>
      <p:font typeface="Poppins Light"/>
      <p:regular r:id="rId61"/>
      <p:bold r:id="rId62"/>
      <p:italic r:id="rId63"/>
      <p:boldItalic r:id="rId64"/>
    </p:embeddedFont>
    <p:embeddedFont>
      <p:font typeface="Poppins Medium"/>
      <p:regular r:id="rId65"/>
      <p:bold r:id="rId66"/>
      <p:italic r:id="rId67"/>
      <p:boldItalic r:id="rId68"/>
    </p:embeddedFont>
    <p:embeddedFont>
      <p:font typeface="Helvetica Neue"/>
      <p:regular r:id="rId69"/>
      <p:bold r:id="rId70"/>
      <p:italic r:id="rId71"/>
      <p:boldItalic r:id="rId72"/>
    </p:embeddedFont>
    <p:embeddedFont>
      <p:font typeface="Roboto Mono"/>
      <p:regular r:id="rId73"/>
      <p:bold r:id="rId74"/>
      <p:italic r:id="rId75"/>
      <p:boldItalic r:id="rId76"/>
    </p:embeddedFont>
    <p:embeddedFont>
      <p:font typeface="Helvetica Neue Light"/>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EA717C-5148-4D2F-8975-6EB66E502A2F}">
  <a:tblStyle styleId="{8FEA717C-5148-4D2F-8975-6EB66E502A2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80" Type="http://schemas.openxmlformats.org/officeDocument/2006/relationships/font" Target="fonts/HelveticaNeueLight-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font" Target="fonts/SpaceMon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RobotoMono-regular.fntdata"/><Relationship Id="rId72" Type="http://schemas.openxmlformats.org/officeDocument/2006/relationships/font" Target="fonts/HelveticaNeue-boldItalic.fntdata"/><Relationship Id="rId31" Type="http://schemas.openxmlformats.org/officeDocument/2006/relationships/slide" Target="slides/slide21.xml"/><Relationship Id="rId75" Type="http://schemas.openxmlformats.org/officeDocument/2006/relationships/font" Target="fonts/RobotoMono-italic.fntdata"/><Relationship Id="rId30" Type="http://schemas.openxmlformats.org/officeDocument/2006/relationships/slide" Target="slides/slide20.xml"/><Relationship Id="rId74" Type="http://schemas.openxmlformats.org/officeDocument/2006/relationships/font" Target="fonts/RobotoMono-bold.fntdata"/><Relationship Id="rId33" Type="http://schemas.openxmlformats.org/officeDocument/2006/relationships/slide" Target="slides/slide23.xml"/><Relationship Id="rId77" Type="http://schemas.openxmlformats.org/officeDocument/2006/relationships/font" Target="fonts/HelveticaNeueLight-regular.fntdata"/><Relationship Id="rId32" Type="http://schemas.openxmlformats.org/officeDocument/2006/relationships/slide" Target="slides/slide22.xml"/><Relationship Id="rId76" Type="http://schemas.openxmlformats.org/officeDocument/2006/relationships/font" Target="fonts/RobotoMono-boldItalic.fntdata"/><Relationship Id="rId35" Type="http://schemas.openxmlformats.org/officeDocument/2006/relationships/slide" Target="slides/slide25.xml"/><Relationship Id="rId79" Type="http://schemas.openxmlformats.org/officeDocument/2006/relationships/font" Target="fonts/HelveticaNeueLight-italic.fntdata"/><Relationship Id="rId34" Type="http://schemas.openxmlformats.org/officeDocument/2006/relationships/slide" Target="slides/slide24.xml"/><Relationship Id="rId78" Type="http://schemas.openxmlformats.org/officeDocument/2006/relationships/font" Target="fonts/HelveticaNeueLight-bold.fntdata"/><Relationship Id="rId71" Type="http://schemas.openxmlformats.org/officeDocument/2006/relationships/font" Target="fonts/HelveticaNeue-italic.fntdata"/><Relationship Id="rId70" Type="http://schemas.openxmlformats.org/officeDocument/2006/relationships/font" Target="fonts/HelveticaNeue-bold.fntdata"/><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font" Target="fonts/PoppinsLight-bold.fntdata"/><Relationship Id="rId61" Type="http://schemas.openxmlformats.org/officeDocument/2006/relationships/font" Target="fonts/PoppinsLight-regular.fntdata"/><Relationship Id="rId20" Type="http://schemas.openxmlformats.org/officeDocument/2006/relationships/slide" Target="slides/slide10.xml"/><Relationship Id="rId64" Type="http://schemas.openxmlformats.org/officeDocument/2006/relationships/font" Target="fonts/PoppinsLight-boldItalic.fntdata"/><Relationship Id="rId63" Type="http://schemas.openxmlformats.org/officeDocument/2006/relationships/font" Target="fonts/PoppinsLight-italic.fntdata"/><Relationship Id="rId22" Type="http://schemas.openxmlformats.org/officeDocument/2006/relationships/slide" Target="slides/slide12.xml"/><Relationship Id="rId66" Type="http://schemas.openxmlformats.org/officeDocument/2006/relationships/font" Target="fonts/PoppinsMedium-bold.fntdata"/><Relationship Id="rId21" Type="http://schemas.openxmlformats.org/officeDocument/2006/relationships/slide" Target="slides/slide11.xml"/><Relationship Id="rId65" Type="http://schemas.openxmlformats.org/officeDocument/2006/relationships/font" Target="fonts/PoppinsMedium-regular.fntdata"/><Relationship Id="rId24" Type="http://schemas.openxmlformats.org/officeDocument/2006/relationships/slide" Target="slides/slide14.xml"/><Relationship Id="rId68" Type="http://schemas.openxmlformats.org/officeDocument/2006/relationships/font" Target="fonts/PoppinsMedium-boldItalic.fntdata"/><Relationship Id="rId23" Type="http://schemas.openxmlformats.org/officeDocument/2006/relationships/slide" Target="slides/slide13.xml"/><Relationship Id="rId67" Type="http://schemas.openxmlformats.org/officeDocument/2006/relationships/font" Target="fonts/PoppinsMedium-italic.fntdata"/><Relationship Id="rId60" Type="http://schemas.openxmlformats.org/officeDocument/2006/relationships/font" Target="fonts/Poppins-boldItalic.fntdata"/><Relationship Id="rId26" Type="http://schemas.openxmlformats.org/officeDocument/2006/relationships/slide" Target="slides/slide16.xml"/><Relationship Id="rId25" Type="http://schemas.openxmlformats.org/officeDocument/2006/relationships/slide" Target="slides/slide15.xml"/><Relationship Id="rId69" Type="http://schemas.openxmlformats.org/officeDocument/2006/relationships/font" Target="fonts/HelveticaNeue-regular.fntdata"/><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SpaceMono-italic.fntdata"/><Relationship Id="rId50" Type="http://schemas.openxmlformats.org/officeDocument/2006/relationships/font" Target="fonts/SpaceMono-bold.fntdata"/><Relationship Id="rId53" Type="http://schemas.openxmlformats.org/officeDocument/2006/relationships/font" Target="fonts/ProximaNova-regular.fntdata"/><Relationship Id="rId52" Type="http://schemas.openxmlformats.org/officeDocument/2006/relationships/font" Target="fonts/SpaceMono-boldItalic.fntdata"/><Relationship Id="rId11" Type="http://schemas.openxmlformats.org/officeDocument/2006/relationships/slide" Target="slides/slide1.xml"/><Relationship Id="rId55" Type="http://schemas.openxmlformats.org/officeDocument/2006/relationships/font" Target="fonts/ProximaNova-italic.fntdata"/><Relationship Id="rId10" Type="http://schemas.openxmlformats.org/officeDocument/2006/relationships/notesMaster" Target="notesMasters/notesMaster1.xml"/><Relationship Id="rId54" Type="http://schemas.openxmlformats.org/officeDocument/2006/relationships/font" Target="fonts/ProximaNova-bold.fntdata"/><Relationship Id="rId13" Type="http://schemas.openxmlformats.org/officeDocument/2006/relationships/slide" Target="slides/slide3.xml"/><Relationship Id="rId57" Type="http://schemas.openxmlformats.org/officeDocument/2006/relationships/font" Target="fonts/Poppins-regular.fntdata"/><Relationship Id="rId12" Type="http://schemas.openxmlformats.org/officeDocument/2006/relationships/slide" Target="slides/slide2.xml"/><Relationship Id="rId56" Type="http://schemas.openxmlformats.org/officeDocument/2006/relationships/font" Target="fonts/ProximaNova-boldItalic.fntdata"/><Relationship Id="rId15" Type="http://schemas.openxmlformats.org/officeDocument/2006/relationships/slide" Target="slides/slide5.xml"/><Relationship Id="rId59" Type="http://schemas.openxmlformats.org/officeDocument/2006/relationships/font" Target="fonts/Poppins-italic.fntdata"/><Relationship Id="rId14" Type="http://schemas.openxmlformats.org/officeDocument/2006/relationships/slide" Target="slides/slide4.xml"/><Relationship Id="rId58" Type="http://schemas.openxmlformats.org/officeDocument/2006/relationships/font" Target="fonts/Poppins-bold.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ee42122103_0_1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3ee42122103_0_1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Welcome students and introduce the session’s focus on Big(O) notation.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Set an enthusiastic tone for the session.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Emphasize the importance of understanding Big(O) in algorithmic problem-solving.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to Week 4, Session 2 of TIP101! Today, we’ll focus on Big(O) notation—a fundamental concept in computer science for analyzing the efficiency of algorithms.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the end of this session, you’ll feel confident describing time and space complexity and applying it to assess your code.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do you already know about Big(O)? Is there a specific question or confusion you’d like us to address today?"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ee42122103_0_1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3ee42122103_0_1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Outline the session’s structure and set expectations.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session schedule.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our agenda for today: We’ll start by breaking down Big(O) notation and common complexities, then take a short break. Afterward, we’ll move into collaborative problem-solving and wrap up with reflections and reminders.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goal is to not just understand Big(O) theoretically but also to apply it to real problems.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"Does anyone have specific expectations or questions about today’s topics?"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ee42122103_0_1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ee42122103_0_1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ee42122103_0_1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3ee42122103_0_1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ef666bc7b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ef666bc7b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ee42122103_0_1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ee42122103_0_1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e42122103_0_1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3ee42122103_0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ee42122103_0_1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3ee42122103_0_1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Big(O) notation and its significance in analyzing algorithm efficiency.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concept of Big(O) and how it evaluates time and space complexity.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its importance in technical interviews and real-world problem-solving.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Big(O) is a way to describe the efficiency of an algorithm. It tells us how the runtime or memory usage changes as the input size grows.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time complexity measures how fast your code runs, while space complexity measures how much memory your algorithm needs.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use Big(O) to make predictions about performance and to compare different approaches to solving a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explore examples ranging from O(1) for constant time operations to O(n²) for more complex algorithms like nested loops.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"When you hear Big(O), what questions or challenges come to mind?"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ef6196777e_1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ef6196777e_1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Big(O) notation and its significance in analyzing algorithm efficiency.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concept of Big(O) and how it evaluates time and space complexity.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its importance in technical interviews and real-world problem-solving.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Big(O) is a way to describe the efficiency of an algorithm. It tells us how the runtime or memory usage changes as the input size grows.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time complexity measures how fast your code runs, while space complexity measures how much memory your algorithm needs.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use Big(O) to make predictions about performance and to compare different approaches to solving a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explore examples ranging from O(1) for constant time operations to O(n²) for more complex algorithms like nested loops.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"When you hear Big(O), what questions or challenges come to mind?"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ef6196777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3ef6196777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logarithmic and log-linear time and space complexities and their significance in algorithm analysis.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Focus on explaining the definitions of logarithmic and log-linear complexities.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Provide real-world examples of algorithms that fall under these categories.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how these complexities are faster than linear and quadratic time but slower than constant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table highlights logarithmic and log-linear complexities, which are commonly found in efficient algorithms.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Logarithmic time, O(log(n)), is often associated with divide-and-conquer strategies, like binary search. Here, the input size is repeatedly halved, resulting in a very efficient algorithm.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Log-linear time, O(n log(n)), is typical of efficient sorting algorithms like merge sort or quicksort. It combines a linear pass through the data with a logarithmic division of the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space complexity, logarithmic space, O(log(n)), might occur in recursive algorithms where the depth of the recursion tree is proportional to log(n). Log-linear space, O(n log(n)), is less common but can appear in certain sorting algorithms that require additional memory.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complexities strike a balance between speed and scalability, making them ideal for large datasets when constant time isn’t achievable.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"Have you used binary search or sorting algorithms like merge sort before? Can you explain why they might have these complexities?"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"Why is O(log(n)) often considered one of the best trade-offs between efficiency and scalability?"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"Think of a problem where you might need to divide the input repeatedly or sort efficiently. How does the complexity guide your choice of algorithm?"</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ee42122103_0_1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3ee42122103_0_1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Explain common Big(O) complexities and their practical implications.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Provide examples of algorithms with different complexities to help students understand how performance scales.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 are some common Big(O) complexities: O(1) is constant time, O(log n) is logarithmic, O(n) is linear, O(n log n) is log-linear, and O(n²) is quadratic.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of these represents how an algorithm’s performance changes as the input size increases.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accessing an element in an array is O(1), while finding an element in a sorted array using binary search is O(log n). Sorting algorithms like merge sort are typically O(n log n), and nested loops are O(n²).</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"Can you think of an algorithm or operation you’ve used that fits into one of these categories?"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ef6196777e_1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3ef6196777e_1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Connect theoretical complexities to specific coding examples.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relatable examples to clarify how different complexities manifest in code.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look at examples: Checking if a number is even is O(1), finding an element in a sorted array with binary search is O(log n), and summing all elements in an unsorted array is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example helps us understand how the complexity relates to the problem size and the operations performed.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Notice that for larger input sizes, higher complexities like O(n²) grow significantly faster, which can make algorithms inefficient.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"Which of these examples do you encounter most often in your coding practice? How do you handle performance concerns?"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ee42122103_0_1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ee42122103_0_1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Provide an overview of common time and space complexities from fastest to slowest to help students understand algorithm efficiency at a high level.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different types of time and space complexities listed on the slide.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examples to help students connect each complexity to real-world coding scenarios.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the practical importance of choosing efficient algorithms and data structures.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table breaks down common time and space complexities from fastest to slowest. It shows how the performance of an algorithm or function scales with the size of the input.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start with constant time, O(1). This is the fastest complexity, where the operation takes the same time no matter how large the input is. For example, accessing an element in an array by index.</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 we have linear time, O(n). Here, the runtime grows proportionally with the input size, like iterating through a list to find the maximum value.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the slower end, we see quadratic time, O(n²), where the runtime grows exponentially as the input size increases. This happens with nested loops, such as in bubble sort.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space complexity, we measure how much additional memory the algorithm requires. Constant space, O(1), means no extra memory is used beyond a few fixed variables, while O(n²) space grows exponentially with input 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a problem or task where constant time or linear time might apply? How about a scenario where quadratic time is unavoidable?"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"Why is it important to consider space complexity, especially in systems with limited memory?"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"If you’ve used sorting algorithms before, can you identify which category their complexities might fall into from this table?"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ee42122103_0_1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3ee42122103_0_1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logarithmic and log-linear time and space complexities and their significance in algorithm analysis.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Focus on explaining the definitions of logarithmic and log-linear complexities.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Provide real-world examples of algorithms that fall under these categories.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how these complexities are faster than linear and quadratic time but slower than constant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table highlights logarithmic and log-linear complexities, which are commonly found in efficient algorithms.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Logarithmic time, O(log(n)), is often associated with divide-and-conquer strategies, like binary search. Here, the input size is repeatedly halved, resulting in a very efficient algorithm.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Log-linear time, O(n log(n)), is typical of efficient sorting algorithms like merge sort or quicksort. It combines a linear pass through the data with a logarithmic division of the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space complexity, logarithmic space, O(log(n)), might occur in recursive algorithms where the depth of the recursion tree is proportional to log(n). Log-linear space, O(n log(n)), is less common but can appear in certain sorting algorithms that require additional memory.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complexities strike a balance between speed and scalability, making them ideal for large datasets when constant time isn’t achievable.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"Have you used binary search or sorting algorithms like merge sort before? Can you explain why they might have these complexities?"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"Why is O(log(n)) often considered one of the best trade-offs between efficiency and scalability?"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"Think of a problem where you might need to divide the input repeatedly or sort efficiently. How does the complexity guide your choice of algorithm?"</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ee42122103_0_1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ee42122103_0_1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ee42122103_0_1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3ee42122103_0_1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Analyze the time and space complexity of the </a:t>
            </a:r>
            <a:r>
              <a:rPr lang="en">
                <a:solidFill>
                  <a:srgbClr val="188038"/>
                </a:solidFill>
                <a:latin typeface="Roboto Mono"/>
                <a:ea typeface="Roboto Mono"/>
                <a:cs typeface="Roboto Mono"/>
                <a:sym typeface="Roboto Mono"/>
              </a:rPr>
              <a:t>get_element_at_index</a:t>
            </a:r>
            <a:r>
              <a:rPr lang="en">
                <a:solidFill>
                  <a:schemeClr val="dk1"/>
                </a:solidFill>
              </a:rPr>
              <a:t> function.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Guide students through the analysis of the function step by step.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why both time and space complexities are O(1).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function, </a:t>
            </a:r>
            <a:r>
              <a:rPr lang="en">
                <a:solidFill>
                  <a:srgbClr val="188038"/>
                </a:solidFill>
                <a:latin typeface="Roboto Mono"/>
                <a:ea typeface="Roboto Mono"/>
                <a:cs typeface="Roboto Mono"/>
                <a:sym typeface="Roboto Mono"/>
              </a:rPr>
              <a:t>get_element_at_index</a:t>
            </a:r>
            <a:r>
              <a:rPr lang="en">
                <a:solidFill>
                  <a:schemeClr val="dk1"/>
                </a:solidFill>
              </a:rPr>
              <a:t>, retrieves an element from a list at a specified index. Let’s analyze its complexity.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lang="en">
                <a:solidFill>
                  <a:srgbClr val="188038"/>
                </a:solidFill>
                <a:latin typeface="Roboto Mono"/>
                <a:ea typeface="Roboto Mono"/>
                <a:cs typeface="Roboto Mono"/>
                <a:sym typeface="Roboto Mono"/>
              </a:rPr>
              <a:t>if</a:t>
            </a:r>
            <a:r>
              <a:rPr lang="en">
                <a:solidFill>
                  <a:schemeClr val="dk1"/>
                </a:solidFill>
              </a:rPr>
              <a:t> condition checks whether the index is within bounds: </a:t>
            </a:r>
            <a:r>
              <a:rPr lang="en">
                <a:solidFill>
                  <a:srgbClr val="188038"/>
                </a:solidFill>
                <a:latin typeface="Roboto Mono"/>
                <a:ea typeface="Roboto Mono"/>
                <a:cs typeface="Roboto Mono"/>
                <a:sym typeface="Roboto Mono"/>
              </a:rPr>
              <a:t>index &lt; 0 or index &gt;= len(lst)</a:t>
            </a:r>
            <a:r>
              <a:rPr lang="en">
                <a:solidFill>
                  <a:schemeClr val="dk1"/>
                </a:solidFill>
              </a:rPr>
              <a:t>. This is a simple comparison and takes constant time, O(1).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the index is valid, the function retrieves the element with </a:t>
            </a:r>
            <a:r>
              <a:rPr lang="en">
                <a:solidFill>
                  <a:srgbClr val="188038"/>
                </a:solidFill>
                <a:latin typeface="Roboto Mono"/>
                <a:ea typeface="Roboto Mono"/>
                <a:cs typeface="Roboto Mono"/>
                <a:sym typeface="Roboto Mono"/>
              </a:rPr>
              <a:t>lst[index]</a:t>
            </a:r>
            <a:r>
              <a:rPr lang="en">
                <a:solidFill>
                  <a:schemeClr val="dk1"/>
                </a:solidFill>
              </a:rPr>
              <a:t>. Accessing an element by index in a Python list is also O(1), thanks to Python's list implementation.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 additional data structures are created, so the memory usage is constant, O(1). This makes both the time and space complexities O(1).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accessing an element in a Python list is O(1)? Can you think of any exceptions to this?"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ee42122103_0_1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3ee42122103_0_1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Break down the time complexity of the function visually.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Highlight the constant time operations performed by the function.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first operation checks if the index is out of bounds. This comparison takes constant time, O(1), because it’s independent of the size of the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the index is valid, the function accesses the element with </a:t>
            </a:r>
            <a:r>
              <a:rPr lang="en">
                <a:solidFill>
                  <a:srgbClr val="188038"/>
                </a:solidFill>
                <a:latin typeface="Roboto Mono"/>
                <a:ea typeface="Roboto Mono"/>
                <a:cs typeface="Roboto Mono"/>
                <a:sym typeface="Roboto Mono"/>
              </a:rPr>
              <a:t>lst[index]</a:t>
            </a:r>
            <a:r>
              <a:rPr lang="en">
                <a:solidFill>
                  <a:schemeClr val="dk1"/>
                </a:solidFill>
              </a:rPr>
              <a:t>. This is another constant-time operation, O(1).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Since both steps take constant time, the overall time complexity of this function is O(1), regardless of the size of the list.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any cases where checking the index or accessing the element might take longer than O(1)?"</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ee42122103_0_1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3ee42122103_0_1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Explain why the space complexity of the function is O(1).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Clarify how the function does not use additional memory beyond the input.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function doesn’t create new data structures or variables that depend on the size of the input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only uses a few fixed-size variables: </a:t>
            </a:r>
            <a:r>
              <a:rPr lang="en">
                <a:solidFill>
                  <a:srgbClr val="188038"/>
                </a:solidFill>
                <a:latin typeface="Roboto Mono"/>
                <a:ea typeface="Roboto Mono"/>
                <a:cs typeface="Roboto Mono"/>
                <a:sym typeface="Roboto Mono"/>
              </a:rPr>
              <a:t>lst</a:t>
            </a:r>
            <a:r>
              <a:rPr lang="en">
                <a:solidFill>
                  <a:schemeClr val="dk1"/>
                </a:solidFill>
              </a:rPr>
              <a:t>, </a:t>
            </a:r>
            <a:r>
              <a:rPr lang="en">
                <a:solidFill>
                  <a:srgbClr val="188038"/>
                </a:solidFill>
                <a:latin typeface="Roboto Mono"/>
                <a:ea typeface="Roboto Mono"/>
                <a:cs typeface="Roboto Mono"/>
                <a:sym typeface="Roboto Mono"/>
              </a:rPr>
              <a:t>index</a:t>
            </a:r>
            <a:r>
              <a:rPr lang="en">
                <a:solidFill>
                  <a:schemeClr val="dk1"/>
                </a:solidFill>
              </a:rPr>
              <a:t>, and the return value.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memory usage is constant, O(1), because it doesn’t grow with the size of the input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makes the function memory-efficient, even for very large inputs.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"How might the space complexity change if this function had to create a copy of the list or store intermediate results?"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ee42122103_0_1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ee42122103_0_1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ee42122103_0_1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3ee42122103_0_1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Analyze the time and space complexity of the </a:t>
            </a:r>
            <a:r>
              <a:rPr lang="en">
                <a:solidFill>
                  <a:srgbClr val="188038"/>
                </a:solidFill>
                <a:latin typeface="Roboto Mono"/>
                <a:ea typeface="Roboto Mono"/>
                <a:cs typeface="Roboto Mono"/>
                <a:sym typeface="Roboto Mono"/>
              </a:rPr>
              <a:t>sum_array</a:t>
            </a:r>
            <a:r>
              <a:rPr lang="en">
                <a:solidFill>
                  <a:schemeClr val="dk1"/>
                </a:solidFill>
              </a:rPr>
              <a:t> function.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analyzing the function’s operations and their complexities.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function calculates the sum of all elements in an array by iterating through each element.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loop runs once for each of the </a:t>
            </a:r>
            <a:r>
              <a:rPr lang="en">
                <a:solidFill>
                  <a:srgbClr val="188038"/>
                </a:solidFill>
                <a:latin typeface="Roboto Mono"/>
                <a:ea typeface="Roboto Mono"/>
                <a:cs typeface="Roboto Mono"/>
                <a:sym typeface="Roboto Mono"/>
              </a:rPr>
              <a:t>n</a:t>
            </a:r>
            <a:r>
              <a:rPr lang="en">
                <a:solidFill>
                  <a:schemeClr val="dk1"/>
                </a:solidFill>
              </a:rPr>
              <a:t> elements in the array, so the time complexity is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function only uses a few fixed-size variables: </a:t>
            </a:r>
            <a:r>
              <a:rPr lang="en">
                <a:solidFill>
                  <a:srgbClr val="188038"/>
                </a:solidFill>
                <a:latin typeface="Roboto Mono"/>
                <a:ea typeface="Roboto Mono"/>
                <a:cs typeface="Roboto Mono"/>
                <a:sym typeface="Roboto Mono"/>
              </a:rPr>
              <a:t>total</a:t>
            </a:r>
            <a:r>
              <a:rPr lang="en">
                <a:solidFill>
                  <a:schemeClr val="dk1"/>
                </a:solidFill>
              </a:rPr>
              <a:t> for the running sum and </a:t>
            </a:r>
            <a:r>
              <a:rPr lang="en">
                <a:solidFill>
                  <a:srgbClr val="188038"/>
                </a:solidFill>
                <a:latin typeface="Roboto Mono"/>
                <a:ea typeface="Roboto Mono"/>
                <a:cs typeface="Roboto Mono"/>
                <a:sym typeface="Roboto Mono"/>
              </a:rPr>
              <a:t>num</a:t>
            </a:r>
            <a:r>
              <a:rPr lang="en">
                <a:solidFill>
                  <a:schemeClr val="dk1"/>
                </a:solidFill>
              </a:rPr>
              <a:t> for the current element. This means the space complexity is O(1).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function is efficient in terms of memory but scales linearly with the input size in terms of time.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happens to the time complexity if we only sum up a subset of the array, such as the first 100 elements? How does that change the space complexity?"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ee42122103_0_1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3ee42122103_0_1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Analyze the time complexity of the </a:t>
            </a:r>
            <a:r>
              <a:rPr lang="en">
                <a:solidFill>
                  <a:srgbClr val="188038"/>
                </a:solidFill>
                <a:latin typeface="Roboto Mono"/>
                <a:ea typeface="Roboto Mono"/>
                <a:cs typeface="Roboto Mono"/>
                <a:sym typeface="Roboto Mono"/>
              </a:rPr>
              <a:t>sum_array</a:t>
            </a:r>
            <a:r>
              <a:rPr lang="en">
                <a:solidFill>
                  <a:schemeClr val="dk1"/>
                </a:solidFill>
              </a:rPr>
              <a:t> function by breaking it down into individual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flowchart step by step to demonstrate the function's operations.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how the time complexity is derived from the loop and constant-time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flowchart illustrates how the </a:t>
            </a:r>
            <a:r>
              <a:rPr lang="en">
                <a:solidFill>
                  <a:srgbClr val="188038"/>
                </a:solidFill>
                <a:latin typeface="Roboto Mono"/>
                <a:ea typeface="Roboto Mono"/>
                <a:cs typeface="Roboto Mono"/>
                <a:sym typeface="Roboto Mono"/>
              </a:rPr>
              <a:t>sum_array</a:t>
            </a:r>
            <a:r>
              <a:rPr lang="en">
                <a:solidFill>
                  <a:schemeClr val="dk1"/>
                </a:solidFill>
              </a:rPr>
              <a:t> function calculates the sum of all elements in an array.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First, the function initializes </a:t>
            </a:r>
            <a:r>
              <a:rPr lang="en">
                <a:solidFill>
                  <a:srgbClr val="188038"/>
                </a:solidFill>
                <a:latin typeface="Roboto Mono"/>
                <a:ea typeface="Roboto Mono"/>
                <a:cs typeface="Roboto Mono"/>
                <a:sym typeface="Roboto Mono"/>
              </a:rPr>
              <a:t>total</a:t>
            </a:r>
            <a:r>
              <a:rPr lang="en">
                <a:solidFill>
                  <a:schemeClr val="dk1"/>
                </a:solidFill>
              </a:rPr>
              <a:t> to 0. This is a constant-time operation, O(1).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 it iterates through each element of the array using a loop. For an array of size </a:t>
            </a:r>
            <a:r>
              <a:rPr lang="en">
                <a:solidFill>
                  <a:srgbClr val="188038"/>
                </a:solidFill>
                <a:latin typeface="Roboto Mono"/>
                <a:ea typeface="Roboto Mono"/>
                <a:cs typeface="Roboto Mono"/>
                <a:sym typeface="Roboto Mono"/>
              </a:rPr>
              <a:t>n</a:t>
            </a:r>
            <a:r>
              <a:rPr lang="en">
                <a:solidFill>
                  <a:schemeClr val="dk1"/>
                </a:solidFill>
              </a:rPr>
              <a:t>, the loop runs </a:t>
            </a:r>
            <a:r>
              <a:rPr lang="en">
                <a:solidFill>
                  <a:srgbClr val="188038"/>
                </a:solidFill>
                <a:latin typeface="Roboto Mono"/>
                <a:ea typeface="Roboto Mono"/>
                <a:cs typeface="Roboto Mono"/>
                <a:sym typeface="Roboto Mono"/>
              </a:rPr>
              <a:t>n</a:t>
            </a:r>
            <a:r>
              <a:rPr lang="en">
                <a:solidFill>
                  <a:schemeClr val="dk1"/>
                </a:solidFill>
              </a:rPr>
              <a:t> times.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Within each iteration, the operation </a:t>
            </a:r>
            <a:r>
              <a:rPr lang="en">
                <a:solidFill>
                  <a:srgbClr val="188038"/>
                </a:solidFill>
                <a:latin typeface="Roboto Mono"/>
                <a:ea typeface="Roboto Mono"/>
                <a:cs typeface="Roboto Mono"/>
                <a:sym typeface="Roboto Mono"/>
              </a:rPr>
              <a:t>total += num</a:t>
            </a:r>
            <a:r>
              <a:rPr lang="en">
                <a:solidFill>
                  <a:schemeClr val="dk1"/>
                </a:solidFill>
              </a:rPr>
              <a:t> is performed, which is also a constant-time operation, O(1).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Since the loop runs </a:t>
            </a:r>
            <a:r>
              <a:rPr lang="en">
                <a:solidFill>
                  <a:srgbClr val="188038"/>
                </a:solidFill>
                <a:latin typeface="Roboto Mono"/>
                <a:ea typeface="Roboto Mono"/>
                <a:cs typeface="Roboto Mono"/>
                <a:sym typeface="Roboto Mono"/>
              </a:rPr>
              <a:t>n</a:t>
            </a:r>
            <a:r>
              <a:rPr lang="en">
                <a:solidFill>
                  <a:schemeClr val="dk1"/>
                </a:solidFill>
              </a:rPr>
              <a:t> times and each iteration takes O(1), the overall time complexity of the function is O(n). This means the runtime grows linearly with the size of the array.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would happen to the time complexity if the array size doubled? Why is the complexity still considered efficient?"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"Think about other problems where you need to iterate through all elements. Do they also follow a linear time complexity?"</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e42122103_0_1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ee42122103_0_1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why the space complexity of the </a:t>
            </a:r>
            <a:r>
              <a:rPr lang="en">
                <a:solidFill>
                  <a:srgbClr val="188038"/>
                </a:solidFill>
                <a:latin typeface="Roboto Mono"/>
                <a:ea typeface="Roboto Mono"/>
                <a:cs typeface="Roboto Mono"/>
                <a:sym typeface="Roboto Mono"/>
              </a:rPr>
              <a:t>sum_array</a:t>
            </a:r>
            <a:r>
              <a:rPr lang="en">
                <a:solidFill>
                  <a:schemeClr val="dk1"/>
                </a:solidFill>
              </a:rPr>
              <a:t> function is constant, O(1).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Highlight the memory usage of the function and why it doesn’t grow with the input 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let’s look at the space complexity of the </a:t>
            </a:r>
            <a:r>
              <a:rPr lang="en">
                <a:solidFill>
                  <a:srgbClr val="188038"/>
                </a:solidFill>
                <a:latin typeface="Roboto Mono"/>
                <a:ea typeface="Roboto Mono"/>
                <a:cs typeface="Roboto Mono"/>
                <a:sym typeface="Roboto Mono"/>
              </a:rPr>
              <a:t>sum_array</a:t>
            </a:r>
            <a:r>
              <a:rPr lang="en">
                <a:solidFill>
                  <a:schemeClr val="dk1"/>
                </a:solidFill>
              </a:rPr>
              <a:t> function. Space complexity measures the amount of memory used by the function relative to the input size.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Here, the function uses two variables: </a:t>
            </a:r>
            <a:r>
              <a:rPr lang="en">
                <a:solidFill>
                  <a:srgbClr val="188038"/>
                </a:solidFill>
                <a:latin typeface="Roboto Mono"/>
                <a:ea typeface="Roboto Mono"/>
                <a:cs typeface="Roboto Mono"/>
                <a:sym typeface="Roboto Mono"/>
              </a:rPr>
              <a:t>total</a:t>
            </a:r>
            <a:r>
              <a:rPr lang="en">
                <a:solidFill>
                  <a:schemeClr val="dk1"/>
                </a:solidFill>
              </a:rPr>
              <a:t> to keep track of the running sum and </a:t>
            </a:r>
            <a:r>
              <a:rPr lang="en">
                <a:solidFill>
                  <a:srgbClr val="188038"/>
                </a:solidFill>
                <a:latin typeface="Roboto Mono"/>
                <a:ea typeface="Roboto Mono"/>
                <a:cs typeface="Roboto Mono"/>
                <a:sym typeface="Roboto Mono"/>
              </a:rPr>
              <a:t>num</a:t>
            </a:r>
            <a:r>
              <a:rPr lang="en">
                <a:solidFill>
                  <a:schemeClr val="dk1"/>
                </a:solidFill>
              </a:rPr>
              <a:t> for the current element in the loop. Both variables take up a constant amount of space, regardless of the size of the input array.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input list, </a:t>
            </a:r>
            <a:r>
              <a:rPr lang="en">
                <a:solidFill>
                  <a:srgbClr val="188038"/>
                </a:solidFill>
                <a:latin typeface="Roboto Mono"/>
                <a:ea typeface="Roboto Mono"/>
                <a:cs typeface="Roboto Mono"/>
                <a:sym typeface="Roboto Mono"/>
              </a:rPr>
              <a:t>[a, b, c, d, e]</a:t>
            </a:r>
            <a:r>
              <a:rPr lang="en">
                <a:solidFill>
                  <a:schemeClr val="dk1"/>
                </a:solidFill>
              </a:rPr>
              <a:t>, is provided as input, so the function doesn’t create any new data structures that depend on its size.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output is also a single value, </a:t>
            </a:r>
            <a:r>
              <a:rPr lang="en">
                <a:solidFill>
                  <a:srgbClr val="188038"/>
                </a:solidFill>
                <a:latin typeface="Roboto Mono"/>
                <a:ea typeface="Roboto Mono"/>
                <a:cs typeface="Roboto Mono"/>
                <a:sym typeface="Roboto Mono"/>
              </a:rPr>
              <a:t>total</a:t>
            </a:r>
            <a:r>
              <a:rPr lang="en">
                <a:solidFill>
                  <a:schemeClr val="dk1"/>
                </a:solidFill>
              </a:rPr>
              <a:t>, which doesn’t grow with the size of the array. Thus, the space complexity is O(1), making the function memory efficient.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is it important to consider space complexity in addition to time complexity? Can you think of scenarios where memory usage is a critical factor?"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"If this function were modified to return a new list of cumulative sums instead of a single total, how would the space complexity change?"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3ee42122103_0_1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3ee42122103_0_1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why the space complexity of the </a:t>
            </a:r>
            <a:r>
              <a:rPr lang="en">
                <a:solidFill>
                  <a:srgbClr val="188038"/>
                </a:solidFill>
                <a:latin typeface="Roboto Mono"/>
                <a:ea typeface="Roboto Mono"/>
                <a:cs typeface="Roboto Mono"/>
                <a:sym typeface="Roboto Mono"/>
              </a:rPr>
              <a:t>sum_array</a:t>
            </a:r>
            <a:r>
              <a:rPr lang="en">
                <a:solidFill>
                  <a:schemeClr val="dk1"/>
                </a:solidFill>
              </a:rPr>
              <a:t> function is constant, O(1).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Highlight the memory usage of the function and why it doesn’t grow with the input 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let’s look at the space complexity of the </a:t>
            </a:r>
            <a:r>
              <a:rPr lang="en">
                <a:solidFill>
                  <a:srgbClr val="188038"/>
                </a:solidFill>
                <a:latin typeface="Roboto Mono"/>
                <a:ea typeface="Roboto Mono"/>
                <a:cs typeface="Roboto Mono"/>
                <a:sym typeface="Roboto Mono"/>
              </a:rPr>
              <a:t>sum_array</a:t>
            </a:r>
            <a:r>
              <a:rPr lang="en">
                <a:solidFill>
                  <a:schemeClr val="dk1"/>
                </a:solidFill>
              </a:rPr>
              <a:t> function. Space complexity measures the amount of memory used by the function relative to the input size.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Here, the function uses two variables: </a:t>
            </a:r>
            <a:r>
              <a:rPr lang="en">
                <a:solidFill>
                  <a:srgbClr val="188038"/>
                </a:solidFill>
                <a:latin typeface="Roboto Mono"/>
                <a:ea typeface="Roboto Mono"/>
                <a:cs typeface="Roboto Mono"/>
                <a:sym typeface="Roboto Mono"/>
              </a:rPr>
              <a:t>total</a:t>
            </a:r>
            <a:r>
              <a:rPr lang="en">
                <a:solidFill>
                  <a:schemeClr val="dk1"/>
                </a:solidFill>
              </a:rPr>
              <a:t> to keep track of the running sum and </a:t>
            </a:r>
            <a:r>
              <a:rPr lang="en">
                <a:solidFill>
                  <a:srgbClr val="188038"/>
                </a:solidFill>
                <a:latin typeface="Roboto Mono"/>
                <a:ea typeface="Roboto Mono"/>
                <a:cs typeface="Roboto Mono"/>
                <a:sym typeface="Roboto Mono"/>
              </a:rPr>
              <a:t>num</a:t>
            </a:r>
            <a:r>
              <a:rPr lang="en">
                <a:solidFill>
                  <a:schemeClr val="dk1"/>
                </a:solidFill>
              </a:rPr>
              <a:t> for the current element in the loop. Both variables take up a constant amount of space, regardless of the size of the input array.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input list, </a:t>
            </a:r>
            <a:r>
              <a:rPr lang="en">
                <a:solidFill>
                  <a:srgbClr val="188038"/>
                </a:solidFill>
                <a:latin typeface="Roboto Mono"/>
                <a:ea typeface="Roboto Mono"/>
                <a:cs typeface="Roboto Mono"/>
                <a:sym typeface="Roboto Mono"/>
              </a:rPr>
              <a:t>[a, b, c, d, e]</a:t>
            </a:r>
            <a:r>
              <a:rPr lang="en">
                <a:solidFill>
                  <a:schemeClr val="dk1"/>
                </a:solidFill>
              </a:rPr>
              <a:t>, is provided as input, so the function doesn’t create any new data structures that depend on its size.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output is also a single value, </a:t>
            </a:r>
            <a:r>
              <a:rPr lang="en">
                <a:solidFill>
                  <a:srgbClr val="188038"/>
                </a:solidFill>
                <a:latin typeface="Roboto Mono"/>
                <a:ea typeface="Roboto Mono"/>
                <a:cs typeface="Roboto Mono"/>
                <a:sym typeface="Roboto Mono"/>
              </a:rPr>
              <a:t>total</a:t>
            </a:r>
            <a:r>
              <a:rPr lang="en">
                <a:solidFill>
                  <a:schemeClr val="dk1"/>
                </a:solidFill>
              </a:rPr>
              <a:t>, which doesn’t grow with the size of the array. Thus, the space complexity is O(1), making the function memory efficient.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is it important to consider space complexity in addition to time complexity? Can you think of scenarios where memory usage is a critical factor?"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"If this function were modified to return a new list of cumulative sums instead of a single total, how would the space complexity change?"</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ee42122103_0_1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3ee42122103_0_1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ee42122103_0_1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3ee42122103_0_1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Guide students in analyzing the </a:t>
            </a:r>
            <a:r>
              <a:rPr lang="en">
                <a:solidFill>
                  <a:srgbClr val="188038"/>
                </a:solidFill>
                <a:latin typeface="Roboto Mono"/>
                <a:ea typeface="Roboto Mono"/>
                <a:cs typeface="Roboto Mono"/>
                <a:sym typeface="Roboto Mono"/>
              </a:rPr>
              <a:t>count_word_frequencies</a:t>
            </a:r>
            <a:r>
              <a:rPr lang="en">
                <a:solidFill>
                  <a:schemeClr val="dk1"/>
                </a:solidFill>
              </a:rPr>
              <a:t> function and calculating its Big(O) complexity.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provided code and encourage them to apply what they’ve learned about time and space complexity.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work together to analyze the </a:t>
            </a:r>
            <a:r>
              <a:rPr lang="en">
                <a:solidFill>
                  <a:srgbClr val="188038"/>
                </a:solidFill>
                <a:latin typeface="Roboto Mono"/>
                <a:ea typeface="Roboto Mono"/>
                <a:cs typeface="Roboto Mono"/>
                <a:sym typeface="Roboto Mono"/>
              </a:rPr>
              <a:t>count_word_frequencies</a:t>
            </a:r>
            <a:r>
              <a:rPr lang="en">
                <a:solidFill>
                  <a:schemeClr val="dk1"/>
                </a:solidFill>
              </a:rPr>
              <a:t> function.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know the function iterates through the list of words once, which gives it a time complexity of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uses a dictionary to store frequencies, and in the worst case, the space complexity is also O(n) due to the number of unique words.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function is both time and space efficient for this type of task because dictionaries provide quick lookups and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edge cases for this function, like an empty list or a list where all words are unique? How would these cases affect the time and space complexity?"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"Try running this function in your editor or Python Tutor and verify its behavior with different inputs."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ee42122103_0_1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3ee42122103_0_1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time complexity of the </a:t>
            </a:r>
            <a:r>
              <a:rPr lang="en">
                <a:solidFill>
                  <a:srgbClr val="188038"/>
                </a:solidFill>
                <a:latin typeface="Roboto Mono"/>
                <a:ea typeface="Roboto Mono"/>
                <a:cs typeface="Roboto Mono"/>
                <a:sym typeface="Roboto Mono"/>
              </a:rPr>
              <a:t>count_word_frequencies</a:t>
            </a:r>
            <a:r>
              <a:rPr lang="en">
                <a:solidFill>
                  <a:schemeClr val="dk1"/>
                </a:solidFill>
              </a:rPr>
              <a:t>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Break down the operations in the function and how they contribute to the overall time complexity.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function calculates the frequency of each word in the </a:t>
            </a:r>
            <a:r>
              <a:rPr lang="en">
                <a:solidFill>
                  <a:srgbClr val="188038"/>
                </a:solidFill>
                <a:latin typeface="Roboto Mono"/>
                <a:ea typeface="Roboto Mono"/>
                <a:cs typeface="Roboto Mono"/>
                <a:sym typeface="Roboto Mono"/>
              </a:rPr>
              <a:t>word_list</a:t>
            </a:r>
            <a:r>
              <a:rPr lang="en">
                <a:solidFill>
                  <a:schemeClr val="dk1"/>
                </a:solidFill>
              </a:rPr>
              <a:t> by iterating through the list and updating a dictionary.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loop runs </a:t>
            </a:r>
            <a:r>
              <a:rPr lang="en">
                <a:solidFill>
                  <a:srgbClr val="188038"/>
                </a:solidFill>
                <a:latin typeface="Roboto Mono"/>
                <a:ea typeface="Roboto Mono"/>
                <a:cs typeface="Roboto Mono"/>
                <a:sym typeface="Roboto Mono"/>
              </a:rPr>
              <a:t>n</a:t>
            </a:r>
            <a:r>
              <a:rPr lang="en">
                <a:solidFill>
                  <a:schemeClr val="dk1"/>
                </a:solidFill>
              </a:rPr>
              <a:t> times, where </a:t>
            </a:r>
            <a:r>
              <a:rPr lang="en">
                <a:solidFill>
                  <a:srgbClr val="188038"/>
                </a:solidFill>
                <a:latin typeface="Roboto Mono"/>
                <a:ea typeface="Roboto Mono"/>
                <a:cs typeface="Roboto Mono"/>
                <a:sym typeface="Roboto Mono"/>
              </a:rPr>
              <a:t>n</a:t>
            </a:r>
            <a:r>
              <a:rPr lang="en">
                <a:solidFill>
                  <a:schemeClr val="dk1"/>
                </a:solidFill>
              </a:rPr>
              <a:t> is the number of words in the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Inside the loop, we check if the word exists in the dictionary and either update its value or add it as a new key. Both of these dictionary operations take average constant time, O(1).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Since the loop runs </a:t>
            </a:r>
            <a:r>
              <a:rPr lang="en">
                <a:solidFill>
                  <a:srgbClr val="188038"/>
                </a:solidFill>
                <a:latin typeface="Roboto Mono"/>
                <a:ea typeface="Roboto Mono"/>
                <a:cs typeface="Roboto Mono"/>
                <a:sym typeface="Roboto Mono"/>
              </a:rPr>
              <a:t>n</a:t>
            </a:r>
            <a:r>
              <a:rPr lang="en">
                <a:solidFill>
                  <a:schemeClr val="dk1"/>
                </a:solidFill>
              </a:rPr>
              <a:t> times, and each iteration performs O(1) operations, the overall time complexity of the function is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means the runtime grows linearly with the number of words in the list.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dictionary operations like key lookups and updates are O(1)? Can anyone explain why this is efficient compared to other data structures?"</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ee42122103_0_1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ee42122103_0_1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space complexity of the </a:t>
            </a:r>
            <a:r>
              <a:rPr lang="en">
                <a:solidFill>
                  <a:srgbClr val="188038"/>
                </a:solidFill>
                <a:latin typeface="Roboto Mono"/>
                <a:ea typeface="Roboto Mono"/>
                <a:cs typeface="Roboto Mono"/>
                <a:sym typeface="Roboto Mono"/>
              </a:rPr>
              <a:t>count_word_frequencies</a:t>
            </a:r>
            <a:r>
              <a:rPr lang="en">
                <a:solidFill>
                  <a:schemeClr val="dk1"/>
                </a:solidFill>
              </a:rPr>
              <a:t>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Describe how memory usage depends on the number of unique words in the list.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function uses a dictionary, </a:t>
            </a:r>
            <a:r>
              <a:rPr lang="en">
                <a:solidFill>
                  <a:srgbClr val="188038"/>
                </a:solidFill>
                <a:latin typeface="Roboto Mono"/>
                <a:ea typeface="Roboto Mono"/>
                <a:cs typeface="Roboto Mono"/>
                <a:sym typeface="Roboto Mono"/>
              </a:rPr>
              <a:t>word_count</a:t>
            </a:r>
            <a:r>
              <a:rPr lang="en">
                <a:solidFill>
                  <a:schemeClr val="dk1"/>
                </a:solidFill>
              </a:rPr>
              <a:t>, to store the frequency of each unique word in the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the worst case, where all words in the list are unique, the dictionary will have </a:t>
            </a:r>
            <a:r>
              <a:rPr lang="en">
                <a:solidFill>
                  <a:srgbClr val="188038"/>
                </a:solidFill>
                <a:latin typeface="Roboto Mono"/>
                <a:ea typeface="Roboto Mono"/>
                <a:cs typeface="Roboto Mono"/>
                <a:sym typeface="Roboto Mono"/>
              </a:rPr>
              <a:t>n</a:t>
            </a:r>
            <a:r>
              <a:rPr lang="en">
                <a:solidFill>
                  <a:schemeClr val="dk1"/>
                </a:solidFill>
              </a:rPr>
              <a:t> entries. This means the memory usage of the dictionary grows linearly with the number of words.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 a result, the space complexity is O(n), since it depends on the number of unique words in the input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input list itself is provided as input, and the function does not create any additional data structures beyond the dictionary.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"What would happen to the space complexity if we used a different data structure, like a list of tuples, instead of a dictionary? Would it be more or less efficient?"</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ee42122103_0_1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ee42122103_0_1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3ee42122103_0_1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7" name="Google Shape;1287;g3ee42122103_0_1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Summarize the time and space complexities of the </a:t>
            </a:r>
            <a:r>
              <a:rPr lang="en">
                <a:solidFill>
                  <a:srgbClr val="188038"/>
                </a:solidFill>
                <a:latin typeface="Roboto Mono"/>
                <a:ea typeface="Roboto Mono"/>
                <a:cs typeface="Roboto Mono"/>
                <a:sym typeface="Roboto Mono"/>
              </a:rPr>
              <a:t>sum_top_100</a:t>
            </a:r>
            <a:r>
              <a:rPr lang="en">
                <a:solidFill>
                  <a:schemeClr val="dk1"/>
                </a:solidFill>
              </a:rPr>
              <a:t> function and reinforce understanding.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Review the function’s operations and how they contribute to its time and space complexities.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Ensure students understand the reasoning behind O(1) time and space complexities.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review the </a:t>
            </a:r>
            <a:r>
              <a:rPr lang="en">
                <a:solidFill>
                  <a:srgbClr val="188038"/>
                </a:solidFill>
                <a:latin typeface="Roboto Mono"/>
                <a:ea typeface="Roboto Mono"/>
                <a:cs typeface="Roboto Mono"/>
                <a:sym typeface="Roboto Mono"/>
              </a:rPr>
              <a:t>sum_top_100</a:t>
            </a:r>
            <a:r>
              <a:rPr lang="en">
                <a:solidFill>
                  <a:schemeClr val="dk1"/>
                </a:solidFill>
              </a:rPr>
              <a:t> function and its Big(O) complexities.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time complexity is O(1) because the loop runs exactly 100 times, regardless of the size of the input list. Each iteration performs a single addition operation, which is constant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space complexity is also O(1) because the function only uses a few fixed-size variables, such as </a:t>
            </a:r>
            <a:r>
              <a:rPr lang="en">
                <a:solidFill>
                  <a:srgbClr val="188038"/>
                </a:solidFill>
                <a:latin typeface="Roboto Mono"/>
                <a:ea typeface="Roboto Mono"/>
                <a:cs typeface="Roboto Mono"/>
                <a:sym typeface="Roboto Mono"/>
              </a:rPr>
              <a:t>total</a:t>
            </a:r>
            <a:r>
              <a:rPr lang="en">
                <a:solidFill>
                  <a:schemeClr val="dk1"/>
                </a:solidFill>
              </a:rPr>
              <a:t> and </a:t>
            </a:r>
            <a:r>
              <a:rPr lang="en">
                <a:solidFill>
                  <a:srgbClr val="188038"/>
                </a:solidFill>
                <a:latin typeface="Roboto Mono"/>
                <a:ea typeface="Roboto Mono"/>
                <a:cs typeface="Roboto Mono"/>
                <a:sym typeface="Roboto Mono"/>
              </a:rPr>
              <a:t>i</a:t>
            </a:r>
            <a:r>
              <a:rPr lang="en">
                <a:solidFill>
                  <a:schemeClr val="dk1"/>
                </a:solidFill>
              </a:rPr>
              <a:t>. The memory usage doesn’t depend on the size of the input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function is a good example of how you can achieve both time and space efficiency when the task has a clear fixed scope.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a situation where you might want to limit a function to process only the first 100 elements, like in this example?"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"What changes would be needed to this function if the task required summing an arbitrary number of elements, such as the first </a:t>
            </a:r>
            <a:r>
              <a:rPr lang="en">
                <a:solidFill>
                  <a:srgbClr val="188038"/>
                </a:solidFill>
                <a:latin typeface="Roboto Mono"/>
                <a:ea typeface="Roboto Mono"/>
                <a:cs typeface="Roboto Mono"/>
                <a:sym typeface="Roboto Mono"/>
              </a:rPr>
              <a:t>k</a:t>
            </a:r>
            <a:r>
              <a:rPr lang="en">
                <a:solidFill>
                  <a:schemeClr val="dk1"/>
                </a:solidFill>
              </a:rPr>
              <a:t> elements?"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ee42122103_0_1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3ee42122103_0_1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why the time complexity of the </a:t>
            </a:r>
            <a:r>
              <a:rPr lang="en">
                <a:solidFill>
                  <a:srgbClr val="188038"/>
                </a:solidFill>
                <a:latin typeface="Roboto Mono"/>
                <a:ea typeface="Roboto Mono"/>
                <a:cs typeface="Roboto Mono"/>
                <a:sym typeface="Roboto Mono"/>
              </a:rPr>
              <a:t>sum_top_100</a:t>
            </a:r>
            <a:r>
              <a:rPr lang="en">
                <a:solidFill>
                  <a:schemeClr val="dk1"/>
                </a:solidFill>
              </a:rPr>
              <a:t> function is constant, O(1).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flowchart to show why the runtime is constant, regardless of the input 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flowchart illustrates the steps of the </a:t>
            </a:r>
            <a:r>
              <a:rPr lang="en">
                <a:solidFill>
                  <a:srgbClr val="188038"/>
                </a:solidFill>
                <a:latin typeface="Roboto Mono"/>
                <a:ea typeface="Roboto Mono"/>
                <a:cs typeface="Roboto Mono"/>
                <a:sym typeface="Roboto Mono"/>
              </a:rPr>
              <a:t>sum_top_100</a:t>
            </a:r>
            <a:r>
              <a:rPr lang="en">
                <a:solidFill>
                  <a:schemeClr val="dk1"/>
                </a:solidFill>
              </a:rPr>
              <a:t> function, which sums the first 100 elements of an array.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loop runs exactly 100 times, performing a single addition operation in each iteration. Because the number of iterations is fixed, the runtime doesn’t grow with the size of the input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operation within the loop, such as </a:t>
            </a:r>
            <a:r>
              <a:rPr lang="en">
                <a:solidFill>
                  <a:srgbClr val="188038"/>
                </a:solidFill>
                <a:latin typeface="Roboto Mono"/>
                <a:ea typeface="Roboto Mono"/>
                <a:cs typeface="Roboto Mono"/>
                <a:sym typeface="Roboto Mono"/>
              </a:rPr>
              <a:t>total += arr[i]</a:t>
            </a:r>
            <a:r>
              <a:rPr lang="en">
                <a:solidFill>
                  <a:schemeClr val="dk1"/>
                </a:solidFill>
              </a:rPr>
              <a:t>, takes constant time, O(1). Since the number of iterations is always 100, the overall time complexity is O(1).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function is efficient for its specific task, as it avoids processing unnecessary elements beyond the first 100.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is the time complexity O(1) even though there’s a loop? How does this differ from a loop that depends on the size of the input?"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"Think about other cases where a loop might have a fixed number of iterations. How does that affect the complexity?"</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ee42122103_0_1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ee42122103_0_1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why the space complexity of the </a:t>
            </a:r>
            <a:r>
              <a:rPr lang="en">
                <a:solidFill>
                  <a:srgbClr val="188038"/>
                </a:solidFill>
                <a:latin typeface="Roboto Mono"/>
                <a:ea typeface="Roboto Mono"/>
                <a:cs typeface="Roboto Mono"/>
                <a:sym typeface="Roboto Mono"/>
              </a:rPr>
              <a:t>sum_top_100</a:t>
            </a:r>
            <a:r>
              <a:rPr lang="en">
                <a:solidFill>
                  <a:schemeClr val="dk1"/>
                </a:solidFill>
              </a:rPr>
              <a:t> function is constant, O(1).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Highlight the memory usage of the function and why it remains constant regardless of the input 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analyze the space complexity of the </a:t>
            </a:r>
            <a:r>
              <a:rPr lang="en">
                <a:solidFill>
                  <a:srgbClr val="188038"/>
                </a:solidFill>
                <a:latin typeface="Roboto Mono"/>
                <a:ea typeface="Roboto Mono"/>
                <a:cs typeface="Roboto Mono"/>
                <a:sym typeface="Roboto Mono"/>
              </a:rPr>
              <a:t>sum_top_100</a:t>
            </a:r>
            <a:r>
              <a:rPr lang="en">
                <a:solidFill>
                  <a:schemeClr val="dk1"/>
                </a:solidFill>
              </a:rPr>
              <a:t> function. This function calculates the sum of the first 100 elements in the array.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function uses two variables: </a:t>
            </a:r>
            <a:r>
              <a:rPr lang="en">
                <a:solidFill>
                  <a:srgbClr val="188038"/>
                </a:solidFill>
                <a:latin typeface="Roboto Mono"/>
                <a:ea typeface="Roboto Mono"/>
                <a:cs typeface="Roboto Mono"/>
                <a:sym typeface="Roboto Mono"/>
              </a:rPr>
              <a:t>total</a:t>
            </a:r>
            <a:r>
              <a:rPr lang="en">
                <a:solidFill>
                  <a:schemeClr val="dk1"/>
                </a:solidFill>
              </a:rPr>
              <a:t> for the running sum and </a:t>
            </a:r>
            <a:r>
              <a:rPr lang="en">
                <a:solidFill>
                  <a:srgbClr val="188038"/>
                </a:solidFill>
                <a:latin typeface="Roboto Mono"/>
                <a:ea typeface="Roboto Mono"/>
                <a:cs typeface="Roboto Mono"/>
                <a:sym typeface="Roboto Mono"/>
              </a:rPr>
              <a:t>i</a:t>
            </a:r>
            <a:r>
              <a:rPr lang="en">
                <a:solidFill>
                  <a:schemeClr val="dk1"/>
                </a:solidFill>
              </a:rPr>
              <a:t> as the loop counter. Both are fixed-size variables, meaning the memory usage does not depend on the size of the input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input list itself is not duplicated or modified, and the output is a single integer value, </a:t>
            </a:r>
            <a:r>
              <a:rPr lang="en">
                <a:solidFill>
                  <a:srgbClr val="188038"/>
                </a:solidFill>
                <a:latin typeface="Roboto Mono"/>
                <a:ea typeface="Roboto Mono"/>
                <a:cs typeface="Roboto Mono"/>
                <a:sym typeface="Roboto Mono"/>
              </a:rPr>
              <a:t>total</a:t>
            </a:r>
            <a:r>
              <a:rPr lang="en">
                <a:solidFill>
                  <a:schemeClr val="dk1"/>
                </a:solidFill>
              </a:rPr>
              <a:t>. This makes the space complexity O(1), which is very efficient in terms of memory.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would happen to the space complexity if this function created a new list to store intermediate results?"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Prompt: "Can you think of a scenario where this type of constant space usage is especially beneficial?"</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3ee42122103_0_1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3ee42122103_0_1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ee42122103_0_1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3ee42122103_0_1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ee42122103_0_1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ee42122103_0_1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ee42122103_0_1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3ee42122103_0_1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ee42122103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3ee42122103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ee42122103_0_1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3ee42122103_0_1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ee42122103_0_1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3ee42122103_0_1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4.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4.png"/><Relationship Id="rId4" Type="http://schemas.openxmlformats.org/officeDocument/2006/relationships/image" Target="../media/image1.png"/><Relationship Id="rId5"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image" Target="../media/image40.png"/><Relationship Id="rId5"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2.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41.png"/><Relationship Id="rId6" Type="http://schemas.openxmlformats.org/officeDocument/2006/relationships/image" Target="../media/image4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4.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5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4.png"/><Relationship Id="rId4" Type="http://schemas.openxmlformats.org/officeDocument/2006/relationships/image" Target="../media/image1.png"/><Relationship Id="rId5"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image" Target="../media/image40.png"/><Relationship Id="rId5"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 Id="rId3" Type="http://schemas.openxmlformats.org/officeDocument/2006/relationships/image" Target="../media/image2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2.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41.png"/><Relationship Id="rId6" Type="http://schemas.openxmlformats.org/officeDocument/2006/relationships/image" Target="../media/image4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4.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10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10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24.png"/><Relationship Id="rId4" Type="http://schemas.openxmlformats.org/officeDocument/2006/relationships/image" Target="../media/image1.png"/><Relationship Id="rId5" Type="http://schemas.openxmlformats.org/officeDocument/2006/relationships/image" Target="../media/image5.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8.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image" Target="../media/image40.png"/><Relationship Id="rId5"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7.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0.png"/><Relationship Id="rId3" Type="http://schemas.openxmlformats.org/officeDocument/2006/relationships/image" Target="../media/image2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5.png"/><Relationship Id="rId3" Type="http://schemas.openxmlformats.org/officeDocument/2006/relationships/image" Target="../media/image13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4.png"/><Relationship Id="rId3"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0.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1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6.png"/><Relationship Id="rId3" Type="http://schemas.openxmlformats.org/officeDocument/2006/relationships/image" Target="../media/image13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4.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54.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24.png"/><Relationship Id="rId4" Type="http://schemas.openxmlformats.org/officeDocument/2006/relationships/image" Target="../media/image1.png"/><Relationship Id="rId5" Type="http://schemas.openxmlformats.org/officeDocument/2006/relationships/image" Target="../media/image5.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8.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image" Target="../media/image40.png"/><Relationship Id="rId5" Type="http://schemas.openxmlformats.org/officeDocument/2006/relationships/image" Target="../media/image1.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image" Target="../media/image1.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7.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3.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0.png"/><Relationship Id="rId3" Type="http://schemas.openxmlformats.org/officeDocument/2006/relationships/image" Target="../media/image2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2.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41.png"/><Relationship Id="rId6" Type="http://schemas.openxmlformats.org/officeDocument/2006/relationships/image" Target="../media/image4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7" name="Shape 267"/>
        <p:cNvGrpSpPr/>
        <p:nvPr/>
      </p:nvGrpSpPr>
      <p:grpSpPr>
        <a:xfrm>
          <a:off x="0" y="0"/>
          <a:ext cx="0" cy="0"/>
          <a:chOff x="0" y="0"/>
          <a:chExt cx="0" cy="0"/>
        </a:xfrm>
      </p:grpSpPr>
      <p:pic>
        <p:nvPicPr>
          <p:cNvPr id="268" name="Google Shape;268;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9" name="Google Shape;269;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70"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2" name="Google Shape;272;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3" name="Google Shape;273;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5" name="Shape 275"/>
        <p:cNvGrpSpPr/>
        <p:nvPr/>
      </p:nvGrpSpPr>
      <p:grpSpPr>
        <a:xfrm>
          <a:off x="0" y="0"/>
          <a:ext cx="0" cy="0"/>
          <a:chOff x="0" y="0"/>
          <a:chExt cx="0" cy="0"/>
        </a:xfrm>
      </p:grpSpPr>
      <p:pic>
        <p:nvPicPr>
          <p:cNvPr descr="Divider4.png" id="276" name="Google Shape;276;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7" name="Google Shape;277;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8" name="Google Shape;278;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9" name="Google Shape;279;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80" name="Google Shape;280;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1" name="Google Shape;281;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2" name="Shape 282"/>
        <p:cNvGrpSpPr/>
        <p:nvPr/>
      </p:nvGrpSpPr>
      <p:grpSpPr>
        <a:xfrm>
          <a:off x="0" y="0"/>
          <a:ext cx="0" cy="0"/>
          <a:chOff x="0" y="0"/>
          <a:chExt cx="0" cy="0"/>
        </a:xfrm>
      </p:grpSpPr>
      <p:grpSp>
        <p:nvGrpSpPr>
          <p:cNvPr id="283" name="Google Shape;283;p44"/>
          <p:cNvGrpSpPr/>
          <p:nvPr/>
        </p:nvGrpSpPr>
        <p:grpSpPr>
          <a:xfrm rot="5400000">
            <a:off x="5719749" y="1629787"/>
            <a:ext cx="4964577" cy="1883925"/>
            <a:chOff x="4152224" y="1218499"/>
            <a:chExt cx="4964577" cy="1883925"/>
          </a:xfrm>
        </p:grpSpPr>
        <p:pic>
          <p:nvPicPr>
            <p:cNvPr id="284" name="Google Shape;284;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5" name="Google Shape;285;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6" name="Google Shape;286;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7" name="Google Shape;287;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289" name="Google Shape;289;p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90" name="Shape 290"/>
        <p:cNvGrpSpPr/>
        <p:nvPr/>
      </p:nvGrpSpPr>
      <p:grpSpPr>
        <a:xfrm>
          <a:off x="0" y="0"/>
          <a:ext cx="0" cy="0"/>
          <a:chOff x="0" y="0"/>
          <a:chExt cx="0" cy="0"/>
        </a:xfrm>
      </p:grpSpPr>
      <p:pic>
        <p:nvPicPr>
          <p:cNvPr id="291" name="Google Shape;291;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2" name="Google Shape;292;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3" name="Google Shape;293;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4" name="Google Shape;294;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5" name="Google Shape;295;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6" name="Google Shape;296;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7" name="Google Shape;297;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8" name="Google Shape;298;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9" name="Shape 299"/>
        <p:cNvGrpSpPr/>
        <p:nvPr/>
      </p:nvGrpSpPr>
      <p:grpSpPr>
        <a:xfrm>
          <a:off x="0" y="0"/>
          <a:ext cx="0" cy="0"/>
          <a:chOff x="0" y="0"/>
          <a:chExt cx="0" cy="0"/>
        </a:xfrm>
      </p:grpSpPr>
      <p:pic>
        <p:nvPicPr>
          <p:cNvPr id="300" name="Google Shape;300;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1" name="Google Shape;301;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2" name="Google Shape;302;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3" name="Google Shape;303;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4" name="Google Shape;304;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5" name="Google Shape;305;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7" name="Shape 307"/>
        <p:cNvGrpSpPr/>
        <p:nvPr/>
      </p:nvGrpSpPr>
      <p:grpSpPr>
        <a:xfrm>
          <a:off x="0" y="0"/>
          <a:ext cx="0" cy="0"/>
          <a:chOff x="0" y="0"/>
          <a:chExt cx="0" cy="0"/>
        </a:xfrm>
      </p:grpSpPr>
      <p:pic>
        <p:nvPicPr>
          <p:cNvPr id="308" name="Google Shape;308;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9" name="Google Shape;309;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10" name="Google Shape;310;p47"/>
          <p:cNvGrpSpPr/>
          <p:nvPr/>
        </p:nvGrpSpPr>
        <p:grpSpPr>
          <a:xfrm>
            <a:off x="5709066" y="201260"/>
            <a:ext cx="2296623" cy="4424889"/>
            <a:chOff x="5598780" y="137712"/>
            <a:chExt cx="2577001" cy="4664652"/>
          </a:xfrm>
        </p:grpSpPr>
        <p:pic>
          <p:nvPicPr>
            <p:cNvPr id="311" name="Google Shape;311;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2" name="Google Shape;312;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4" name="Google Shape;314;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5" name="Google Shape;315;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7" name="Shape 317"/>
        <p:cNvGrpSpPr/>
        <p:nvPr/>
      </p:nvGrpSpPr>
      <p:grpSpPr>
        <a:xfrm>
          <a:off x="0" y="0"/>
          <a:ext cx="0" cy="0"/>
          <a:chOff x="0" y="0"/>
          <a:chExt cx="0" cy="0"/>
        </a:xfrm>
      </p:grpSpPr>
      <p:pic>
        <p:nvPicPr>
          <p:cNvPr id="318" name="Google Shape;318;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9" name="Google Shape;319;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0" name="Google Shape;320;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1" name="Google Shape;321;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5" name="Shape 325"/>
        <p:cNvGrpSpPr/>
        <p:nvPr/>
      </p:nvGrpSpPr>
      <p:grpSpPr>
        <a:xfrm>
          <a:off x="0" y="0"/>
          <a:ext cx="0" cy="0"/>
          <a:chOff x="0" y="0"/>
          <a:chExt cx="0" cy="0"/>
        </a:xfrm>
      </p:grpSpPr>
      <p:pic>
        <p:nvPicPr>
          <p:cNvPr id="326" name="Google Shape;326;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7" name="Google Shape;327;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8" name="Google Shape;328;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9" name="Google Shape;329;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0" name="Google Shape;330;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1" name="Google Shape;331;p49"/>
          <p:cNvGrpSpPr/>
          <p:nvPr/>
        </p:nvGrpSpPr>
        <p:grpSpPr>
          <a:xfrm>
            <a:off x="4344100" y="398125"/>
            <a:ext cx="4546500" cy="4222800"/>
            <a:chOff x="4344100" y="398125"/>
            <a:chExt cx="4546500" cy="4222800"/>
          </a:xfrm>
        </p:grpSpPr>
        <p:sp>
          <p:nvSpPr>
            <p:cNvPr id="332" name="Google Shape;332;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49"/>
            <p:cNvGrpSpPr/>
            <p:nvPr/>
          </p:nvGrpSpPr>
          <p:grpSpPr>
            <a:xfrm>
              <a:off x="4445450" y="524200"/>
              <a:ext cx="399495" cy="101100"/>
              <a:chOff x="4445450" y="524200"/>
              <a:chExt cx="399495" cy="101100"/>
            </a:xfrm>
          </p:grpSpPr>
          <p:sp>
            <p:nvSpPr>
              <p:cNvPr id="334" name="Google Shape;334;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8" name="Shape 338"/>
        <p:cNvGrpSpPr/>
        <p:nvPr/>
      </p:nvGrpSpPr>
      <p:grpSpPr>
        <a:xfrm>
          <a:off x="0" y="0"/>
          <a:ext cx="0" cy="0"/>
          <a:chOff x="0" y="0"/>
          <a:chExt cx="0" cy="0"/>
        </a:xfrm>
      </p:grpSpPr>
      <p:pic>
        <p:nvPicPr>
          <p:cNvPr id="339" name="Google Shape;339;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40" name="Google Shape;340;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1" name="Google Shape;341;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2" name="Google Shape;342;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3" name="Google Shape;343;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4" name="Shape 344"/>
        <p:cNvGrpSpPr/>
        <p:nvPr/>
      </p:nvGrpSpPr>
      <p:grpSpPr>
        <a:xfrm>
          <a:off x="0" y="0"/>
          <a:ext cx="0" cy="0"/>
          <a:chOff x="0" y="0"/>
          <a:chExt cx="0" cy="0"/>
        </a:xfrm>
      </p:grpSpPr>
      <p:pic>
        <p:nvPicPr>
          <p:cNvPr id="345" name="Google Shape;345;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6" name="Google Shape;346;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8" name="Google Shape;348;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9" name="Google Shape;349;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1" name="Google Shape;351;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2" name="Google Shape;352;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3" name="Shape 353"/>
        <p:cNvGrpSpPr/>
        <p:nvPr/>
      </p:nvGrpSpPr>
      <p:grpSpPr>
        <a:xfrm>
          <a:off x="0" y="0"/>
          <a:ext cx="0" cy="0"/>
          <a:chOff x="0" y="0"/>
          <a:chExt cx="0" cy="0"/>
        </a:xfrm>
      </p:grpSpPr>
      <p:pic>
        <p:nvPicPr>
          <p:cNvPr id="354" name="Google Shape;354;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5" name="Google Shape;355;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6" name="Google Shape;356;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7" name="Google Shape;357;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8" name="Google Shape;358;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60" name="Google Shape;360;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1" name="Google Shape;361;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2" name="Google Shape;362;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3" name="Shape 363"/>
        <p:cNvGrpSpPr/>
        <p:nvPr/>
      </p:nvGrpSpPr>
      <p:grpSpPr>
        <a:xfrm>
          <a:off x="0" y="0"/>
          <a:ext cx="0" cy="0"/>
          <a:chOff x="0" y="0"/>
          <a:chExt cx="0" cy="0"/>
        </a:xfrm>
      </p:grpSpPr>
      <p:pic>
        <p:nvPicPr>
          <p:cNvPr id="364" name="Google Shape;364;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5" name="Google Shape;365;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6" name="Google Shape;366;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7" name="Google Shape;367;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8" name="Google Shape;368;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9" name="Google Shape;369;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70" name="Google Shape;370;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1" name="Google Shape;371;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2" name="Shape 372"/>
        <p:cNvGrpSpPr/>
        <p:nvPr/>
      </p:nvGrpSpPr>
      <p:grpSpPr>
        <a:xfrm>
          <a:off x="0" y="0"/>
          <a:ext cx="0" cy="0"/>
          <a:chOff x="0" y="0"/>
          <a:chExt cx="0" cy="0"/>
        </a:xfrm>
      </p:grpSpPr>
      <p:pic>
        <p:nvPicPr>
          <p:cNvPr id="373" name="Google Shape;373;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4" name="Google Shape;374;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5" name="Google Shape;375;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6" name="Google Shape;376;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7" name="Google Shape;377;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8" name="Google Shape;378;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80" name="Google Shape;380;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1" name="Google Shape;381;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2" name="Shape 382"/>
        <p:cNvGrpSpPr/>
        <p:nvPr/>
      </p:nvGrpSpPr>
      <p:grpSpPr>
        <a:xfrm>
          <a:off x="0" y="0"/>
          <a:ext cx="0" cy="0"/>
          <a:chOff x="0" y="0"/>
          <a:chExt cx="0" cy="0"/>
        </a:xfrm>
      </p:grpSpPr>
      <p:pic>
        <p:nvPicPr>
          <p:cNvPr id="383" name="Google Shape;383;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4" name="Google Shape;384;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5" name="Google Shape;385;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6" name="Google Shape;386;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7" name="Google Shape;387;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8" name="Google Shape;388;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90" name="Google Shape;390;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1" name="Google Shape;391;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2" name="Shape 392"/>
        <p:cNvGrpSpPr/>
        <p:nvPr/>
      </p:nvGrpSpPr>
      <p:grpSpPr>
        <a:xfrm>
          <a:off x="0" y="0"/>
          <a:ext cx="0" cy="0"/>
          <a:chOff x="0" y="0"/>
          <a:chExt cx="0" cy="0"/>
        </a:xfrm>
      </p:grpSpPr>
      <p:pic>
        <p:nvPicPr>
          <p:cNvPr id="393" name="Google Shape;393;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4" name="Google Shape;394;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5" name="Google Shape;395;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6" name="Google Shape;396;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7" name="Google Shape;397;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8" name="Google Shape;398;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9" name="Google Shape;399;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00" name="Google Shape;400;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1" name="Google Shape;401;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4" name="Google Shape;404;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5" name="Google Shape;415;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6" name="Google Shape;416;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7" name="Google Shape;417;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0" name="Google Shape;420;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1" name="Google Shape;421;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2" name="Google Shape;422;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3" name="Shape 423"/>
        <p:cNvGrpSpPr/>
        <p:nvPr/>
      </p:nvGrpSpPr>
      <p:grpSpPr>
        <a:xfrm>
          <a:off x="0" y="0"/>
          <a:ext cx="0" cy="0"/>
          <a:chOff x="0" y="0"/>
          <a:chExt cx="0" cy="0"/>
        </a:xfrm>
      </p:grpSpPr>
      <p:pic>
        <p:nvPicPr>
          <p:cNvPr id="424" name="Google Shape;424;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5" name="Google Shape;425;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6" name="Google Shape;426;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7" name="Google Shape;427;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9" name="Google Shape;429;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1" name="Google Shape;431;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2" name="Google Shape;432;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36" name="Google Shape;436;p6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7" name="Google Shape;437;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8" name="Google Shape;438;p60"/>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39" name="Google Shape;439;p60"/>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50" name="Shape 450"/>
        <p:cNvGrpSpPr/>
        <p:nvPr/>
      </p:nvGrpSpPr>
      <p:grpSpPr>
        <a:xfrm>
          <a:off x="0" y="0"/>
          <a:ext cx="0" cy="0"/>
          <a:chOff x="0" y="0"/>
          <a:chExt cx="0" cy="0"/>
        </a:xfrm>
      </p:grpSpPr>
      <p:pic>
        <p:nvPicPr>
          <p:cNvPr id="451" name="Google Shape;451;p6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52" name="Google Shape;452;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3" name="Google Shape;453;p62"/>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54" name="Google Shape;454;p62"/>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55" name="Google Shape;455;p62"/>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56" name="Google Shape;456;p62"/>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7" name="Shape 457"/>
        <p:cNvGrpSpPr/>
        <p:nvPr/>
      </p:nvGrpSpPr>
      <p:grpSpPr>
        <a:xfrm>
          <a:off x="0" y="0"/>
          <a:ext cx="0" cy="0"/>
          <a:chOff x="0" y="0"/>
          <a:chExt cx="0" cy="0"/>
        </a:xfrm>
      </p:grpSpPr>
      <p:pic>
        <p:nvPicPr>
          <p:cNvPr descr="Divider1.png" id="458" name="Google Shape;458;p6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9" name="Google Shape;459;p63"/>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0" name="Google Shape;460;p6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61" name="Shape 461"/>
        <p:cNvGrpSpPr/>
        <p:nvPr/>
      </p:nvGrpSpPr>
      <p:grpSpPr>
        <a:xfrm>
          <a:off x="0" y="0"/>
          <a:ext cx="0" cy="0"/>
          <a:chOff x="0" y="0"/>
          <a:chExt cx="0" cy="0"/>
        </a:xfrm>
      </p:grpSpPr>
      <p:pic>
        <p:nvPicPr>
          <p:cNvPr id="462" name="Google Shape;462;p6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63" name="Google Shape;463;p6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64" name="Google Shape;464;p64"/>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4"/>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66" name="Shape 466"/>
        <p:cNvGrpSpPr/>
        <p:nvPr/>
      </p:nvGrpSpPr>
      <p:grpSpPr>
        <a:xfrm>
          <a:off x="0" y="0"/>
          <a:ext cx="0" cy="0"/>
          <a:chOff x="0" y="0"/>
          <a:chExt cx="0" cy="0"/>
        </a:xfrm>
      </p:grpSpPr>
      <p:pic>
        <p:nvPicPr>
          <p:cNvPr id="467" name="Google Shape;467;p6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8" name="Shape 468"/>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9" name="Shape 469"/>
        <p:cNvGrpSpPr/>
        <p:nvPr/>
      </p:nvGrpSpPr>
      <p:grpSpPr>
        <a:xfrm>
          <a:off x="0" y="0"/>
          <a:ext cx="0" cy="0"/>
          <a:chOff x="0" y="0"/>
          <a:chExt cx="0" cy="0"/>
        </a:xfrm>
      </p:grpSpPr>
      <p:grpSp>
        <p:nvGrpSpPr>
          <p:cNvPr id="470" name="Google Shape;470;p67"/>
          <p:cNvGrpSpPr/>
          <p:nvPr/>
        </p:nvGrpSpPr>
        <p:grpSpPr>
          <a:xfrm>
            <a:off x="6262100" y="-3850"/>
            <a:ext cx="2886900" cy="485125"/>
            <a:chOff x="6262100" y="-3850"/>
            <a:chExt cx="2886900" cy="485125"/>
          </a:xfrm>
        </p:grpSpPr>
        <p:pic>
          <p:nvPicPr>
            <p:cNvPr descr="1.png" id="471" name="Google Shape;471;p67"/>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72" name="Google Shape;472;p67"/>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73" name="Google Shape;473;p67"/>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74" name="Google Shape;474;p67"/>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75" name="Google Shape;475;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76" name="Google Shape;476;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67"/>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8" name="Google Shape;478;p67"/>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9" name="Google Shape;479;p67"/>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80" name="Google Shape;480;p67"/>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81" name="Google Shape;481;p67"/>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82" name="Google Shape;482;p67"/>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83" name="Google Shape;483;p67"/>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7" name="Shape 487"/>
        <p:cNvGrpSpPr/>
        <p:nvPr/>
      </p:nvGrpSpPr>
      <p:grpSpPr>
        <a:xfrm>
          <a:off x="0" y="0"/>
          <a:ext cx="0" cy="0"/>
          <a:chOff x="0" y="0"/>
          <a:chExt cx="0" cy="0"/>
        </a:xfrm>
      </p:grpSpPr>
      <p:pic>
        <p:nvPicPr>
          <p:cNvPr id="488" name="Google Shape;488;p6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9" name="Google Shape;489;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90" name="Shape 490"/>
        <p:cNvGrpSpPr/>
        <p:nvPr/>
      </p:nvGrpSpPr>
      <p:grpSpPr>
        <a:xfrm>
          <a:off x="0" y="0"/>
          <a:ext cx="0" cy="0"/>
          <a:chOff x="0" y="0"/>
          <a:chExt cx="0" cy="0"/>
        </a:xfrm>
      </p:grpSpPr>
      <p:pic>
        <p:nvPicPr>
          <p:cNvPr id="491" name="Google Shape;491;p7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92" name="Google Shape;492;p7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93" name="Google Shape;493;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7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95" name="Shape 495"/>
        <p:cNvGrpSpPr/>
        <p:nvPr/>
      </p:nvGrpSpPr>
      <p:grpSpPr>
        <a:xfrm>
          <a:off x="0" y="0"/>
          <a:ext cx="0" cy="0"/>
          <a:chOff x="0" y="0"/>
          <a:chExt cx="0" cy="0"/>
        </a:xfrm>
      </p:grpSpPr>
      <p:pic>
        <p:nvPicPr>
          <p:cNvPr descr="Divider4.png" id="496" name="Google Shape;496;p7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7" name="Google Shape;497;p7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8" name="Google Shape;498;p7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9" name="Google Shape;499;p7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00" name="Google Shape;500;p7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01" name="Google Shape;501;p7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02" name="Shape 502"/>
        <p:cNvGrpSpPr/>
        <p:nvPr/>
      </p:nvGrpSpPr>
      <p:grpSpPr>
        <a:xfrm>
          <a:off x="0" y="0"/>
          <a:ext cx="0" cy="0"/>
          <a:chOff x="0" y="0"/>
          <a:chExt cx="0" cy="0"/>
        </a:xfrm>
      </p:grpSpPr>
      <p:sp>
        <p:nvSpPr>
          <p:cNvPr id="503" name="Google Shape;503;p72"/>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04" name="Google Shape;504;p72"/>
          <p:cNvGrpSpPr/>
          <p:nvPr/>
        </p:nvGrpSpPr>
        <p:grpSpPr>
          <a:xfrm rot="5400000">
            <a:off x="5719749" y="1629787"/>
            <a:ext cx="4964577" cy="1883925"/>
            <a:chOff x="4152224" y="1218499"/>
            <a:chExt cx="4964577" cy="1883925"/>
          </a:xfrm>
        </p:grpSpPr>
        <p:pic>
          <p:nvPicPr>
            <p:cNvPr id="505" name="Google Shape;505;p7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06" name="Google Shape;506;p7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7" name="Google Shape;507;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8" name="Google Shape;508;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09" name="Shape 509"/>
        <p:cNvGrpSpPr/>
        <p:nvPr/>
      </p:nvGrpSpPr>
      <p:grpSpPr>
        <a:xfrm>
          <a:off x="0" y="0"/>
          <a:ext cx="0" cy="0"/>
          <a:chOff x="0" y="0"/>
          <a:chExt cx="0" cy="0"/>
        </a:xfrm>
      </p:grpSpPr>
      <p:pic>
        <p:nvPicPr>
          <p:cNvPr id="510" name="Google Shape;510;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1" name="Google Shape;511;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12" name="Google Shape;512;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13" name="Google Shape;513;p7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14" name="Google Shape;514;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5" name="Google Shape;515;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6" name="Google Shape;516;p7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7" name="Google Shape;517;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8" name="Shape 518"/>
        <p:cNvGrpSpPr/>
        <p:nvPr/>
      </p:nvGrpSpPr>
      <p:grpSpPr>
        <a:xfrm>
          <a:off x="0" y="0"/>
          <a:ext cx="0" cy="0"/>
          <a:chOff x="0" y="0"/>
          <a:chExt cx="0" cy="0"/>
        </a:xfrm>
      </p:grpSpPr>
      <p:pic>
        <p:nvPicPr>
          <p:cNvPr id="519" name="Google Shape;519;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0" name="Google Shape;520;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21" name="Google Shape;521;p7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22" name="Google Shape;522;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23" name="Google Shape;523;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4" name="Google Shape;524;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5" name="Google Shape;525;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6" name="Shape 526"/>
        <p:cNvGrpSpPr/>
        <p:nvPr/>
      </p:nvGrpSpPr>
      <p:grpSpPr>
        <a:xfrm>
          <a:off x="0" y="0"/>
          <a:ext cx="0" cy="0"/>
          <a:chOff x="0" y="0"/>
          <a:chExt cx="0" cy="0"/>
        </a:xfrm>
      </p:grpSpPr>
      <p:pic>
        <p:nvPicPr>
          <p:cNvPr id="527" name="Google Shape;527;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8" name="Google Shape;528;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29" name="Google Shape;529;p75"/>
          <p:cNvGrpSpPr/>
          <p:nvPr/>
        </p:nvGrpSpPr>
        <p:grpSpPr>
          <a:xfrm>
            <a:off x="5709066" y="201260"/>
            <a:ext cx="2296623" cy="4424889"/>
            <a:chOff x="5598780" y="137712"/>
            <a:chExt cx="2577001" cy="4664652"/>
          </a:xfrm>
        </p:grpSpPr>
        <p:pic>
          <p:nvPicPr>
            <p:cNvPr id="530" name="Google Shape;530;p7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31" name="Google Shape;531;p7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2" name="Google Shape;532;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3" name="Google Shape;533;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4" name="Google Shape;534;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7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6" name="Shape 536"/>
        <p:cNvGrpSpPr/>
        <p:nvPr/>
      </p:nvGrpSpPr>
      <p:grpSpPr>
        <a:xfrm>
          <a:off x="0" y="0"/>
          <a:ext cx="0" cy="0"/>
          <a:chOff x="0" y="0"/>
          <a:chExt cx="0" cy="0"/>
        </a:xfrm>
      </p:grpSpPr>
      <p:pic>
        <p:nvPicPr>
          <p:cNvPr id="537" name="Google Shape;537;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8" name="Google Shape;538;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9" name="Google Shape;539;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0" name="Google Shape;540;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3" name="Google Shape;543;p7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44" name="Shape 544"/>
        <p:cNvGrpSpPr/>
        <p:nvPr/>
      </p:nvGrpSpPr>
      <p:grpSpPr>
        <a:xfrm>
          <a:off x="0" y="0"/>
          <a:ext cx="0" cy="0"/>
          <a:chOff x="0" y="0"/>
          <a:chExt cx="0" cy="0"/>
        </a:xfrm>
      </p:grpSpPr>
      <p:pic>
        <p:nvPicPr>
          <p:cNvPr id="545" name="Google Shape;545;p7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6" name="Google Shape;546;p7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7" name="Google Shape;547;p7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8" name="Google Shape;548;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9" name="Google Shape;549;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50" name="Google Shape;550;p77"/>
          <p:cNvGrpSpPr/>
          <p:nvPr/>
        </p:nvGrpSpPr>
        <p:grpSpPr>
          <a:xfrm>
            <a:off x="4344100" y="398125"/>
            <a:ext cx="4546500" cy="4222800"/>
            <a:chOff x="4344100" y="398125"/>
            <a:chExt cx="4546500" cy="4222800"/>
          </a:xfrm>
        </p:grpSpPr>
        <p:sp>
          <p:nvSpPr>
            <p:cNvPr id="551" name="Google Shape;551;p7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77"/>
            <p:cNvGrpSpPr/>
            <p:nvPr/>
          </p:nvGrpSpPr>
          <p:grpSpPr>
            <a:xfrm>
              <a:off x="4445450" y="524200"/>
              <a:ext cx="399495" cy="101100"/>
              <a:chOff x="4445450" y="524200"/>
              <a:chExt cx="399495" cy="101100"/>
            </a:xfrm>
          </p:grpSpPr>
          <p:sp>
            <p:nvSpPr>
              <p:cNvPr id="553" name="Google Shape;553;p7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6" name="Google Shape;556;p7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7" name="Shape 557"/>
        <p:cNvGrpSpPr/>
        <p:nvPr/>
      </p:nvGrpSpPr>
      <p:grpSpPr>
        <a:xfrm>
          <a:off x="0" y="0"/>
          <a:ext cx="0" cy="0"/>
          <a:chOff x="0" y="0"/>
          <a:chExt cx="0" cy="0"/>
        </a:xfrm>
      </p:grpSpPr>
      <p:pic>
        <p:nvPicPr>
          <p:cNvPr id="558" name="Google Shape;558;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9" name="Google Shape;559;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0" name="Google Shape;560;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1" name="Google Shape;561;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2" name="Google Shape;562;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63" name="Shape 563"/>
        <p:cNvGrpSpPr/>
        <p:nvPr/>
      </p:nvGrpSpPr>
      <p:grpSpPr>
        <a:xfrm>
          <a:off x="0" y="0"/>
          <a:ext cx="0" cy="0"/>
          <a:chOff x="0" y="0"/>
          <a:chExt cx="0" cy="0"/>
        </a:xfrm>
      </p:grpSpPr>
      <p:pic>
        <p:nvPicPr>
          <p:cNvPr id="564" name="Google Shape;564;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5" name="Google Shape;565;p7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7" name="Google Shape;567;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8" name="Google Shape;568;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9" name="Google Shape;569;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0" name="Google Shape;570;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1" name="Google Shape;571;p7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thon Code Block">
  <p:cSld name="CUSTOM_7_1_1">
    <p:spTree>
      <p:nvGrpSpPr>
        <p:cNvPr id="572" name="Shape 572"/>
        <p:cNvGrpSpPr/>
        <p:nvPr/>
      </p:nvGrpSpPr>
      <p:grpSpPr>
        <a:xfrm>
          <a:off x="0" y="0"/>
          <a:ext cx="0" cy="0"/>
          <a:chOff x="0" y="0"/>
          <a:chExt cx="0" cy="0"/>
        </a:xfrm>
      </p:grpSpPr>
      <p:pic>
        <p:nvPicPr>
          <p:cNvPr id="573" name="Google Shape;573;p8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74" name="Google Shape;574;p80"/>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80"/>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76" name="Google Shape;576;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7" name="Google Shape;577;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8" name="Google Shape;578;p80"/>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9" name="Google Shape;579;p80"/>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0" name="Google Shape;580;p80"/>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81" name="Google Shape;581;p80"/>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Python</a:t>
            </a:r>
            <a:endParaRPr b="1" sz="1900">
              <a:latin typeface="Space Mono"/>
              <a:ea typeface="Space Mono"/>
              <a:cs typeface="Space Mono"/>
              <a:sym typeface="Space Mono"/>
            </a:endParaRPr>
          </a:p>
        </p:txBody>
      </p:sp>
      <p:pic>
        <p:nvPicPr>
          <p:cNvPr descr="Snake " id="582" name="Google Shape;582;p80" title="Snake "/>
          <p:cNvPicPr preferRelativeResize="0"/>
          <p:nvPr/>
        </p:nvPicPr>
        <p:blipFill>
          <a:blip r:embed="rId4">
            <a:alphaModFix/>
          </a:blip>
          <a:stretch>
            <a:fillRect/>
          </a:stretch>
        </p:blipFill>
        <p:spPr>
          <a:xfrm>
            <a:off x="4511175" y="227125"/>
            <a:ext cx="431100" cy="43110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ava Code Block 1">
  <p:cSld name="CUSTOM_7_1_1_1">
    <p:spTree>
      <p:nvGrpSpPr>
        <p:cNvPr id="583" name="Shape 583"/>
        <p:cNvGrpSpPr/>
        <p:nvPr/>
      </p:nvGrpSpPr>
      <p:grpSpPr>
        <a:xfrm>
          <a:off x="0" y="0"/>
          <a:ext cx="0" cy="0"/>
          <a:chOff x="0" y="0"/>
          <a:chExt cx="0" cy="0"/>
        </a:xfrm>
      </p:grpSpPr>
      <p:pic>
        <p:nvPicPr>
          <p:cNvPr id="584" name="Google Shape;584;p8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85" name="Google Shape;585;p81"/>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8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87" name="Google Shape;587;p8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88" name="Google Shape;588;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9" name="Google Shape;589;p81"/>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90" name="Google Shape;590;p81"/>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91" name="Google Shape;591;p81"/>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92" name="Google Shape;592;p81"/>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Java</a:t>
            </a:r>
            <a:endParaRPr b="1" sz="1900">
              <a:latin typeface="Space Mono"/>
              <a:ea typeface="Space Mono"/>
              <a:cs typeface="Space Mono"/>
              <a:sym typeface="Space Mono"/>
            </a:endParaRPr>
          </a:p>
        </p:txBody>
      </p:sp>
      <p:pic>
        <p:nvPicPr>
          <p:cNvPr descr="Coffee cup " id="593" name="Google Shape;593;p81" title="Coffee cup "/>
          <p:cNvPicPr preferRelativeResize="0"/>
          <p:nvPr/>
        </p:nvPicPr>
        <p:blipFill>
          <a:blip r:embed="rId4">
            <a:alphaModFix/>
          </a:blip>
          <a:stretch>
            <a:fillRect/>
          </a:stretch>
        </p:blipFill>
        <p:spPr>
          <a:xfrm>
            <a:off x="4561425" y="234775"/>
            <a:ext cx="461700" cy="46170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94" name="Shape 594"/>
        <p:cNvGrpSpPr/>
        <p:nvPr/>
      </p:nvGrpSpPr>
      <p:grpSpPr>
        <a:xfrm>
          <a:off x="0" y="0"/>
          <a:ext cx="0" cy="0"/>
          <a:chOff x="0" y="0"/>
          <a:chExt cx="0" cy="0"/>
        </a:xfrm>
      </p:grpSpPr>
      <p:pic>
        <p:nvPicPr>
          <p:cNvPr id="595" name="Google Shape;595;p8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96" name="Google Shape;596;p8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97" name="Google Shape;597;p8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8" name="Google Shape;598;p8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99" name="Google Shape;599;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0" name="Google Shape;600;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01" name="Google Shape;601;p8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2" name="Google Shape;602;p8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03" name="Google Shape;603;p8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04" name="Shape 604"/>
        <p:cNvGrpSpPr/>
        <p:nvPr/>
      </p:nvGrpSpPr>
      <p:grpSpPr>
        <a:xfrm>
          <a:off x="0" y="0"/>
          <a:ext cx="0" cy="0"/>
          <a:chOff x="0" y="0"/>
          <a:chExt cx="0" cy="0"/>
        </a:xfrm>
      </p:grpSpPr>
      <p:pic>
        <p:nvPicPr>
          <p:cNvPr id="605" name="Google Shape;605;p8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06" name="Google Shape;606;p8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07" name="Google Shape;607;p8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8" name="Google Shape;608;p8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09" name="Google Shape;609;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10" name="Google Shape;610;p8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11" name="Google Shape;611;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12" name="Google Shape;612;p8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13" name="Shape 613"/>
        <p:cNvGrpSpPr/>
        <p:nvPr/>
      </p:nvGrpSpPr>
      <p:grpSpPr>
        <a:xfrm>
          <a:off x="0" y="0"/>
          <a:ext cx="0" cy="0"/>
          <a:chOff x="0" y="0"/>
          <a:chExt cx="0" cy="0"/>
        </a:xfrm>
      </p:grpSpPr>
      <p:pic>
        <p:nvPicPr>
          <p:cNvPr id="614" name="Google Shape;614;p8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15" name="Google Shape;615;p8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16" name="Google Shape;616;p8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17" name="Google Shape;617;p8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8" name="Google Shape;618;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9" name="Google Shape;619;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0" name="Google Shape;620;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21" name="Google Shape;621;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2" name="Google Shape;622;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23" name="Shape 623"/>
        <p:cNvGrpSpPr/>
        <p:nvPr/>
      </p:nvGrpSpPr>
      <p:grpSpPr>
        <a:xfrm>
          <a:off x="0" y="0"/>
          <a:ext cx="0" cy="0"/>
          <a:chOff x="0" y="0"/>
          <a:chExt cx="0" cy="0"/>
        </a:xfrm>
      </p:grpSpPr>
      <p:pic>
        <p:nvPicPr>
          <p:cNvPr id="624" name="Google Shape;624;p8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25" name="Google Shape;625;p8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26" name="Google Shape;626;p8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27" name="Google Shape;627;p8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8" name="Google Shape;628;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9" name="Google Shape;629;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0" name="Google Shape;630;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31" name="Google Shape;631;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2" name="Google Shape;632;p8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33" name="Shape 633"/>
        <p:cNvGrpSpPr/>
        <p:nvPr/>
      </p:nvGrpSpPr>
      <p:grpSpPr>
        <a:xfrm>
          <a:off x="0" y="0"/>
          <a:ext cx="0" cy="0"/>
          <a:chOff x="0" y="0"/>
          <a:chExt cx="0" cy="0"/>
        </a:xfrm>
      </p:grpSpPr>
      <p:pic>
        <p:nvPicPr>
          <p:cNvPr id="634" name="Google Shape;634;p8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35" name="Google Shape;635;p8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36" name="Google Shape;636;p8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37" name="Google Shape;637;p8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8" name="Google Shape;638;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9" name="Google Shape;639;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0" name="Google Shape;640;p8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41" name="Google Shape;641;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2" name="Google Shape;642;p8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43" name="Shape 643"/>
        <p:cNvGrpSpPr/>
        <p:nvPr/>
      </p:nvGrpSpPr>
      <p:grpSpPr>
        <a:xfrm>
          <a:off x="0" y="0"/>
          <a:ext cx="0" cy="0"/>
          <a:chOff x="0" y="0"/>
          <a:chExt cx="0" cy="0"/>
        </a:xfrm>
      </p:grpSpPr>
      <p:pic>
        <p:nvPicPr>
          <p:cNvPr id="644" name="Google Shape;644;p8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45" name="Google Shape;645;p8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46" name="Google Shape;646;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7" name="Google Shape;647;p8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8" name="Google Shape;648;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9" name="Google Shape;649;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0" name="Google Shape;650;p8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51" name="Google Shape;651;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2" name="Google Shape;652;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1">
  <p:cSld name="CUSTOM_6_2_1_1_1_4">
    <p:spTree>
      <p:nvGrpSpPr>
        <p:cNvPr id="653" name="Shape 653"/>
        <p:cNvGrpSpPr/>
        <p:nvPr/>
      </p:nvGrpSpPr>
      <p:grpSpPr>
        <a:xfrm>
          <a:off x="0" y="0"/>
          <a:ext cx="0" cy="0"/>
          <a:chOff x="0" y="0"/>
          <a:chExt cx="0" cy="0"/>
        </a:xfrm>
      </p:grpSpPr>
      <p:pic>
        <p:nvPicPr>
          <p:cNvPr id="654" name="Google Shape;654;p88"/>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55" name="Google Shape;655;p8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56" name="Google Shape;656;p88"/>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657" name="Google Shape;657;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8" name="Google Shape;658;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9" name="Google Shape;659;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60" name="Google Shape;660;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1" name="Google Shape;661;p88"/>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62" name="Shape 662"/>
        <p:cNvGrpSpPr/>
        <p:nvPr/>
      </p:nvGrpSpPr>
      <p:grpSpPr>
        <a:xfrm>
          <a:off x="0" y="0"/>
          <a:ext cx="0" cy="0"/>
          <a:chOff x="0" y="0"/>
          <a:chExt cx="0" cy="0"/>
        </a:xfrm>
      </p:grpSpPr>
      <p:pic>
        <p:nvPicPr>
          <p:cNvPr id="663" name="Google Shape;663;p89"/>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64" name="Google Shape;664;p89"/>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65" name="Google Shape;665;p89"/>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66" name="Google Shape;666;p8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67" name="Google Shape;667;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8" name="Google Shape;668;p89"/>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9"/>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70" name="Google Shape;670;p89"/>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1" name="Google Shape;671;p89"/>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72" name="Google Shape;672;p89"/>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73" name="Shape 673"/>
        <p:cNvGrpSpPr/>
        <p:nvPr/>
      </p:nvGrpSpPr>
      <p:grpSpPr>
        <a:xfrm>
          <a:off x="0" y="0"/>
          <a:ext cx="0" cy="0"/>
          <a:chOff x="0" y="0"/>
          <a:chExt cx="0" cy="0"/>
        </a:xfrm>
      </p:grpSpPr>
      <p:pic>
        <p:nvPicPr>
          <p:cNvPr id="674" name="Google Shape;674;p9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75" name="Google Shape;675;p9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76" name="Google Shape;676;p9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77" name="Google Shape;677;p9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8" name="Google Shape;678;p9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79" name="Google Shape;679;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0" name="Google Shape;680;p9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81" name="Google Shape;681;p9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82" name="Google Shape;682;p9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83" name="Shape 683"/>
        <p:cNvGrpSpPr/>
        <p:nvPr/>
      </p:nvGrpSpPr>
      <p:grpSpPr>
        <a:xfrm>
          <a:off x="0" y="0"/>
          <a:ext cx="0" cy="0"/>
          <a:chOff x="0" y="0"/>
          <a:chExt cx="0" cy="0"/>
        </a:xfrm>
      </p:grpSpPr>
      <p:pic>
        <p:nvPicPr>
          <p:cNvPr id="684" name="Google Shape;684;p9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85" name="Google Shape;685;p9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86" name="Google Shape;686;p9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87" name="Google Shape;687;p9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8" name="Google Shape;688;p9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9" name="Google Shape;689;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0" name="Google Shape;690;p9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91" name="Google Shape;691;p9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92" name="Google Shape;692;p9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93" name="Shape 693"/>
        <p:cNvGrpSpPr/>
        <p:nvPr/>
      </p:nvGrpSpPr>
      <p:grpSpPr>
        <a:xfrm>
          <a:off x="0" y="0"/>
          <a:ext cx="0" cy="0"/>
          <a:chOff x="0" y="0"/>
          <a:chExt cx="0" cy="0"/>
        </a:xfrm>
      </p:grpSpPr>
      <p:pic>
        <p:nvPicPr>
          <p:cNvPr descr="Divider1.png" id="694" name="Google Shape;694;p9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95" name="Google Shape;695;p92"/>
          <p:cNvSpPr txBox="1"/>
          <p:nvPr>
            <p:ph type="title"/>
          </p:nvPr>
        </p:nvSpPr>
        <p:spPr>
          <a:xfrm>
            <a:off x="884825" y="2317200"/>
            <a:ext cx="42996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6" name="Google Shape;696;p9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97" name="Shape 697"/>
        <p:cNvGrpSpPr/>
        <p:nvPr/>
      </p:nvGrpSpPr>
      <p:grpSpPr>
        <a:xfrm>
          <a:off x="0" y="0"/>
          <a:ext cx="0" cy="0"/>
          <a:chOff x="0" y="0"/>
          <a:chExt cx="0" cy="0"/>
        </a:xfrm>
      </p:grpSpPr>
      <p:pic>
        <p:nvPicPr>
          <p:cNvPr id="698" name="Google Shape;698;p9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99" name="Google Shape;699;p9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00" name="Google Shape;700;p93"/>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93"/>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02" name="Shape 702"/>
        <p:cNvGrpSpPr/>
        <p:nvPr/>
      </p:nvGrpSpPr>
      <p:grpSpPr>
        <a:xfrm>
          <a:off x="0" y="0"/>
          <a:ext cx="0" cy="0"/>
          <a:chOff x="0" y="0"/>
          <a:chExt cx="0" cy="0"/>
        </a:xfrm>
      </p:grpSpPr>
      <p:pic>
        <p:nvPicPr>
          <p:cNvPr id="703" name="Google Shape;703;p9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704" name="Shape 704"/>
        <p:cNvGrpSpPr/>
        <p:nvPr/>
      </p:nvGrpSpPr>
      <p:grpSpPr>
        <a:xfrm>
          <a:off x="0" y="0"/>
          <a:ext cx="0" cy="0"/>
          <a:chOff x="0" y="0"/>
          <a:chExt cx="0" cy="0"/>
        </a:xfrm>
      </p:grpSpPr>
      <p:sp>
        <p:nvSpPr>
          <p:cNvPr id="705" name="Google Shape;705;p9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6" name="Google Shape;706;p9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07" name="Google Shape;707;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8" name="Shape 708"/>
        <p:cNvGrpSpPr/>
        <p:nvPr/>
      </p:nvGrpSpPr>
      <p:grpSpPr>
        <a:xfrm>
          <a:off x="0" y="0"/>
          <a:ext cx="0" cy="0"/>
          <a:chOff x="0" y="0"/>
          <a:chExt cx="0" cy="0"/>
        </a:xfrm>
      </p:grpSpPr>
      <p:sp>
        <p:nvSpPr>
          <p:cNvPr id="709" name="Google Shape;709;p9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10" name="Google Shape;710;p9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11" name="Google Shape;711;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Bank Blank Slide">
  <p:cSld name="TITLE_AND_BODY_1_2_1_2_1_1_1_1_1_1">
    <p:spTree>
      <p:nvGrpSpPr>
        <p:cNvPr id="712" name="Shape 712"/>
        <p:cNvGrpSpPr/>
        <p:nvPr/>
      </p:nvGrpSpPr>
      <p:grpSpPr>
        <a:xfrm>
          <a:off x="0" y="0"/>
          <a:ext cx="0" cy="0"/>
          <a:chOff x="0" y="0"/>
          <a:chExt cx="0" cy="0"/>
        </a:xfrm>
      </p:grpSpPr>
      <p:sp>
        <p:nvSpPr>
          <p:cNvPr id="713" name="Google Shape;713;p97"/>
          <p:cNvSpPr txBox="1"/>
          <p:nvPr>
            <p:ph type="title"/>
          </p:nvPr>
        </p:nvSpPr>
        <p:spPr>
          <a:xfrm>
            <a:off x="320275" y="517575"/>
            <a:ext cx="8407500" cy="4593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Clr>
                <a:srgbClr val="FFFFFF"/>
              </a:buClr>
              <a:buSzPts val="3600"/>
              <a:buNone/>
              <a:defRPr sz="3600">
                <a:solidFill>
                  <a:srgbClr val="FFFFFF"/>
                </a:solidFill>
              </a:defRPr>
            </a:lvl2pPr>
            <a:lvl3pPr lvl="2">
              <a:spcBef>
                <a:spcPts val="0"/>
              </a:spcBef>
              <a:spcAft>
                <a:spcPts val="0"/>
              </a:spcAft>
              <a:buClr>
                <a:srgbClr val="FFFFFF"/>
              </a:buClr>
              <a:buSzPts val="3600"/>
              <a:buNone/>
              <a:defRPr sz="3600">
                <a:solidFill>
                  <a:srgbClr val="FFFFFF"/>
                </a:solidFill>
              </a:defRPr>
            </a:lvl3pPr>
            <a:lvl4pPr lvl="3">
              <a:spcBef>
                <a:spcPts val="0"/>
              </a:spcBef>
              <a:spcAft>
                <a:spcPts val="0"/>
              </a:spcAft>
              <a:buClr>
                <a:srgbClr val="FFFFFF"/>
              </a:buClr>
              <a:buSzPts val="3600"/>
              <a:buNone/>
              <a:defRPr sz="3600">
                <a:solidFill>
                  <a:srgbClr val="FFFFFF"/>
                </a:solidFill>
              </a:defRPr>
            </a:lvl4pPr>
            <a:lvl5pPr lvl="4">
              <a:spcBef>
                <a:spcPts val="0"/>
              </a:spcBef>
              <a:spcAft>
                <a:spcPts val="0"/>
              </a:spcAft>
              <a:buClr>
                <a:srgbClr val="FFFFFF"/>
              </a:buClr>
              <a:buSzPts val="3600"/>
              <a:buNone/>
              <a:defRPr sz="3600">
                <a:solidFill>
                  <a:srgbClr val="FFFFFF"/>
                </a:solidFill>
              </a:defRPr>
            </a:lvl5pPr>
            <a:lvl6pPr lvl="5">
              <a:spcBef>
                <a:spcPts val="0"/>
              </a:spcBef>
              <a:spcAft>
                <a:spcPts val="0"/>
              </a:spcAft>
              <a:buClr>
                <a:srgbClr val="FFFFFF"/>
              </a:buClr>
              <a:buSzPts val="3600"/>
              <a:buNone/>
              <a:defRPr sz="3600">
                <a:solidFill>
                  <a:srgbClr val="FFFFFF"/>
                </a:solidFill>
              </a:defRPr>
            </a:lvl6pPr>
            <a:lvl7pPr lvl="6">
              <a:spcBef>
                <a:spcPts val="0"/>
              </a:spcBef>
              <a:spcAft>
                <a:spcPts val="0"/>
              </a:spcAft>
              <a:buClr>
                <a:srgbClr val="FFFFFF"/>
              </a:buClr>
              <a:buSzPts val="3600"/>
              <a:buNone/>
              <a:defRPr sz="3600">
                <a:solidFill>
                  <a:srgbClr val="FFFFFF"/>
                </a:solidFill>
              </a:defRPr>
            </a:lvl7pPr>
            <a:lvl8pPr lvl="7">
              <a:spcBef>
                <a:spcPts val="0"/>
              </a:spcBef>
              <a:spcAft>
                <a:spcPts val="0"/>
              </a:spcAft>
              <a:buClr>
                <a:srgbClr val="FFFFFF"/>
              </a:buClr>
              <a:buSzPts val="3600"/>
              <a:buNone/>
              <a:defRPr sz="3600">
                <a:solidFill>
                  <a:srgbClr val="FFFFFF"/>
                </a:solidFill>
              </a:defRPr>
            </a:lvl8pPr>
            <a:lvl9pPr lvl="8">
              <a:spcBef>
                <a:spcPts val="0"/>
              </a:spcBef>
              <a:spcAft>
                <a:spcPts val="0"/>
              </a:spcAft>
              <a:buClr>
                <a:srgbClr val="FFFFFF"/>
              </a:buClr>
              <a:buSzPts val="3600"/>
              <a:buNone/>
              <a:defRPr sz="3600">
                <a:solidFill>
                  <a:srgbClr val="FFFFFF"/>
                </a:solidFill>
              </a:defRPr>
            </a:lvl9pPr>
          </a:lstStyle>
          <a:p/>
        </p:txBody>
      </p:sp>
      <p:sp>
        <p:nvSpPr>
          <p:cNvPr id="714" name="Google Shape;714;p97"/>
          <p:cNvSpPr txBox="1"/>
          <p:nvPr>
            <p:ph idx="12" type="sldNum"/>
          </p:nvPr>
        </p:nvSpPr>
        <p:spPr>
          <a:xfrm>
            <a:off x="457200" y="4662725"/>
            <a:ext cx="2372100" cy="393600"/>
          </a:xfrm>
          <a:prstGeom prst="rect">
            <a:avLst/>
          </a:prstGeom>
          <a:noFill/>
          <a:ln>
            <a:noFill/>
          </a:ln>
        </p:spPr>
        <p:txBody>
          <a:bodyPr anchorCtr="0" anchor="ctr" bIns="91425" lIns="91425" spcFirstLastPara="1" rIns="91425" wrap="square" tIns="91425">
            <a:noAutofit/>
          </a:bodyPr>
          <a:lstStyle>
            <a:lvl1pPr lvl="0">
              <a:lnSpc>
                <a:spcPct val="100000"/>
              </a:lnSpc>
              <a:buNone/>
              <a:defRPr sz="900">
                <a:latin typeface="Proxima Nova"/>
                <a:ea typeface="Proxima Nova"/>
                <a:cs typeface="Proxima Nova"/>
                <a:sym typeface="Proxima Nova"/>
              </a:defRPr>
            </a:lvl1pPr>
            <a:lvl2pPr lvl="1">
              <a:lnSpc>
                <a:spcPct val="100000"/>
              </a:lnSpc>
              <a:buNone/>
              <a:defRPr sz="900">
                <a:latin typeface="Proxima Nova"/>
                <a:ea typeface="Proxima Nova"/>
                <a:cs typeface="Proxima Nova"/>
                <a:sym typeface="Proxima Nova"/>
              </a:defRPr>
            </a:lvl2pPr>
            <a:lvl3pPr lvl="2">
              <a:lnSpc>
                <a:spcPct val="100000"/>
              </a:lnSpc>
              <a:buNone/>
              <a:defRPr sz="900">
                <a:latin typeface="Proxima Nova"/>
                <a:ea typeface="Proxima Nova"/>
                <a:cs typeface="Proxima Nova"/>
                <a:sym typeface="Proxima Nova"/>
              </a:defRPr>
            </a:lvl3pPr>
            <a:lvl4pPr lvl="3">
              <a:lnSpc>
                <a:spcPct val="100000"/>
              </a:lnSpc>
              <a:buNone/>
              <a:defRPr sz="900">
                <a:latin typeface="Proxima Nova"/>
                <a:ea typeface="Proxima Nova"/>
                <a:cs typeface="Proxima Nova"/>
                <a:sym typeface="Proxima Nova"/>
              </a:defRPr>
            </a:lvl4pPr>
            <a:lvl5pPr lvl="4">
              <a:lnSpc>
                <a:spcPct val="100000"/>
              </a:lnSpc>
              <a:buNone/>
              <a:defRPr sz="900">
                <a:latin typeface="Proxima Nova"/>
                <a:ea typeface="Proxima Nova"/>
                <a:cs typeface="Proxima Nova"/>
                <a:sym typeface="Proxima Nova"/>
              </a:defRPr>
            </a:lvl5pPr>
            <a:lvl6pPr lvl="5">
              <a:lnSpc>
                <a:spcPct val="100000"/>
              </a:lnSpc>
              <a:buNone/>
              <a:defRPr sz="900">
                <a:latin typeface="Proxima Nova"/>
                <a:ea typeface="Proxima Nova"/>
                <a:cs typeface="Proxima Nova"/>
                <a:sym typeface="Proxima Nova"/>
              </a:defRPr>
            </a:lvl6pPr>
            <a:lvl7pPr lvl="6">
              <a:lnSpc>
                <a:spcPct val="100000"/>
              </a:lnSpc>
              <a:buNone/>
              <a:defRPr sz="900">
                <a:latin typeface="Proxima Nova"/>
                <a:ea typeface="Proxima Nova"/>
                <a:cs typeface="Proxima Nova"/>
                <a:sym typeface="Proxima Nova"/>
              </a:defRPr>
            </a:lvl7pPr>
            <a:lvl8pPr lvl="7">
              <a:lnSpc>
                <a:spcPct val="100000"/>
              </a:lnSpc>
              <a:buNone/>
              <a:defRPr sz="900">
                <a:latin typeface="Proxima Nova"/>
                <a:ea typeface="Proxima Nova"/>
                <a:cs typeface="Proxima Nova"/>
                <a:sym typeface="Proxima Nova"/>
              </a:defRPr>
            </a:lvl8pPr>
            <a:lvl9pPr lvl="8">
              <a:lnSpc>
                <a:spcPct val="100000"/>
              </a:lnSpc>
              <a:buNone/>
              <a:defRPr sz="900">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r>
              <a:rPr lang="en"/>
              <a:t> | © 2018 General Assembly</a:t>
            </a:r>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5" name="Shape 715"/>
        <p:cNvGrpSpPr/>
        <p:nvPr/>
      </p:nvGrpSpPr>
      <p:grpSpPr>
        <a:xfrm>
          <a:off x="0" y="0"/>
          <a:ext cx="0" cy="0"/>
          <a:chOff x="0" y="0"/>
          <a:chExt cx="0" cy="0"/>
        </a:xfrm>
      </p:grpSpPr>
      <p:sp>
        <p:nvSpPr>
          <p:cNvPr id="716" name="Google Shape;716;p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717" name="Shape 717"/>
        <p:cNvGrpSpPr/>
        <p:nvPr/>
      </p:nvGrpSpPr>
      <p:grpSpPr>
        <a:xfrm>
          <a:off x="0" y="0"/>
          <a:ext cx="0" cy="0"/>
          <a:chOff x="0" y="0"/>
          <a:chExt cx="0" cy="0"/>
        </a:xfrm>
      </p:grpSpPr>
      <p:pic>
        <p:nvPicPr>
          <p:cNvPr id="718" name="Google Shape;718;p99"/>
          <p:cNvPicPr preferRelativeResize="0"/>
          <p:nvPr/>
        </p:nvPicPr>
        <p:blipFill rotWithShape="1">
          <a:blip r:embed="rId2">
            <a:alphaModFix/>
          </a:blip>
          <a:srcRect b="25490" l="5866" r="82471" t="11494"/>
          <a:stretch/>
        </p:blipFill>
        <p:spPr>
          <a:xfrm>
            <a:off x="-9525" y="-9400"/>
            <a:ext cx="1076277" cy="1147825"/>
          </a:xfrm>
          <a:prstGeom prst="rect">
            <a:avLst/>
          </a:prstGeom>
          <a:noFill/>
          <a:ln>
            <a:noFill/>
          </a:ln>
        </p:spPr>
      </p:pic>
      <p:sp>
        <p:nvSpPr>
          <p:cNvPr id="719" name="Google Shape;719;p99"/>
          <p:cNvSpPr txBox="1"/>
          <p:nvPr>
            <p:ph type="title"/>
          </p:nvPr>
        </p:nvSpPr>
        <p:spPr>
          <a:xfrm>
            <a:off x="785675" y="368825"/>
            <a:ext cx="7572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Font typeface="Helvetica Neue Light"/>
              <a:buNone/>
              <a:defRPr>
                <a:latin typeface="Helvetica Neue Light"/>
                <a:ea typeface="Helvetica Neue Light"/>
                <a:cs typeface="Helvetica Neue Light"/>
                <a:sym typeface="Helvetica Neue Light"/>
              </a:defRPr>
            </a:lvl1pPr>
            <a:lvl2pPr lvl="1">
              <a:spcBef>
                <a:spcPts val="0"/>
              </a:spcBef>
              <a:spcAft>
                <a:spcPts val="0"/>
              </a:spcAft>
              <a:buSzPts val="2800"/>
              <a:buFont typeface="Helvetica Neue"/>
              <a:buNone/>
              <a:defRPr>
                <a:latin typeface="Helvetica Neue"/>
                <a:ea typeface="Helvetica Neue"/>
                <a:cs typeface="Helvetica Neue"/>
                <a:sym typeface="Helvetica Neue"/>
              </a:defRPr>
            </a:lvl2pPr>
            <a:lvl3pPr lvl="2">
              <a:spcBef>
                <a:spcPts val="0"/>
              </a:spcBef>
              <a:spcAft>
                <a:spcPts val="0"/>
              </a:spcAft>
              <a:buSzPts val="2800"/>
              <a:buFont typeface="Helvetica Neue"/>
              <a:buNone/>
              <a:defRPr>
                <a:latin typeface="Helvetica Neue"/>
                <a:ea typeface="Helvetica Neue"/>
                <a:cs typeface="Helvetica Neue"/>
                <a:sym typeface="Helvetica Neue"/>
              </a:defRPr>
            </a:lvl3pPr>
            <a:lvl4pPr lvl="3">
              <a:spcBef>
                <a:spcPts val="0"/>
              </a:spcBef>
              <a:spcAft>
                <a:spcPts val="0"/>
              </a:spcAft>
              <a:buSzPts val="2800"/>
              <a:buFont typeface="Helvetica Neue"/>
              <a:buNone/>
              <a:defRPr>
                <a:latin typeface="Helvetica Neue"/>
                <a:ea typeface="Helvetica Neue"/>
                <a:cs typeface="Helvetica Neue"/>
                <a:sym typeface="Helvetica Neue"/>
              </a:defRPr>
            </a:lvl4pPr>
            <a:lvl5pPr lvl="4">
              <a:spcBef>
                <a:spcPts val="0"/>
              </a:spcBef>
              <a:spcAft>
                <a:spcPts val="0"/>
              </a:spcAft>
              <a:buSzPts val="2800"/>
              <a:buFont typeface="Helvetica Neue"/>
              <a:buNone/>
              <a:defRPr>
                <a:latin typeface="Helvetica Neue"/>
                <a:ea typeface="Helvetica Neue"/>
                <a:cs typeface="Helvetica Neue"/>
                <a:sym typeface="Helvetica Neue"/>
              </a:defRPr>
            </a:lvl5pPr>
            <a:lvl6pPr lvl="5">
              <a:spcBef>
                <a:spcPts val="0"/>
              </a:spcBef>
              <a:spcAft>
                <a:spcPts val="0"/>
              </a:spcAft>
              <a:buSzPts val="2800"/>
              <a:buFont typeface="Helvetica Neue"/>
              <a:buNone/>
              <a:defRPr>
                <a:latin typeface="Helvetica Neue"/>
                <a:ea typeface="Helvetica Neue"/>
                <a:cs typeface="Helvetica Neue"/>
                <a:sym typeface="Helvetica Neue"/>
              </a:defRPr>
            </a:lvl6pPr>
            <a:lvl7pPr lvl="6">
              <a:spcBef>
                <a:spcPts val="0"/>
              </a:spcBef>
              <a:spcAft>
                <a:spcPts val="0"/>
              </a:spcAft>
              <a:buSzPts val="2800"/>
              <a:buFont typeface="Helvetica Neue"/>
              <a:buNone/>
              <a:defRPr>
                <a:latin typeface="Helvetica Neue"/>
                <a:ea typeface="Helvetica Neue"/>
                <a:cs typeface="Helvetica Neue"/>
                <a:sym typeface="Helvetica Neue"/>
              </a:defRPr>
            </a:lvl7pPr>
            <a:lvl8pPr lvl="7">
              <a:spcBef>
                <a:spcPts val="0"/>
              </a:spcBef>
              <a:spcAft>
                <a:spcPts val="0"/>
              </a:spcAft>
              <a:buSzPts val="2800"/>
              <a:buFont typeface="Helvetica Neue"/>
              <a:buNone/>
              <a:defRPr>
                <a:latin typeface="Helvetica Neue"/>
                <a:ea typeface="Helvetica Neue"/>
                <a:cs typeface="Helvetica Neue"/>
                <a:sym typeface="Helvetica Neue"/>
              </a:defRPr>
            </a:lvl8pPr>
            <a:lvl9pPr lvl="8">
              <a:spcBef>
                <a:spcPts val="0"/>
              </a:spcBef>
              <a:spcAft>
                <a:spcPts val="0"/>
              </a:spcAft>
              <a:buSzPts val="2800"/>
              <a:buFont typeface="Helvetica Neue"/>
              <a:buNone/>
              <a:defRPr>
                <a:latin typeface="Helvetica Neue"/>
                <a:ea typeface="Helvetica Neue"/>
                <a:cs typeface="Helvetica Neue"/>
                <a:sym typeface="Helvetica Neue"/>
              </a:defRPr>
            </a:lvl9pPr>
          </a:lstStyle>
          <a:p/>
        </p:txBody>
      </p:sp>
      <p:sp>
        <p:nvSpPr>
          <p:cNvPr id="720" name="Google Shape;720;p99"/>
          <p:cNvSpPr txBox="1"/>
          <p:nvPr>
            <p:ph idx="1" type="body"/>
          </p:nvPr>
        </p:nvSpPr>
        <p:spPr>
          <a:xfrm>
            <a:off x="785675" y="1363075"/>
            <a:ext cx="7572600" cy="3205800"/>
          </a:xfrm>
          <a:prstGeom prst="rect">
            <a:avLst/>
          </a:prstGeom>
        </p:spPr>
        <p:txBody>
          <a:bodyPr anchorCtr="0" anchor="t" bIns="91425" lIns="91425" spcFirstLastPara="1" rIns="91425" wrap="square" tIns="91425">
            <a:noAutofit/>
          </a:bodyPr>
          <a:lstStyle>
            <a:lvl1pPr indent="-342900" lvl="0" marL="457200">
              <a:lnSpc>
                <a:spcPct val="114000"/>
              </a:lnSpc>
              <a:spcBef>
                <a:spcPts val="0"/>
              </a:spcBef>
              <a:spcAft>
                <a:spcPts val="0"/>
              </a:spcAft>
              <a:buSzPts val="1800"/>
              <a:buFont typeface="Helvetica Neue Light"/>
              <a:buChar char="●"/>
              <a:defRPr>
                <a:latin typeface="Helvetica Neue Light"/>
                <a:ea typeface="Helvetica Neue Light"/>
                <a:cs typeface="Helvetica Neue Light"/>
                <a:sym typeface="Helvetica Neue Light"/>
              </a:defRPr>
            </a:lvl1pPr>
            <a:lvl2pPr indent="-317500" lvl="1" marL="914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2pPr>
            <a:lvl3pPr indent="-317500" lvl="2" marL="1371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3pPr>
            <a:lvl4pPr indent="-317500" lvl="3" marL="1828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4pPr>
            <a:lvl5pPr indent="-317500" lvl="4" marL="22860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5pPr>
            <a:lvl6pPr indent="-317500" lvl="5" marL="27432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6pPr>
            <a:lvl7pPr indent="-317500" lvl="6" marL="3200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7pPr>
            <a:lvl8pPr indent="-317500" lvl="7" marL="3657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8pPr>
            <a:lvl9pPr indent="-317500" lvl="8" marL="4114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9pPr>
          </a:lstStyle>
          <a:p/>
        </p:txBody>
      </p:sp>
      <p:sp>
        <p:nvSpPr>
          <p:cNvPr id="721" name="Google Shape;721;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722" name="Google Shape;722;p99"/>
          <p:cNvPicPr preferRelativeResize="0"/>
          <p:nvPr/>
        </p:nvPicPr>
        <p:blipFill rotWithShape="1">
          <a:blip r:embed="rId3">
            <a:alphaModFix/>
          </a:blip>
          <a:srcRect b="23144" l="19848" r="19842" t="23144"/>
          <a:stretch/>
        </p:blipFill>
        <p:spPr>
          <a:xfrm>
            <a:off x="8154475" y="4661112"/>
            <a:ext cx="446675" cy="397822"/>
          </a:xfrm>
          <a:prstGeom prst="rect">
            <a:avLst/>
          </a:prstGeom>
          <a:noFill/>
          <a:ln>
            <a:noFill/>
          </a:ln>
        </p:spPr>
      </p:pic>
      <p:pic>
        <p:nvPicPr>
          <p:cNvPr id="723" name="Google Shape;723;p99"/>
          <p:cNvPicPr preferRelativeResize="0"/>
          <p:nvPr/>
        </p:nvPicPr>
        <p:blipFill rotWithShape="1">
          <a:blip r:embed="rId2">
            <a:alphaModFix/>
          </a:blip>
          <a:srcRect b="25490" l="83383" r="4308" t="11494"/>
          <a:stretch/>
        </p:blipFill>
        <p:spPr>
          <a:xfrm>
            <a:off x="8017625" y="-7025"/>
            <a:ext cx="1135900" cy="1147800"/>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 - Solution">
  <p:cSld name="CUSTOM_6_2_1_1_1_1_1">
    <p:spTree>
      <p:nvGrpSpPr>
        <p:cNvPr id="724" name="Shape 724"/>
        <p:cNvGrpSpPr/>
        <p:nvPr/>
      </p:nvGrpSpPr>
      <p:grpSpPr>
        <a:xfrm>
          <a:off x="0" y="0"/>
          <a:ext cx="0" cy="0"/>
          <a:chOff x="0" y="0"/>
          <a:chExt cx="0" cy="0"/>
        </a:xfrm>
      </p:grpSpPr>
      <p:pic>
        <p:nvPicPr>
          <p:cNvPr id="725" name="Google Shape;725;p10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26" name="Google Shape;726;p10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27" name="Google Shape;727;p10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28" name="Google Shape;728;p100"/>
          <p:cNvSpPr txBox="1"/>
          <p:nvPr>
            <p:ph idx="1" type="subTitle"/>
          </p:nvPr>
        </p:nvSpPr>
        <p:spPr>
          <a:xfrm>
            <a:off x="4454075" y="1260500"/>
            <a:ext cx="4346700" cy="34950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29" name="Google Shape;729;p10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30" name="Google Shape;730;p10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31" name="Google Shape;731;p10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32" name="Google Shape;732;p10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33" name="Google Shape;733;p10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p:cSld name="CUSTOM_8">
    <p:spTree>
      <p:nvGrpSpPr>
        <p:cNvPr id="734" name="Shape 734"/>
        <p:cNvGrpSpPr/>
        <p:nvPr/>
      </p:nvGrpSpPr>
      <p:grpSpPr>
        <a:xfrm>
          <a:off x="0" y="0"/>
          <a:ext cx="0" cy="0"/>
          <a:chOff x="0" y="0"/>
          <a:chExt cx="0" cy="0"/>
        </a:xfrm>
      </p:grpSpPr>
      <p:pic>
        <p:nvPicPr>
          <p:cNvPr descr="Divider4.png" id="735" name="Google Shape;735;p10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36" name="Google Shape;736;p101"/>
          <p:cNvPicPr preferRelativeResize="0"/>
          <p:nvPr/>
        </p:nvPicPr>
        <p:blipFill>
          <a:blip r:embed="rId3">
            <a:alphaModFix/>
          </a:blip>
          <a:stretch>
            <a:fillRect/>
          </a:stretch>
        </p:blipFill>
        <p:spPr>
          <a:xfrm>
            <a:off x="5781725" y="106625"/>
            <a:ext cx="3208724" cy="759025"/>
          </a:xfrm>
          <a:prstGeom prst="rect">
            <a:avLst/>
          </a:prstGeom>
          <a:noFill/>
          <a:ln>
            <a:noFill/>
          </a:ln>
        </p:spPr>
      </p:pic>
      <p:sp>
        <p:nvSpPr>
          <p:cNvPr id="737" name="Google Shape;737;p101"/>
          <p:cNvSpPr txBox="1"/>
          <p:nvPr>
            <p:ph type="title"/>
          </p:nvPr>
        </p:nvSpPr>
        <p:spPr>
          <a:xfrm>
            <a:off x="1628200" y="1807975"/>
            <a:ext cx="5887800" cy="6510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38" name="Google Shape;738;p101"/>
          <p:cNvSpPr txBox="1"/>
          <p:nvPr>
            <p:ph idx="1" type="subTitle"/>
          </p:nvPr>
        </p:nvSpPr>
        <p:spPr>
          <a:xfrm>
            <a:off x="3582400" y="3009550"/>
            <a:ext cx="1979100" cy="356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Blue) 1">
  <p:cSld name="TITLE_AND_BODY_1_3_2_2">
    <p:bg>
      <p:bgPr>
        <a:solidFill>
          <a:srgbClr val="1A1D54"/>
        </a:solidFill>
      </p:bgPr>
    </p:bg>
    <p:spTree>
      <p:nvGrpSpPr>
        <p:cNvPr id="739" name="Shape 739"/>
        <p:cNvGrpSpPr/>
        <p:nvPr/>
      </p:nvGrpSpPr>
      <p:grpSpPr>
        <a:xfrm>
          <a:off x="0" y="0"/>
          <a:ext cx="0" cy="0"/>
          <a:chOff x="0" y="0"/>
          <a:chExt cx="0" cy="0"/>
        </a:xfrm>
      </p:grpSpPr>
      <p:sp>
        <p:nvSpPr>
          <p:cNvPr id="740" name="Google Shape;740;p102"/>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chemeClr val="lt1"/>
              </a:buClr>
              <a:buSzPts val="2800"/>
              <a:buFont typeface="Space Mono"/>
              <a:buNone/>
              <a:defRPr b="0">
                <a:solidFill>
                  <a:schemeClr val="lt1"/>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41" name="Google Shape;741;p102"/>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42" name="Google Shape;742;p102"/>
          <p:cNvCxnSpPr/>
          <p:nvPr/>
        </p:nvCxnSpPr>
        <p:spPr>
          <a:xfrm>
            <a:off x="450488" y="1206557"/>
            <a:ext cx="8227800" cy="0"/>
          </a:xfrm>
          <a:prstGeom prst="straightConnector1">
            <a:avLst/>
          </a:prstGeom>
          <a:noFill/>
          <a:ln cap="flat" cmpd="sng" w="19050">
            <a:solidFill>
              <a:srgbClr val="EFEFEF"/>
            </a:solidFill>
            <a:prstDash val="solid"/>
            <a:miter lim="400000"/>
            <a:headEnd len="sm" w="sm" type="none"/>
            <a:tailEnd len="sm" w="sm" type="none"/>
          </a:ln>
        </p:spPr>
      </p:cxnSp>
      <p:pic>
        <p:nvPicPr>
          <p:cNvPr id="743" name="Google Shape;743;p102"/>
          <p:cNvPicPr preferRelativeResize="0"/>
          <p:nvPr/>
        </p:nvPicPr>
        <p:blipFill rotWithShape="1">
          <a:blip r:embed="rId2">
            <a:alphaModFix/>
          </a:blip>
          <a:srcRect b="2043" l="0" r="0" t="2043"/>
          <a:stretch/>
        </p:blipFill>
        <p:spPr>
          <a:xfrm>
            <a:off x="460424" y="4686301"/>
            <a:ext cx="1099789" cy="97150"/>
          </a:xfrm>
          <a:prstGeom prst="rect">
            <a:avLst/>
          </a:prstGeom>
          <a:noFill/>
          <a:ln>
            <a:noFill/>
          </a:ln>
        </p:spPr>
      </p:pic>
      <p:sp>
        <p:nvSpPr>
          <p:cNvPr id="744" name="Google Shape;744;p102"/>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98E"/>
              </a:buClr>
              <a:buSzPts val="1800"/>
              <a:buChar char="●"/>
              <a:defRPr>
                <a:solidFill>
                  <a:schemeClr val="lt1"/>
                </a:solidFill>
              </a:defRPr>
            </a:lvl1pPr>
            <a:lvl2pPr indent="-317500" lvl="1" marL="914400">
              <a:spcBef>
                <a:spcPts val="1600"/>
              </a:spcBef>
              <a:spcAft>
                <a:spcPts val="0"/>
              </a:spcAft>
              <a:buClr>
                <a:srgbClr val="00C98E"/>
              </a:buClr>
              <a:buSzPts val="1400"/>
              <a:buChar char="○"/>
              <a:defRPr>
                <a:solidFill>
                  <a:schemeClr val="lt1"/>
                </a:solidFill>
              </a:defRPr>
            </a:lvl2pPr>
            <a:lvl3pPr indent="-317500" lvl="2" marL="1371600">
              <a:spcBef>
                <a:spcPts val="1600"/>
              </a:spcBef>
              <a:spcAft>
                <a:spcPts val="0"/>
              </a:spcAft>
              <a:buClr>
                <a:srgbClr val="00C98E"/>
              </a:buClr>
              <a:buSzPts val="1400"/>
              <a:buChar char="■"/>
              <a:defRPr>
                <a:solidFill>
                  <a:schemeClr val="lt1"/>
                </a:solidFill>
              </a:defRPr>
            </a:lvl3pPr>
            <a:lvl4pPr indent="-317500" lvl="3" marL="1828800">
              <a:spcBef>
                <a:spcPts val="1600"/>
              </a:spcBef>
              <a:spcAft>
                <a:spcPts val="0"/>
              </a:spcAft>
              <a:buClr>
                <a:srgbClr val="00C98E"/>
              </a:buClr>
              <a:buSzPts val="1400"/>
              <a:buChar char="●"/>
              <a:defRPr>
                <a:solidFill>
                  <a:schemeClr val="lt1"/>
                </a:solidFill>
              </a:defRPr>
            </a:lvl4pPr>
            <a:lvl5pPr indent="-317500" lvl="4" marL="2286000">
              <a:spcBef>
                <a:spcPts val="1600"/>
              </a:spcBef>
              <a:spcAft>
                <a:spcPts val="0"/>
              </a:spcAft>
              <a:buClr>
                <a:srgbClr val="00C98E"/>
              </a:buClr>
              <a:buSzPts val="1400"/>
              <a:buChar char="○"/>
              <a:defRPr>
                <a:solidFill>
                  <a:schemeClr val="lt1"/>
                </a:solidFill>
              </a:defRPr>
            </a:lvl5pPr>
            <a:lvl6pPr indent="-317500" lvl="5" marL="2743200">
              <a:spcBef>
                <a:spcPts val="1600"/>
              </a:spcBef>
              <a:spcAft>
                <a:spcPts val="0"/>
              </a:spcAft>
              <a:buClr>
                <a:srgbClr val="00C98E"/>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mparison Three">
  <p:cSld name="TITLE_AND_BODY_1_3_2_1_1_1_1_1_1_1_1_1_1_1_1_1_1_1_1_1_2">
    <p:bg>
      <p:bgPr>
        <a:solidFill>
          <a:schemeClr val="lt1"/>
        </a:solidFill>
      </p:bgPr>
    </p:bg>
    <p:spTree>
      <p:nvGrpSpPr>
        <p:cNvPr id="745" name="Shape 745"/>
        <p:cNvGrpSpPr/>
        <p:nvPr/>
      </p:nvGrpSpPr>
      <p:grpSpPr>
        <a:xfrm>
          <a:off x="0" y="0"/>
          <a:ext cx="0" cy="0"/>
          <a:chOff x="0" y="0"/>
          <a:chExt cx="0" cy="0"/>
        </a:xfrm>
      </p:grpSpPr>
      <p:pic>
        <p:nvPicPr>
          <p:cNvPr id="746" name="Google Shape;746;p103"/>
          <p:cNvPicPr preferRelativeResize="0"/>
          <p:nvPr/>
        </p:nvPicPr>
        <p:blipFill rotWithShape="1">
          <a:blip r:embed="rId2">
            <a:alphaModFix/>
          </a:blip>
          <a:srcRect b="0" l="27599" r="0" t="8809"/>
          <a:stretch/>
        </p:blipFill>
        <p:spPr>
          <a:xfrm rot="-10799985">
            <a:off x="6844249" y="1534556"/>
            <a:ext cx="2375951" cy="3685139"/>
          </a:xfrm>
          <a:prstGeom prst="rect">
            <a:avLst/>
          </a:prstGeom>
          <a:noFill/>
          <a:ln>
            <a:noFill/>
          </a:ln>
        </p:spPr>
      </p:pic>
      <p:cxnSp>
        <p:nvCxnSpPr>
          <p:cNvPr id="747" name="Google Shape;747;p103"/>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48" name="Google Shape;748;p103"/>
          <p:cNvSpPr txBox="1"/>
          <p:nvPr>
            <p:ph type="title"/>
          </p:nvPr>
        </p:nvSpPr>
        <p:spPr>
          <a:xfrm>
            <a:off x="450500" y="347200"/>
            <a:ext cx="6643800" cy="738900"/>
          </a:xfrm>
          <a:prstGeom prst="rect">
            <a:avLst/>
          </a:prstGeom>
        </p:spPr>
        <p:txBody>
          <a:bodyPr anchorCtr="0" anchor="t" bIns="91425" lIns="0" spcFirstLastPara="1" rIns="0" wrap="square" tIns="91425">
            <a:noAutofit/>
          </a:bodyPr>
          <a:lstStyle>
            <a:lvl1pPr lvl="0">
              <a:spcBef>
                <a:spcPts val="0"/>
              </a:spcBef>
              <a:spcAft>
                <a:spcPts val="0"/>
              </a:spcAft>
              <a:buClr>
                <a:srgbClr val="053053"/>
              </a:buClr>
              <a:buSzPts val="2200"/>
              <a:buFont typeface="Space Mono"/>
              <a:buNone/>
              <a:defRPr b="0" sz="2200">
                <a:solidFill>
                  <a:srgbClr val="053053"/>
                </a:solidFill>
                <a:latin typeface="Space Mono"/>
                <a:ea typeface="Space Mono"/>
                <a:cs typeface="Space Mono"/>
                <a:sym typeface="Space Mono"/>
              </a:defRPr>
            </a:lvl1pPr>
            <a:lvl2pPr lvl="1">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2pPr>
            <a:lvl3pPr lvl="2">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3pPr>
            <a:lvl4pPr lvl="3">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4pPr>
            <a:lvl5pPr lvl="4">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5pPr>
            <a:lvl6pPr lvl="5">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6pPr>
            <a:lvl7pPr lvl="6">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7pPr>
            <a:lvl8pPr lvl="7">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8pPr>
            <a:lvl9pPr lvl="8">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9pPr>
          </a:lstStyle>
          <a:p/>
        </p:txBody>
      </p:sp>
      <p:pic>
        <p:nvPicPr>
          <p:cNvPr id="749" name="Google Shape;749;p103"/>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cxnSp>
        <p:nvCxnSpPr>
          <p:cNvPr id="750" name="Google Shape;750;p103"/>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51" name="Google Shape;751;p103"/>
          <p:cNvSpPr txBox="1"/>
          <p:nvPr>
            <p:ph idx="1" type="subTitle"/>
          </p:nvPr>
        </p:nvSpPr>
        <p:spPr>
          <a:xfrm>
            <a:off x="450500"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52" name="Google Shape;752;p103"/>
          <p:cNvSpPr txBox="1"/>
          <p:nvPr>
            <p:ph idx="12" type="sldNum"/>
          </p:nvPr>
        </p:nvSpPr>
        <p:spPr>
          <a:xfrm>
            <a:off x="8330104" y="4683775"/>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53053"/>
                </a:solidFill>
                <a:latin typeface="Space Mono"/>
                <a:ea typeface="Space Mono"/>
                <a:cs typeface="Space Mono"/>
                <a:sym typeface="Space Mono"/>
              </a:defRPr>
            </a:lvl1pPr>
            <a:lvl2pPr lvl="1">
              <a:buNone/>
              <a:defRPr>
                <a:solidFill>
                  <a:srgbClr val="053053"/>
                </a:solidFill>
                <a:latin typeface="Space Mono"/>
                <a:ea typeface="Space Mono"/>
                <a:cs typeface="Space Mono"/>
                <a:sym typeface="Space Mono"/>
              </a:defRPr>
            </a:lvl2pPr>
            <a:lvl3pPr lvl="2">
              <a:buNone/>
              <a:defRPr>
                <a:solidFill>
                  <a:srgbClr val="053053"/>
                </a:solidFill>
                <a:latin typeface="Space Mono"/>
                <a:ea typeface="Space Mono"/>
                <a:cs typeface="Space Mono"/>
                <a:sym typeface="Space Mono"/>
              </a:defRPr>
            </a:lvl3pPr>
            <a:lvl4pPr lvl="3">
              <a:buNone/>
              <a:defRPr>
                <a:solidFill>
                  <a:srgbClr val="053053"/>
                </a:solidFill>
                <a:latin typeface="Space Mono"/>
                <a:ea typeface="Space Mono"/>
                <a:cs typeface="Space Mono"/>
                <a:sym typeface="Space Mono"/>
              </a:defRPr>
            </a:lvl4pPr>
            <a:lvl5pPr lvl="4">
              <a:buNone/>
              <a:defRPr>
                <a:solidFill>
                  <a:srgbClr val="053053"/>
                </a:solidFill>
                <a:latin typeface="Space Mono"/>
                <a:ea typeface="Space Mono"/>
                <a:cs typeface="Space Mono"/>
                <a:sym typeface="Space Mono"/>
              </a:defRPr>
            </a:lvl5pPr>
            <a:lvl6pPr lvl="5">
              <a:buNone/>
              <a:defRPr>
                <a:solidFill>
                  <a:srgbClr val="053053"/>
                </a:solidFill>
                <a:latin typeface="Space Mono"/>
                <a:ea typeface="Space Mono"/>
                <a:cs typeface="Space Mono"/>
                <a:sym typeface="Space Mono"/>
              </a:defRPr>
            </a:lvl6pPr>
            <a:lvl7pPr lvl="6">
              <a:buNone/>
              <a:defRPr>
                <a:solidFill>
                  <a:srgbClr val="053053"/>
                </a:solidFill>
                <a:latin typeface="Space Mono"/>
                <a:ea typeface="Space Mono"/>
                <a:cs typeface="Space Mono"/>
                <a:sym typeface="Space Mono"/>
              </a:defRPr>
            </a:lvl7pPr>
            <a:lvl8pPr lvl="7">
              <a:buNone/>
              <a:defRPr>
                <a:solidFill>
                  <a:srgbClr val="053053"/>
                </a:solidFill>
                <a:latin typeface="Space Mono"/>
                <a:ea typeface="Space Mono"/>
                <a:cs typeface="Space Mono"/>
                <a:sym typeface="Space Mono"/>
              </a:defRPr>
            </a:lvl8pPr>
            <a:lvl9pPr lvl="8">
              <a:buNone/>
              <a:defRPr>
                <a:solidFill>
                  <a:srgbClr val="053053"/>
                </a:solidFill>
                <a:latin typeface="Space Mono"/>
                <a:ea typeface="Space Mono"/>
                <a:cs typeface="Space Mono"/>
                <a:sym typeface="Space Mono"/>
              </a:defRPr>
            </a:lvl9pPr>
          </a:lstStyle>
          <a:p>
            <a:pPr indent="0" lvl="0" marL="0" rtl="0" algn="l">
              <a:spcBef>
                <a:spcPts val="0"/>
              </a:spcBef>
              <a:spcAft>
                <a:spcPts val="0"/>
              </a:spcAft>
              <a:buNone/>
            </a:pPr>
            <a:fld id="{00000000-1234-1234-1234-123412341234}" type="slidenum">
              <a:rPr lang="en"/>
              <a:t>‹#›</a:t>
            </a:fld>
            <a:endParaRPr/>
          </a:p>
        </p:txBody>
      </p:sp>
      <p:sp>
        <p:nvSpPr>
          <p:cNvPr id="753" name="Google Shape;753;p103"/>
          <p:cNvSpPr txBox="1"/>
          <p:nvPr>
            <p:ph idx="2" type="subTitle"/>
          </p:nvPr>
        </p:nvSpPr>
        <p:spPr>
          <a:xfrm>
            <a:off x="330492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cxnSp>
        <p:nvCxnSpPr>
          <p:cNvPr id="754" name="Google Shape;754;p103"/>
          <p:cNvCxnSpPr/>
          <p:nvPr/>
        </p:nvCxnSpPr>
        <p:spPr>
          <a:xfrm>
            <a:off x="3146950" y="1772550"/>
            <a:ext cx="0" cy="2275500"/>
          </a:xfrm>
          <a:prstGeom prst="straightConnector1">
            <a:avLst/>
          </a:prstGeom>
          <a:noFill/>
          <a:ln cap="flat" cmpd="sng" w="9525">
            <a:solidFill>
              <a:srgbClr val="053053"/>
            </a:solidFill>
            <a:prstDash val="solid"/>
            <a:miter lim="400000"/>
            <a:headEnd len="sm" w="sm" type="none"/>
            <a:tailEnd len="sm" w="sm" type="none"/>
          </a:ln>
        </p:spPr>
      </p:cxnSp>
      <p:cxnSp>
        <p:nvCxnSpPr>
          <p:cNvPr id="755" name="Google Shape;755;p103"/>
          <p:cNvCxnSpPr/>
          <p:nvPr/>
        </p:nvCxnSpPr>
        <p:spPr>
          <a:xfrm>
            <a:off x="5997050" y="1772550"/>
            <a:ext cx="0" cy="2275500"/>
          </a:xfrm>
          <a:prstGeom prst="straightConnector1">
            <a:avLst/>
          </a:prstGeom>
          <a:noFill/>
          <a:ln cap="flat" cmpd="sng" w="9525">
            <a:solidFill>
              <a:srgbClr val="053053"/>
            </a:solidFill>
            <a:prstDash val="solid"/>
            <a:miter lim="400000"/>
            <a:headEnd len="sm" w="sm" type="none"/>
            <a:tailEnd len="sm" w="sm" type="none"/>
          </a:ln>
        </p:spPr>
      </p:cxnSp>
      <p:sp>
        <p:nvSpPr>
          <p:cNvPr id="756" name="Google Shape;756;p103"/>
          <p:cNvSpPr txBox="1"/>
          <p:nvPr>
            <p:ph idx="3" type="subTitle"/>
          </p:nvPr>
        </p:nvSpPr>
        <p:spPr>
          <a:xfrm>
            <a:off x="615987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57" name="Google Shape;757;p103"/>
          <p:cNvSpPr txBox="1"/>
          <p:nvPr>
            <p:ph idx="4" type="body"/>
          </p:nvPr>
        </p:nvSpPr>
        <p:spPr>
          <a:xfrm>
            <a:off x="454099"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58" name="Google Shape;758;p103"/>
          <p:cNvSpPr txBox="1"/>
          <p:nvPr>
            <p:ph idx="5" type="body"/>
          </p:nvPr>
        </p:nvSpPr>
        <p:spPr>
          <a:xfrm>
            <a:off x="3304056"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59" name="Google Shape;759;p103"/>
          <p:cNvSpPr txBox="1"/>
          <p:nvPr>
            <p:ph idx="6" type="body"/>
          </p:nvPr>
        </p:nvSpPr>
        <p:spPr>
          <a:xfrm>
            <a:off x="6159881"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Subtitle + Bullets (Blue)">
  <p:cSld name="TITLE_AND_BODY_1_3_2_1_1_1_1_1">
    <p:bg>
      <p:bgPr>
        <a:solidFill>
          <a:schemeClr val="lt1"/>
        </a:solidFill>
      </p:bgPr>
    </p:bg>
    <p:spTree>
      <p:nvGrpSpPr>
        <p:cNvPr id="760" name="Shape 760"/>
        <p:cNvGrpSpPr/>
        <p:nvPr/>
      </p:nvGrpSpPr>
      <p:grpSpPr>
        <a:xfrm>
          <a:off x="0" y="0"/>
          <a:ext cx="0" cy="0"/>
          <a:chOff x="0" y="0"/>
          <a:chExt cx="0" cy="0"/>
        </a:xfrm>
      </p:grpSpPr>
      <p:sp>
        <p:nvSpPr>
          <p:cNvPr id="761" name="Google Shape;761;p104"/>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62" name="Google Shape;762;p104"/>
          <p:cNvSpPr txBox="1"/>
          <p:nvPr>
            <p:ph idx="1" type="body"/>
          </p:nvPr>
        </p:nvSpPr>
        <p:spPr>
          <a:xfrm>
            <a:off x="3946300" y="816039"/>
            <a:ext cx="4886100" cy="2979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053053"/>
              </a:buClr>
              <a:buSzPts val="1200"/>
              <a:buFont typeface="Poppins Light"/>
              <a:buChar char="■"/>
              <a:defRPr sz="1200">
                <a:solidFill>
                  <a:srgbClr val="053053"/>
                </a:solidFill>
                <a:latin typeface="Poppins Light"/>
                <a:ea typeface="Poppins Light"/>
                <a:cs typeface="Poppins Light"/>
                <a:sym typeface="Poppins Light"/>
              </a:defRPr>
            </a:lvl9pPr>
          </a:lstStyle>
          <a:p/>
        </p:txBody>
      </p:sp>
      <p:pic>
        <p:nvPicPr>
          <p:cNvPr id="763" name="Google Shape;763;p104"/>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64" name="Google Shape;764;p104"/>
          <p:cNvSpPr txBox="1"/>
          <p:nvPr>
            <p:ph idx="2" type="subTitle"/>
          </p:nvPr>
        </p:nvSpPr>
        <p:spPr>
          <a:xfrm>
            <a:off x="3946300" y="445025"/>
            <a:ext cx="4886100" cy="5292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pic>
        <p:nvPicPr>
          <p:cNvPr id="765" name="Google Shape;765;p104"/>
          <p:cNvPicPr preferRelativeResize="0"/>
          <p:nvPr/>
        </p:nvPicPr>
        <p:blipFill rotWithShape="1">
          <a:blip r:embed="rId3">
            <a:alphaModFix/>
          </a:blip>
          <a:srcRect b="0" l="27599" r="0" t="8809"/>
          <a:stretch/>
        </p:blipFill>
        <p:spPr>
          <a:xfrm rot="-10799985">
            <a:off x="7653585" y="2789859"/>
            <a:ext cx="1566607" cy="2429831"/>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Bullets (Blue)">
  <p:cSld name="TITLE_AND_BODY_1_3_2_1_1">
    <p:bg>
      <p:bgPr>
        <a:solidFill>
          <a:schemeClr val="lt1"/>
        </a:solidFill>
      </p:bgPr>
    </p:bg>
    <p:spTree>
      <p:nvGrpSpPr>
        <p:cNvPr id="766" name="Shape 766"/>
        <p:cNvGrpSpPr/>
        <p:nvPr/>
      </p:nvGrpSpPr>
      <p:grpSpPr>
        <a:xfrm>
          <a:off x="0" y="0"/>
          <a:ext cx="0" cy="0"/>
          <a:chOff x="0" y="0"/>
          <a:chExt cx="0" cy="0"/>
        </a:xfrm>
      </p:grpSpPr>
      <p:pic>
        <p:nvPicPr>
          <p:cNvPr id="767" name="Google Shape;767;p105"/>
          <p:cNvPicPr preferRelativeResize="0"/>
          <p:nvPr/>
        </p:nvPicPr>
        <p:blipFill rotWithShape="1">
          <a:blip r:embed="rId2">
            <a:alphaModFix/>
          </a:blip>
          <a:srcRect b="0" l="27599" r="0" t="8809"/>
          <a:stretch/>
        </p:blipFill>
        <p:spPr>
          <a:xfrm rot="-10345201">
            <a:off x="1857683" y="2899759"/>
            <a:ext cx="1566609" cy="2429831"/>
          </a:xfrm>
          <a:prstGeom prst="rect">
            <a:avLst/>
          </a:prstGeom>
          <a:noFill/>
          <a:ln>
            <a:noFill/>
          </a:ln>
        </p:spPr>
      </p:pic>
      <p:sp>
        <p:nvSpPr>
          <p:cNvPr id="768" name="Google Shape;768;p105"/>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69" name="Google Shape;769;p105"/>
          <p:cNvSpPr/>
          <p:nvPr/>
        </p:nvSpPr>
        <p:spPr>
          <a:xfrm>
            <a:off x="3296650" y="0"/>
            <a:ext cx="5847600" cy="5143500"/>
          </a:xfrm>
          <a:prstGeom prst="rect">
            <a:avLst/>
          </a:prstGeom>
          <a:solidFill>
            <a:srgbClr val="1A1D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0" name="Google Shape;770;p105"/>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sp>
        <p:nvSpPr>
          <p:cNvPr id="771" name="Google Shape;771;p105"/>
          <p:cNvSpPr txBox="1"/>
          <p:nvPr>
            <p:ph idx="1" type="body"/>
          </p:nvPr>
        </p:nvSpPr>
        <p:spPr>
          <a:xfrm>
            <a:off x="3705250" y="445025"/>
            <a:ext cx="5127000" cy="34164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rgbClr val="00C98E"/>
              </a:buClr>
              <a:buSzPts val="1300"/>
              <a:buFont typeface="Poppins"/>
              <a:buChar char="●"/>
              <a:defRPr sz="1300">
                <a:solidFill>
                  <a:schemeClr val="lt1"/>
                </a:solidFill>
                <a:latin typeface="Poppins"/>
                <a:ea typeface="Poppins"/>
                <a:cs typeface="Poppins"/>
                <a:sym typeface="Poppins"/>
              </a:defRPr>
            </a:lvl1pPr>
            <a:lvl2pPr indent="-311150" lvl="1" marL="914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2pPr>
            <a:lvl3pPr indent="-311150" lvl="2" marL="1371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3pPr>
            <a:lvl4pPr indent="-311150" lvl="3" marL="18288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4pPr>
            <a:lvl5pPr indent="-311150" lvl="4" marL="22860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5pPr>
            <a:lvl6pPr indent="-311150" lvl="5" marL="27432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6pPr>
            <a:lvl7pPr indent="-311150" lvl="6" marL="3200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7pPr>
            <a:lvl8pPr indent="-311150" lvl="7" marL="3657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8pPr>
            <a:lvl9pPr indent="-311150" lvl="8" marL="4114800">
              <a:lnSpc>
                <a:spcPct val="115000"/>
              </a:lnSpc>
              <a:spcBef>
                <a:spcPts val="1600"/>
              </a:spcBef>
              <a:spcAft>
                <a:spcPts val="1600"/>
              </a:spcAft>
              <a:buClr>
                <a:srgbClr val="00C98E"/>
              </a:buClr>
              <a:buSzPts val="1300"/>
              <a:buFont typeface="Poppins"/>
              <a:buChar char="■"/>
              <a:defRPr sz="1300">
                <a:solidFill>
                  <a:schemeClr val="lt1"/>
                </a:solidFill>
                <a:latin typeface="Poppins"/>
                <a:ea typeface="Poppins"/>
                <a:cs typeface="Poppins"/>
                <a:sym typeface="Poppins"/>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White) 1">
  <p:cSld name="TITLE_AND_BODY_1_3_2_1_2">
    <p:bg>
      <p:bgPr>
        <a:solidFill>
          <a:schemeClr val="lt1"/>
        </a:solidFill>
      </p:bgPr>
    </p:bg>
    <p:spTree>
      <p:nvGrpSpPr>
        <p:cNvPr id="772" name="Shape 772"/>
        <p:cNvGrpSpPr/>
        <p:nvPr/>
      </p:nvGrpSpPr>
      <p:grpSpPr>
        <a:xfrm>
          <a:off x="0" y="0"/>
          <a:ext cx="0" cy="0"/>
          <a:chOff x="0" y="0"/>
          <a:chExt cx="0" cy="0"/>
        </a:xfrm>
      </p:grpSpPr>
      <p:sp>
        <p:nvSpPr>
          <p:cNvPr id="773" name="Google Shape;773;p106"/>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74" name="Google Shape;774;p106"/>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75" name="Google Shape;775;p106"/>
          <p:cNvCxnSpPr/>
          <p:nvPr/>
        </p:nvCxnSpPr>
        <p:spPr>
          <a:xfrm>
            <a:off x="450488" y="1206557"/>
            <a:ext cx="8227800" cy="0"/>
          </a:xfrm>
          <a:prstGeom prst="straightConnector1">
            <a:avLst/>
          </a:prstGeom>
          <a:noFill/>
          <a:ln cap="flat" cmpd="sng" w="19050">
            <a:solidFill>
              <a:srgbClr val="053053"/>
            </a:solidFill>
            <a:prstDash val="solid"/>
            <a:miter lim="400000"/>
            <a:headEnd len="sm" w="sm" type="none"/>
            <a:tailEnd len="sm" w="sm" type="none"/>
          </a:ln>
        </p:spPr>
      </p:cxnSp>
      <p:pic>
        <p:nvPicPr>
          <p:cNvPr id="776" name="Google Shape;776;p106"/>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77" name="Google Shape;777;p106"/>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D89"/>
              </a:buClr>
              <a:buSzPts val="1800"/>
              <a:buChar char="●"/>
              <a:defRPr>
                <a:solidFill>
                  <a:srgbClr val="053053"/>
                </a:solidFill>
              </a:defRPr>
            </a:lvl1pPr>
            <a:lvl2pPr indent="-317500" lvl="1" marL="914400">
              <a:spcBef>
                <a:spcPts val="1600"/>
              </a:spcBef>
              <a:spcAft>
                <a:spcPts val="0"/>
              </a:spcAft>
              <a:buClr>
                <a:srgbClr val="00CD89"/>
              </a:buClr>
              <a:buSzPts val="1400"/>
              <a:buChar char="○"/>
              <a:defRPr>
                <a:solidFill>
                  <a:srgbClr val="053053"/>
                </a:solidFill>
              </a:defRPr>
            </a:lvl2pPr>
            <a:lvl3pPr indent="-317500" lvl="2" marL="1371600">
              <a:spcBef>
                <a:spcPts val="1600"/>
              </a:spcBef>
              <a:spcAft>
                <a:spcPts val="0"/>
              </a:spcAft>
              <a:buClr>
                <a:srgbClr val="00CD89"/>
              </a:buClr>
              <a:buSzPts val="1400"/>
              <a:buChar char="■"/>
              <a:defRPr>
                <a:solidFill>
                  <a:srgbClr val="053053"/>
                </a:solidFill>
              </a:defRPr>
            </a:lvl3pPr>
            <a:lvl4pPr indent="-317500" lvl="3" marL="1828800">
              <a:spcBef>
                <a:spcPts val="1600"/>
              </a:spcBef>
              <a:spcAft>
                <a:spcPts val="0"/>
              </a:spcAft>
              <a:buClr>
                <a:srgbClr val="00CD89"/>
              </a:buClr>
              <a:buSzPts val="1400"/>
              <a:buChar char="●"/>
              <a:defRPr>
                <a:solidFill>
                  <a:srgbClr val="053053"/>
                </a:solidFill>
              </a:defRPr>
            </a:lvl4pPr>
            <a:lvl5pPr indent="-317500" lvl="4" marL="2286000">
              <a:spcBef>
                <a:spcPts val="1600"/>
              </a:spcBef>
              <a:spcAft>
                <a:spcPts val="0"/>
              </a:spcAft>
              <a:buClr>
                <a:srgbClr val="00CD89"/>
              </a:buClr>
              <a:buSzPts val="1400"/>
              <a:buChar char="○"/>
              <a:defRPr>
                <a:solidFill>
                  <a:srgbClr val="053053"/>
                </a:solidFill>
              </a:defRPr>
            </a:lvl5pPr>
            <a:lvl6pPr indent="-317500" lvl="5" marL="2743200">
              <a:spcBef>
                <a:spcPts val="1600"/>
              </a:spcBef>
              <a:spcAft>
                <a:spcPts val="0"/>
              </a:spcAft>
              <a:buClr>
                <a:srgbClr val="00CD89"/>
              </a:buClr>
              <a:buSzPts val="1400"/>
              <a:buChar char="■"/>
              <a:defRPr>
                <a:solidFill>
                  <a:srgbClr val="053053"/>
                </a:solidFill>
              </a:defRPr>
            </a:lvl6pPr>
            <a:lvl7pPr indent="-317500" lvl="6" marL="3200400">
              <a:spcBef>
                <a:spcPts val="1600"/>
              </a:spcBef>
              <a:spcAft>
                <a:spcPts val="0"/>
              </a:spcAft>
              <a:buClr>
                <a:srgbClr val="00CD89"/>
              </a:buClr>
              <a:buSzPts val="1400"/>
              <a:buChar char="●"/>
              <a:defRPr>
                <a:solidFill>
                  <a:srgbClr val="053053"/>
                </a:solidFill>
              </a:defRPr>
            </a:lvl7pPr>
            <a:lvl8pPr indent="-317500" lvl="7" marL="3657600">
              <a:spcBef>
                <a:spcPts val="1600"/>
              </a:spcBef>
              <a:spcAft>
                <a:spcPts val="0"/>
              </a:spcAft>
              <a:buClr>
                <a:srgbClr val="00CD89"/>
              </a:buClr>
              <a:buSzPts val="1400"/>
              <a:buChar char="○"/>
              <a:defRPr>
                <a:solidFill>
                  <a:srgbClr val="053053"/>
                </a:solidFill>
              </a:defRPr>
            </a:lvl8pPr>
            <a:lvl9pPr indent="-317500" lvl="8" marL="4114800">
              <a:spcBef>
                <a:spcPts val="1600"/>
              </a:spcBef>
              <a:spcAft>
                <a:spcPts val="1600"/>
              </a:spcAft>
              <a:buClr>
                <a:srgbClr val="00CD89"/>
              </a:buClr>
              <a:buSzPts val="1400"/>
              <a:buChar char="■"/>
              <a:defRPr>
                <a:solidFill>
                  <a:srgbClr val="053053"/>
                </a:solidFill>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_1">
    <p:spTree>
      <p:nvGrpSpPr>
        <p:cNvPr id="778" name="Shape 778"/>
        <p:cNvGrpSpPr/>
        <p:nvPr/>
      </p:nvGrpSpPr>
      <p:grpSpPr>
        <a:xfrm>
          <a:off x="0" y="0"/>
          <a:ext cx="0" cy="0"/>
          <a:chOff x="0" y="0"/>
          <a:chExt cx="0" cy="0"/>
        </a:xfrm>
      </p:grpSpPr>
      <p:sp>
        <p:nvSpPr>
          <p:cNvPr id="779" name="Google Shape;779;p10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0" name="Google Shape;780;p107"/>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sp>
        <p:nvSpPr>
          <p:cNvPr id="781" name="Google Shape;781;p107"/>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82" name="Google Shape;782;p107"/>
          <p:cNvPicPr preferRelativeResize="0"/>
          <p:nvPr/>
        </p:nvPicPr>
        <p:blipFill>
          <a:blip r:embed="rId2">
            <a:alphaModFix/>
          </a:blip>
          <a:stretch>
            <a:fillRect/>
          </a:stretch>
        </p:blipFill>
        <p:spPr>
          <a:xfrm>
            <a:off x="393975" y="353175"/>
            <a:ext cx="961431" cy="828550"/>
          </a:xfrm>
          <a:prstGeom prst="rect">
            <a:avLst/>
          </a:prstGeom>
          <a:noFill/>
          <a:ln>
            <a:noFill/>
          </a:ln>
        </p:spPr>
      </p:pic>
      <p:pic>
        <p:nvPicPr>
          <p:cNvPr id="783" name="Google Shape;783;p107"/>
          <p:cNvPicPr preferRelativeResize="0"/>
          <p:nvPr/>
        </p:nvPicPr>
        <p:blipFill>
          <a:blip r:embed="rId3">
            <a:alphaModFix/>
          </a:blip>
          <a:stretch>
            <a:fillRect/>
          </a:stretch>
        </p:blipFill>
        <p:spPr>
          <a:xfrm>
            <a:off x="4017575" y="3397550"/>
            <a:ext cx="954805" cy="828550"/>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1">
  <p:cSld name="CUSTOM_6_3">
    <p:spTree>
      <p:nvGrpSpPr>
        <p:cNvPr id="784" name="Shape 784"/>
        <p:cNvGrpSpPr/>
        <p:nvPr/>
      </p:nvGrpSpPr>
      <p:grpSpPr>
        <a:xfrm>
          <a:off x="0" y="0"/>
          <a:ext cx="0" cy="0"/>
          <a:chOff x="0" y="0"/>
          <a:chExt cx="0" cy="0"/>
        </a:xfrm>
      </p:grpSpPr>
      <p:pic>
        <p:nvPicPr>
          <p:cNvPr id="785" name="Google Shape;785;p10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86" name="Google Shape;786;p10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787" name="Google Shape;787;p10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88" name="Google Shape;788;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789" name="Google Shape;789;p108"/>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790" name="Google Shape;790;p10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791" name="Google Shape;791;p108"/>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95" name="Shape 795"/>
        <p:cNvGrpSpPr/>
        <p:nvPr/>
      </p:nvGrpSpPr>
      <p:grpSpPr>
        <a:xfrm>
          <a:off x="0" y="0"/>
          <a:ext cx="0" cy="0"/>
          <a:chOff x="0" y="0"/>
          <a:chExt cx="0" cy="0"/>
        </a:xfrm>
      </p:grpSpPr>
      <p:pic>
        <p:nvPicPr>
          <p:cNvPr id="796" name="Google Shape;796;p11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97" name="Google Shape;797;p11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98" name="Shape 798"/>
        <p:cNvGrpSpPr/>
        <p:nvPr/>
      </p:nvGrpSpPr>
      <p:grpSpPr>
        <a:xfrm>
          <a:off x="0" y="0"/>
          <a:ext cx="0" cy="0"/>
          <a:chOff x="0" y="0"/>
          <a:chExt cx="0" cy="0"/>
        </a:xfrm>
      </p:grpSpPr>
      <p:pic>
        <p:nvPicPr>
          <p:cNvPr id="799" name="Google Shape;799;p11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800" name="Google Shape;800;p111"/>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801" name="Google Shape;801;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02" name="Google Shape;802;p111"/>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803" name="Shape 803"/>
        <p:cNvGrpSpPr/>
        <p:nvPr/>
      </p:nvGrpSpPr>
      <p:grpSpPr>
        <a:xfrm>
          <a:off x="0" y="0"/>
          <a:ext cx="0" cy="0"/>
          <a:chOff x="0" y="0"/>
          <a:chExt cx="0" cy="0"/>
        </a:xfrm>
      </p:grpSpPr>
      <p:pic>
        <p:nvPicPr>
          <p:cNvPr descr="Divider4.png" id="804" name="Google Shape;804;p11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805" name="Google Shape;805;p112"/>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806" name="Google Shape;806;p112"/>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807" name="Google Shape;807;p112"/>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808" name="Google Shape;808;p112"/>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809" name="Google Shape;809;p112"/>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810" name="Shape 810"/>
        <p:cNvGrpSpPr/>
        <p:nvPr/>
      </p:nvGrpSpPr>
      <p:grpSpPr>
        <a:xfrm>
          <a:off x="0" y="0"/>
          <a:ext cx="0" cy="0"/>
          <a:chOff x="0" y="0"/>
          <a:chExt cx="0" cy="0"/>
        </a:xfrm>
      </p:grpSpPr>
      <p:sp>
        <p:nvSpPr>
          <p:cNvPr id="811" name="Google Shape;811;p113"/>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812" name="Google Shape;812;p113"/>
          <p:cNvGrpSpPr/>
          <p:nvPr/>
        </p:nvGrpSpPr>
        <p:grpSpPr>
          <a:xfrm rot="5400000">
            <a:off x="5719749" y="1629787"/>
            <a:ext cx="4964577" cy="1883925"/>
            <a:chOff x="4152224" y="1218499"/>
            <a:chExt cx="4964577" cy="1883925"/>
          </a:xfrm>
        </p:grpSpPr>
        <p:pic>
          <p:nvPicPr>
            <p:cNvPr id="813" name="Google Shape;813;p113"/>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814" name="Google Shape;814;p113"/>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15" name="Google Shape;815;p11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6" name="Google Shape;816;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17" name="Google Shape;817;p113"/>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18" name="Shape 818"/>
        <p:cNvGrpSpPr/>
        <p:nvPr/>
      </p:nvGrpSpPr>
      <p:grpSpPr>
        <a:xfrm>
          <a:off x="0" y="0"/>
          <a:ext cx="0" cy="0"/>
          <a:chOff x="0" y="0"/>
          <a:chExt cx="0" cy="0"/>
        </a:xfrm>
      </p:grpSpPr>
      <p:pic>
        <p:nvPicPr>
          <p:cNvPr id="819" name="Google Shape;819;p11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0" name="Google Shape;820;p11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21" name="Google Shape;821;p11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22" name="Google Shape;822;p11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23" name="Google Shape;823;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4" name="Google Shape;824;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5" name="Google Shape;825;p114"/>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26" name="Google Shape;826;p11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27" name="Shape 827"/>
        <p:cNvGrpSpPr/>
        <p:nvPr/>
      </p:nvGrpSpPr>
      <p:grpSpPr>
        <a:xfrm>
          <a:off x="0" y="0"/>
          <a:ext cx="0" cy="0"/>
          <a:chOff x="0" y="0"/>
          <a:chExt cx="0" cy="0"/>
        </a:xfrm>
      </p:grpSpPr>
      <p:pic>
        <p:nvPicPr>
          <p:cNvPr id="828" name="Google Shape;828;p11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9" name="Google Shape;829;p11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30" name="Google Shape;830;p115"/>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31" name="Google Shape;831;p11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32" name="Google Shape;832;p11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33" name="Google Shape;833;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4" name="Google Shape;834;p11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35" name="Shape 835"/>
        <p:cNvGrpSpPr/>
        <p:nvPr/>
      </p:nvGrpSpPr>
      <p:grpSpPr>
        <a:xfrm>
          <a:off x="0" y="0"/>
          <a:ext cx="0" cy="0"/>
          <a:chOff x="0" y="0"/>
          <a:chExt cx="0" cy="0"/>
        </a:xfrm>
      </p:grpSpPr>
      <p:pic>
        <p:nvPicPr>
          <p:cNvPr id="836" name="Google Shape;836;p11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37" name="Google Shape;837;p11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38" name="Google Shape;838;p116"/>
          <p:cNvGrpSpPr/>
          <p:nvPr/>
        </p:nvGrpSpPr>
        <p:grpSpPr>
          <a:xfrm>
            <a:off x="5709066" y="201260"/>
            <a:ext cx="2296623" cy="4424889"/>
            <a:chOff x="5598780" y="137712"/>
            <a:chExt cx="2577001" cy="4664652"/>
          </a:xfrm>
        </p:grpSpPr>
        <p:pic>
          <p:nvPicPr>
            <p:cNvPr id="839" name="Google Shape;839;p116"/>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40" name="Google Shape;840;p116"/>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1" name="Google Shape;841;p11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2" name="Google Shape;842;p11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43" name="Google Shape;843;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16"/>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45" name="Shape 845"/>
        <p:cNvGrpSpPr/>
        <p:nvPr/>
      </p:nvGrpSpPr>
      <p:grpSpPr>
        <a:xfrm>
          <a:off x="0" y="0"/>
          <a:ext cx="0" cy="0"/>
          <a:chOff x="0" y="0"/>
          <a:chExt cx="0" cy="0"/>
        </a:xfrm>
      </p:grpSpPr>
      <p:pic>
        <p:nvPicPr>
          <p:cNvPr id="846" name="Google Shape;846;p11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47" name="Google Shape;847;p11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8" name="Google Shape;848;p11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9" name="Google Shape;849;p11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0" name="Google Shape;850;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17"/>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2" name="Google Shape;852;p117"/>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53" name="Shape 853"/>
        <p:cNvGrpSpPr/>
        <p:nvPr/>
      </p:nvGrpSpPr>
      <p:grpSpPr>
        <a:xfrm>
          <a:off x="0" y="0"/>
          <a:ext cx="0" cy="0"/>
          <a:chOff x="0" y="0"/>
          <a:chExt cx="0" cy="0"/>
        </a:xfrm>
      </p:grpSpPr>
      <p:pic>
        <p:nvPicPr>
          <p:cNvPr id="854" name="Google Shape;854;p118"/>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55" name="Google Shape;855;p11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6" name="Google Shape;856;p11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7" name="Google Shape;857;p11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8" name="Google Shape;858;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59" name="Google Shape;859;p118"/>
          <p:cNvGrpSpPr/>
          <p:nvPr/>
        </p:nvGrpSpPr>
        <p:grpSpPr>
          <a:xfrm>
            <a:off x="4344100" y="398125"/>
            <a:ext cx="4546500" cy="4222800"/>
            <a:chOff x="4344100" y="398125"/>
            <a:chExt cx="4546500" cy="4222800"/>
          </a:xfrm>
        </p:grpSpPr>
        <p:sp>
          <p:nvSpPr>
            <p:cNvPr id="860" name="Google Shape;860;p118"/>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1" name="Google Shape;861;p118"/>
            <p:cNvGrpSpPr/>
            <p:nvPr/>
          </p:nvGrpSpPr>
          <p:grpSpPr>
            <a:xfrm>
              <a:off x="4445450" y="524200"/>
              <a:ext cx="399495" cy="101100"/>
              <a:chOff x="4445450" y="524200"/>
              <a:chExt cx="399495" cy="101100"/>
            </a:xfrm>
          </p:grpSpPr>
          <p:sp>
            <p:nvSpPr>
              <p:cNvPr id="862" name="Google Shape;862;p118"/>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8"/>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8"/>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5" name="Google Shape;865;p118"/>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66" name="Shape 866"/>
        <p:cNvGrpSpPr/>
        <p:nvPr/>
      </p:nvGrpSpPr>
      <p:grpSpPr>
        <a:xfrm>
          <a:off x="0" y="0"/>
          <a:ext cx="0" cy="0"/>
          <a:chOff x="0" y="0"/>
          <a:chExt cx="0" cy="0"/>
        </a:xfrm>
      </p:grpSpPr>
      <p:pic>
        <p:nvPicPr>
          <p:cNvPr id="867" name="Google Shape;867;p11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68" name="Google Shape;868;p11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9" name="Google Shape;869;p11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70" name="Google Shape;870;p11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1" name="Google Shape;871;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72" name="Shape 872"/>
        <p:cNvGrpSpPr/>
        <p:nvPr/>
      </p:nvGrpSpPr>
      <p:grpSpPr>
        <a:xfrm>
          <a:off x="0" y="0"/>
          <a:ext cx="0" cy="0"/>
          <a:chOff x="0" y="0"/>
          <a:chExt cx="0" cy="0"/>
        </a:xfrm>
      </p:grpSpPr>
      <p:pic>
        <p:nvPicPr>
          <p:cNvPr id="873" name="Google Shape;873;p12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74" name="Google Shape;874;p120"/>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20"/>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76" name="Google Shape;876;p12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7" name="Google Shape;877;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8" name="Google Shape;878;p12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79" name="Google Shape;879;p12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80" name="Google Shape;880;p120"/>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81" name="Shape 881"/>
        <p:cNvGrpSpPr/>
        <p:nvPr/>
      </p:nvGrpSpPr>
      <p:grpSpPr>
        <a:xfrm>
          <a:off x="0" y="0"/>
          <a:ext cx="0" cy="0"/>
          <a:chOff x="0" y="0"/>
          <a:chExt cx="0" cy="0"/>
        </a:xfrm>
      </p:grpSpPr>
      <p:pic>
        <p:nvPicPr>
          <p:cNvPr id="882" name="Google Shape;882;p121"/>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83" name="Google Shape;883;p121"/>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84" name="Google Shape;884;p12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5" name="Google Shape;885;p12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86" name="Google Shape;886;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7" name="Google Shape;887;p12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88" name="Google Shape;888;p12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89" name="Google Shape;889;p12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90" name="Google Shape;890;p121"/>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91" name="Shape 891"/>
        <p:cNvGrpSpPr/>
        <p:nvPr/>
      </p:nvGrpSpPr>
      <p:grpSpPr>
        <a:xfrm>
          <a:off x="0" y="0"/>
          <a:ext cx="0" cy="0"/>
          <a:chOff x="0" y="0"/>
          <a:chExt cx="0" cy="0"/>
        </a:xfrm>
      </p:grpSpPr>
      <p:pic>
        <p:nvPicPr>
          <p:cNvPr id="892" name="Google Shape;892;p12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93" name="Google Shape;893;p12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94" name="Google Shape;894;p12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5" name="Google Shape;895;p12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96" name="Google Shape;896;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97" name="Google Shape;897;p122"/>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98" name="Google Shape;898;p12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99" name="Google Shape;899;p12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900" name="Shape 900"/>
        <p:cNvGrpSpPr/>
        <p:nvPr/>
      </p:nvGrpSpPr>
      <p:grpSpPr>
        <a:xfrm>
          <a:off x="0" y="0"/>
          <a:ext cx="0" cy="0"/>
          <a:chOff x="0" y="0"/>
          <a:chExt cx="0" cy="0"/>
        </a:xfrm>
      </p:grpSpPr>
      <p:pic>
        <p:nvPicPr>
          <p:cNvPr id="901" name="Google Shape;901;p123"/>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902" name="Google Shape;902;p12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03" name="Google Shape;903;p12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04" name="Google Shape;904;p12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5" name="Google Shape;905;p12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6" name="Google Shape;906;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07" name="Google Shape;907;p12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908" name="Google Shape;908;p12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09" name="Google Shape;909;p12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910" name="Shape 910"/>
        <p:cNvGrpSpPr/>
        <p:nvPr/>
      </p:nvGrpSpPr>
      <p:grpSpPr>
        <a:xfrm>
          <a:off x="0" y="0"/>
          <a:ext cx="0" cy="0"/>
          <a:chOff x="0" y="0"/>
          <a:chExt cx="0" cy="0"/>
        </a:xfrm>
      </p:grpSpPr>
      <p:pic>
        <p:nvPicPr>
          <p:cNvPr id="911" name="Google Shape;911;p12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12" name="Google Shape;912;p124"/>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913" name="Google Shape;913;p12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14" name="Google Shape;914;p12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5" name="Google Shape;915;p12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6" name="Google Shape;916;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7" name="Google Shape;917;p12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18" name="Google Shape;918;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9" name="Google Shape;919;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20" name="Shape 920"/>
        <p:cNvGrpSpPr/>
        <p:nvPr/>
      </p:nvGrpSpPr>
      <p:grpSpPr>
        <a:xfrm>
          <a:off x="0" y="0"/>
          <a:ext cx="0" cy="0"/>
          <a:chOff x="0" y="0"/>
          <a:chExt cx="0" cy="0"/>
        </a:xfrm>
      </p:grpSpPr>
      <p:pic>
        <p:nvPicPr>
          <p:cNvPr id="921" name="Google Shape;921;p12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22" name="Google Shape;922;p12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23" name="Google Shape;923;p12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24" name="Google Shape;924;p12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5" name="Google Shape;925;p12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6" name="Google Shape;926;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7" name="Google Shape;927;p1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28" name="Google Shape;928;p1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9" name="Google Shape;929;p125"/>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30" name="Shape 930"/>
        <p:cNvGrpSpPr/>
        <p:nvPr/>
      </p:nvGrpSpPr>
      <p:grpSpPr>
        <a:xfrm>
          <a:off x="0" y="0"/>
          <a:ext cx="0" cy="0"/>
          <a:chOff x="0" y="0"/>
          <a:chExt cx="0" cy="0"/>
        </a:xfrm>
      </p:grpSpPr>
      <p:pic>
        <p:nvPicPr>
          <p:cNvPr id="931" name="Google Shape;931;p126"/>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32" name="Google Shape;932;p1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33" name="Google Shape;933;p12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34" name="Google Shape;934;p126"/>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5" name="Google Shape;935;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36" name="Google Shape;936;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7" name="Google Shape;937;p12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38" name="Google Shape;938;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39" name="Google Shape;939;p12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40" name="Shape 940"/>
        <p:cNvGrpSpPr/>
        <p:nvPr/>
      </p:nvGrpSpPr>
      <p:grpSpPr>
        <a:xfrm>
          <a:off x="0" y="0"/>
          <a:ext cx="0" cy="0"/>
          <a:chOff x="0" y="0"/>
          <a:chExt cx="0" cy="0"/>
        </a:xfrm>
      </p:grpSpPr>
      <p:pic>
        <p:nvPicPr>
          <p:cNvPr id="941" name="Google Shape;941;p127"/>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42" name="Google Shape;942;p127"/>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43" name="Google Shape;943;p127"/>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44" name="Google Shape;944;p12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45" name="Google Shape;945;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6" name="Google Shape;946;p127"/>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27"/>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48" name="Google Shape;948;p127"/>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9" name="Google Shape;949;p127"/>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50" name="Google Shape;950;p127"/>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51" name="Shape 951"/>
        <p:cNvGrpSpPr/>
        <p:nvPr/>
      </p:nvGrpSpPr>
      <p:grpSpPr>
        <a:xfrm>
          <a:off x="0" y="0"/>
          <a:ext cx="0" cy="0"/>
          <a:chOff x="0" y="0"/>
          <a:chExt cx="0" cy="0"/>
        </a:xfrm>
      </p:grpSpPr>
      <p:pic>
        <p:nvPicPr>
          <p:cNvPr id="952" name="Google Shape;952;p12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53" name="Google Shape;953;p12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54" name="Google Shape;954;p12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55" name="Google Shape;955;p12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6" name="Google Shape;956;p1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57" name="Google Shape;957;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8" name="Google Shape;958;p12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59" name="Google Shape;959;p1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60" name="Google Shape;960;p1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61" name="Shape 961"/>
        <p:cNvGrpSpPr/>
        <p:nvPr/>
      </p:nvGrpSpPr>
      <p:grpSpPr>
        <a:xfrm>
          <a:off x="0" y="0"/>
          <a:ext cx="0" cy="0"/>
          <a:chOff x="0" y="0"/>
          <a:chExt cx="0" cy="0"/>
        </a:xfrm>
      </p:grpSpPr>
      <p:pic>
        <p:nvPicPr>
          <p:cNvPr id="962" name="Google Shape;962;p12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63" name="Google Shape;963;p1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64" name="Google Shape;964;p1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65" name="Google Shape;965;p12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66" name="Google Shape;966;p1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67" name="Google Shape;967;p1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8" name="Google Shape;968;p12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69" name="Google Shape;969;p1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70" name="Google Shape;970;p12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71" name="Shape 971"/>
        <p:cNvGrpSpPr/>
        <p:nvPr/>
      </p:nvGrpSpPr>
      <p:grpSpPr>
        <a:xfrm>
          <a:off x="0" y="0"/>
          <a:ext cx="0" cy="0"/>
          <a:chOff x="0" y="0"/>
          <a:chExt cx="0" cy="0"/>
        </a:xfrm>
      </p:grpSpPr>
      <p:pic>
        <p:nvPicPr>
          <p:cNvPr id="972" name="Google Shape;972;p13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73" name="Google Shape;973;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4" name="Google Shape;974;p130"/>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75" name="Google Shape;975;p130"/>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76" name="Google Shape;976;p130"/>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77" name="Google Shape;977;p130"/>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78" name="Shape 978"/>
        <p:cNvGrpSpPr/>
        <p:nvPr/>
      </p:nvGrpSpPr>
      <p:grpSpPr>
        <a:xfrm>
          <a:off x="0" y="0"/>
          <a:ext cx="0" cy="0"/>
          <a:chOff x="0" y="0"/>
          <a:chExt cx="0" cy="0"/>
        </a:xfrm>
      </p:grpSpPr>
      <p:pic>
        <p:nvPicPr>
          <p:cNvPr descr="Divider1.png" id="979" name="Google Shape;979;p13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80" name="Google Shape;980;p13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1" name="Google Shape;981;p13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82" name="Shape 982"/>
        <p:cNvGrpSpPr/>
        <p:nvPr/>
      </p:nvGrpSpPr>
      <p:grpSpPr>
        <a:xfrm>
          <a:off x="0" y="0"/>
          <a:ext cx="0" cy="0"/>
          <a:chOff x="0" y="0"/>
          <a:chExt cx="0" cy="0"/>
        </a:xfrm>
      </p:grpSpPr>
      <p:pic>
        <p:nvPicPr>
          <p:cNvPr id="983" name="Google Shape;983;p13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84" name="Google Shape;984;p13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85" name="Google Shape;985;p132"/>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3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87" name="Shape 987"/>
        <p:cNvGrpSpPr/>
        <p:nvPr/>
      </p:nvGrpSpPr>
      <p:grpSpPr>
        <a:xfrm>
          <a:off x="0" y="0"/>
          <a:ext cx="0" cy="0"/>
          <a:chOff x="0" y="0"/>
          <a:chExt cx="0" cy="0"/>
        </a:xfrm>
      </p:grpSpPr>
      <p:pic>
        <p:nvPicPr>
          <p:cNvPr id="988" name="Google Shape;988;p13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89" name="Shape 989"/>
        <p:cNvGrpSpPr/>
        <p:nvPr/>
      </p:nvGrpSpPr>
      <p:grpSpPr>
        <a:xfrm>
          <a:off x="0" y="0"/>
          <a:ext cx="0" cy="0"/>
          <a:chOff x="0" y="0"/>
          <a:chExt cx="0" cy="0"/>
        </a:xfrm>
      </p:grpSpPr>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90" name="Shape 990"/>
        <p:cNvGrpSpPr/>
        <p:nvPr/>
      </p:nvGrpSpPr>
      <p:grpSpPr>
        <a:xfrm>
          <a:off x="0" y="0"/>
          <a:ext cx="0" cy="0"/>
          <a:chOff x="0" y="0"/>
          <a:chExt cx="0" cy="0"/>
        </a:xfrm>
      </p:grpSpPr>
      <p:grpSp>
        <p:nvGrpSpPr>
          <p:cNvPr id="991" name="Google Shape;991;p135"/>
          <p:cNvGrpSpPr/>
          <p:nvPr/>
        </p:nvGrpSpPr>
        <p:grpSpPr>
          <a:xfrm>
            <a:off x="6262100" y="-3850"/>
            <a:ext cx="2886900" cy="485125"/>
            <a:chOff x="6262100" y="-3850"/>
            <a:chExt cx="2886900" cy="485125"/>
          </a:xfrm>
        </p:grpSpPr>
        <p:pic>
          <p:nvPicPr>
            <p:cNvPr descr="1.png" id="992" name="Google Shape;992;p13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93" name="Google Shape;993;p13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94" name="Google Shape;994;p13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95" name="Google Shape;995;p13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96" name="Google Shape;996;p13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97" name="Google Shape;997;p1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98" name="Google Shape;998;p13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99" name="Google Shape;999;p13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000" name="Google Shape;1000;p13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001" name="Google Shape;1001;p13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002" name="Google Shape;1002;p13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003" name="Google Shape;1003;p13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004" name="Google Shape;1004;p13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005" name="Shape 1005"/>
        <p:cNvGrpSpPr/>
        <p:nvPr/>
      </p:nvGrpSpPr>
      <p:grpSpPr>
        <a:xfrm>
          <a:off x="0" y="0"/>
          <a:ext cx="0" cy="0"/>
          <a:chOff x="0" y="0"/>
          <a:chExt cx="0" cy="0"/>
        </a:xfrm>
      </p:grpSpPr>
      <p:pic>
        <p:nvPicPr>
          <p:cNvPr id="1006" name="Google Shape;1006;p13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07" name="Google Shape;1007;p13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08" name="Google Shape;1008;p13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9" name="Google Shape;1009;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0" name="Google Shape;1010;p136"/>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011" name="Google Shape;1011;p136"/>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theme" Target="../theme/theme1.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04.xml"/><Relationship Id="rId20" Type="http://schemas.openxmlformats.org/officeDocument/2006/relationships/slideLayout" Target="../slideLayouts/slideLayout84.xml"/><Relationship Id="rId41" Type="http://schemas.openxmlformats.org/officeDocument/2006/relationships/theme" Target="../theme/theme3.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slideLayout" Target="../slideLayouts/slideLayout92.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29" Type="http://schemas.openxmlformats.org/officeDocument/2006/relationships/slideLayout" Target="../slideLayouts/slideLayout93.xml"/><Relationship Id="rId7" Type="http://schemas.openxmlformats.org/officeDocument/2006/relationships/slideLayout" Target="../slideLayouts/slideLayout71.xml"/><Relationship Id="rId8" Type="http://schemas.openxmlformats.org/officeDocument/2006/relationships/slideLayout" Target="../slideLayouts/slideLayout72.xml"/><Relationship Id="rId31" Type="http://schemas.openxmlformats.org/officeDocument/2006/relationships/slideLayout" Target="../slideLayouts/slideLayout95.xml"/><Relationship Id="rId30" Type="http://schemas.openxmlformats.org/officeDocument/2006/relationships/slideLayout" Target="../slideLayouts/slideLayout94.xml"/><Relationship Id="rId11" Type="http://schemas.openxmlformats.org/officeDocument/2006/relationships/slideLayout" Target="../slideLayouts/slideLayout75.xml"/><Relationship Id="rId33" Type="http://schemas.openxmlformats.org/officeDocument/2006/relationships/slideLayout" Target="../slideLayouts/slideLayout97.xml"/><Relationship Id="rId10" Type="http://schemas.openxmlformats.org/officeDocument/2006/relationships/slideLayout" Target="../slideLayouts/slideLayout74.xml"/><Relationship Id="rId32" Type="http://schemas.openxmlformats.org/officeDocument/2006/relationships/slideLayout" Target="../slideLayouts/slideLayout96.xml"/><Relationship Id="rId13" Type="http://schemas.openxmlformats.org/officeDocument/2006/relationships/slideLayout" Target="../slideLayouts/slideLayout77.xml"/><Relationship Id="rId35" Type="http://schemas.openxmlformats.org/officeDocument/2006/relationships/slideLayout" Target="../slideLayouts/slideLayout99.xml"/><Relationship Id="rId12" Type="http://schemas.openxmlformats.org/officeDocument/2006/relationships/slideLayout" Target="../slideLayouts/slideLayout76.xml"/><Relationship Id="rId34" Type="http://schemas.openxmlformats.org/officeDocument/2006/relationships/slideLayout" Target="../slideLayouts/slideLayout98.xml"/><Relationship Id="rId15" Type="http://schemas.openxmlformats.org/officeDocument/2006/relationships/slideLayout" Target="../slideLayouts/slideLayout79.xml"/><Relationship Id="rId37" Type="http://schemas.openxmlformats.org/officeDocument/2006/relationships/slideLayout" Target="../slideLayouts/slideLayout101.xml"/><Relationship Id="rId14" Type="http://schemas.openxmlformats.org/officeDocument/2006/relationships/slideLayout" Target="../slideLayouts/slideLayout78.xml"/><Relationship Id="rId36" Type="http://schemas.openxmlformats.org/officeDocument/2006/relationships/slideLayout" Target="../slideLayouts/slideLayout100.xml"/><Relationship Id="rId17" Type="http://schemas.openxmlformats.org/officeDocument/2006/relationships/slideLayout" Target="../slideLayouts/slideLayout81.xml"/><Relationship Id="rId39" Type="http://schemas.openxmlformats.org/officeDocument/2006/relationships/slideLayout" Target="../slideLayouts/slideLayout103.xml"/><Relationship Id="rId16" Type="http://schemas.openxmlformats.org/officeDocument/2006/relationships/slideLayout" Target="../slideLayouts/slideLayout80.xml"/><Relationship Id="rId38" Type="http://schemas.openxmlformats.org/officeDocument/2006/relationships/slideLayout" Target="../slideLayouts/slideLayout102.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4.xml"/><Relationship Id="rId22" Type="http://schemas.openxmlformats.org/officeDocument/2006/relationships/slideLayout" Target="../slideLayouts/slideLayout126.xml"/><Relationship Id="rId21" Type="http://schemas.openxmlformats.org/officeDocument/2006/relationships/slideLayout" Target="../slideLayouts/slideLayout125.xml"/><Relationship Id="rId24" Type="http://schemas.openxmlformats.org/officeDocument/2006/relationships/slideLayout" Target="../slideLayouts/slideLayout128.xml"/><Relationship Id="rId23" Type="http://schemas.openxmlformats.org/officeDocument/2006/relationships/slideLayout" Target="../slideLayouts/slideLayout127.xml"/><Relationship Id="rId1" Type="http://schemas.openxmlformats.org/officeDocument/2006/relationships/slideLayout" Target="../slideLayouts/slideLayout105.xml"/><Relationship Id="rId2" Type="http://schemas.openxmlformats.org/officeDocument/2006/relationships/slideLayout" Target="../slideLayouts/slideLayout106.xml"/><Relationship Id="rId3" Type="http://schemas.openxmlformats.org/officeDocument/2006/relationships/slideLayout" Target="../slideLayouts/slideLayout107.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26" Type="http://schemas.openxmlformats.org/officeDocument/2006/relationships/slideLayout" Target="../slideLayouts/slideLayout130.xml"/><Relationship Id="rId25" Type="http://schemas.openxmlformats.org/officeDocument/2006/relationships/slideLayout" Target="../slideLayouts/slideLayout129.xml"/><Relationship Id="rId28" Type="http://schemas.openxmlformats.org/officeDocument/2006/relationships/theme" Target="../theme/theme5.xml"/><Relationship Id="rId27" Type="http://schemas.openxmlformats.org/officeDocument/2006/relationships/slideLayout" Target="../slideLayouts/slideLayout131.xml"/><Relationship Id="rId5" Type="http://schemas.openxmlformats.org/officeDocument/2006/relationships/slideLayout" Target="../slideLayouts/slideLayout109.xml"/><Relationship Id="rId6" Type="http://schemas.openxmlformats.org/officeDocument/2006/relationships/slideLayout" Target="../slideLayouts/slideLayout110.xml"/><Relationship Id="rId7" Type="http://schemas.openxmlformats.org/officeDocument/2006/relationships/slideLayout" Target="../slideLayouts/slideLayout111.xml"/><Relationship Id="rId8" Type="http://schemas.openxmlformats.org/officeDocument/2006/relationships/slideLayout" Target="../slideLayouts/slideLayout112.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5" Type="http://schemas.openxmlformats.org/officeDocument/2006/relationships/slideLayout" Target="../slideLayouts/slideLayout119.xml"/><Relationship Id="rId14" Type="http://schemas.openxmlformats.org/officeDocument/2006/relationships/slideLayout" Target="../slideLayouts/slideLayout118.xml"/><Relationship Id="rId17" Type="http://schemas.openxmlformats.org/officeDocument/2006/relationships/slideLayout" Target="../slideLayouts/slideLayout121.xml"/><Relationship Id="rId16" Type="http://schemas.openxmlformats.org/officeDocument/2006/relationships/slideLayout" Target="../slideLayouts/slideLayout120.xml"/><Relationship Id="rId19" Type="http://schemas.openxmlformats.org/officeDocument/2006/relationships/slideLayout" Target="../slideLayouts/slideLayout123.xml"/><Relationship Id="rId18"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6" name="Google Shape;266;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6" name="Google Shape;48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 id="2147483751" r:id="rId4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92" name="Shape 792"/>
        <p:cNvGrpSpPr/>
        <p:nvPr/>
      </p:nvGrpSpPr>
      <p:grpSpPr>
        <a:xfrm>
          <a:off x="0" y="0"/>
          <a:ext cx="0" cy="0"/>
          <a:chOff x="0" y="0"/>
          <a:chExt cx="0" cy="0"/>
        </a:xfrm>
      </p:grpSpPr>
      <p:sp>
        <p:nvSpPr>
          <p:cNvPr id="793" name="Google Shape;793;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94" name="Google Shape;794;p10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 id="2147483776" r:id="rId25"/>
    <p:sldLayoutId id="2147483777" r:id="rId26"/>
    <p:sldLayoutId id="214748377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4.xml"/><Relationship Id="rId3" Type="http://schemas.openxmlformats.org/officeDocument/2006/relationships/image" Target="../media/image199.png"/><Relationship Id="rId4" Type="http://schemas.openxmlformats.org/officeDocument/2006/relationships/image" Target="../media/image19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8.xml"/><Relationship Id="rId3" Type="http://schemas.openxmlformats.org/officeDocument/2006/relationships/image" Target="../media/image20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9.xml"/><Relationship Id="rId3" Type="http://schemas.openxmlformats.org/officeDocument/2006/relationships/image" Target="../media/image20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0.xml"/><Relationship Id="rId3" Type="http://schemas.openxmlformats.org/officeDocument/2006/relationships/image" Target="../media/image20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32.xml"/><Relationship Id="rId3" Type="http://schemas.openxmlformats.org/officeDocument/2006/relationships/hyperlink" Target="http://www.youtube.com/watch?v=Jwd_lkXoLKk" TargetMode="External"/><Relationship Id="rId4" Type="http://schemas.openxmlformats.org/officeDocument/2006/relationships/image" Target="../media/image19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37.xml"/><Relationship Id="rId3" Type="http://schemas.openxmlformats.org/officeDocument/2006/relationships/image" Target="../media/image197.png"/><Relationship Id="rId4" Type="http://schemas.openxmlformats.org/officeDocument/2006/relationships/hyperlink" Target="http://www.youtube.com/watch?v=BTZMUDKSpSs" TargetMode="External"/><Relationship Id="rId5" Type="http://schemas.openxmlformats.org/officeDocument/2006/relationships/image" Target="../media/image19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38.xml"/><Relationship Id="rId3" Type="http://schemas.openxmlformats.org/officeDocument/2006/relationships/hyperlink" Target="https://docs.google.com/forms/d/e/1FAIpQLSeH2GXli8Mo4jiuSTlSudP492BJiLOcvXeKr5ZDhKsIQIi9Ow/viewform?usp=header" TargetMode="External"/><Relationship Id="rId4" Type="http://schemas.openxmlformats.org/officeDocument/2006/relationships/image" Target="../media/image2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37"/>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Big(O)</a:t>
            </a:r>
            <a:endParaRPr sz="3600"/>
          </a:p>
        </p:txBody>
      </p:sp>
      <p:sp>
        <p:nvSpPr>
          <p:cNvPr id="1017" name="Google Shape;1017;p137"/>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3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023" name="Google Shape;1023;p138"/>
          <p:cNvGraphicFramePr/>
          <p:nvPr/>
        </p:nvGraphicFramePr>
        <p:xfrm>
          <a:off x="451525" y="1242597"/>
          <a:ext cx="3000000" cy="3000000"/>
        </p:xfrm>
        <a:graphic>
          <a:graphicData uri="http://schemas.openxmlformats.org/drawingml/2006/table">
            <a:tbl>
              <a:tblPr>
                <a:noFill/>
                <a:tableStyleId>{8FEA717C-5148-4D2F-8975-6EB66E502A2F}</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Big(O)</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39"/>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029" name="Google Shape;1029;p13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4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35" name="Google Shape;1035;p140"/>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036" name="Google Shape;1036;p140"/>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037" name="Google Shape;1037;p140"/>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038" name="Google Shape;1038;p140"/>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14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044" name="Google Shape;1044;p14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45" name="Google Shape;1045;p14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Let’s say CodePath takes a visit to your city, what is one thing that we have to do while there?</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Multiple options are encouraged.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42"/>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Students glad to have learned the rest of UMPIRE</a:t>
            </a:r>
            <a:endParaRPr/>
          </a:p>
          <a:p>
            <a:pPr indent="-342900" lvl="0" marL="457200" rtl="0" algn="l">
              <a:spcBef>
                <a:spcPts val="0"/>
              </a:spcBef>
              <a:spcAft>
                <a:spcPts val="0"/>
              </a:spcAft>
              <a:buSzPts val="1800"/>
              <a:buChar char="+"/>
            </a:pPr>
            <a:r>
              <a:rPr lang="en"/>
              <a:t>Students feel like practice material is high quality.</a:t>
            </a:r>
            <a:endParaRPr/>
          </a:p>
        </p:txBody>
      </p:sp>
      <p:sp>
        <p:nvSpPr>
          <p:cNvPr id="1051" name="Google Shape;1051;p14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2" name="Google Shape;1052;p142"/>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Students want more instructor demo time.</a:t>
            </a:r>
            <a:endParaRPr sz="1700"/>
          </a:p>
          <a:p>
            <a:pPr indent="0" lvl="0" marL="0" rtl="0" algn="l">
              <a:spcBef>
                <a:spcPts val="1600"/>
              </a:spcBef>
              <a:spcAft>
                <a:spcPts val="1600"/>
              </a:spcAft>
              <a:buNone/>
            </a:pPr>
            <a:r>
              <a:rPr lang="en" sz="1700"/>
              <a:t>- Communication is confusing with slack + emails.</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43"/>
          <p:cNvSpPr txBox="1"/>
          <p:nvPr>
            <p:ph type="title"/>
          </p:nvPr>
        </p:nvSpPr>
        <p:spPr>
          <a:xfrm>
            <a:off x="884825" y="2317200"/>
            <a:ext cx="17244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Big(O)</a:t>
            </a:r>
            <a:endParaRPr/>
          </a:p>
        </p:txBody>
      </p:sp>
      <p:sp>
        <p:nvSpPr>
          <p:cNvPr id="1058" name="Google Shape;1058;p14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44"/>
          <p:cNvSpPr txBox="1"/>
          <p:nvPr>
            <p:ph type="title"/>
          </p:nvPr>
        </p:nvSpPr>
        <p:spPr>
          <a:xfrm>
            <a:off x="3000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Big(O)?</a:t>
            </a:r>
            <a:endParaRPr/>
          </a:p>
        </p:txBody>
      </p:sp>
      <p:sp>
        <p:nvSpPr>
          <p:cNvPr id="1064" name="Google Shape;1064;p144"/>
          <p:cNvSpPr txBox="1"/>
          <p:nvPr>
            <p:ph idx="1" type="body"/>
          </p:nvPr>
        </p:nvSpPr>
        <p:spPr>
          <a:xfrm>
            <a:off x="300000" y="1184700"/>
            <a:ext cx="4629900" cy="371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When someone asks you "</a:t>
            </a:r>
            <a:r>
              <a:rPr b="1" lang="en"/>
              <a:t>what is the Big(O)</a:t>
            </a:r>
            <a:r>
              <a:rPr lang="en"/>
              <a:t>", they want to know . . .</a:t>
            </a:r>
            <a:endParaRPr/>
          </a:p>
          <a:p>
            <a:pPr indent="-342900" lvl="0" marL="457200" rtl="0" algn="l">
              <a:spcBef>
                <a:spcPts val="1000"/>
              </a:spcBef>
              <a:spcAft>
                <a:spcPts val="0"/>
              </a:spcAft>
              <a:buSzPts val="1800"/>
              <a:buChar char="✱"/>
            </a:pPr>
            <a:r>
              <a:rPr lang="en"/>
              <a:t>How fast does your code run? (</a:t>
            </a:r>
            <a:r>
              <a:rPr b="1" lang="en"/>
              <a:t>time complexity</a:t>
            </a:r>
            <a:r>
              <a:rPr lang="en"/>
              <a:t>)</a:t>
            </a:r>
            <a:endParaRPr/>
          </a:p>
          <a:p>
            <a:pPr indent="-342900" lvl="0" marL="457200" rtl="0" algn="l">
              <a:spcBef>
                <a:spcPts val="1000"/>
              </a:spcBef>
              <a:spcAft>
                <a:spcPts val="0"/>
              </a:spcAft>
              <a:buSzPts val="1800"/>
              <a:buChar char="✱"/>
            </a:pPr>
            <a:r>
              <a:rPr lang="en"/>
              <a:t>How much memory does your code take? (</a:t>
            </a:r>
            <a:r>
              <a:rPr b="1" lang="en"/>
              <a:t>space complexity</a:t>
            </a:r>
            <a:r>
              <a:rPr lang="en"/>
              <a:t>)</a:t>
            </a:r>
            <a:endParaRPr/>
          </a:p>
          <a:p>
            <a:pPr indent="-342900" lvl="0" marL="457200" rtl="0" algn="l">
              <a:spcBef>
                <a:spcPts val="1000"/>
              </a:spcBef>
              <a:spcAft>
                <a:spcPts val="1000"/>
              </a:spcAft>
              <a:buSzPts val="1800"/>
              <a:buChar char="✱"/>
            </a:pPr>
            <a:r>
              <a:rPr lang="en"/>
              <a:t>This is super important in industry (“How fast can we process a user request?”...”How much storage should we pay for per month?”)</a:t>
            </a:r>
            <a:endParaRPr/>
          </a:p>
        </p:txBody>
      </p:sp>
      <p:pic>
        <p:nvPicPr>
          <p:cNvPr id="1065" name="Google Shape;1065;p144"/>
          <p:cNvPicPr preferRelativeResize="0"/>
          <p:nvPr/>
        </p:nvPicPr>
        <p:blipFill>
          <a:blip r:embed="rId3">
            <a:alphaModFix/>
          </a:blip>
          <a:stretch>
            <a:fillRect/>
          </a:stretch>
        </p:blipFill>
        <p:spPr>
          <a:xfrm>
            <a:off x="5430050" y="1184700"/>
            <a:ext cx="3271826" cy="327182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45"/>
          <p:cNvSpPr txBox="1"/>
          <p:nvPr>
            <p:ph type="title"/>
          </p:nvPr>
        </p:nvSpPr>
        <p:spPr>
          <a:xfrm>
            <a:off x="3000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Big(O)?</a:t>
            </a:r>
            <a:endParaRPr/>
          </a:p>
        </p:txBody>
      </p:sp>
      <p:sp>
        <p:nvSpPr>
          <p:cNvPr id="1071" name="Google Shape;1071;p145"/>
          <p:cNvSpPr txBox="1"/>
          <p:nvPr>
            <p:ph idx="1" type="body"/>
          </p:nvPr>
        </p:nvSpPr>
        <p:spPr>
          <a:xfrm>
            <a:off x="300000" y="1184700"/>
            <a:ext cx="4629900" cy="371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When someone asks you "</a:t>
            </a:r>
            <a:r>
              <a:rPr b="1" lang="en"/>
              <a:t>what is the Big(O)</a:t>
            </a:r>
            <a:r>
              <a:rPr lang="en"/>
              <a:t>", they want to know . . .</a:t>
            </a:r>
            <a:endParaRPr/>
          </a:p>
          <a:p>
            <a:pPr indent="-342900" lvl="0" marL="457200" rtl="0" algn="l">
              <a:spcBef>
                <a:spcPts val="1000"/>
              </a:spcBef>
              <a:spcAft>
                <a:spcPts val="0"/>
              </a:spcAft>
              <a:buSzPts val="1800"/>
              <a:buChar char="✱"/>
            </a:pPr>
            <a:r>
              <a:rPr lang="en"/>
              <a:t>How fast does your code run? (</a:t>
            </a:r>
            <a:r>
              <a:rPr b="1" lang="en"/>
              <a:t>time complexity</a:t>
            </a:r>
            <a:r>
              <a:rPr lang="en"/>
              <a:t>)</a:t>
            </a:r>
            <a:endParaRPr/>
          </a:p>
          <a:p>
            <a:pPr indent="-342900" lvl="0" marL="457200" rtl="0" algn="l">
              <a:spcBef>
                <a:spcPts val="1000"/>
              </a:spcBef>
              <a:spcAft>
                <a:spcPts val="0"/>
              </a:spcAft>
              <a:buSzPts val="1800"/>
              <a:buChar char="✱"/>
            </a:pPr>
            <a:r>
              <a:rPr lang="en"/>
              <a:t>How much memory does your code take? (</a:t>
            </a:r>
            <a:r>
              <a:rPr b="1" lang="en"/>
              <a:t>space complexity</a:t>
            </a:r>
            <a:r>
              <a:rPr lang="en"/>
              <a:t>)</a:t>
            </a:r>
            <a:endParaRPr/>
          </a:p>
          <a:p>
            <a:pPr indent="-342900" lvl="0" marL="457200" rtl="0" algn="l">
              <a:spcBef>
                <a:spcPts val="1000"/>
              </a:spcBef>
              <a:spcAft>
                <a:spcPts val="1000"/>
              </a:spcAft>
              <a:buSzPts val="1800"/>
              <a:buChar char="✱"/>
            </a:pPr>
            <a:r>
              <a:rPr lang="en"/>
              <a:t>This is super important in industry (“How fast can we process a user request?”...”How much storage should we pay for per month?”)</a:t>
            </a:r>
            <a:endParaRPr/>
          </a:p>
        </p:txBody>
      </p:sp>
      <p:pic>
        <p:nvPicPr>
          <p:cNvPr id="1072" name="Google Shape;1072;p145"/>
          <p:cNvPicPr preferRelativeResize="0"/>
          <p:nvPr/>
        </p:nvPicPr>
        <p:blipFill>
          <a:blip r:embed="rId3">
            <a:alphaModFix/>
          </a:blip>
          <a:stretch>
            <a:fillRect/>
          </a:stretch>
        </p:blipFill>
        <p:spPr>
          <a:xfrm>
            <a:off x="5430050" y="1184700"/>
            <a:ext cx="3271826" cy="3271826"/>
          </a:xfrm>
          <a:prstGeom prst="rect">
            <a:avLst/>
          </a:prstGeom>
          <a:noFill/>
          <a:ln cap="flat" cmpd="sng" w="9525">
            <a:solidFill>
              <a:schemeClr val="dk1"/>
            </a:solidFill>
            <a:prstDash val="solid"/>
            <a:round/>
            <a:headEnd len="sm" w="sm" type="none"/>
            <a:tailEnd len="sm" w="sm" type="none"/>
          </a:ln>
        </p:spPr>
      </p:pic>
      <p:sp>
        <p:nvSpPr>
          <p:cNvPr id="1073" name="Google Shape;1073;p145"/>
          <p:cNvSpPr/>
          <p:nvPr/>
        </p:nvSpPr>
        <p:spPr>
          <a:xfrm>
            <a:off x="2576350" y="1183200"/>
            <a:ext cx="3343200" cy="2777100"/>
          </a:xfrm>
          <a:prstGeom prst="roundRect">
            <a:avLst>
              <a:gd fmla="val 16667" name="adj"/>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Poppins"/>
                <a:ea typeface="Poppins"/>
                <a:cs typeface="Poppins"/>
                <a:sym typeface="Poppins"/>
              </a:rPr>
              <a:t>Note:</a:t>
            </a:r>
            <a:endParaRPr b="1" sz="1200">
              <a:latin typeface="Poppins"/>
              <a:ea typeface="Poppins"/>
              <a:cs typeface="Poppins"/>
              <a:sym typeface="Poppins"/>
            </a:endParaRPr>
          </a:p>
          <a:p>
            <a:pPr indent="0" lvl="0" marL="0" rtl="0" algn="ctr">
              <a:spcBef>
                <a:spcPts val="0"/>
              </a:spcBef>
              <a:spcAft>
                <a:spcPts val="0"/>
              </a:spcAft>
              <a:buNone/>
            </a:pPr>
            <a:r>
              <a:t/>
            </a:r>
            <a:endParaRPr b="1" sz="1200">
              <a:latin typeface="Poppins"/>
              <a:ea typeface="Poppins"/>
              <a:cs typeface="Poppins"/>
              <a:sym typeface="Poppins"/>
            </a:endParaRPr>
          </a:p>
          <a:p>
            <a:pPr indent="0" lvl="0" marL="0" rtl="0" algn="ctr">
              <a:spcBef>
                <a:spcPts val="0"/>
              </a:spcBef>
              <a:spcAft>
                <a:spcPts val="0"/>
              </a:spcAft>
              <a:buNone/>
            </a:pPr>
            <a:r>
              <a:rPr lang="en" sz="1200">
                <a:latin typeface="Poppins"/>
                <a:ea typeface="Poppins"/>
                <a:cs typeface="Poppins"/>
                <a:sym typeface="Poppins"/>
              </a:rPr>
              <a:t>Big(O) is related to how speed and space increase </a:t>
            </a:r>
            <a:r>
              <a:rPr b="1" lang="en" sz="1200">
                <a:latin typeface="Poppins"/>
                <a:ea typeface="Poppins"/>
                <a:cs typeface="Poppins"/>
                <a:sym typeface="Poppins"/>
              </a:rPr>
              <a:t>as your input size increases</a:t>
            </a:r>
            <a:r>
              <a:rPr lang="en" sz="1200">
                <a:latin typeface="Poppins"/>
                <a:ea typeface="Poppins"/>
                <a:cs typeface="Poppins"/>
                <a:sym typeface="Poppins"/>
              </a:rPr>
              <a:t>.</a:t>
            </a:r>
            <a:endParaRPr sz="1200">
              <a:latin typeface="Poppins"/>
              <a:ea typeface="Poppins"/>
              <a:cs typeface="Poppins"/>
              <a:sym typeface="Poppins"/>
            </a:endParaRPr>
          </a:p>
          <a:p>
            <a:pPr indent="0" lvl="0" marL="0" rtl="0" algn="ctr">
              <a:spcBef>
                <a:spcPts val="0"/>
              </a:spcBef>
              <a:spcAft>
                <a:spcPts val="0"/>
              </a:spcAft>
              <a:buNone/>
            </a:pPr>
            <a:r>
              <a:t/>
            </a:r>
            <a:endParaRPr sz="1200">
              <a:latin typeface="Poppins"/>
              <a:ea typeface="Poppins"/>
              <a:cs typeface="Poppins"/>
              <a:sym typeface="Poppins"/>
            </a:endParaRPr>
          </a:p>
          <a:p>
            <a:pPr indent="0" lvl="0" marL="0" rtl="0" algn="ctr">
              <a:spcBef>
                <a:spcPts val="0"/>
              </a:spcBef>
              <a:spcAft>
                <a:spcPts val="0"/>
              </a:spcAft>
              <a:buNone/>
            </a:pPr>
            <a:r>
              <a:rPr lang="en" sz="1200">
                <a:latin typeface="Poppins"/>
                <a:ea typeface="Poppins"/>
                <a:cs typeface="Poppins"/>
                <a:sym typeface="Poppins"/>
              </a:rPr>
              <a:t>For example: A list of 5 elements vs list of 10 elements.</a:t>
            </a:r>
            <a:endParaRPr sz="12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pic>
        <p:nvPicPr>
          <p:cNvPr id="1078" name="Google Shape;1078;p146"/>
          <p:cNvPicPr preferRelativeResize="0"/>
          <p:nvPr/>
        </p:nvPicPr>
        <p:blipFill>
          <a:blip r:embed="rId3">
            <a:alphaModFix/>
          </a:blip>
          <a:stretch>
            <a:fillRect/>
          </a:stretch>
        </p:blipFill>
        <p:spPr>
          <a:xfrm>
            <a:off x="864413" y="153550"/>
            <a:ext cx="7415175" cy="4538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4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Complexities (Fastest to Slowest)</a:t>
            </a:r>
            <a:endParaRPr/>
          </a:p>
        </p:txBody>
      </p:sp>
      <p:graphicFrame>
        <p:nvGraphicFramePr>
          <p:cNvPr id="1084" name="Google Shape;1084;p147"/>
          <p:cNvGraphicFramePr/>
          <p:nvPr/>
        </p:nvGraphicFramePr>
        <p:xfrm>
          <a:off x="228263" y="1306825"/>
          <a:ext cx="3000000" cy="3000000"/>
        </p:xfrm>
        <a:graphic>
          <a:graphicData uri="http://schemas.openxmlformats.org/drawingml/2006/table">
            <a:tbl>
              <a:tblPr>
                <a:noFill/>
                <a:tableStyleId>{8FEA717C-5148-4D2F-8975-6EB66E502A2F}</a:tableStyleId>
              </a:tblPr>
              <a:tblGrid>
                <a:gridCol w="1592075"/>
                <a:gridCol w="3547700"/>
                <a:gridCol w="3547700"/>
              </a:tblGrid>
              <a:tr h="381000">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Function</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Time</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Space</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Constant</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O(1)</a:t>
                      </a:r>
                      <a:r>
                        <a:rPr lang="en" sz="1700">
                          <a:latin typeface="Poppins"/>
                          <a:ea typeface="Poppins"/>
                          <a:cs typeface="Poppins"/>
                          <a:sym typeface="Poppins"/>
                        </a:rPr>
                        <a:t> - Constant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O(1)</a:t>
                      </a:r>
                      <a:r>
                        <a:rPr lang="en" sz="1700">
                          <a:latin typeface="Poppins"/>
                          <a:ea typeface="Poppins"/>
                          <a:cs typeface="Poppins"/>
                          <a:sym typeface="Poppins"/>
                        </a:rPr>
                        <a:t> - Constant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8425">
                <a:tc>
                  <a:txBody>
                    <a:bodyPr/>
                    <a:lstStyle/>
                    <a:p>
                      <a:pPr indent="0" lvl="0" marL="0" rtl="0" algn="l">
                        <a:spcBef>
                          <a:spcPts val="0"/>
                        </a:spcBef>
                        <a:spcAft>
                          <a:spcPts val="0"/>
                        </a:spcAft>
                        <a:buNone/>
                      </a:pPr>
                      <a:r>
                        <a:rPr b="1" lang="en" sz="1700">
                          <a:latin typeface="Poppins"/>
                          <a:ea typeface="Poppins"/>
                          <a:cs typeface="Poppins"/>
                          <a:sym typeface="Poppins"/>
                        </a:rPr>
                        <a:t>Logarithmic</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O(log(n))</a:t>
                      </a:r>
                      <a:r>
                        <a:rPr lang="en" sz="1700">
                          <a:latin typeface="Poppins"/>
                          <a:ea typeface="Poppins"/>
                          <a:cs typeface="Poppins"/>
                          <a:sym typeface="Poppins"/>
                        </a:rPr>
                        <a:t> - Logarithmic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O(log(n))</a:t>
                      </a:r>
                      <a:r>
                        <a:rPr lang="en" sz="1700">
                          <a:latin typeface="Poppins"/>
                          <a:ea typeface="Poppins"/>
                          <a:cs typeface="Poppins"/>
                          <a:sym typeface="Poppins"/>
                        </a:rPr>
                        <a:t> - Logarithmic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Linear</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a:t>
                      </a:r>
                      <a:r>
                        <a:rPr lang="en" sz="1700">
                          <a:latin typeface="Poppins"/>
                          <a:ea typeface="Poppins"/>
                          <a:cs typeface="Poppins"/>
                          <a:sym typeface="Poppins"/>
                        </a:rPr>
                        <a:t> - Linear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a:t>
                      </a:r>
                      <a:r>
                        <a:rPr lang="en" sz="1700">
                          <a:latin typeface="Poppins"/>
                          <a:ea typeface="Poppins"/>
                          <a:cs typeface="Poppins"/>
                          <a:sym typeface="Poppins"/>
                        </a:rPr>
                        <a:t> - Linear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Log-linear</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 log(n))</a:t>
                      </a:r>
                      <a:r>
                        <a:rPr lang="en" sz="1700">
                          <a:latin typeface="Poppins"/>
                          <a:ea typeface="Poppins"/>
                          <a:cs typeface="Poppins"/>
                          <a:sym typeface="Poppins"/>
                        </a:rPr>
                        <a:t> - Log-linear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 log(n))</a:t>
                      </a:r>
                      <a:r>
                        <a:rPr lang="en" sz="1700">
                          <a:latin typeface="Poppins"/>
                          <a:ea typeface="Poppins"/>
                          <a:cs typeface="Poppins"/>
                          <a:sym typeface="Poppins"/>
                        </a:rPr>
                        <a:t> - Log-linear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Quadratic</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a:t>
                      </a:r>
                      <a:r>
                        <a:rPr b="1" baseline="30000" lang="en" sz="1700">
                          <a:latin typeface="Poppins"/>
                          <a:ea typeface="Poppins"/>
                          <a:cs typeface="Poppins"/>
                          <a:sym typeface="Poppins"/>
                        </a:rPr>
                        <a:t>2</a:t>
                      </a:r>
                      <a:r>
                        <a:rPr b="1" lang="en" sz="1700">
                          <a:latin typeface="Poppins"/>
                          <a:ea typeface="Poppins"/>
                          <a:cs typeface="Poppins"/>
                          <a:sym typeface="Poppins"/>
                        </a:rPr>
                        <a:t>)</a:t>
                      </a:r>
                      <a:r>
                        <a:rPr lang="en" sz="1700">
                          <a:latin typeface="Poppins"/>
                          <a:ea typeface="Poppins"/>
                          <a:cs typeface="Poppins"/>
                          <a:sym typeface="Poppins"/>
                        </a:rPr>
                        <a:t> - Quadratic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a:t>
                      </a:r>
                      <a:r>
                        <a:rPr b="1" lang="en" sz="1700">
                          <a:solidFill>
                            <a:schemeClr val="dk1"/>
                          </a:solidFill>
                          <a:latin typeface="Poppins"/>
                          <a:ea typeface="Poppins"/>
                          <a:cs typeface="Poppins"/>
                          <a:sym typeface="Poppins"/>
                        </a:rPr>
                        <a:t>n</a:t>
                      </a:r>
                      <a:r>
                        <a:rPr b="1" baseline="30000" lang="en" sz="1700">
                          <a:solidFill>
                            <a:schemeClr val="dk1"/>
                          </a:solidFill>
                          <a:latin typeface="Poppins"/>
                          <a:ea typeface="Poppins"/>
                          <a:cs typeface="Poppins"/>
                          <a:sym typeface="Poppins"/>
                        </a:rPr>
                        <a:t>2</a:t>
                      </a:r>
                      <a:r>
                        <a:rPr b="1" lang="en" sz="1700">
                          <a:latin typeface="Poppins"/>
                          <a:ea typeface="Poppins"/>
                          <a:cs typeface="Poppins"/>
                          <a:sym typeface="Poppins"/>
                        </a:rPr>
                        <a:t>)</a:t>
                      </a:r>
                      <a:r>
                        <a:rPr lang="en" sz="1700">
                          <a:latin typeface="Poppins"/>
                          <a:ea typeface="Poppins"/>
                          <a:cs typeface="Poppins"/>
                          <a:sym typeface="Poppins"/>
                        </a:rPr>
                        <a:t> - Quadratic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4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Complexities (Fastest to Slowest)</a:t>
            </a:r>
            <a:endParaRPr/>
          </a:p>
        </p:txBody>
      </p:sp>
      <p:graphicFrame>
        <p:nvGraphicFramePr>
          <p:cNvPr id="1090" name="Google Shape;1090;p148"/>
          <p:cNvGraphicFramePr/>
          <p:nvPr/>
        </p:nvGraphicFramePr>
        <p:xfrm>
          <a:off x="228263" y="1306825"/>
          <a:ext cx="3000000" cy="3000000"/>
        </p:xfrm>
        <a:graphic>
          <a:graphicData uri="http://schemas.openxmlformats.org/drawingml/2006/table">
            <a:tbl>
              <a:tblPr>
                <a:noFill/>
                <a:tableStyleId>{8FEA717C-5148-4D2F-8975-6EB66E502A2F}</a:tableStyleId>
              </a:tblPr>
              <a:tblGrid>
                <a:gridCol w="1592075"/>
                <a:gridCol w="1509125"/>
                <a:gridCol w="5586275"/>
              </a:tblGrid>
              <a:tr h="381000">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Function</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Big(O)</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Examples</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r>
              <a:tr h="381000">
                <a:tc>
                  <a:txBody>
                    <a:bodyPr/>
                    <a:lstStyle/>
                    <a:p>
                      <a:pPr indent="0" lvl="0" marL="0" rtl="0" algn="l">
                        <a:spcBef>
                          <a:spcPts val="0"/>
                        </a:spcBef>
                        <a:spcAft>
                          <a:spcPts val="0"/>
                        </a:spcAft>
                        <a:buNone/>
                      </a:pPr>
                      <a:r>
                        <a:rPr b="1" lang="en" sz="1600">
                          <a:latin typeface="Poppins"/>
                          <a:ea typeface="Poppins"/>
                          <a:cs typeface="Poppins"/>
                          <a:sym typeface="Poppins"/>
                        </a:rPr>
                        <a:t>Constant</a:t>
                      </a:r>
                      <a:endParaRPr b="1"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O(1)</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odd or even number</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8425">
                <a:tc>
                  <a:txBody>
                    <a:bodyPr/>
                    <a:lstStyle/>
                    <a:p>
                      <a:pPr indent="0" lvl="0" marL="0" rtl="0" algn="l">
                        <a:spcBef>
                          <a:spcPts val="0"/>
                        </a:spcBef>
                        <a:spcAft>
                          <a:spcPts val="0"/>
                        </a:spcAft>
                        <a:buNone/>
                      </a:pPr>
                      <a:r>
                        <a:rPr b="1" lang="en" sz="1600">
                          <a:latin typeface="Poppins"/>
                          <a:ea typeface="Poppins"/>
                          <a:cs typeface="Poppins"/>
                          <a:sym typeface="Poppins"/>
                        </a:rPr>
                        <a:t>Logarithmic</a:t>
                      </a:r>
                      <a:endParaRPr b="1"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O(log(n))</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finding element on sorted array with binary search</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600">
                          <a:latin typeface="Poppins"/>
                          <a:ea typeface="Poppins"/>
                          <a:cs typeface="Poppins"/>
                          <a:sym typeface="Poppins"/>
                        </a:rPr>
                        <a:t>Linear</a:t>
                      </a:r>
                      <a:endParaRPr b="1"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O(n)</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find max element in unsorted array, typical for loop</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600">
                          <a:latin typeface="Poppins"/>
                          <a:ea typeface="Poppins"/>
                          <a:cs typeface="Poppins"/>
                          <a:sym typeface="Poppins"/>
                        </a:rPr>
                        <a:t>Log-linear</a:t>
                      </a:r>
                      <a:endParaRPr b="1"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O(n log(n))</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sorting elements in array with merge sort</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600">
                          <a:latin typeface="Poppins"/>
                          <a:ea typeface="Poppins"/>
                          <a:cs typeface="Poppins"/>
                          <a:sym typeface="Poppins"/>
                        </a:rPr>
                        <a:t>Quadratic</a:t>
                      </a:r>
                      <a:endParaRPr b="1"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O(n</a:t>
                      </a:r>
                      <a:r>
                        <a:rPr baseline="30000" lang="en" sz="1600">
                          <a:latin typeface="Poppins"/>
                          <a:ea typeface="Poppins"/>
                          <a:cs typeface="Poppins"/>
                          <a:sym typeface="Poppins"/>
                        </a:rPr>
                        <a:t>2</a:t>
                      </a:r>
                      <a:r>
                        <a:rPr lang="en" sz="1600">
                          <a:latin typeface="Poppins"/>
                          <a:ea typeface="Poppins"/>
                          <a:cs typeface="Poppins"/>
                          <a:sym typeface="Poppins"/>
                        </a:rPr>
                        <a:t>)</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latin typeface="Poppins"/>
                          <a:ea typeface="Poppins"/>
                          <a:cs typeface="Poppins"/>
                          <a:sym typeface="Poppins"/>
                        </a:rPr>
                        <a:t>sorting array with bubble sort, for loop within another</a:t>
                      </a:r>
                      <a:endParaRPr sz="16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4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Complexities (Fastest to Slowest)</a:t>
            </a:r>
            <a:endParaRPr/>
          </a:p>
        </p:txBody>
      </p:sp>
      <p:graphicFrame>
        <p:nvGraphicFramePr>
          <p:cNvPr id="1096" name="Google Shape;1096;p149"/>
          <p:cNvGraphicFramePr/>
          <p:nvPr/>
        </p:nvGraphicFramePr>
        <p:xfrm>
          <a:off x="228263" y="1306825"/>
          <a:ext cx="3000000" cy="3000000"/>
        </p:xfrm>
        <a:graphic>
          <a:graphicData uri="http://schemas.openxmlformats.org/drawingml/2006/table">
            <a:tbl>
              <a:tblPr>
                <a:noFill/>
                <a:tableStyleId>{8FEA717C-5148-4D2F-8975-6EB66E502A2F}</a:tableStyleId>
              </a:tblPr>
              <a:tblGrid>
                <a:gridCol w="1592075"/>
                <a:gridCol w="3547700"/>
                <a:gridCol w="3547700"/>
              </a:tblGrid>
              <a:tr h="381000">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Function</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Time</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Space</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Constant</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O(1)</a:t>
                      </a:r>
                      <a:r>
                        <a:rPr lang="en" sz="1700">
                          <a:latin typeface="Poppins"/>
                          <a:ea typeface="Poppins"/>
                          <a:cs typeface="Poppins"/>
                          <a:sym typeface="Poppins"/>
                        </a:rPr>
                        <a:t> - Constant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O(1)</a:t>
                      </a:r>
                      <a:r>
                        <a:rPr lang="en" sz="1700">
                          <a:latin typeface="Poppins"/>
                          <a:ea typeface="Poppins"/>
                          <a:cs typeface="Poppins"/>
                          <a:sym typeface="Poppins"/>
                        </a:rPr>
                        <a:t> - Constant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8425">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Logarithmic</a:t>
                      </a:r>
                      <a:endParaRPr b="1"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O(log(n))</a:t>
                      </a:r>
                      <a:r>
                        <a:rPr lang="en" sz="1700">
                          <a:solidFill>
                            <a:schemeClr val="lt2"/>
                          </a:solidFill>
                          <a:latin typeface="Poppins"/>
                          <a:ea typeface="Poppins"/>
                          <a:cs typeface="Poppins"/>
                          <a:sym typeface="Poppins"/>
                        </a:rPr>
                        <a:t> - Logarithmic time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O(log(n))</a:t>
                      </a:r>
                      <a:r>
                        <a:rPr lang="en" sz="1700">
                          <a:solidFill>
                            <a:schemeClr val="lt2"/>
                          </a:solidFill>
                          <a:latin typeface="Poppins"/>
                          <a:ea typeface="Poppins"/>
                          <a:cs typeface="Poppins"/>
                          <a:sym typeface="Poppins"/>
                        </a:rPr>
                        <a:t> - Logarithmic space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Linear</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a:t>
                      </a:r>
                      <a:r>
                        <a:rPr lang="en" sz="1700">
                          <a:latin typeface="Poppins"/>
                          <a:ea typeface="Poppins"/>
                          <a:cs typeface="Poppins"/>
                          <a:sym typeface="Poppins"/>
                        </a:rPr>
                        <a:t> - Linear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a:t>
                      </a:r>
                      <a:r>
                        <a:rPr lang="en" sz="1700">
                          <a:latin typeface="Poppins"/>
                          <a:ea typeface="Poppins"/>
                          <a:cs typeface="Poppins"/>
                          <a:sym typeface="Poppins"/>
                        </a:rPr>
                        <a:t> - Linear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Log-linear</a:t>
                      </a:r>
                      <a:endParaRPr b="1"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O(n log(n))</a:t>
                      </a:r>
                      <a:r>
                        <a:rPr lang="en" sz="1700">
                          <a:solidFill>
                            <a:schemeClr val="lt2"/>
                          </a:solidFill>
                          <a:latin typeface="Poppins"/>
                          <a:ea typeface="Poppins"/>
                          <a:cs typeface="Poppins"/>
                          <a:sym typeface="Poppins"/>
                        </a:rPr>
                        <a:t> - Log-linear time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O(n log(n))</a:t>
                      </a:r>
                      <a:r>
                        <a:rPr lang="en" sz="1700">
                          <a:solidFill>
                            <a:schemeClr val="lt2"/>
                          </a:solidFill>
                          <a:latin typeface="Poppins"/>
                          <a:ea typeface="Poppins"/>
                          <a:cs typeface="Poppins"/>
                          <a:sym typeface="Poppins"/>
                        </a:rPr>
                        <a:t> - Log-linear space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Quadratic</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a:t>
                      </a:r>
                      <a:r>
                        <a:rPr b="1" baseline="30000" lang="en" sz="1700">
                          <a:latin typeface="Poppins"/>
                          <a:ea typeface="Poppins"/>
                          <a:cs typeface="Poppins"/>
                          <a:sym typeface="Poppins"/>
                        </a:rPr>
                        <a:t>2</a:t>
                      </a:r>
                      <a:r>
                        <a:rPr b="1" lang="en" sz="1700">
                          <a:latin typeface="Poppins"/>
                          <a:ea typeface="Poppins"/>
                          <a:cs typeface="Poppins"/>
                          <a:sym typeface="Poppins"/>
                        </a:rPr>
                        <a:t>)</a:t>
                      </a:r>
                      <a:r>
                        <a:rPr lang="en" sz="1700">
                          <a:latin typeface="Poppins"/>
                          <a:ea typeface="Poppins"/>
                          <a:cs typeface="Poppins"/>
                          <a:sym typeface="Poppins"/>
                        </a:rPr>
                        <a:t> - Quadratic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a:t>
                      </a:r>
                      <a:r>
                        <a:rPr b="1" lang="en" sz="1700">
                          <a:solidFill>
                            <a:schemeClr val="dk1"/>
                          </a:solidFill>
                          <a:latin typeface="Poppins"/>
                          <a:ea typeface="Poppins"/>
                          <a:cs typeface="Poppins"/>
                          <a:sym typeface="Poppins"/>
                        </a:rPr>
                        <a:t>n</a:t>
                      </a:r>
                      <a:r>
                        <a:rPr b="1" baseline="30000" lang="en" sz="1700">
                          <a:solidFill>
                            <a:schemeClr val="dk1"/>
                          </a:solidFill>
                          <a:latin typeface="Poppins"/>
                          <a:ea typeface="Poppins"/>
                          <a:cs typeface="Poppins"/>
                          <a:sym typeface="Poppins"/>
                        </a:rPr>
                        <a:t>2</a:t>
                      </a:r>
                      <a:r>
                        <a:rPr b="1" lang="en" sz="1700">
                          <a:latin typeface="Poppins"/>
                          <a:ea typeface="Poppins"/>
                          <a:cs typeface="Poppins"/>
                          <a:sym typeface="Poppins"/>
                        </a:rPr>
                        <a:t>)</a:t>
                      </a:r>
                      <a:r>
                        <a:rPr lang="en" sz="1700">
                          <a:latin typeface="Poppins"/>
                          <a:ea typeface="Poppins"/>
                          <a:cs typeface="Poppins"/>
                          <a:sym typeface="Poppins"/>
                        </a:rPr>
                        <a:t> - Quadratic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5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Complexities (Fastest to Slowest)</a:t>
            </a:r>
            <a:endParaRPr/>
          </a:p>
        </p:txBody>
      </p:sp>
      <p:graphicFrame>
        <p:nvGraphicFramePr>
          <p:cNvPr id="1102" name="Google Shape;1102;p150"/>
          <p:cNvGraphicFramePr/>
          <p:nvPr/>
        </p:nvGraphicFramePr>
        <p:xfrm>
          <a:off x="228263" y="1306825"/>
          <a:ext cx="3000000" cy="3000000"/>
        </p:xfrm>
        <a:graphic>
          <a:graphicData uri="http://schemas.openxmlformats.org/drawingml/2006/table">
            <a:tbl>
              <a:tblPr>
                <a:noFill/>
                <a:tableStyleId>{8FEA717C-5148-4D2F-8975-6EB66E502A2F}</a:tableStyleId>
              </a:tblPr>
              <a:tblGrid>
                <a:gridCol w="1592075"/>
                <a:gridCol w="3547700"/>
                <a:gridCol w="3547700"/>
              </a:tblGrid>
              <a:tr h="381000">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Function</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Time</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c>
                  <a:txBody>
                    <a:bodyPr/>
                    <a:lstStyle/>
                    <a:p>
                      <a:pPr indent="0" lvl="0" marL="0" rtl="0" algn="l">
                        <a:spcBef>
                          <a:spcPts val="0"/>
                        </a:spcBef>
                        <a:spcAft>
                          <a:spcPts val="0"/>
                        </a:spcAft>
                        <a:buNone/>
                      </a:pPr>
                      <a:r>
                        <a:rPr b="1" lang="en" sz="1700">
                          <a:solidFill>
                            <a:schemeClr val="lt1"/>
                          </a:solidFill>
                          <a:latin typeface="Poppins"/>
                          <a:ea typeface="Poppins"/>
                          <a:cs typeface="Poppins"/>
                          <a:sym typeface="Poppins"/>
                        </a:rPr>
                        <a:t>Space</a:t>
                      </a:r>
                      <a:endParaRPr b="1" sz="1700">
                        <a:solidFill>
                          <a:schemeClr val="lt1"/>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0C98E"/>
                    </a:solidFill>
                  </a:tcPr>
                </a:tc>
              </a:tr>
              <a:tr h="381000">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Constant</a:t>
                      </a:r>
                      <a:endParaRPr b="1"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O(1)</a:t>
                      </a:r>
                      <a:r>
                        <a:rPr lang="en" sz="1700">
                          <a:solidFill>
                            <a:schemeClr val="lt2"/>
                          </a:solidFill>
                          <a:latin typeface="Poppins"/>
                          <a:ea typeface="Poppins"/>
                          <a:cs typeface="Poppins"/>
                          <a:sym typeface="Poppins"/>
                        </a:rPr>
                        <a:t> - Constant time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O(1)</a:t>
                      </a:r>
                      <a:r>
                        <a:rPr lang="en" sz="1700">
                          <a:solidFill>
                            <a:schemeClr val="lt2"/>
                          </a:solidFill>
                          <a:latin typeface="Poppins"/>
                          <a:ea typeface="Poppins"/>
                          <a:cs typeface="Poppins"/>
                          <a:sym typeface="Poppins"/>
                        </a:rPr>
                        <a:t> - Constant space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8425">
                <a:tc>
                  <a:txBody>
                    <a:bodyPr/>
                    <a:lstStyle/>
                    <a:p>
                      <a:pPr indent="0" lvl="0" marL="0" rtl="0" algn="l">
                        <a:spcBef>
                          <a:spcPts val="0"/>
                        </a:spcBef>
                        <a:spcAft>
                          <a:spcPts val="0"/>
                        </a:spcAft>
                        <a:buNone/>
                      </a:pPr>
                      <a:r>
                        <a:rPr b="1" lang="en" sz="1700">
                          <a:latin typeface="Poppins"/>
                          <a:ea typeface="Poppins"/>
                          <a:cs typeface="Poppins"/>
                          <a:sym typeface="Poppins"/>
                        </a:rPr>
                        <a:t>Logarithmic</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O(log(n))</a:t>
                      </a:r>
                      <a:r>
                        <a:rPr lang="en" sz="1700">
                          <a:latin typeface="Poppins"/>
                          <a:ea typeface="Poppins"/>
                          <a:cs typeface="Poppins"/>
                          <a:sym typeface="Poppins"/>
                        </a:rPr>
                        <a:t> - Logarithmic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O(log(n))</a:t>
                      </a:r>
                      <a:r>
                        <a:rPr lang="en" sz="1700">
                          <a:latin typeface="Poppins"/>
                          <a:ea typeface="Poppins"/>
                          <a:cs typeface="Poppins"/>
                          <a:sym typeface="Poppins"/>
                        </a:rPr>
                        <a:t> - Logarithmic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Linear</a:t>
                      </a:r>
                      <a:endParaRPr b="1"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O(n)</a:t>
                      </a:r>
                      <a:r>
                        <a:rPr lang="en" sz="1700">
                          <a:solidFill>
                            <a:schemeClr val="lt2"/>
                          </a:solidFill>
                          <a:latin typeface="Poppins"/>
                          <a:ea typeface="Poppins"/>
                          <a:cs typeface="Poppins"/>
                          <a:sym typeface="Poppins"/>
                        </a:rPr>
                        <a:t> - Linear time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O(n)</a:t>
                      </a:r>
                      <a:r>
                        <a:rPr lang="en" sz="1700">
                          <a:solidFill>
                            <a:schemeClr val="lt2"/>
                          </a:solidFill>
                          <a:latin typeface="Poppins"/>
                          <a:ea typeface="Poppins"/>
                          <a:cs typeface="Poppins"/>
                          <a:sym typeface="Poppins"/>
                        </a:rPr>
                        <a:t> - Linear space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latin typeface="Poppins"/>
                          <a:ea typeface="Poppins"/>
                          <a:cs typeface="Poppins"/>
                          <a:sym typeface="Poppins"/>
                        </a:rPr>
                        <a:t>Log-linear</a:t>
                      </a:r>
                      <a:endParaRPr b="1"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 log(n))</a:t>
                      </a:r>
                      <a:r>
                        <a:rPr lang="en" sz="1700">
                          <a:latin typeface="Poppins"/>
                          <a:ea typeface="Poppins"/>
                          <a:cs typeface="Poppins"/>
                          <a:sym typeface="Poppins"/>
                        </a:rPr>
                        <a:t> - Log-linear time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latin typeface="Poppins"/>
                          <a:ea typeface="Poppins"/>
                          <a:cs typeface="Poppins"/>
                          <a:sym typeface="Poppins"/>
                        </a:rPr>
                        <a:t>O(n log(n))</a:t>
                      </a:r>
                      <a:r>
                        <a:rPr lang="en" sz="1700">
                          <a:latin typeface="Poppins"/>
                          <a:ea typeface="Poppins"/>
                          <a:cs typeface="Poppins"/>
                          <a:sym typeface="Poppins"/>
                        </a:rPr>
                        <a:t> - Log-linear space</a:t>
                      </a:r>
                      <a:endParaRPr sz="1700">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Quadratic</a:t>
                      </a:r>
                      <a:endParaRPr b="1"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O(n</a:t>
                      </a:r>
                      <a:r>
                        <a:rPr b="1" baseline="30000" lang="en" sz="1700">
                          <a:solidFill>
                            <a:schemeClr val="lt2"/>
                          </a:solidFill>
                          <a:latin typeface="Poppins"/>
                          <a:ea typeface="Poppins"/>
                          <a:cs typeface="Poppins"/>
                          <a:sym typeface="Poppins"/>
                        </a:rPr>
                        <a:t>2</a:t>
                      </a:r>
                      <a:r>
                        <a:rPr b="1" lang="en" sz="1700">
                          <a:solidFill>
                            <a:schemeClr val="lt2"/>
                          </a:solidFill>
                          <a:latin typeface="Poppins"/>
                          <a:ea typeface="Poppins"/>
                          <a:cs typeface="Poppins"/>
                          <a:sym typeface="Poppins"/>
                        </a:rPr>
                        <a:t>)</a:t>
                      </a:r>
                      <a:r>
                        <a:rPr lang="en" sz="1700">
                          <a:solidFill>
                            <a:schemeClr val="lt2"/>
                          </a:solidFill>
                          <a:latin typeface="Poppins"/>
                          <a:ea typeface="Poppins"/>
                          <a:cs typeface="Poppins"/>
                          <a:sym typeface="Poppins"/>
                        </a:rPr>
                        <a:t> - Quadratic time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700">
                          <a:solidFill>
                            <a:schemeClr val="lt2"/>
                          </a:solidFill>
                          <a:latin typeface="Poppins"/>
                          <a:ea typeface="Poppins"/>
                          <a:cs typeface="Poppins"/>
                          <a:sym typeface="Poppins"/>
                        </a:rPr>
                        <a:t>O(n</a:t>
                      </a:r>
                      <a:r>
                        <a:rPr b="1" baseline="30000" lang="en" sz="1700">
                          <a:solidFill>
                            <a:schemeClr val="lt2"/>
                          </a:solidFill>
                          <a:latin typeface="Poppins"/>
                          <a:ea typeface="Poppins"/>
                          <a:cs typeface="Poppins"/>
                          <a:sym typeface="Poppins"/>
                        </a:rPr>
                        <a:t>2</a:t>
                      </a:r>
                      <a:r>
                        <a:rPr b="1" lang="en" sz="1700">
                          <a:solidFill>
                            <a:schemeClr val="lt2"/>
                          </a:solidFill>
                          <a:latin typeface="Poppins"/>
                          <a:ea typeface="Poppins"/>
                          <a:cs typeface="Poppins"/>
                          <a:sym typeface="Poppins"/>
                        </a:rPr>
                        <a:t>)</a:t>
                      </a:r>
                      <a:r>
                        <a:rPr lang="en" sz="1700">
                          <a:solidFill>
                            <a:schemeClr val="lt2"/>
                          </a:solidFill>
                          <a:latin typeface="Poppins"/>
                          <a:ea typeface="Poppins"/>
                          <a:cs typeface="Poppins"/>
                          <a:sym typeface="Poppins"/>
                        </a:rPr>
                        <a:t> - Quadratic space</a:t>
                      </a:r>
                      <a:endParaRPr sz="1700">
                        <a:solidFill>
                          <a:schemeClr val="lt2"/>
                        </a:solidFill>
                        <a:latin typeface="Poppins"/>
                        <a:ea typeface="Poppins"/>
                        <a:cs typeface="Poppins"/>
                        <a:sym typeface="Poppi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5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108" name="Google Shape;1108;p151"/>
          <p:cNvSpPr txBox="1"/>
          <p:nvPr>
            <p:ph idx="2" type="body"/>
          </p:nvPr>
        </p:nvSpPr>
        <p:spPr>
          <a:xfrm>
            <a:off x="452400" y="1260488"/>
            <a:ext cx="8239200" cy="224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What is the Big(O)?</a:t>
            </a:r>
            <a:endParaRPr b="1"/>
          </a:p>
          <a:p>
            <a:pPr indent="0" lvl="0" marL="457200" rtl="0" algn="l">
              <a:spcBef>
                <a:spcPts val="1000"/>
              </a:spcBef>
              <a:spcAft>
                <a:spcPts val="0"/>
              </a:spcAft>
              <a:buClr>
                <a:schemeClr val="dk1"/>
              </a:buClr>
              <a:buSzPts val="1100"/>
              <a:buFont typeface="Arial"/>
              <a:buNone/>
            </a:pPr>
            <a:r>
              <a:rPr lang="en">
                <a:latin typeface="Consolas"/>
                <a:ea typeface="Consolas"/>
                <a:cs typeface="Consolas"/>
                <a:sym typeface="Consolas"/>
              </a:rPr>
              <a:t>def get_element_at_index(lst, index):</a:t>
            </a:r>
            <a:endParaRPr>
              <a:latin typeface="Consolas"/>
              <a:ea typeface="Consolas"/>
              <a:cs typeface="Consolas"/>
              <a:sym typeface="Consolas"/>
            </a:endParaRPr>
          </a:p>
          <a:p>
            <a:pPr indent="0" lvl="0" marL="457200" rtl="0" algn="l">
              <a:spcBef>
                <a:spcPts val="1000"/>
              </a:spcBef>
              <a:spcAft>
                <a:spcPts val="0"/>
              </a:spcAft>
              <a:buClr>
                <a:schemeClr val="dk1"/>
              </a:buClr>
              <a:buSzPts val="1100"/>
              <a:buFont typeface="Arial"/>
              <a:buNone/>
            </a:pPr>
            <a:r>
              <a:rPr lang="en">
                <a:latin typeface="Consolas"/>
                <a:ea typeface="Consolas"/>
                <a:cs typeface="Consolas"/>
                <a:sym typeface="Consolas"/>
              </a:rPr>
              <a:t>    if index &lt; 0 or index &gt;= len(lst):</a:t>
            </a:r>
            <a:endParaRPr>
              <a:latin typeface="Consolas"/>
              <a:ea typeface="Consolas"/>
              <a:cs typeface="Consolas"/>
              <a:sym typeface="Consolas"/>
            </a:endParaRPr>
          </a:p>
          <a:p>
            <a:pPr indent="0" lvl="0" marL="457200" rtl="0" algn="l">
              <a:spcBef>
                <a:spcPts val="1000"/>
              </a:spcBef>
              <a:spcAft>
                <a:spcPts val="0"/>
              </a:spcAft>
              <a:buClr>
                <a:schemeClr val="dk1"/>
              </a:buClr>
              <a:buSzPts val="1100"/>
              <a:buFont typeface="Arial"/>
              <a:buNone/>
            </a:pPr>
            <a:r>
              <a:rPr lang="en">
                <a:latin typeface="Consolas"/>
                <a:ea typeface="Consolas"/>
                <a:cs typeface="Consolas"/>
                <a:sym typeface="Consolas"/>
              </a:rPr>
              <a:t>        return None  # Handle out-of-bounds cases</a:t>
            </a:r>
            <a:endParaRPr>
              <a:latin typeface="Consolas"/>
              <a:ea typeface="Consolas"/>
              <a:cs typeface="Consolas"/>
              <a:sym typeface="Consolas"/>
            </a:endParaRPr>
          </a:p>
          <a:p>
            <a:pPr indent="0" lvl="0" marL="457200" rtl="0" algn="l">
              <a:spcBef>
                <a:spcPts val="1000"/>
              </a:spcBef>
              <a:spcAft>
                <a:spcPts val="1000"/>
              </a:spcAft>
              <a:buNone/>
            </a:pPr>
            <a:r>
              <a:rPr lang="en">
                <a:latin typeface="Consolas"/>
                <a:ea typeface="Consolas"/>
                <a:cs typeface="Consolas"/>
                <a:sym typeface="Consolas"/>
              </a:rPr>
              <a:t>    return lst[index]</a:t>
            </a:r>
            <a:endParaRPr>
              <a:latin typeface="Consolas"/>
              <a:ea typeface="Consolas"/>
              <a:cs typeface="Consolas"/>
              <a:sym typeface="Consolas"/>
            </a:endParaRPr>
          </a:p>
        </p:txBody>
      </p:sp>
      <p:sp>
        <p:nvSpPr>
          <p:cNvPr id="1109" name="Google Shape;1109;p15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52"/>
          <p:cNvSpPr txBox="1"/>
          <p:nvPr>
            <p:ph idx="1" type="body"/>
          </p:nvPr>
        </p:nvSpPr>
        <p:spPr>
          <a:xfrm>
            <a:off x="452400" y="1132825"/>
            <a:ext cx="8239200" cy="18024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nsolas"/>
                <a:ea typeface="Consolas"/>
                <a:cs typeface="Consolas"/>
                <a:sym typeface="Consolas"/>
              </a:rPr>
              <a:t>def get_element_at_index(lst, index):</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if index &lt; 0 or index &gt;= len(lst):</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return None  # Handle out-of-bounds cases</a:t>
            </a:r>
            <a:endParaRPr>
              <a:latin typeface="Consolas"/>
              <a:ea typeface="Consolas"/>
              <a:cs typeface="Consolas"/>
              <a:sym typeface="Consolas"/>
            </a:endParaRPr>
          </a:p>
          <a:p>
            <a:pPr indent="0" lvl="0" marL="0" rtl="0" algn="l">
              <a:spcBef>
                <a:spcPts val="1000"/>
              </a:spcBef>
              <a:spcAft>
                <a:spcPts val="1000"/>
              </a:spcAft>
              <a:buNone/>
            </a:pPr>
            <a:r>
              <a:rPr lang="en">
                <a:latin typeface="Consolas"/>
                <a:ea typeface="Consolas"/>
                <a:cs typeface="Consolas"/>
                <a:sym typeface="Consolas"/>
              </a:rPr>
              <a:t>    return lst[index]</a:t>
            </a:r>
            <a:endParaRPr>
              <a:latin typeface="Consolas"/>
              <a:ea typeface="Consolas"/>
              <a:cs typeface="Consolas"/>
              <a:sym typeface="Consolas"/>
            </a:endParaRPr>
          </a:p>
        </p:txBody>
      </p:sp>
      <p:sp>
        <p:nvSpPr>
          <p:cNvPr id="1115" name="Google Shape;1115;p152"/>
          <p:cNvSpPr/>
          <p:nvPr/>
        </p:nvSpPr>
        <p:spPr>
          <a:xfrm>
            <a:off x="2183750" y="3265725"/>
            <a:ext cx="1979100" cy="8379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O(1) time</a:t>
            </a:r>
            <a:endParaRPr b="1" sz="1800">
              <a:solidFill>
                <a:schemeClr val="lt1"/>
              </a:solidFill>
              <a:latin typeface="Poppins"/>
              <a:ea typeface="Poppins"/>
              <a:cs typeface="Poppins"/>
              <a:sym typeface="Poppins"/>
            </a:endParaRPr>
          </a:p>
        </p:txBody>
      </p:sp>
      <p:sp>
        <p:nvSpPr>
          <p:cNvPr id="1116" name="Google Shape;1116;p152"/>
          <p:cNvSpPr/>
          <p:nvPr/>
        </p:nvSpPr>
        <p:spPr>
          <a:xfrm>
            <a:off x="4440700" y="3265725"/>
            <a:ext cx="1979100" cy="8379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O(1) space</a:t>
            </a:r>
            <a:endParaRPr b="1" sz="1800">
              <a:solidFill>
                <a:schemeClr val="lt1"/>
              </a:solidFill>
              <a:latin typeface="Poppins"/>
              <a:ea typeface="Poppins"/>
              <a:cs typeface="Poppins"/>
              <a:sym typeface="Poppins"/>
            </a:endParaRPr>
          </a:p>
        </p:txBody>
      </p:sp>
      <p:sp>
        <p:nvSpPr>
          <p:cNvPr id="1117" name="Google Shape;1117;p152"/>
          <p:cNvSpPr/>
          <p:nvPr/>
        </p:nvSpPr>
        <p:spPr>
          <a:xfrm>
            <a:off x="2111175" y="3179950"/>
            <a:ext cx="2163900" cy="104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18" name="Google Shape;1118;p152"/>
          <p:cNvSpPr/>
          <p:nvPr/>
        </p:nvSpPr>
        <p:spPr>
          <a:xfrm>
            <a:off x="4348300" y="3179950"/>
            <a:ext cx="2163900" cy="104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19" name="Google Shape;1119;p15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the Big(O)?</a:t>
            </a:r>
            <a:endParaRPr/>
          </a:p>
        </p:txBody>
      </p:sp>
      <p:grpSp>
        <p:nvGrpSpPr>
          <p:cNvPr id="1120" name="Google Shape;1120;p152"/>
          <p:cNvGrpSpPr/>
          <p:nvPr/>
        </p:nvGrpSpPr>
        <p:grpSpPr>
          <a:xfrm>
            <a:off x="89100" y="4739882"/>
            <a:ext cx="324008" cy="322851"/>
            <a:chOff x="0" y="3867912"/>
            <a:chExt cx="1280160" cy="1275588"/>
          </a:xfrm>
        </p:grpSpPr>
        <p:sp>
          <p:nvSpPr>
            <p:cNvPr id="1121" name="Google Shape;1121;p152"/>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52"/>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52"/>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53"/>
          <p:cNvSpPr txBox="1"/>
          <p:nvPr>
            <p:ph type="title"/>
          </p:nvPr>
        </p:nvSpPr>
        <p:spPr>
          <a:xfrm>
            <a:off x="452400" y="481275"/>
            <a:ext cx="39477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Time Complexity: get_element_at_index</a:t>
            </a:r>
            <a:endParaRPr/>
          </a:p>
        </p:txBody>
      </p:sp>
      <p:sp>
        <p:nvSpPr>
          <p:cNvPr id="1129" name="Google Shape;1129;p153"/>
          <p:cNvSpPr/>
          <p:nvPr/>
        </p:nvSpPr>
        <p:spPr>
          <a:xfrm>
            <a:off x="4802600" y="481275"/>
            <a:ext cx="1660554" cy="674352"/>
          </a:xfrm>
          <a:prstGeom prst="flowChartTerminator">
            <a:avLst/>
          </a:prstGeom>
          <a:solidFill>
            <a:srgbClr val="00C98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Poppins"/>
                <a:ea typeface="Poppins"/>
                <a:cs typeface="Poppins"/>
                <a:sym typeface="Poppins"/>
              </a:rPr>
              <a:t>START</a:t>
            </a:r>
            <a:endParaRPr b="1">
              <a:solidFill>
                <a:schemeClr val="lt1"/>
              </a:solidFill>
              <a:latin typeface="Poppins"/>
              <a:ea typeface="Poppins"/>
              <a:cs typeface="Poppins"/>
              <a:sym typeface="Poppins"/>
            </a:endParaRPr>
          </a:p>
        </p:txBody>
      </p:sp>
      <p:sp>
        <p:nvSpPr>
          <p:cNvPr id="1130" name="Google Shape;1130;p153"/>
          <p:cNvSpPr/>
          <p:nvPr/>
        </p:nvSpPr>
        <p:spPr>
          <a:xfrm>
            <a:off x="6861325" y="2892075"/>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Return None</a:t>
            </a:r>
            <a:endParaRPr>
              <a:latin typeface="Poppins"/>
              <a:ea typeface="Poppins"/>
              <a:cs typeface="Poppins"/>
              <a:sym typeface="Poppins"/>
            </a:endParaRPr>
          </a:p>
        </p:txBody>
      </p:sp>
      <p:grpSp>
        <p:nvGrpSpPr>
          <p:cNvPr id="1131" name="Google Shape;1131;p153"/>
          <p:cNvGrpSpPr/>
          <p:nvPr/>
        </p:nvGrpSpPr>
        <p:grpSpPr>
          <a:xfrm>
            <a:off x="4532850" y="1565463"/>
            <a:ext cx="2200025" cy="1373950"/>
            <a:chOff x="3295825" y="2343325"/>
            <a:chExt cx="2200025" cy="1373950"/>
          </a:xfrm>
        </p:grpSpPr>
        <p:sp>
          <p:nvSpPr>
            <p:cNvPr id="1132" name="Google Shape;1132;p153"/>
            <p:cNvSpPr/>
            <p:nvPr/>
          </p:nvSpPr>
          <p:spPr>
            <a:xfrm>
              <a:off x="3295825" y="2343325"/>
              <a:ext cx="2200025" cy="1373950"/>
            </a:xfrm>
            <a:prstGeom prst="flowChartDecision">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33" name="Google Shape;1133;p153"/>
            <p:cNvSpPr txBox="1"/>
            <p:nvPr/>
          </p:nvSpPr>
          <p:spPr>
            <a:xfrm>
              <a:off x="3413825" y="2739500"/>
              <a:ext cx="1930500" cy="6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Check index &lt; 0 or index &gt;= len(lst)</a:t>
              </a:r>
              <a:endParaRPr sz="1800">
                <a:solidFill>
                  <a:schemeClr val="dk2"/>
                </a:solidFill>
                <a:latin typeface="Poppins"/>
                <a:ea typeface="Poppins"/>
                <a:cs typeface="Poppins"/>
                <a:sym typeface="Poppins"/>
              </a:endParaRPr>
            </a:p>
          </p:txBody>
        </p:sp>
      </p:grpSp>
      <p:cxnSp>
        <p:nvCxnSpPr>
          <p:cNvPr id="1134" name="Google Shape;1134;p153"/>
          <p:cNvCxnSpPr>
            <a:stCxn id="1132" idx="3"/>
            <a:endCxn id="1130" idx="0"/>
          </p:cNvCxnSpPr>
          <p:nvPr/>
        </p:nvCxnSpPr>
        <p:spPr>
          <a:xfrm>
            <a:off x="6732875" y="2252438"/>
            <a:ext cx="1177800" cy="639600"/>
          </a:xfrm>
          <a:prstGeom prst="bentConnector2">
            <a:avLst/>
          </a:prstGeom>
          <a:noFill/>
          <a:ln cap="flat" cmpd="sng" w="9525">
            <a:solidFill>
              <a:schemeClr val="dk1"/>
            </a:solidFill>
            <a:prstDash val="solid"/>
            <a:round/>
            <a:headEnd len="med" w="med" type="none"/>
            <a:tailEnd len="med" w="med" type="stealth"/>
          </a:ln>
        </p:spPr>
      </p:cxnSp>
      <p:sp>
        <p:nvSpPr>
          <p:cNvPr id="1135" name="Google Shape;1135;p153"/>
          <p:cNvSpPr txBox="1"/>
          <p:nvPr/>
        </p:nvSpPr>
        <p:spPr>
          <a:xfrm>
            <a:off x="6861325" y="1857125"/>
            <a:ext cx="72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true</a:t>
            </a:r>
            <a:endParaRPr sz="1800">
              <a:solidFill>
                <a:schemeClr val="dk1"/>
              </a:solidFill>
              <a:latin typeface="Poppins"/>
              <a:ea typeface="Poppins"/>
              <a:cs typeface="Poppins"/>
              <a:sym typeface="Poppins"/>
            </a:endParaRPr>
          </a:p>
        </p:txBody>
      </p:sp>
      <p:cxnSp>
        <p:nvCxnSpPr>
          <p:cNvPr id="1136" name="Google Shape;1136;p153"/>
          <p:cNvCxnSpPr>
            <a:stCxn id="1129" idx="2"/>
            <a:endCxn id="1132" idx="0"/>
          </p:cNvCxnSpPr>
          <p:nvPr/>
        </p:nvCxnSpPr>
        <p:spPr>
          <a:xfrm>
            <a:off x="5632877" y="1155627"/>
            <a:ext cx="0" cy="409800"/>
          </a:xfrm>
          <a:prstGeom prst="straightConnector1">
            <a:avLst/>
          </a:prstGeom>
          <a:noFill/>
          <a:ln cap="flat" cmpd="sng" w="9525">
            <a:solidFill>
              <a:schemeClr val="dk1"/>
            </a:solidFill>
            <a:prstDash val="solid"/>
            <a:round/>
            <a:headEnd len="med" w="med" type="none"/>
            <a:tailEnd len="med" w="med" type="stealth"/>
          </a:ln>
        </p:spPr>
      </p:cxnSp>
      <p:sp>
        <p:nvSpPr>
          <p:cNvPr id="1137" name="Google Shape;1137;p153"/>
          <p:cNvSpPr/>
          <p:nvPr/>
        </p:nvSpPr>
        <p:spPr>
          <a:xfrm>
            <a:off x="4583438" y="3798225"/>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Return lst[index]</a:t>
            </a:r>
            <a:endParaRPr>
              <a:latin typeface="Poppins"/>
              <a:ea typeface="Poppins"/>
              <a:cs typeface="Poppins"/>
              <a:sym typeface="Poppins"/>
            </a:endParaRPr>
          </a:p>
        </p:txBody>
      </p:sp>
      <p:cxnSp>
        <p:nvCxnSpPr>
          <p:cNvPr id="1138" name="Google Shape;1138;p153"/>
          <p:cNvCxnSpPr>
            <a:stCxn id="1132" idx="2"/>
            <a:endCxn id="1137" idx="0"/>
          </p:cNvCxnSpPr>
          <p:nvPr/>
        </p:nvCxnSpPr>
        <p:spPr>
          <a:xfrm>
            <a:off x="5632863" y="2939413"/>
            <a:ext cx="0" cy="858900"/>
          </a:xfrm>
          <a:prstGeom prst="straightConnector1">
            <a:avLst/>
          </a:prstGeom>
          <a:noFill/>
          <a:ln cap="flat" cmpd="sng" w="9525">
            <a:solidFill>
              <a:schemeClr val="dk1"/>
            </a:solidFill>
            <a:prstDash val="solid"/>
            <a:round/>
            <a:headEnd len="med" w="med" type="none"/>
            <a:tailEnd len="med" w="med" type="stealth"/>
          </a:ln>
        </p:spPr>
      </p:cxnSp>
      <p:cxnSp>
        <p:nvCxnSpPr>
          <p:cNvPr id="1139" name="Google Shape;1139;p153"/>
          <p:cNvCxnSpPr>
            <a:stCxn id="1130" idx="2"/>
            <a:endCxn id="1137" idx="3"/>
          </p:cNvCxnSpPr>
          <p:nvPr/>
        </p:nvCxnSpPr>
        <p:spPr>
          <a:xfrm rot="5400000">
            <a:off x="7024713" y="3274525"/>
            <a:ext cx="543600" cy="1228500"/>
          </a:xfrm>
          <a:prstGeom prst="bentConnector2">
            <a:avLst/>
          </a:prstGeom>
          <a:noFill/>
          <a:ln cap="flat" cmpd="sng" w="9525">
            <a:solidFill>
              <a:schemeClr val="dk1"/>
            </a:solidFill>
            <a:prstDash val="solid"/>
            <a:round/>
            <a:headEnd len="med" w="med" type="none"/>
            <a:tailEnd len="med" w="med" type="stealth"/>
          </a:ln>
        </p:spPr>
      </p:cxnSp>
      <p:sp>
        <p:nvSpPr>
          <p:cNvPr id="1140" name="Google Shape;1140;p153"/>
          <p:cNvSpPr txBox="1"/>
          <p:nvPr/>
        </p:nvSpPr>
        <p:spPr>
          <a:xfrm>
            <a:off x="452400" y="1669000"/>
            <a:ext cx="3635700" cy="130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200">
                <a:solidFill>
                  <a:schemeClr val="dk1"/>
                </a:solidFill>
                <a:latin typeface="Consolas"/>
                <a:ea typeface="Consolas"/>
                <a:cs typeface="Consolas"/>
                <a:sym typeface="Consolas"/>
              </a:rPr>
              <a:t>lst = [a, b, c, d, e]</a:t>
            </a:r>
            <a:endParaRPr sz="22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sz="22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2200">
                <a:solidFill>
                  <a:schemeClr val="dk1"/>
                </a:solidFill>
                <a:latin typeface="Consolas"/>
                <a:ea typeface="Consolas"/>
                <a:cs typeface="Consolas"/>
                <a:sym typeface="Consolas"/>
              </a:rPr>
              <a:t>index = 2</a:t>
            </a:r>
            <a:endParaRPr sz="2200">
              <a:solidFill>
                <a:schemeClr val="dk1"/>
              </a:solidFill>
              <a:latin typeface="Consolas"/>
              <a:ea typeface="Consolas"/>
              <a:cs typeface="Consolas"/>
              <a:sym typeface="Consolas"/>
            </a:endParaRPr>
          </a:p>
        </p:txBody>
      </p:sp>
      <p:sp>
        <p:nvSpPr>
          <p:cNvPr id="1141" name="Google Shape;1141;p153"/>
          <p:cNvSpPr txBox="1"/>
          <p:nvPr/>
        </p:nvSpPr>
        <p:spPr>
          <a:xfrm>
            <a:off x="1062075" y="3798325"/>
            <a:ext cx="32262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Poppins"/>
                <a:ea typeface="Poppins"/>
                <a:cs typeface="Poppins"/>
                <a:sym typeface="Poppins"/>
              </a:rPr>
              <a:t>access element at index 2 </a:t>
            </a:r>
            <a:r>
              <a:rPr b="1" lang="en" sz="1800">
                <a:solidFill>
                  <a:schemeClr val="dk1"/>
                </a:solidFill>
                <a:latin typeface="Poppins"/>
                <a:ea typeface="Poppins"/>
                <a:cs typeface="Poppins"/>
                <a:sym typeface="Poppins"/>
              </a:rPr>
              <a:t>O(1) constant time</a:t>
            </a:r>
            <a:endParaRPr b="1" sz="1800">
              <a:solidFill>
                <a:schemeClr val="dk1"/>
              </a:solidFill>
              <a:latin typeface="Poppins"/>
              <a:ea typeface="Poppins"/>
              <a:cs typeface="Poppins"/>
              <a:sym typeface="Poppins"/>
            </a:endParaRPr>
          </a:p>
        </p:txBody>
      </p:sp>
      <p:sp>
        <p:nvSpPr>
          <p:cNvPr id="1142" name="Google Shape;1142;p153"/>
          <p:cNvSpPr/>
          <p:nvPr/>
        </p:nvSpPr>
        <p:spPr>
          <a:xfrm>
            <a:off x="2478175" y="1770125"/>
            <a:ext cx="286500" cy="362400"/>
          </a:xfrm>
          <a:prstGeom prst="rect">
            <a:avLst/>
          </a:prstGeom>
          <a:noFill/>
          <a:ln cap="flat" cmpd="sng" w="28575">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1143" name="Google Shape;1143;p153"/>
          <p:cNvGrpSpPr/>
          <p:nvPr/>
        </p:nvGrpSpPr>
        <p:grpSpPr>
          <a:xfrm>
            <a:off x="89100" y="4739882"/>
            <a:ext cx="324008" cy="322851"/>
            <a:chOff x="0" y="3867912"/>
            <a:chExt cx="1280160" cy="1275588"/>
          </a:xfrm>
        </p:grpSpPr>
        <p:sp>
          <p:nvSpPr>
            <p:cNvPr id="1144" name="Google Shape;1144;p153"/>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53"/>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53"/>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5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Space Complexity: get_element_at_index O(1)</a:t>
            </a:r>
            <a:endParaRPr/>
          </a:p>
        </p:txBody>
      </p:sp>
      <p:sp>
        <p:nvSpPr>
          <p:cNvPr id="1152" name="Google Shape;1152;p15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Input List:</a:t>
            </a:r>
            <a:r>
              <a:rPr lang="en"/>
              <a:t> </a:t>
            </a:r>
            <a:r>
              <a:rPr lang="en">
                <a:latin typeface="Consolas"/>
                <a:ea typeface="Consolas"/>
                <a:cs typeface="Consolas"/>
                <a:sym typeface="Consolas"/>
              </a:rPr>
              <a:t>[a, b, c, d, e]</a:t>
            </a:r>
            <a:endParaRPr>
              <a:latin typeface="Consolas"/>
              <a:ea typeface="Consolas"/>
              <a:cs typeface="Consolas"/>
              <a:sym typeface="Consolas"/>
            </a:endParaRPr>
          </a:p>
          <a:p>
            <a:pPr indent="0" lvl="0" marL="0" rtl="0" algn="l">
              <a:spcBef>
                <a:spcPts val="1000"/>
              </a:spcBef>
              <a:spcAft>
                <a:spcPts val="0"/>
              </a:spcAft>
              <a:buNone/>
            </a:pPr>
            <a:r>
              <a:rPr b="1" lang="en"/>
              <a:t>Variables:</a:t>
            </a:r>
            <a:r>
              <a:rPr lang="en"/>
              <a:t> </a:t>
            </a:r>
            <a:r>
              <a:rPr lang="en">
                <a:latin typeface="Consolas"/>
                <a:ea typeface="Consolas"/>
                <a:cs typeface="Consolas"/>
                <a:sym typeface="Consolas"/>
              </a:rPr>
              <a:t>lst</a:t>
            </a:r>
            <a:r>
              <a:rPr lang="en"/>
              <a:t>, </a:t>
            </a:r>
            <a:r>
              <a:rPr lang="en">
                <a:latin typeface="Consolas"/>
                <a:ea typeface="Consolas"/>
                <a:cs typeface="Consolas"/>
                <a:sym typeface="Consolas"/>
              </a:rPr>
              <a:t>index</a:t>
            </a:r>
            <a:r>
              <a:rPr lang="en"/>
              <a:t> (constant space)</a:t>
            </a:r>
            <a:endParaRPr/>
          </a:p>
          <a:p>
            <a:pPr indent="0" lvl="0" marL="0" rtl="0" algn="l">
              <a:spcBef>
                <a:spcPts val="1000"/>
              </a:spcBef>
              <a:spcAft>
                <a:spcPts val="0"/>
              </a:spcAft>
              <a:buNone/>
            </a:pPr>
            <a:r>
              <a:rPr b="1" lang="en"/>
              <a:t>Output:</a:t>
            </a:r>
            <a:r>
              <a:rPr lang="en"/>
              <a:t> single element or </a:t>
            </a:r>
            <a:r>
              <a:rPr lang="en">
                <a:latin typeface="Consolas"/>
                <a:ea typeface="Consolas"/>
                <a:cs typeface="Consolas"/>
                <a:sym typeface="Consolas"/>
              </a:rPr>
              <a:t>None</a:t>
            </a:r>
            <a:r>
              <a:rPr lang="en"/>
              <a:t> (constant space)</a:t>
            </a:r>
            <a:endParaRPr/>
          </a:p>
          <a:p>
            <a:pPr indent="0" lvl="0" marL="0" rtl="0" algn="l">
              <a:spcBef>
                <a:spcPts val="1000"/>
              </a:spcBef>
              <a:spcAft>
                <a:spcPts val="0"/>
              </a:spcAft>
              <a:buNone/>
            </a:pPr>
            <a:r>
              <a:t/>
            </a:r>
            <a:endParaRPr/>
          </a:p>
          <a:p>
            <a:pPr indent="0" lvl="0" marL="0" rtl="0" algn="l">
              <a:spcBef>
                <a:spcPts val="1200"/>
              </a:spcBef>
              <a:spcAft>
                <a:spcPts val="0"/>
              </a:spcAft>
              <a:buNone/>
            </a:pPr>
            <a:r>
              <a:rPr lang="en">
                <a:latin typeface="Arial"/>
                <a:ea typeface="Arial"/>
                <a:cs typeface="Arial"/>
                <a:sym typeface="Arial"/>
              </a:rPr>
              <a:t>Q: "How might the space complexity change if our input list grows in size?"</a:t>
            </a:r>
            <a:endParaRPr>
              <a:latin typeface="Arial"/>
              <a:ea typeface="Arial"/>
              <a:cs typeface="Arial"/>
              <a:sym typeface="Arial"/>
            </a:endParaRPr>
          </a:p>
          <a:p>
            <a:pPr indent="0" lvl="0" marL="0" rtl="0" algn="l">
              <a:spcBef>
                <a:spcPts val="1200"/>
              </a:spcBef>
              <a:spcAft>
                <a:spcPts val="1200"/>
              </a:spcAft>
              <a:buNone/>
            </a:pPr>
            <a:r>
              <a:rPr lang="en">
                <a:latin typeface="Arial"/>
                <a:ea typeface="Arial"/>
                <a:cs typeface="Arial"/>
                <a:sym typeface="Arial"/>
              </a:rPr>
              <a:t>The memory usage is </a:t>
            </a:r>
            <a:r>
              <a:rPr b="1" lang="en">
                <a:latin typeface="Arial"/>
                <a:ea typeface="Arial"/>
                <a:cs typeface="Arial"/>
                <a:sym typeface="Arial"/>
              </a:rPr>
              <a:t>constant</a:t>
            </a:r>
            <a:r>
              <a:rPr lang="en">
                <a:latin typeface="Arial"/>
                <a:ea typeface="Arial"/>
                <a:cs typeface="Arial"/>
                <a:sym typeface="Arial"/>
              </a:rPr>
              <a:t>, O(1), because it </a:t>
            </a:r>
            <a:r>
              <a:rPr b="1" lang="en">
                <a:latin typeface="Arial"/>
                <a:ea typeface="Arial"/>
                <a:cs typeface="Arial"/>
                <a:sym typeface="Arial"/>
              </a:rPr>
              <a:t>doesn’t grow</a:t>
            </a:r>
            <a:r>
              <a:rPr lang="en">
                <a:latin typeface="Arial"/>
                <a:ea typeface="Arial"/>
                <a:cs typeface="Arial"/>
                <a:sym typeface="Arial"/>
              </a:rPr>
              <a:t> with the size of the input list. This makes the function memory-efficient, even for very large inputs.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55"/>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158" name="Google Shape;1158;p155"/>
          <p:cNvSpPr txBox="1"/>
          <p:nvPr>
            <p:ph idx="2" type="body"/>
          </p:nvPr>
        </p:nvSpPr>
        <p:spPr>
          <a:xfrm>
            <a:off x="452400" y="1260488"/>
            <a:ext cx="8239200" cy="2696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What is the Big(O)?</a:t>
            </a:r>
            <a:endParaRPr b="1"/>
          </a:p>
          <a:p>
            <a:pPr indent="0" lvl="0" marL="457200" rtl="0" algn="l">
              <a:spcBef>
                <a:spcPts val="1000"/>
              </a:spcBef>
              <a:spcAft>
                <a:spcPts val="0"/>
              </a:spcAft>
              <a:buNone/>
            </a:pPr>
            <a:r>
              <a:rPr lang="en">
                <a:latin typeface="Consolas"/>
                <a:ea typeface="Consolas"/>
                <a:cs typeface="Consolas"/>
                <a:sym typeface="Consolas"/>
              </a:rPr>
              <a:t>def sum_array(arr):</a:t>
            </a:r>
            <a:endParaRPr>
              <a:latin typeface="Consolas"/>
              <a:ea typeface="Consolas"/>
              <a:cs typeface="Consolas"/>
              <a:sym typeface="Consolas"/>
            </a:endParaRPr>
          </a:p>
          <a:p>
            <a:pPr indent="0" lvl="0" marL="457200" rtl="0" algn="l">
              <a:spcBef>
                <a:spcPts val="1000"/>
              </a:spcBef>
              <a:spcAft>
                <a:spcPts val="0"/>
              </a:spcAft>
              <a:buNone/>
            </a:pPr>
            <a:r>
              <a:rPr lang="en">
                <a:latin typeface="Consolas"/>
                <a:ea typeface="Consolas"/>
                <a:cs typeface="Consolas"/>
                <a:sym typeface="Consolas"/>
              </a:rPr>
              <a:t>    total = 0</a:t>
            </a:r>
            <a:endParaRPr>
              <a:latin typeface="Consolas"/>
              <a:ea typeface="Consolas"/>
              <a:cs typeface="Consolas"/>
              <a:sym typeface="Consolas"/>
            </a:endParaRPr>
          </a:p>
          <a:p>
            <a:pPr indent="0" lvl="0" marL="457200" rtl="0" algn="l">
              <a:spcBef>
                <a:spcPts val="1000"/>
              </a:spcBef>
              <a:spcAft>
                <a:spcPts val="0"/>
              </a:spcAft>
              <a:buNone/>
            </a:pPr>
            <a:r>
              <a:rPr lang="en">
                <a:latin typeface="Consolas"/>
                <a:ea typeface="Consolas"/>
                <a:cs typeface="Consolas"/>
                <a:sym typeface="Consolas"/>
              </a:rPr>
              <a:t>    for num in arr:</a:t>
            </a:r>
            <a:endParaRPr>
              <a:latin typeface="Consolas"/>
              <a:ea typeface="Consolas"/>
              <a:cs typeface="Consolas"/>
              <a:sym typeface="Consolas"/>
            </a:endParaRPr>
          </a:p>
          <a:p>
            <a:pPr indent="0" lvl="0" marL="457200" rtl="0" algn="l">
              <a:spcBef>
                <a:spcPts val="1000"/>
              </a:spcBef>
              <a:spcAft>
                <a:spcPts val="0"/>
              </a:spcAft>
              <a:buNone/>
            </a:pPr>
            <a:r>
              <a:rPr lang="en">
                <a:latin typeface="Consolas"/>
                <a:ea typeface="Consolas"/>
                <a:cs typeface="Consolas"/>
                <a:sym typeface="Consolas"/>
              </a:rPr>
              <a:t>        total += num</a:t>
            </a:r>
            <a:endParaRPr>
              <a:latin typeface="Consolas"/>
              <a:ea typeface="Consolas"/>
              <a:cs typeface="Consolas"/>
              <a:sym typeface="Consolas"/>
            </a:endParaRPr>
          </a:p>
          <a:p>
            <a:pPr indent="0" lvl="0" marL="457200" rtl="0" algn="l">
              <a:spcBef>
                <a:spcPts val="1000"/>
              </a:spcBef>
              <a:spcAft>
                <a:spcPts val="1000"/>
              </a:spcAft>
              <a:buNone/>
            </a:pPr>
            <a:r>
              <a:rPr lang="en">
                <a:latin typeface="Consolas"/>
                <a:ea typeface="Consolas"/>
                <a:cs typeface="Consolas"/>
                <a:sym typeface="Consolas"/>
              </a:rPr>
              <a:t>    return total</a:t>
            </a:r>
            <a:endParaRPr>
              <a:latin typeface="Consolas"/>
              <a:ea typeface="Consolas"/>
              <a:cs typeface="Consolas"/>
              <a:sym typeface="Consolas"/>
            </a:endParaRPr>
          </a:p>
        </p:txBody>
      </p:sp>
      <p:sp>
        <p:nvSpPr>
          <p:cNvPr id="1159" name="Google Shape;1159;p15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56"/>
          <p:cNvSpPr txBox="1"/>
          <p:nvPr>
            <p:ph idx="1" type="body"/>
          </p:nvPr>
        </p:nvSpPr>
        <p:spPr>
          <a:xfrm>
            <a:off x="452400" y="1132825"/>
            <a:ext cx="8239200" cy="224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nsolas"/>
                <a:ea typeface="Consolas"/>
                <a:cs typeface="Consolas"/>
                <a:sym typeface="Consolas"/>
              </a:rPr>
              <a:t>def sum_array(arr):</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total = 0</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for num in arr:</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total += num</a:t>
            </a:r>
            <a:endParaRPr>
              <a:latin typeface="Consolas"/>
              <a:ea typeface="Consolas"/>
              <a:cs typeface="Consolas"/>
              <a:sym typeface="Consolas"/>
            </a:endParaRPr>
          </a:p>
          <a:p>
            <a:pPr indent="0" lvl="0" marL="0" rtl="0" algn="l">
              <a:spcBef>
                <a:spcPts val="1000"/>
              </a:spcBef>
              <a:spcAft>
                <a:spcPts val="1000"/>
              </a:spcAft>
              <a:buNone/>
            </a:pPr>
            <a:r>
              <a:rPr lang="en">
                <a:latin typeface="Consolas"/>
                <a:ea typeface="Consolas"/>
                <a:cs typeface="Consolas"/>
                <a:sym typeface="Consolas"/>
              </a:rPr>
              <a:t>    return total</a:t>
            </a:r>
            <a:endParaRPr>
              <a:latin typeface="Consolas"/>
              <a:ea typeface="Consolas"/>
              <a:cs typeface="Consolas"/>
              <a:sym typeface="Consolas"/>
            </a:endParaRPr>
          </a:p>
        </p:txBody>
      </p:sp>
      <p:sp>
        <p:nvSpPr>
          <p:cNvPr id="1165" name="Google Shape;1165;p156"/>
          <p:cNvSpPr/>
          <p:nvPr/>
        </p:nvSpPr>
        <p:spPr>
          <a:xfrm>
            <a:off x="2183750" y="3570525"/>
            <a:ext cx="1979100" cy="8379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O(n) time</a:t>
            </a:r>
            <a:endParaRPr b="1" sz="1800">
              <a:solidFill>
                <a:schemeClr val="lt1"/>
              </a:solidFill>
              <a:latin typeface="Poppins"/>
              <a:ea typeface="Poppins"/>
              <a:cs typeface="Poppins"/>
              <a:sym typeface="Poppins"/>
            </a:endParaRPr>
          </a:p>
        </p:txBody>
      </p:sp>
      <p:sp>
        <p:nvSpPr>
          <p:cNvPr id="1166" name="Google Shape;1166;p156"/>
          <p:cNvSpPr/>
          <p:nvPr/>
        </p:nvSpPr>
        <p:spPr>
          <a:xfrm>
            <a:off x="4440700" y="3570525"/>
            <a:ext cx="1979100" cy="8379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O(1) space</a:t>
            </a:r>
            <a:endParaRPr b="1" sz="1800">
              <a:solidFill>
                <a:schemeClr val="lt1"/>
              </a:solidFill>
              <a:latin typeface="Poppins"/>
              <a:ea typeface="Poppins"/>
              <a:cs typeface="Poppins"/>
              <a:sym typeface="Poppins"/>
            </a:endParaRPr>
          </a:p>
        </p:txBody>
      </p:sp>
      <p:sp>
        <p:nvSpPr>
          <p:cNvPr id="1167" name="Google Shape;1167;p156"/>
          <p:cNvSpPr/>
          <p:nvPr/>
        </p:nvSpPr>
        <p:spPr>
          <a:xfrm>
            <a:off x="2111175" y="3461375"/>
            <a:ext cx="2163900" cy="104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68" name="Google Shape;1168;p156"/>
          <p:cNvSpPr/>
          <p:nvPr/>
        </p:nvSpPr>
        <p:spPr>
          <a:xfrm>
            <a:off x="4348300" y="3461375"/>
            <a:ext cx="2163900" cy="104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69" name="Google Shape;1169;p15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the Big(O)?</a:t>
            </a:r>
            <a:endParaRPr/>
          </a:p>
        </p:txBody>
      </p:sp>
      <p:grpSp>
        <p:nvGrpSpPr>
          <p:cNvPr id="1170" name="Google Shape;1170;p156"/>
          <p:cNvGrpSpPr/>
          <p:nvPr/>
        </p:nvGrpSpPr>
        <p:grpSpPr>
          <a:xfrm>
            <a:off x="89100" y="4739882"/>
            <a:ext cx="324008" cy="322851"/>
            <a:chOff x="0" y="3867912"/>
            <a:chExt cx="1280160" cy="1275588"/>
          </a:xfrm>
        </p:grpSpPr>
        <p:sp>
          <p:nvSpPr>
            <p:cNvPr id="1171" name="Google Shape;1171;p156"/>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56"/>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56"/>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6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57"/>
          <p:cNvSpPr txBox="1"/>
          <p:nvPr>
            <p:ph type="title"/>
          </p:nvPr>
        </p:nvSpPr>
        <p:spPr>
          <a:xfrm>
            <a:off x="452400" y="481275"/>
            <a:ext cx="39477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Time Complexity: sum_array</a:t>
            </a:r>
            <a:endParaRPr/>
          </a:p>
        </p:txBody>
      </p:sp>
      <p:sp>
        <p:nvSpPr>
          <p:cNvPr id="1179" name="Google Shape;1179;p157"/>
          <p:cNvSpPr/>
          <p:nvPr/>
        </p:nvSpPr>
        <p:spPr>
          <a:xfrm>
            <a:off x="4345400" y="481275"/>
            <a:ext cx="1660554" cy="674352"/>
          </a:xfrm>
          <a:prstGeom prst="flowChartTerminator">
            <a:avLst/>
          </a:prstGeom>
          <a:solidFill>
            <a:srgbClr val="00C98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Poppins"/>
                <a:ea typeface="Poppins"/>
                <a:cs typeface="Poppins"/>
                <a:sym typeface="Poppins"/>
              </a:rPr>
              <a:t>START</a:t>
            </a:r>
            <a:endParaRPr b="1">
              <a:solidFill>
                <a:schemeClr val="lt1"/>
              </a:solidFill>
              <a:latin typeface="Poppins"/>
              <a:ea typeface="Poppins"/>
              <a:cs typeface="Poppins"/>
              <a:sym typeface="Poppins"/>
            </a:endParaRPr>
          </a:p>
        </p:txBody>
      </p:sp>
      <p:sp>
        <p:nvSpPr>
          <p:cNvPr id="1180" name="Google Shape;1180;p157"/>
          <p:cNvSpPr/>
          <p:nvPr/>
        </p:nvSpPr>
        <p:spPr>
          <a:xfrm>
            <a:off x="4126250" y="1404675"/>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initialize total = 0</a:t>
            </a:r>
            <a:endParaRPr>
              <a:latin typeface="Poppins"/>
              <a:ea typeface="Poppins"/>
              <a:cs typeface="Poppins"/>
              <a:sym typeface="Poppins"/>
            </a:endParaRPr>
          </a:p>
        </p:txBody>
      </p:sp>
      <p:sp>
        <p:nvSpPr>
          <p:cNvPr id="1181" name="Google Shape;1181;p157"/>
          <p:cNvSpPr/>
          <p:nvPr/>
        </p:nvSpPr>
        <p:spPr>
          <a:xfrm>
            <a:off x="6857288" y="2733250"/>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total += num</a:t>
            </a:r>
            <a:endParaRPr>
              <a:latin typeface="Poppins"/>
              <a:ea typeface="Poppins"/>
              <a:cs typeface="Poppins"/>
              <a:sym typeface="Poppins"/>
            </a:endParaRPr>
          </a:p>
        </p:txBody>
      </p:sp>
      <p:sp>
        <p:nvSpPr>
          <p:cNvPr id="1182" name="Google Shape;1182;p157"/>
          <p:cNvSpPr txBox="1"/>
          <p:nvPr/>
        </p:nvSpPr>
        <p:spPr>
          <a:xfrm>
            <a:off x="452400" y="1669000"/>
            <a:ext cx="2902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arr = [a, b, c, d, e]</a:t>
            </a:r>
            <a:endParaRPr sz="1800">
              <a:solidFill>
                <a:schemeClr val="dk1"/>
              </a:solidFill>
              <a:latin typeface="Consolas"/>
              <a:ea typeface="Consolas"/>
              <a:cs typeface="Consolas"/>
              <a:sym typeface="Consolas"/>
            </a:endParaRPr>
          </a:p>
        </p:txBody>
      </p:sp>
      <p:sp>
        <p:nvSpPr>
          <p:cNvPr id="1183" name="Google Shape;1183;p157"/>
          <p:cNvSpPr/>
          <p:nvPr/>
        </p:nvSpPr>
        <p:spPr>
          <a:xfrm>
            <a:off x="4126238" y="4227925"/>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Return total</a:t>
            </a:r>
            <a:endParaRPr>
              <a:latin typeface="Poppins"/>
              <a:ea typeface="Poppins"/>
              <a:cs typeface="Poppins"/>
              <a:sym typeface="Poppins"/>
            </a:endParaRPr>
          </a:p>
        </p:txBody>
      </p:sp>
      <p:sp>
        <p:nvSpPr>
          <p:cNvPr id="1184" name="Google Shape;1184;p157"/>
          <p:cNvSpPr txBox="1"/>
          <p:nvPr/>
        </p:nvSpPr>
        <p:spPr>
          <a:xfrm>
            <a:off x="1757400" y="2788650"/>
            <a:ext cx="226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loop runs </a:t>
            </a:r>
            <a:r>
              <a:rPr b="1" i="1" lang="en" sz="1800">
                <a:solidFill>
                  <a:schemeClr val="dk1"/>
                </a:solidFill>
                <a:latin typeface="Poppins"/>
                <a:ea typeface="Poppins"/>
                <a:cs typeface="Poppins"/>
                <a:sym typeface="Poppins"/>
              </a:rPr>
              <a:t>n</a:t>
            </a:r>
            <a:r>
              <a:rPr lang="en" sz="1800">
                <a:solidFill>
                  <a:schemeClr val="dk1"/>
                </a:solidFill>
                <a:latin typeface="Poppins"/>
                <a:ea typeface="Poppins"/>
                <a:cs typeface="Poppins"/>
                <a:sym typeface="Poppins"/>
              </a:rPr>
              <a:t> times</a:t>
            </a:r>
            <a:endParaRPr sz="1800">
              <a:solidFill>
                <a:schemeClr val="dk1"/>
              </a:solidFill>
              <a:latin typeface="Poppins"/>
              <a:ea typeface="Poppins"/>
              <a:cs typeface="Poppins"/>
              <a:sym typeface="Poppins"/>
            </a:endParaRPr>
          </a:p>
        </p:txBody>
      </p:sp>
      <p:sp>
        <p:nvSpPr>
          <p:cNvPr id="1185" name="Google Shape;1185;p157"/>
          <p:cNvSpPr txBox="1"/>
          <p:nvPr/>
        </p:nvSpPr>
        <p:spPr>
          <a:xfrm>
            <a:off x="6806788" y="1832850"/>
            <a:ext cx="2199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each step takes constant time</a:t>
            </a:r>
            <a:endParaRPr sz="1800">
              <a:solidFill>
                <a:schemeClr val="dk1"/>
              </a:solidFill>
              <a:latin typeface="Poppins"/>
              <a:ea typeface="Poppins"/>
              <a:cs typeface="Poppins"/>
              <a:sym typeface="Poppins"/>
            </a:endParaRPr>
          </a:p>
        </p:txBody>
      </p:sp>
      <p:cxnSp>
        <p:nvCxnSpPr>
          <p:cNvPr id="1186" name="Google Shape;1186;p157"/>
          <p:cNvCxnSpPr>
            <a:stCxn id="1179" idx="2"/>
            <a:endCxn id="1180" idx="0"/>
          </p:cNvCxnSpPr>
          <p:nvPr/>
        </p:nvCxnSpPr>
        <p:spPr>
          <a:xfrm>
            <a:off x="5175677" y="1155627"/>
            <a:ext cx="0" cy="249000"/>
          </a:xfrm>
          <a:prstGeom prst="straightConnector1">
            <a:avLst/>
          </a:prstGeom>
          <a:noFill/>
          <a:ln cap="flat" cmpd="sng" w="9525">
            <a:solidFill>
              <a:schemeClr val="dk1"/>
            </a:solidFill>
            <a:prstDash val="solid"/>
            <a:round/>
            <a:headEnd len="med" w="med" type="none"/>
            <a:tailEnd len="med" w="med" type="stealth"/>
          </a:ln>
        </p:spPr>
      </p:cxnSp>
      <p:grpSp>
        <p:nvGrpSpPr>
          <p:cNvPr id="1187" name="Google Shape;1187;p157"/>
          <p:cNvGrpSpPr/>
          <p:nvPr/>
        </p:nvGrpSpPr>
        <p:grpSpPr>
          <a:xfrm>
            <a:off x="4075663" y="2408713"/>
            <a:ext cx="2200025" cy="1373950"/>
            <a:chOff x="3295825" y="2343325"/>
            <a:chExt cx="2200025" cy="1373950"/>
          </a:xfrm>
        </p:grpSpPr>
        <p:sp>
          <p:nvSpPr>
            <p:cNvPr id="1188" name="Google Shape;1188;p157"/>
            <p:cNvSpPr/>
            <p:nvPr/>
          </p:nvSpPr>
          <p:spPr>
            <a:xfrm>
              <a:off x="3295825" y="2343325"/>
              <a:ext cx="2200025" cy="1373950"/>
            </a:xfrm>
            <a:prstGeom prst="flowChartDecision">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89" name="Google Shape;1189;p157"/>
            <p:cNvSpPr txBox="1"/>
            <p:nvPr/>
          </p:nvSpPr>
          <p:spPr>
            <a:xfrm>
              <a:off x="3413825" y="2739500"/>
              <a:ext cx="1930500" cy="61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oppins"/>
                  <a:ea typeface="Poppins"/>
                  <a:cs typeface="Poppins"/>
                  <a:sym typeface="Poppins"/>
                </a:rPr>
                <a:t>Last item?</a:t>
              </a:r>
              <a:endParaRPr sz="1800">
                <a:solidFill>
                  <a:schemeClr val="dk2"/>
                </a:solidFill>
                <a:latin typeface="Poppins"/>
                <a:ea typeface="Poppins"/>
                <a:cs typeface="Poppins"/>
                <a:sym typeface="Poppins"/>
              </a:endParaRPr>
            </a:p>
          </p:txBody>
        </p:sp>
      </p:grpSp>
      <p:cxnSp>
        <p:nvCxnSpPr>
          <p:cNvPr id="1190" name="Google Shape;1190;p157"/>
          <p:cNvCxnSpPr>
            <a:stCxn id="1188" idx="3"/>
            <a:endCxn id="1181" idx="1"/>
          </p:cNvCxnSpPr>
          <p:nvPr/>
        </p:nvCxnSpPr>
        <p:spPr>
          <a:xfrm>
            <a:off x="6275688" y="3095688"/>
            <a:ext cx="581700" cy="0"/>
          </a:xfrm>
          <a:prstGeom prst="straightConnector1">
            <a:avLst/>
          </a:prstGeom>
          <a:noFill/>
          <a:ln cap="flat" cmpd="sng" w="9525">
            <a:solidFill>
              <a:schemeClr val="dk1"/>
            </a:solidFill>
            <a:prstDash val="solid"/>
            <a:round/>
            <a:headEnd len="med" w="med" type="none"/>
            <a:tailEnd len="med" w="med" type="stealth"/>
          </a:ln>
        </p:spPr>
      </p:cxnSp>
      <p:cxnSp>
        <p:nvCxnSpPr>
          <p:cNvPr id="1191" name="Google Shape;1191;p157"/>
          <p:cNvCxnSpPr>
            <a:stCxn id="1188" idx="2"/>
            <a:endCxn id="1183" idx="0"/>
          </p:cNvCxnSpPr>
          <p:nvPr/>
        </p:nvCxnSpPr>
        <p:spPr>
          <a:xfrm>
            <a:off x="5175675" y="3782663"/>
            <a:ext cx="0" cy="445200"/>
          </a:xfrm>
          <a:prstGeom prst="straightConnector1">
            <a:avLst/>
          </a:prstGeom>
          <a:noFill/>
          <a:ln cap="flat" cmpd="sng" w="9525">
            <a:solidFill>
              <a:schemeClr val="dk1"/>
            </a:solidFill>
            <a:prstDash val="solid"/>
            <a:round/>
            <a:headEnd len="med" w="med" type="none"/>
            <a:tailEnd len="med" w="med" type="stealth"/>
          </a:ln>
        </p:spPr>
      </p:cxnSp>
      <p:cxnSp>
        <p:nvCxnSpPr>
          <p:cNvPr id="1192" name="Google Shape;1192;p157"/>
          <p:cNvCxnSpPr>
            <a:stCxn id="1180" idx="2"/>
            <a:endCxn id="1188" idx="0"/>
          </p:cNvCxnSpPr>
          <p:nvPr/>
        </p:nvCxnSpPr>
        <p:spPr>
          <a:xfrm>
            <a:off x="5175688" y="2129575"/>
            <a:ext cx="0" cy="279000"/>
          </a:xfrm>
          <a:prstGeom prst="straightConnector1">
            <a:avLst/>
          </a:prstGeom>
          <a:noFill/>
          <a:ln cap="flat" cmpd="sng" w="9525">
            <a:solidFill>
              <a:schemeClr val="dk1"/>
            </a:solidFill>
            <a:prstDash val="solid"/>
            <a:round/>
            <a:headEnd len="med" w="med" type="none"/>
            <a:tailEnd len="med" w="med" type="stealth"/>
          </a:ln>
        </p:spPr>
      </p:cxnSp>
      <p:sp>
        <p:nvSpPr>
          <p:cNvPr id="1193" name="Google Shape;1193;p157"/>
          <p:cNvSpPr txBox="1"/>
          <p:nvPr/>
        </p:nvSpPr>
        <p:spPr>
          <a:xfrm>
            <a:off x="6275700" y="2634000"/>
            <a:ext cx="58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no</a:t>
            </a:r>
            <a:endParaRPr sz="1800">
              <a:solidFill>
                <a:schemeClr val="dk1"/>
              </a:solidFill>
              <a:latin typeface="Poppins"/>
              <a:ea typeface="Poppins"/>
              <a:cs typeface="Poppins"/>
              <a:sym typeface="Poppins"/>
            </a:endParaRPr>
          </a:p>
        </p:txBody>
      </p:sp>
      <p:sp>
        <p:nvSpPr>
          <p:cNvPr id="1194" name="Google Shape;1194;p157"/>
          <p:cNvSpPr txBox="1"/>
          <p:nvPr/>
        </p:nvSpPr>
        <p:spPr>
          <a:xfrm>
            <a:off x="4572000" y="3722025"/>
            <a:ext cx="64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yes</a:t>
            </a:r>
            <a:endParaRPr sz="1800">
              <a:solidFill>
                <a:schemeClr val="dk1"/>
              </a:solidFill>
              <a:latin typeface="Poppins"/>
              <a:ea typeface="Poppins"/>
              <a:cs typeface="Poppins"/>
              <a:sym typeface="Poppins"/>
            </a:endParaRPr>
          </a:p>
        </p:txBody>
      </p:sp>
      <p:grpSp>
        <p:nvGrpSpPr>
          <p:cNvPr id="1195" name="Google Shape;1195;p157"/>
          <p:cNvGrpSpPr/>
          <p:nvPr/>
        </p:nvGrpSpPr>
        <p:grpSpPr>
          <a:xfrm>
            <a:off x="89100" y="4739882"/>
            <a:ext cx="324008" cy="322851"/>
            <a:chOff x="0" y="3867912"/>
            <a:chExt cx="1280160" cy="1275588"/>
          </a:xfrm>
        </p:grpSpPr>
        <p:sp>
          <p:nvSpPr>
            <p:cNvPr id="1196" name="Google Shape;1196;p157"/>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57"/>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57"/>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5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Space Complexity: sum_array</a:t>
            </a:r>
            <a:endParaRPr/>
          </a:p>
        </p:txBody>
      </p:sp>
      <p:sp>
        <p:nvSpPr>
          <p:cNvPr id="1204" name="Google Shape;1204;p15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Input List:</a:t>
            </a:r>
            <a:r>
              <a:rPr lang="en"/>
              <a:t> </a:t>
            </a:r>
            <a:r>
              <a:rPr lang="en">
                <a:latin typeface="Consolas"/>
                <a:ea typeface="Consolas"/>
                <a:cs typeface="Consolas"/>
                <a:sym typeface="Consolas"/>
              </a:rPr>
              <a:t>[a, b, c, d, e]</a:t>
            </a:r>
            <a:endParaRPr>
              <a:latin typeface="Consolas"/>
              <a:ea typeface="Consolas"/>
              <a:cs typeface="Consolas"/>
              <a:sym typeface="Consolas"/>
            </a:endParaRPr>
          </a:p>
          <a:p>
            <a:pPr indent="0" lvl="0" marL="0" rtl="0" algn="l">
              <a:spcBef>
                <a:spcPts val="1000"/>
              </a:spcBef>
              <a:spcAft>
                <a:spcPts val="0"/>
              </a:spcAft>
              <a:buNone/>
            </a:pPr>
            <a:r>
              <a:rPr b="1" lang="en"/>
              <a:t>Variables:</a:t>
            </a:r>
            <a:r>
              <a:rPr lang="en"/>
              <a:t> </a:t>
            </a:r>
            <a:r>
              <a:rPr lang="en">
                <a:latin typeface="Consolas"/>
                <a:ea typeface="Consolas"/>
                <a:cs typeface="Consolas"/>
                <a:sym typeface="Consolas"/>
              </a:rPr>
              <a:t>total</a:t>
            </a:r>
            <a:r>
              <a:rPr lang="en"/>
              <a:t>, </a:t>
            </a:r>
            <a:r>
              <a:rPr lang="en">
                <a:latin typeface="Consolas"/>
                <a:ea typeface="Consolas"/>
                <a:cs typeface="Consolas"/>
                <a:sym typeface="Consolas"/>
              </a:rPr>
              <a:t>num</a:t>
            </a:r>
            <a:r>
              <a:rPr lang="en"/>
              <a:t> (constant space)</a:t>
            </a:r>
            <a:endParaRPr/>
          </a:p>
          <a:p>
            <a:pPr indent="0" lvl="0" marL="0" rtl="0" algn="l">
              <a:spcBef>
                <a:spcPts val="1000"/>
              </a:spcBef>
              <a:spcAft>
                <a:spcPts val="1000"/>
              </a:spcAft>
              <a:buNone/>
            </a:pPr>
            <a:r>
              <a:rPr b="1" lang="en"/>
              <a:t>Output:</a:t>
            </a:r>
            <a:r>
              <a:rPr lang="en"/>
              <a:t> </a:t>
            </a:r>
            <a:r>
              <a:rPr lang="en">
                <a:latin typeface="Consolas"/>
                <a:ea typeface="Consolas"/>
                <a:cs typeface="Consolas"/>
                <a:sym typeface="Consolas"/>
              </a:rPr>
              <a:t>total</a:t>
            </a:r>
            <a:r>
              <a:rPr lang="en"/>
              <a:t> (constant space)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15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Space Complexity: sum_array</a:t>
            </a:r>
            <a:endParaRPr/>
          </a:p>
        </p:txBody>
      </p:sp>
      <p:sp>
        <p:nvSpPr>
          <p:cNvPr id="1210" name="Google Shape;1210;p15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Input List:</a:t>
            </a:r>
            <a:r>
              <a:rPr lang="en"/>
              <a:t> </a:t>
            </a:r>
            <a:r>
              <a:rPr lang="en">
                <a:latin typeface="Consolas"/>
                <a:ea typeface="Consolas"/>
                <a:cs typeface="Consolas"/>
                <a:sym typeface="Consolas"/>
              </a:rPr>
              <a:t>[a, b, c, d, e]</a:t>
            </a:r>
            <a:endParaRPr b="1"/>
          </a:p>
          <a:p>
            <a:pPr indent="0" lvl="0" marL="0" rtl="0" algn="l">
              <a:spcBef>
                <a:spcPts val="1000"/>
              </a:spcBef>
              <a:spcAft>
                <a:spcPts val="0"/>
              </a:spcAft>
              <a:buNone/>
            </a:pPr>
            <a:r>
              <a:rPr b="1" lang="en"/>
              <a:t>Variables:</a:t>
            </a:r>
            <a:r>
              <a:rPr lang="en"/>
              <a:t> </a:t>
            </a:r>
            <a:r>
              <a:rPr lang="en">
                <a:latin typeface="Consolas"/>
                <a:ea typeface="Consolas"/>
                <a:cs typeface="Consolas"/>
                <a:sym typeface="Consolas"/>
              </a:rPr>
              <a:t>total</a:t>
            </a:r>
            <a:r>
              <a:rPr lang="en"/>
              <a:t>, </a:t>
            </a:r>
            <a:r>
              <a:rPr lang="en">
                <a:latin typeface="Consolas"/>
                <a:ea typeface="Consolas"/>
                <a:cs typeface="Consolas"/>
                <a:sym typeface="Consolas"/>
              </a:rPr>
              <a:t>num</a:t>
            </a:r>
            <a:r>
              <a:rPr lang="en"/>
              <a:t> (constant space)</a:t>
            </a:r>
            <a:endParaRPr/>
          </a:p>
          <a:p>
            <a:pPr indent="0" lvl="0" marL="0" rtl="0" algn="l">
              <a:spcBef>
                <a:spcPts val="1000"/>
              </a:spcBef>
              <a:spcAft>
                <a:spcPts val="0"/>
              </a:spcAft>
              <a:buNone/>
            </a:pPr>
            <a:r>
              <a:rPr b="1" lang="en"/>
              <a:t>Output:</a:t>
            </a:r>
            <a:r>
              <a:rPr lang="en"/>
              <a:t> </a:t>
            </a:r>
            <a:r>
              <a:rPr lang="en">
                <a:latin typeface="Consolas"/>
                <a:ea typeface="Consolas"/>
                <a:cs typeface="Consolas"/>
                <a:sym typeface="Consolas"/>
              </a:rPr>
              <a:t>total</a:t>
            </a:r>
            <a:r>
              <a:rPr lang="en"/>
              <a:t> (constant space)</a:t>
            </a:r>
            <a:endParaRPr/>
          </a:p>
          <a:p>
            <a:pPr indent="0" lvl="0" marL="0" rtl="0" algn="l">
              <a:spcBef>
                <a:spcPts val="1000"/>
              </a:spcBef>
              <a:spcAft>
                <a:spcPts val="0"/>
              </a:spcAft>
              <a:buNone/>
            </a:pPr>
            <a:r>
              <a:t/>
            </a:r>
            <a:endParaRPr/>
          </a:p>
          <a:p>
            <a:pPr indent="0" lvl="0" marL="0" rtl="0" algn="l">
              <a:spcBef>
                <a:spcPts val="1200"/>
              </a:spcBef>
              <a:spcAft>
                <a:spcPts val="0"/>
              </a:spcAft>
              <a:buNone/>
            </a:pPr>
            <a:r>
              <a:rPr lang="en">
                <a:latin typeface="Arial"/>
                <a:ea typeface="Arial"/>
                <a:cs typeface="Arial"/>
                <a:sym typeface="Arial"/>
              </a:rPr>
              <a:t>The input list, </a:t>
            </a:r>
            <a:r>
              <a:rPr lang="en">
                <a:solidFill>
                  <a:srgbClr val="188038"/>
                </a:solidFill>
                <a:latin typeface="Roboto Mono"/>
                <a:ea typeface="Roboto Mono"/>
                <a:cs typeface="Roboto Mono"/>
                <a:sym typeface="Roboto Mono"/>
              </a:rPr>
              <a:t>[a, b, c, d, e]</a:t>
            </a:r>
            <a:r>
              <a:rPr lang="en">
                <a:latin typeface="Arial"/>
                <a:ea typeface="Arial"/>
                <a:cs typeface="Arial"/>
                <a:sym typeface="Arial"/>
              </a:rPr>
              <a:t>, is provided as input, so the function </a:t>
            </a:r>
            <a:r>
              <a:rPr b="1" lang="en">
                <a:latin typeface="Arial"/>
                <a:ea typeface="Arial"/>
                <a:cs typeface="Arial"/>
                <a:sym typeface="Arial"/>
              </a:rPr>
              <a:t>doesn’t create</a:t>
            </a:r>
            <a:r>
              <a:rPr lang="en">
                <a:latin typeface="Arial"/>
                <a:ea typeface="Arial"/>
                <a:cs typeface="Arial"/>
                <a:sym typeface="Arial"/>
              </a:rPr>
              <a:t> any new data structures that depend on its size.</a:t>
            </a:r>
            <a:endParaRPr>
              <a:latin typeface="Arial"/>
              <a:ea typeface="Arial"/>
              <a:cs typeface="Arial"/>
              <a:sym typeface="Arial"/>
            </a:endParaRPr>
          </a:p>
          <a:p>
            <a:pPr indent="0" lvl="0" marL="0" rtl="0" algn="l">
              <a:spcBef>
                <a:spcPts val="1200"/>
              </a:spcBef>
              <a:spcAft>
                <a:spcPts val="0"/>
              </a:spcAft>
              <a:buNone/>
            </a:pPr>
            <a:r>
              <a:rPr lang="en">
                <a:latin typeface="Arial"/>
                <a:ea typeface="Arial"/>
                <a:cs typeface="Arial"/>
                <a:sym typeface="Arial"/>
              </a:rPr>
              <a:t>The output is also a single value, </a:t>
            </a:r>
            <a:r>
              <a:rPr lang="en">
                <a:solidFill>
                  <a:srgbClr val="188038"/>
                </a:solidFill>
                <a:latin typeface="Roboto Mono"/>
                <a:ea typeface="Roboto Mono"/>
                <a:cs typeface="Roboto Mono"/>
                <a:sym typeface="Roboto Mono"/>
              </a:rPr>
              <a:t>total</a:t>
            </a:r>
            <a:r>
              <a:rPr lang="en">
                <a:latin typeface="Arial"/>
                <a:ea typeface="Arial"/>
                <a:cs typeface="Arial"/>
                <a:sym typeface="Arial"/>
              </a:rPr>
              <a:t>, which </a:t>
            </a:r>
            <a:r>
              <a:rPr b="1" lang="en">
                <a:latin typeface="Arial"/>
                <a:ea typeface="Arial"/>
                <a:cs typeface="Arial"/>
                <a:sym typeface="Arial"/>
              </a:rPr>
              <a:t>doesn’t grow</a:t>
            </a:r>
            <a:r>
              <a:rPr lang="en">
                <a:latin typeface="Arial"/>
                <a:ea typeface="Arial"/>
                <a:cs typeface="Arial"/>
                <a:sym typeface="Arial"/>
              </a:rPr>
              <a:t> with the size of the array. Thus, the space complexity is O(1), making the function memory efficient.</a:t>
            </a:r>
            <a:endParaRPr>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1200"/>
              </a:spcBef>
              <a:spcAft>
                <a:spcPts val="10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6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216" name="Google Shape;1216;p160"/>
          <p:cNvSpPr txBox="1"/>
          <p:nvPr>
            <p:ph idx="2" type="body"/>
          </p:nvPr>
        </p:nvSpPr>
        <p:spPr>
          <a:xfrm>
            <a:off x="452400" y="1260488"/>
            <a:ext cx="8239200" cy="31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What is the Big(O)?</a:t>
            </a:r>
            <a:endParaRPr b="1"/>
          </a:p>
          <a:p>
            <a:pPr indent="0" lvl="0" marL="457200" rtl="0" algn="l">
              <a:lnSpc>
                <a:spcPct val="115000"/>
              </a:lnSpc>
              <a:spcBef>
                <a:spcPts val="1000"/>
              </a:spcBef>
              <a:spcAft>
                <a:spcPts val="0"/>
              </a:spcAft>
              <a:buNone/>
            </a:pPr>
            <a:r>
              <a:rPr lang="en">
                <a:latin typeface="Consolas"/>
                <a:ea typeface="Consolas"/>
                <a:cs typeface="Consolas"/>
                <a:sym typeface="Consolas"/>
              </a:rPr>
              <a:t>def count_word_frequencies(word_list):</a:t>
            </a:r>
            <a:endParaRPr>
              <a:latin typeface="Consolas"/>
              <a:ea typeface="Consolas"/>
              <a:cs typeface="Consolas"/>
              <a:sym typeface="Consolas"/>
            </a:endParaRPr>
          </a:p>
          <a:p>
            <a:pPr indent="0" lvl="0" marL="457200" rtl="0" algn="l">
              <a:lnSpc>
                <a:spcPct val="115000"/>
              </a:lnSpc>
              <a:spcBef>
                <a:spcPts val="0"/>
              </a:spcBef>
              <a:spcAft>
                <a:spcPts val="0"/>
              </a:spcAft>
              <a:buNone/>
            </a:pPr>
            <a:r>
              <a:rPr lang="en">
                <a:latin typeface="Consolas"/>
                <a:ea typeface="Consolas"/>
                <a:cs typeface="Consolas"/>
                <a:sym typeface="Consolas"/>
              </a:rPr>
              <a:t>    word_count = {}</a:t>
            </a:r>
            <a:endParaRPr>
              <a:latin typeface="Consolas"/>
              <a:ea typeface="Consolas"/>
              <a:cs typeface="Consolas"/>
              <a:sym typeface="Consolas"/>
            </a:endParaRPr>
          </a:p>
          <a:p>
            <a:pPr indent="0" lvl="0" marL="457200" rtl="0" algn="l">
              <a:lnSpc>
                <a:spcPct val="115000"/>
              </a:lnSpc>
              <a:spcBef>
                <a:spcPts val="0"/>
              </a:spcBef>
              <a:spcAft>
                <a:spcPts val="0"/>
              </a:spcAft>
              <a:buNone/>
            </a:pPr>
            <a:r>
              <a:rPr lang="en">
                <a:latin typeface="Consolas"/>
                <a:ea typeface="Consolas"/>
                <a:cs typeface="Consolas"/>
                <a:sym typeface="Consolas"/>
              </a:rPr>
              <a:t>    for word in word_list:</a:t>
            </a:r>
            <a:endParaRPr>
              <a:latin typeface="Consolas"/>
              <a:ea typeface="Consolas"/>
              <a:cs typeface="Consolas"/>
              <a:sym typeface="Consolas"/>
            </a:endParaRPr>
          </a:p>
          <a:p>
            <a:pPr indent="0" lvl="0" marL="457200" rtl="0" algn="l">
              <a:lnSpc>
                <a:spcPct val="115000"/>
              </a:lnSpc>
              <a:spcBef>
                <a:spcPts val="0"/>
              </a:spcBef>
              <a:spcAft>
                <a:spcPts val="0"/>
              </a:spcAft>
              <a:buNone/>
            </a:pPr>
            <a:r>
              <a:rPr lang="en">
                <a:latin typeface="Consolas"/>
                <a:ea typeface="Consolas"/>
                <a:cs typeface="Consolas"/>
                <a:sym typeface="Consolas"/>
              </a:rPr>
              <a:t>        if word in word_count:</a:t>
            </a:r>
            <a:endParaRPr>
              <a:latin typeface="Consolas"/>
              <a:ea typeface="Consolas"/>
              <a:cs typeface="Consolas"/>
              <a:sym typeface="Consolas"/>
            </a:endParaRPr>
          </a:p>
          <a:p>
            <a:pPr indent="0" lvl="0" marL="457200" rtl="0" algn="l">
              <a:lnSpc>
                <a:spcPct val="115000"/>
              </a:lnSpc>
              <a:spcBef>
                <a:spcPts val="0"/>
              </a:spcBef>
              <a:spcAft>
                <a:spcPts val="0"/>
              </a:spcAft>
              <a:buNone/>
            </a:pPr>
            <a:r>
              <a:rPr lang="en">
                <a:latin typeface="Consolas"/>
                <a:ea typeface="Consolas"/>
                <a:cs typeface="Consolas"/>
                <a:sym typeface="Consolas"/>
              </a:rPr>
              <a:t>            word_count[word] += 1</a:t>
            </a:r>
            <a:endParaRPr>
              <a:latin typeface="Consolas"/>
              <a:ea typeface="Consolas"/>
              <a:cs typeface="Consolas"/>
              <a:sym typeface="Consolas"/>
            </a:endParaRPr>
          </a:p>
          <a:p>
            <a:pPr indent="0" lvl="0" marL="457200" rtl="0" algn="l">
              <a:lnSpc>
                <a:spcPct val="115000"/>
              </a:lnSpc>
              <a:spcBef>
                <a:spcPts val="0"/>
              </a:spcBef>
              <a:spcAft>
                <a:spcPts val="0"/>
              </a:spcAft>
              <a:buNone/>
            </a:pPr>
            <a:r>
              <a:rPr lang="en">
                <a:latin typeface="Consolas"/>
                <a:ea typeface="Consolas"/>
                <a:cs typeface="Consolas"/>
                <a:sym typeface="Consolas"/>
              </a:rPr>
              <a:t>        else:</a:t>
            </a:r>
            <a:endParaRPr>
              <a:latin typeface="Consolas"/>
              <a:ea typeface="Consolas"/>
              <a:cs typeface="Consolas"/>
              <a:sym typeface="Consolas"/>
            </a:endParaRPr>
          </a:p>
          <a:p>
            <a:pPr indent="0" lvl="0" marL="457200" rtl="0" algn="l">
              <a:lnSpc>
                <a:spcPct val="115000"/>
              </a:lnSpc>
              <a:spcBef>
                <a:spcPts val="0"/>
              </a:spcBef>
              <a:spcAft>
                <a:spcPts val="0"/>
              </a:spcAft>
              <a:buNone/>
            </a:pPr>
            <a:r>
              <a:rPr lang="en">
                <a:latin typeface="Consolas"/>
                <a:ea typeface="Consolas"/>
                <a:cs typeface="Consolas"/>
                <a:sym typeface="Consolas"/>
              </a:rPr>
              <a:t>            word_count[word] = 1</a:t>
            </a:r>
            <a:endParaRPr>
              <a:latin typeface="Consolas"/>
              <a:ea typeface="Consolas"/>
              <a:cs typeface="Consolas"/>
              <a:sym typeface="Consolas"/>
            </a:endParaRPr>
          </a:p>
          <a:p>
            <a:pPr indent="0" lvl="0" marL="457200" rtl="0" algn="l">
              <a:lnSpc>
                <a:spcPct val="115000"/>
              </a:lnSpc>
              <a:spcBef>
                <a:spcPts val="0"/>
              </a:spcBef>
              <a:spcAft>
                <a:spcPts val="0"/>
              </a:spcAft>
              <a:buNone/>
            </a:pPr>
            <a:r>
              <a:rPr lang="en">
                <a:latin typeface="Consolas"/>
                <a:ea typeface="Consolas"/>
                <a:cs typeface="Consolas"/>
                <a:sym typeface="Consolas"/>
              </a:rPr>
              <a:t>    return word_count</a:t>
            </a:r>
            <a:endParaRPr>
              <a:latin typeface="Consolas"/>
              <a:ea typeface="Consolas"/>
              <a:cs typeface="Consolas"/>
              <a:sym typeface="Consolas"/>
            </a:endParaRPr>
          </a:p>
        </p:txBody>
      </p:sp>
      <p:sp>
        <p:nvSpPr>
          <p:cNvPr id="1217" name="Google Shape;1217;p16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161"/>
          <p:cNvSpPr txBox="1"/>
          <p:nvPr>
            <p:ph idx="1" type="body"/>
          </p:nvPr>
        </p:nvSpPr>
        <p:spPr>
          <a:xfrm>
            <a:off x="452400" y="1132825"/>
            <a:ext cx="8239200" cy="3590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nsolas"/>
                <a:ea typeface="Consolas"/>
                <a:cs typeface="Consolas"/>
                <a:sym typeface="Consolas"/>
              </a:rPr>
              <a:t>def count_word_frequencies(word_list):</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word_count = {}</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for word in word_list:</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if word in word_count:</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word_count[word] += 1</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else:</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word_count[word] = 1</a:t>
            </a:r>
            <a:endParaRPr>
              <a:latin typeface="Consolas"/>
              <a:ea typeface="Consolas"/>
              <a:cs typeface="Consolas"/>
              <a:sym typeface="Consolas"/>
            </a:endParaRPr>
          </a:p>
          <a:p>
            <a:pPr indent="0" lvl="0" marL="0" rtl="0" algn="l">
              <a:spcBef>
                <a:spcPts val="1000"/>
              </a:spcBef>
              <a:spcAft>
                <a:spcPts val="1000"/>
              </a:spcAft>
              <a:buNone/>
            </a:pPr>
            <a:r>
              <a:rPr lang="en">
                <a:latin typeface="Consolas"/>
                <a:ea typeface="Consolas"/>
                <a:cs typeface="Consolas"/>
                <a:sym typeface="Consolas"/>
              </a:rPr>
              <a:t>    return word_count</a:t>
            </a:r>
            <a:endParaRPr>
              <a:latin typeface="Consolas"/>
              <a:ea typeface="Consolas"/>
              <a:cs typeface="Consolas"/>
              <a:sym typeface="Consolas"/>
            </a:endParaRPr>
          </a:p>
        </p:txBody>
      </p:sp>
      <p:sp>
        <p:nvSpPr>
          <p:cNvPr id="1223" name="Google Shape;1223;p161"/>
          <p:cNvSpPr/>
          <p:nvPr/>
        </p:nvSpPr>
        <p:spPr>
          <a:xfrm>
            <a:off x="5177551" y="1963325"/>
            <a:ext cx="1635000" cy="6921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O(n) time</a:t>
            </a:r>
            <a:endParaRPr b="1" sz="1800">
              <a:solidFill>
                <a:schemeClr val="lt1"/>
              </a:solidFill>
              <a:latin typeface="Poppins"/>
              <a:ea typeface="Poppins"/>
              <a:cs typeface="Poppins"/>
              <a:sym typeface="Poppins"/>
            </a:endParaRPr>
          </a:p>
        </p:txBody>
      </p:sp>
      <p:sp>
        <p:nvSpPr>
          <p:cNvPr id="1224" name="Google Shape;1224;p161"/>
          <p:cNvSpPr/>
          <p:nvPr/>
        </p:nvSpPr>
        <p:spPr>
          <a:xfrm>
            <a:off x="7041922" y="1963325"/>
            <a:ext cx="1635000" cy="6921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O(n) space</a:t>
            </a:r>
            <a:endParaRPr b="1" sz="1800">
              <a:solidFill>
                <a:schemeClr val="lt1"/>
              </a:solidFill>
              <a:latin typeface="Poppins"/>
              <a:ea typeface="Poppins"/>
              <a:cs typeface="Poppins"/>
              <a:sym typeface="Poppins"/>
            </a:endParaRPr>
          </a:p>
        </p:txBody>
      </p:sp>
      <p:sp>
        <p:nvSpPr>
          <p:cNvPr id="1225" name="Google Shape;1225;p161"/>
          <p:cNvSpPr/>
          <p:nvPr/>
        </p:nvSpPr>
        <p:spPr>
          <a:xfrm>
            <a:off x="5092325" y="1878732"/>
            <a:ext cx="1787400" cy="861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26" name="Google Shape;1226;p161"/>
          <p:cNvSpPr/>
          <p:nvPr/>
        </p:nvSpPr>
        <p:spPr>
          <a:xfrm>
            <a:off x="6940319" y="1878732"/>
            <a:ext cx="1787400" cy="861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27" name="Google Shape;1227;p16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the Big(O)?</a:t>
            </a:r>
            <a:endParaRPr/>
          </a:p>
        </p:txBody>
      </p:sp>
      <p:grpSp>
        <p:nvGrpSpPr>
          <p:cNvPr id="1228" name="Google Shape;1228;p161"/>
          <p:cNvGrpSpPr/>
          <p:nvPr/>
        </p:nvGrpSpPr>
        <p:grpSpPr>
          <a:xfrm>
            <a:off x="89100" y="4739882"/>
            <a:ext cx="324008" cy="322851"/>
            <a:chOff x="0" y="3867912"/>
            <a:chExt cx="1280160" cy="1275588"/>
          </a:xfrm>
        </p:grpSpPr>
        <p:sp>
          <p:nvSpPr>
            <p:cNvPr id="1229" name="Google Shape;1229;p161"/>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61"/>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61"/>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62"/>
          <p:cNvSpPr txBox="1"/>
          <p:nvPr>
            <p:ph type="title"/>
          </p:nvPr>
        </p:nvSpPr>
        <p:spPr>
          <a:xfrm>
            <a:off x="300000" y="481275"/>
            <a:ext cx="83991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Time Complexity: count_word_frequencies</a:t>
            </a:r>
            <a:endParaRPr/>
          </a:p>
        </p:txBody>
      </p:sp>
      <p:sp>
        <p:nvSpPr>
          <p:cNvPr id="1237" name="Google Shape;1237;p162"/>
          <p:cNvSpPr/>
          <p:nvPr/>
        </p:nvSpPr>
        <p:spPr>
          <a:xfrm>
            <a:off x="947407" y="1065925"/>
            <a:ext cx="1424628" cy="578556"/>
          </a:xfrm>
          <a:prstGeom prst="flowChartTerminator">
            <a:avLst/>
          </a:prstGeom>
          <a:solidFill>
            <a:srgbClr val="00C98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Poppins"/>
                <a:ea typeface="Poppins"/>
                <a:cs typeface="Poppins"/>
                <a:sym typeface="Poppins"/>
              </a:rPr>
              <a:t>START</a:t>
            </a:r>
            <a:endParaRPr b="1" sz="1200">
              <a:solidFill>
                <a:schemeClr val="lt1"/>
              </a:solidFill>
              <a:latin typeface="Poppins"/>
              <a:ea typeface="Poppins"/>
              <a:cs typeface="Poppins"/>
              <a:sym typeface="Poppins"/>
            </a:endParaRPr>
          </a:p>
        </p:txBody>
      </p:sp>
      <p:sp>
        <p:nvSpPr>
          <p:cNvPr id="1238" name="Google Shape;1238;p162"/>
          <p:cNvSpPr/>
          <p:nvPr/>
        </p:nvSpPr>
        <p:spPr>
          <a:xfrm>
            <a:off x="545173" y="1909290"/>
            <a:ext cx="2229118" cy="621922"/>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Poppins"/>
                <a:ea typeface="Poppins"/>
                <a:cs typeface="Poppins"/>
                <a:sym typeface="Poppins"/>
              </a:rPr>
              <a:t>initialize word_count = {}</a:t>
            </a:r>
            <a:endParaRPr sz="1200">
              <a:latin typeface="Poppins"/>
              <a:ea typeface="Poppins"/>
              <a:cs typeface="Poppins"/>
              <a:sym typeface="Poppins"/>
            </a:endParaRPr>
          </a:p>
        </p:txBody>
      </p:sp>
      <p:sp>
        <p:nvSpPr>
          <p:cNvPr id="1239" name="Google Shape;1239;p162"/>
          <p:cNvSpPr/>
          <p:nvPr/>
        </p:nvSpPr>
        <p:spPr>
          <a:xfrm>
            <a:off x="5464349" y="2984113"/>
            <a:ext cx="2134550" cy="621925"/>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Poppins"/>
                <a:ea typeface="Poppins"/>
                <a:cs typeface="Poppins"/>
                <a:sym typeface="Poppins"/>
              </a:rPr>
              <a:t>word_count[word] += 1</a:t>
            </a:r>
            <a:endParaRPr sz="1200">
              <a:latin typeface="Poppins"/>
              <a:ea typeface="Poppins"/>
              <a:cs typeface="Poppins"/>
              <a:sym typeface="Poppins"/>
            </a:endParaRPr>
          </a:p>
        </p:txBody>
      </p:sp>
      <p:sp>
        <p:nvSpPr>
          <p:cNvPr id="1240" name="Google Shape;1240;p162"/>
          <p:cNvSpPr txBox="1"/>
          <p:nvPr/>
        </p:nvSpPr>
        <p:spPr>
          <a:xfrm>
            <a:off x="3126600" y="1089775"/>
            <a:ext cx="58080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word_list = ["apple", "banana", "apple",</a:t>
            </a:r>
            <a:br>
              <a:rPr lang="en" sz="1800">
                <a:solidFill>
                  <a:schemeClr val="dk1"/>
                </a:solidFill>
                <a:latin typeface="Consolas"/>
                <a:ea typeface="Consolas"/>
                <a:cs typeface="Consolas"/>
                <a:sym typeface="Consolas"/>
              </a:rPr>
            </a:br>
            <a:r>
              <a:rPr lang="en" sz="1800">
                <a:solidFill>
                  <a:schemeClr val="dk1"/>
                </a:solidFill>
                <a:latin typeface="Consolas"/>
                <a:ea typeface="Consolas"/>
                <a:cs typeface="Consolas"/>
                <a:sym typeface="Consolas"/>
              </a:rPr>
              <a:t>   "orange", "banana", "apple"]</a:t>
            </a:r>
            <a:endParaRPr sz="1800">
              <a:solidFill>
                <a:schemeClr val="dk1"/>
              </a:solidFill>
              <a:latin typeface="Consolas"/>
              <a:ea typeface="Consolas"/>
              <a:cs typeface="Consolas"/>
              <a:sym typeface="Consolas"/>
            </a:endParaRPr>
          </a:p>
        </p:txBody>
      </p:sp>
      <p:sp>
        <p:nvSpPr>
          <p:cNvPr id="1241" name="Google Shape;1241;p162"/>
          <p:cNvSpPr/>
          <p:nvPr/>
        </p:nvSpPr>
        <p:spPr>
          <a:xfrm>
            <a:off x="3031663" y="4231953"/>
            <a:ext cx="2077285" cy="621922"/>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Poppins"/>
                <a:ea typeface="Poppins"/>
                <a:cs typeface="Poppins"/>
                <a:sym typeface="Poppins"/>
              </a:rPr>
              <a:t>word_count[word] = 1</a:t>
            </a:r>
            <a:endParaRPr sz="1200">
              <a:latin typeface="Poppins"/>
              <a:ea typeface="Poppins"/>
              <a:cs typeface="Poppins"/>
              <a:sym typeface="Poppins"/>
            </a:endParaRPr>
          </a:p>
        </p:txBody>
      </p:sp>
      <p:grpSp>
        <p:nvGrpSpPr>
          <p:cNvPr id="1242" name="Google Shape;1242;p162"/>
          <p:cNvGrpSpPr/>
          <p:nvPr/>
        </p:nvGrpSpPr>
        <p:grpSpPr>
          <a:xfrm>
            <a:off x="3126611" y="2705736"/>
            <a:ext cx="1887401" cy="1178712"/>
            <a:chOff x="3295825" y="2343325"/>
            <a:chExt cx="2200025" cy="1373950"/>
          </a:xfrm>
        </p:grpSpPr>
        <p:sp>
          <p:nvSpPr>
            <p:cNvPr id="1243" name="Google Shape;1243;p162"/>
            <p:cNvSpPr/>
            <p:nvPr/>
          </p:nvSpPr>
          <p:spPr>
            <a:xfrm>
              <a:off x="3295825" y="2343325"/>
              <a:ext cx="2200025" cy="1373950"/>
            </a:xfrm>
            <a:prstGeom prst="flowChartDecision">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Poppins"/>
                <a:ea typeface="Poppins"/>
                <a:cs typeface="Poppins"/>
                <a:sym typeface="Poppins"/>
              </a:endParaRPr>
            </a:p>
          </p:txBody>
        </p:sp>
        <p:sp>
          <p:nvSpPr>
            <p:cNvPr id="1244" name="Google Shape;1244;p162"/>
            <p:cNvSpPr txBox="1"/>
            <p:nvPr/>
          </p:nvSpPr>
          <p:spPr>
            <a:xfrm>
              <a:off x="3413825" y="2739500"/>
              <a:ext cx="1930500" cy="6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if word in word_count:</a:t>
              </a:r>
              <a:endParaRPr sz="1600">
                <a:solidFill>
                  <a:schemeClr val="dk2"/>
                </a:solidFill>
                <a:latin typeface="Poppins"/>
                <a:ea typeface="Poppins"/>
                <a:cs typeface="Poppins"/>
                <a:sym typeface="Poppins"/>
              </a:endParaRPr>
            </a:p>
          </p:txBody>
        </p:sp>
      </p:grpSp>
      <p:sp>
        <p:nvSpPr>
          <p:cNvPr id="1245" name="Google Shape;1245;p162"/>
          <p:cNvSpPr/>
          <p:nvPr/>
        </p:nvSpPr>
        <p:spPr>
          <a:xfrm>
            <a:off x="608201" y="4231953"/>
            <a:ext cx="2077285" cy="621922"/>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Poppins"/>
                <a:ea typeface="Poppins"/>
                <a:cs typeface="Poppins"/>
                <a:sym typeface="Poppins"/>
              </a:rPr>
              <a:t>Return word_count</a:t>
            </a:r>
            <a:endParaRPr sz="1200">
              <a:latin typeface="Poppins"/>
              <a:ea typeface="Poppins"/>
              <a:cs typeface="Poppins"/>
              <a:sym typeface="Poppins"/>
            </a:endParaRPr>
          </a:p>
        </p:txBody>
      </p:sp>
      <p:cxnSp>
        <p:nvCxnSpPr>
          <p:cNvPr id="1246" name="Google Shape;1246;p162"/>
          <p:cNvCxnSpPr>
            <a:stCxn id="1237" idx="2"/>
            <a:endCxn id="1238" idx="0"/>
          </p:cNvCxnSpPr>
          <p:nvPr/>
        </p:nvCxnSpPr>
        <p:spPr>
          <a:xfrm>
            <a:off x="1659721" y="1644481"/>
            <a:ext cx="0" cy="264900"/>
          </a:xfrm>
          <a:prstGeom prst="straightConnector1">
            <a:avLst/>
          </a:prstGeom>
          <a:noFill/>
          <a:ln cap="flat" cmpd="sng" w="9525">
            <a:solidFill>
              <a:schemeClr val="dk1"/>
            </a:solidFill>
            <a:prstDash val="solid"/>
            <a:round/>
            <a:headEnd len="med" w="med" type="none"/>
            <a:tailEnd len="med" w="med" type="stealth"/>
          </a:ln>
        </p:spPr>
      </p:cxnSp>
      <p:grpSp>
        <p:nvGrpSpPr>
          <p:cNvPr id="1247" name="Google Shape;1247;p162"/>
          <p:cNvGrpSpPr/>
          <p:nvPr/>
        </p:nvGrpSpPr>
        <p:grpSpPr>
          <a:xfrm>
            <a:off x="820544" y="2773187"/>
            <a:ext cx="1678399" cy="1048186"/>
            <a:chOff x="3295825" y="2343325"/>
            <a:chExt cx="2200025" cy="1373950"/>
          </a:xfrm>
        </p:grpSpPr>
        <p:sp>
          <p:nvSpPr>
            <p:cNvPr id="1248" name="Google Shape;1248;p162"/>
            <p:cNvSpPr/>
            <p:nvPr/>
          </p:nvSpPr>
          <p:spPr>
            <a:xfrm>
              <a:off x="3295825" y="2343325"/>
              <a:ext cx="2200025" cy="1373950"/>
            </a:xfrm>
            <a:prstGeom prst="flowChartDecision">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49" name="Google Shape;1249;p162"/>
            <p:cNvSpPr txBox="1"/>
            <p:nvPr/>
          </p:nvSpPr>
          <p:spPr>
            <a:xfrm>
              <a:off x="3413825" y="2739500"/>
              <a:ext cx="1930500" cy="61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Last item?</a:t>
              </a:r>
              <a:endParaRPr sz="1200">
                <a:solidFill>
                  <a:schemeClr val="dk2"/>
                </a:solidFill>
                <a:latin typeface="Poppins"/>
                <a:ea typeface="Poppins"/>
                <a:cs typeface="Poppins"/>
                <a:sym typeface="Poppins"/>
              </a:endParaRPr>
            </a:p>
          </p:txBody>
        </p:sp>
      </p:grpSp>
      <p:cxnSp>
        <p:nvCxnSpPr>
          <p:cNvPr id="1250" name="Google Shape;1250;p162"/>
          <p:cNvCxnSpPr>
            <a:stCxn id="1238" idx="2"/>
            <a:endCxn id="1248" idx="0"/>
          </p:cNvCxnSpPr>
          <p:nvPr/>
        </p:nvCxnSpPr>
        <p:spPr>
          <a:xfrm>
            <a:off x="1659732" y="2531211"/>
            <a:ext cx="0" cy="242100"/>
          </a:xfrm>
          <a:prstGeom prst="straightConnector1">
            <a:avLst/>
          </a:prstGeom>
          <a:noFill/>
          <a:ln cap="flat" cmpd="sng" w="9525">
            <a:solidFill>
              <a:schemeClr val="dk1"/>
            </a:solidFill>
            <a:prstDash val="solid"/>
            <a:round/>
            <a:headEnd len="med" w="med" type="none"/>
            <a:tailEnd len="med" w="med" type="stealth"/>
          </a:ln>
        </p:spPr>
      </p:cxnSp>
      <p:cxnSp>
        <p:nvCxnSpPr>
          <p:cNvPr id="1251" name="Google Shape;1251;p162"/>
          <p:cNvCxnSpPr>
            <a:stCxn id="1248" idx="3"/>
            <a:endCxn id="1243" idx="1"/>
          </p:cNvCxnSpPr>
          <p:nvPr/>
        </p:nvCxnSpPr>
        <p:spPr>
          <a:xfrm flipH="1" rot="10800000">
            <a:off x="2498943" y="3295180"/>
            <a:ext cx="627600" cy="2100"/>
          </a:xfrm>
          <a:prstGeom prst="straightConnector1">
            <a:avLst/>
          </a:prstGeom>
          <a:noFill/>
          <a:ln cap="flat" cmpd="sng" w="9525">
            <a:solidFill>
              <a:schemeClr val="dk1"/>
            </a:solidFill>
            <a:prstDash val="solid"/>
            <a:round/>
            <a:headEnd len="med" w="med" type="none"/>
            <a:tailEnd len="med" w="med" type="stealth"/>
          </a:ln>
        </p:spPr>
      </p:cxnSp>
      <p:cxnSp>
        <p:nvCxnSpPr>
          <p:cNvPr id="1252" name="Google Shape;1252;p162"/>
          <p:cNvCxnSpPr>
            <a:stCxn id="1243" idx="3"/>
            <a:endCxn id="1239" idx="1"/>
          </p:cNvCxnSpPr>
          <p:nvPr/>
        </p:nvCxnSpPr>
        <p:spPr>
          <a:xfrm>
            <a:off x="5014012" y="3295092"/>
            <a:ext cx="450300" cy="0"/>
          </a:xfrm>
          <a:prstGeom prst="straightConnector1">
            <a:avLst/>
          </a:prstGeom>
          <a:noFill/>
          <a:ln cap="flat" cmpd="sng" w="9525">
            <a:solidFill>
              <a:schemeClr val="dk1"/>
            </a:solidFill>
            <a:prstDash val="solid"/>
            <a:round/>
            <a:headEnd len="med" w="med" type="none"/>
            <a:tailEnd len="med" w="med" type="stealth"/>
          </a:ln>
        </p:spPr>
      </p:cxnSp>
      <p:cxnSp>
        <p:nvCxnSpPr>
          <p:cNvPr id="1253" name="Google Shape;1253;p162"/>
          <p:cNvCxnSpPr>
            <a:stCxn id="1248" idx="2"/>
            <a:endCxn id="1245" idx="0"/>
          </p:cNvCxnSpPr>
          <p:nvPr/>
        </p:nvCxnSpPr>
        <p:spPr>
          <a:xfrm flipH="1">
            <a:off x="1646844" y="3821373"/>
            <a:ext cx="12900" cy="410700"/>
          </a:xfrm>
          <a:prstGeom prst="straightConnector1">
            <a:avLst/>
          </a:prstGeom>
          <a:noFill/>
          <a:ln cap="flat" cmpd="sng" w="9525">
            <a:solidFill>
              <a:schemeClr val="dk1"/>
            </a:solidFill>
            <a:prstDash val="solid"/>
            <a:round/>
            <a:headEnd len="med" w="med" type="none"/>
            <a:tailEnd len="med" w="med" type="stealth"/>
          </a:ln>
        </p:spPr>
      </p:cxnSp>
      <p:cxnSp>
        <p:nvCxnSpPr>
          <p:cNvPr id="1254" name="Google Shape;1254;p162"/>
          <p:cNvCxnSpPr>
            <a:stCxn id="1243" idx="2"/>
            <a:endCxn id="1241" idx="0"/>
          </p:cNvCxnSpPr>
          <p:nvPr/>
        </p:nvCxnSpPr>
        <p:spPr>
          <a:xfrm>
            <a:off x="4070311" y="3884448"/>
            <a:ext cx="0" cy="347400"/>
          </a:xfrm>
          <a:prstGeom prst="straightConnector1">
            <a:avLst/>
          </a:prstGeom>
          <a:noFill/>
          <a:ln cap="flat" cmpd="sng" w="9525">
            <a:solidFill>
              <a:schemeClr val="dk1"/>
            </a:solidFill>
            <a:prstDash val="solid"/>
            <a:round/>
            <a:headEnd len="med" w="med" type="none"/>
            <a:tailEnd len="med" w="med" type="stealth"/>
          </a:ln>
        </p:spPr>
      </p:cxnSp>
      <p:sp>
        <p:nvSpPr>
          <p:cNvPr id="1255" name="Google Shape;1255;p162"/>
          <p:cNvSpPr txBox="1"/>
          <p:nvPr/>
        </p:nvSpPr>
        <p:spPr>
          <a:xfrm>
            <a:off x="2498950" y="2874025"/>
            <a:ext cx="49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no</a:t>
            </a:r>
            <a:endParaRPr sz="1800">
              <a:solidFill>
                <a:schemeClr val="dk1"/>
              </a:solidFill>
              <a:latin typeface="Poppins"/>
              <a:ea typeface="Poppins"/>
              <a:cs typeface="Poppins"/>
              <a:sym typeface="Poppins"/>
            </a:endParaRPr>
          </a:p>
        </p:txBody>
      </p:sp>
      <p:sp>
        <p:nvSpPr>
          <p:cNvPr id="1256" name="Google Shape;1256;p162"/>
          <p:cNvSpPr txBox="1"/>
          <p:nvPr/>
        </p:nvSpPr>
        <p:spPr>
          <a:xfrm>
            <a:off x="1019950" y="3728425"/>
            <a:ext cx="58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yes</a:t>
            </a:r>
            <a:endParaRPr sz="1800">
              <a:solidFill>
                <a:schemeClr val="dk1"/>
              </a:solidFill>
              <a:latin typeface="Poppins"/>
              <a:ea typeface="Poppins"/>
              <a:cs typeface="Poppins"/>
              <a:sym typeface="Poppins"/>
            </a:endParaRPr>
          </a:p>
        </p:txBody>
      </p:sp>
      <p:sp>
        <p:nvSpPr>
          <p:cNvPr id="1257" name="Google Shape;1257;p162"/>
          <p:cNvSpPr txBox="1"/>
          <p:nvPr/>
        </p:nvSpPr>
        <p:spPr>
          <a:xfrm>
            <a:off x="4897750" y="2874025"/>
            <a:ext cx="68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true</a:t>
            </a:r>
            <a:endParaRPr sz="1800">
              <a:solidFill>
                <a:schemeClr val="dk1"/>
              </a:solidFill>
              <a:latin typeface="Poppins"/>
              <a:ea typeface="Poppins"/>
              <a:cs typeface="Poppins"/>
              <a:sym typeface="Poppins"/>
            </a:endParaRPr>
          </a:p>
        </p:txBody>
      </p:sp>
      <p:sp>
        <p:nvSpPr>
          <p:cNvPr id="1258" name="Google Shape;1258;p162"/>
          <p:cNvSpPr txBox="1"/>
          <p:nvPr/>
        </p:nvSpPr>
        <p:spPr>
          <a:xfrm>
            <a:off x="4106075" y="3795875"/>
            <a:ext cx="90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false</a:t>
            </a:r>
            <a:endParaRPr sz="1800">
              <a:solidFill>
                <a:schemeClr val="dk1"/>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63"/>
          <p:cNvSpPr txBox="1"/>
          <p:nvPr>
            <p:ph type="title"/>
          </p:nvPr>
        </p:nvSpPr>
        <p:spPr>
          <a:xfrm>
            <a:off x="452400" y="481275"/>
            <a:ext cx="86916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Space Complexity: count_word_frequencies O(n)</a:t>
            </a:r>
            <a:endParaRPr/>
          </a:p>
        </p:txBody>
      </p:sp>
      <p:sp>
        <p:nvSpPr>
          <p:cNvPr id="1264" name="Google Shape;1264;p163"/>
          <p:cNvSpPr txBox="1"/>
          <p:nvPr>
            <p:ph idx="1" type="body"/>
          </p:nvPr>
        </p:nvSpPr>
        <p:spPr>
          <a:xfrm>
            <a:off x="452400" y="1132825"/>
            <a:ext cx="8239200" cy="3409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700"/>
              <a:t>Input List:</a:t>
            </a:r>
            <a:r>
              <a:rPr lang="en" sz="1700"/>
              <a:t> </a:t>
            </a:r>
            <a:r>
              <a:rPr lang="en" sz="1700">
                <a:latin typeface="Consolas"/>
                <a:ea typeface="Consolas"/>
                <a:cs typeface="Consolas"/>
                <a:sym typeface="Consolas"/>
              </a:rPr>
              <a:t>["apple", "banana", "apple", "orange", "banana", "apple"]</a:t>
            </a:r>
            <a:endParaRPr sz="1700">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b="1" lang="en" sz="1700"/>
              <a:t>Dictionary:</a:t>
            </a:r>
            <a:endParaRPr b="1" sz="1700"/>
          </a:p>
          <a:p>
            <a:pPr indent="0" lvl="0" marL="0" rtl="0" algn="l">
              <a:spcBef>
                <a:spcPts val="1000"/>
              </a:spcBef>
              <a:spcAft>
                <a:spcPts val="0"/>
              </a:spcAft>
              <a:buClr>
                <a:schemeClr val="dk1"/>
              </a:buClr>
              <a:buSzPts val="1100"/>
              <a:buFont typeface="Arial"/>
              <a:buNone/>
            </a:pPr>
            <a:r>
              <a:t/>
            </a:r>
            <a:endParaRPr b="1" sz="1700"/>
          </a:p>
          <a:p>
            <a:pPr indent="0" lvl="0" marL="0" rtl="0" algn="l">
              <a:spcBef>
                <a:spcPts val="1000"/>
              </a:spcBef>
              <a:spcAft>
                <a:spcPts val="0"/>
              </a:spcAft>
              <a:buClr>
                <a:schemeClr val="dk1"/>
              </a:buClr>
              <a:buSzPts val="1100"/>
              <a:buFont typeface="Arial"/>
              <a:buNone/>
            </a:pPr>
            <a:r>
              <a:t/>
            </a:r>
            <a:endParaRPr b="1" sz="1700"/>
          </a:p>
          <a:p>
            <a:pPr indent="0" lvl="0" marL="0" rtl="0" algn="l">
              <a:spcBef>
                <a:spcPts val="1000"/>
              </a:spcBef>
              <a:spcAft>
                <a:spcPts val="0"/>
              </a:spcAft>
              <a:buClr>
                <a:schemeClr val="dk1"/>
              </a:buClr>
              <a:buSzPts val="1100"/>
              <a:buFont typeface="Arial"/>
              <a:buNone/>
            </a:pPr>
            <a:r>
              <a:t/>
            </a:r>
            <a:endParaRPr b="1" sz="1700"/>
          </a:p>
          <a:p>
            <a:pPr indent="0" lvl="0" marL="0" rtl="0" algn="l">
              <a:spcBef>
                <a:spcPts val="1200"/>
              </a:spcBef>
              <a:spcAft>
                <a:spcPts val="0"/>
              </a:spcAft>
              <a:buClr>
                <a:schemeClr val="dk1"/>
              </a:buClr>
              <a:buSzPts val="1100"/>
              <a:buFont typeface="Arial"/>
              <a:buNone/>
            </a:pPr>
            <a:r>
              <a:rPr lang="en">
                <a:latin typeface="Arial"/>
                <a:ea typeface="Arial"/>
                <a:cs typeface="Arial"/>
                <a:sym typeface="Arial"/>
              </a:rPr>
              <a:t>Q: What is the worst case? All words being unique would result in the largest output size. If all words were unique, this output size would grow linearly: O(n)</a:t>
            </a:r>
            <a:endParaRPr>
              <a:latin typeface="Arial"/>
              <a:ea typeface="Arial"/>
              <a:cs typeface="Arial"/>
              <a:sym typeface="Arial"/>
            </a:endParaRPr>
          </a:p>
          <a:p>
            <a:pPr indent="0" lvl="0" marL="0" rtl="0" algn="l">
              <a:spcBef>
                <a:spcPts val="1200"/>
              </a:spcBef>
              <a:spcAft>
                <a:spcPts val="1000"/>
              </a:spcAft>
              <a:buClr>
                <a:schemeClr val="dk1"/>
              </a:buClr>
              <a:buSzPts val="1100"/>
              <a:buFont typeface="Arial"/>
              <a:buNone/>
            </a:pPr>
            <a:r>
              <a:t/>
            </a:r>
            <a:endParaRPr b="1" sz="1700"/>
          </a:p>
        </p:txBody>
      </p:sp>
      <p:sp>
        <p:nvSpPr>
          <p:cNvPr id="1265" name="Google Shape;1265;p163"/>
          <p:cNvSpPr/>
          <p:nvPr/>
        </p:nvSpPr>
        <p:spPr>
          <a:xfrm>
            <a:off x="573175" y="2132600"/>
            <a:ext cx="1154700" cy="572400"/>
          </a:xfrm>
          <a:prstGeom prst="rect">
            <a:avLst/>
          </a:prstGeom>
          <a:solidFill>
            <a:srgbClr val="D7FF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latin typeface="Consolas"/>
                <a:ea typeface="Consolas"/>
                <a:cs typeface="Consolas"/>
                <a:sym typeface="Consolas"/>
              </a:rPr>
              <a:t>apple</a:t>
            </a:r>
            <a:endParaRPr sz="1700">
              <a:latin typeface="Consolas"/>
              <a:ea typeface="Consolas"/>
              <a:cs typeface="Consolas"/>
              <a:sym typeface="Consolas"/>
            </a:endParaRPr>
          </a:p>
        </p:txBody>
      </p:sp>
      <p:sp>
        <p:nvSpPr>
          <p:cNvPr id="1266" name="Google Shape;1266;p163"/>
          <p:cNvSpPr/>
          <p:nvPr/>
        </p:nvSpPr>
        <p:spPr>
          <a:xfrm>
            <a:off x="1727875" y="2132600"/>
            <a:ext cx="572400" cy="572400"/>
          </a:xfrm>
          <a:prstGeom prst="rect">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Consolas"/>
                <a:ea typeface="Consolas"/>
                <a:cs typeface="Consolas"/>
                <a:sym typeface="Consolas"/>
              </a:rPr>
              <a:t>1</a:t>
            </a:r>
            <a:endParaRPr b="1" sz="1700">
              <a:solidFill>
                <a:schemeClr val="lt1"/>
              </a:solidFill>
              <a:latin typeface="Consolas"/>
              <a:ea typeface="Consolas"/>
              <a:cs typeface="Consolas"/>
              <a:sym typeface="Consolas"/>
            </a:endParaRPr>
          </a:p>
        </p:txBody>
      </p:sp>
      <p:sp>
        <p:nvSpPr>
          <p:cNvPr id="1267" name="Google Shape;1267;p163"/>
          <p:cNvSpPr/>
          <p:nvPr/>
        </p:nvSpPr>
        <p:spPr>
          <a:xfrm>
            <a:off x="2630575" y="2132600"/>
            <a:ext cx="1154700" cy="572400"/>
          </a:xfrm>
          <a:prstGeom prst="rect">
            <a:avLst/>
          </a:prstGeom>
          <a:solidFill>
            <a:srgbClr val="D7FF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latin typeface="Consolas"/>
                <a:ea typeface="Consolas"/>
                <a:cs typeface="Consolas"/>
                <a:sym typeface="Consolas"/>
              </a:rPr>
              <a:t>banana</a:t>
            </a:r>
            <a:endParaRPr sz="1700">
              <a:latin typeface="Consolas"/>
              <a:ea typeface="Consolas"/>
              <a:cs typeface="Consolas"/>
              <a:sym typeface="Consolas"/>
            </a:endParaRPr>
          </a:p>
        </p:txBody>
      </p:sp>
      <p:sp>
        <p:nvSpPr>
          <p:cNvPr id="1268" name="Google Shape;1268;p163"/>
          <p:cNvSpPr/>
          <p:nvPr/>
        </p:nvSpPr>
        <p:spPr>
          <a:xfrm>
            <a:off x="3785275" y="2132600"/>
            <a:ext cx="572400" cy="572400"/>
          </a:xfrm>
          <a:prstGeom prst="rect">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Consolas"/>
                <a:ea typeface="Consolas"/>
                <a:cs typeface="Consolas"/>
                <a:sym typeface="Consolas"/>
              </a:rPr>
              <a:t>1</a:t>
            </a:r>
            <a:endParaRPr b="1" sz="1700">
              <a:solidFill>
                <a:schemeClr val="lt1"/>
              </a:solidFill>
              <a:latin typeface="Consolas"/>
              <a:ea typeface="Consolas"/>
              <a:cs typeface="Consolas"/>
              <a:sym typeface="Consolas"/>
            </a:endParaRPr>
          </a:p>
        </p:txBody>
      </p:sp>
      <p:sp>
        <p:nvSpPr>
          <p:cNvPr id="1269" name="Google Shape;1269;p163"/>
          <p:cNvSpPr/>
          <p:nvPr/>
        </p:nvSpPr>
        <p:spPr>
          <a:xfrm>
            <a:off x="4687975" y="2132600"/>
            <a:ext cx="1154700" cy="572400"/>
          </a:xfrm>
          <a:prstGeom prst="rect">
            <a:avLst/>
          </a:prstGeom>
          <a:solidFill>
            <a:srgbClr val="D7FF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latin typeface="Consolas"/>
                <a:ea typeface="Consolas"/>
                <a:cs typeface="Consolas"/>
                <a:sym typeface="Consolas"/>
              </a:rPr>
              <a:t>orange</a:t>
            </a:r>
            <a:endParaRPr sz="1700">
              <a:latin typeface="Consolas"/>
              <a:ea typeface="Consolas"/>
              <a:cs typeface="Consolas"/>
              <a:sym typeface="Consolas"/>
            </a:endParaRPr>
          </a:p>
        </p:txBody>
      </p:sp>
      <p:sp>
        <p:nvSpPr>
          <p:cNvPr id="1270" name="Google Shape;1270;p163"/>
          <p:cNvSpPr/>
          <p:nvPr/>
        </p:nvSpPr>
        <p:spPr>
          <a:xfrm>
            <a:off x="5842675" y="2132600"/>
            <a:ext cx="572400" cy="572400"/>
          </a:xfrm>
          <a:prstGeom prst="rect">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Consolas"/>
                <a:ea typeface="Consolas"/>
                <a:cs typeface="Consolas"/>
                <a:sym typeface="Consolas"/>
              </a:rPr>
              <a:t>1</a:t>
            </a:r>
            <a:endParaRPr b="1" sz="1700">
              <a:solidFill>
                <a:schemeClr val="lt1"/>
              </a:solidFill>
              <a:latin typeface="Consolas"/>
              <a:ea typeface="Consolas"/>
              <a:cs typeface="Consolas"/>
              <a:sym typeface="Consolas"/>
            </a:endParaRPr>
          </a:p>
        </p:txBody>
      </p:sp>
      <p:sp>
        <p:nvSpPr>
          <p:cNvPr id="1271" name="Google Shape;1271;p163"/>
          <p:cNvSpPr/>
          <p:nvPr/>
        </p:nvSpPr>
        <p:spPr>
          <a:xfrm>
            <a:off x="1727875" y="2132600"/>
            <a:ext cx="572400" cy="572400"/>
          </a:xfrm>
          <a:prstGeom prst="rect">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Consolas"/>
                <a:ea typeface="Consolas"/>
                <a:cs typeface="Consolas"/>
                <a:sym typeface="Consolas"/>
              </a:rPr>
              <a:t>2</a:t>
            </a:r>
            <a:endParaRPr b="1" sz="1700">
              <a:solidFill>
                <a:schemeClr val="lt1"/>
              </a:solidFill>
              <a:latin typeface="Consolas"/>
              <a:ea typeface="Consolas"/>
              <a:cs typeface="Consolas"/>
              <a:sym typeface="Consolas"/>
            </a:endParaRPr>
          </a:p>
        </p:txBody>
      </p:sp>
      <p:sp>
        <p:nvSpPr>
          <p:cNvPr id="1272" name="Google Shape;1272;p163"/>
          <p:cNvSpPr/>
          <p:nvPr/>
        </p:nvSpPr>
        <p:spPr>
          <a:xfrm>
            <a:off x="3785275" y="2132600"/>
            <a:ext cx="572400" cy="572400"/>
          </a:xfrm>
          <a:prstGeom prst="rect">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Consolas"/>
                <a:ea typeface="Consolas"/>
                <a:cs typeface="Consolas"/>
                <a:sym typeface="Consolas"/>
              </a:rPr>
              <a:t>2</a:t>
            </a:r>
            <a:endParaRPr b="1" sz="1700">
              <a:solidFill>
                <a:schemeClr val="lt1"/>
              </a:solidFill>
              <a:latin typeface="Consolas"/>
              <a:ea typeface="Consolas"/>
              <a:cs typeface="Consolas"/>
              <a:sym typeface="Consolas"/>
            </a:endParaRPr>
          </a:p>
        </p:txBody>
      </p:sp>
      <p:sp>
        <p:nvSpPr>
          <p:cNvPr id="1273" name="Google Shape;1273;p163"/>
          <p:cNvSpPr/>
          <p:nvPr/>
        </p:nvSpPr>
        <p:spPr>
          <a:xfrm>
            <a:off x="1727875" y="2132600"/>
            <a:ext cx="572400" cy="572400"/>
          </a:xfrm>
          <a:prstGeom prst="rect">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Consolas"/>
                <a:ea typeface="Consolas"/>
                <a:cs typeface="Consolas"/>
                <a:sym typeface="Consolas"/>
              </a:rPr>
              <a:t>3</a:t>
            </a:r>
            <a:endParaRPr b="1" sz="1700">
              <a:solidFill>
                <a:schemeClr val="lt1"/>
              </a:solidFill>
              <a:latin typeface="Consolas"/>
              <a:ea typeface="Consolas"/>
              <a:cs typeface="Consolas"/>
              <a:sym typeface="Consolas"/>
            </a:endParaRPr>
          </a:p>
        </p:txBody>
      </p:sp>
      <p:grpSp>
        <p:nvGrpSpPr>
          <p:cNvPr id="1274" name="Google Shape;1274;p163"/>
          <p:cNvGrpSpPr/>
          <p:nvPr/>
        </p:nvGrpSpPr>
        <p:grpSpPr>
          <a:xfrm>
            <a:off x="89100" y="4739882"/>
            <a:ext cx="324008" cy="322851"/>
            <a:chOff x="0" y="3867912"/>
            <a:chExt cx="1280160" cy="1275588"/>
          </a:xfrm>
        </p:grpSpPr>
        <p:sp>
          <p:nvSpPr>
            <p:cNvPr id="1275" name="Google Shape;1275;p163"/>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63"/>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63"/>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64"/>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283" name="Google Shape;1283;p164"/>
          <p:cNvSpPr txBox="1"/>
          <p:nvPr>
            <p:ph idx="2" type="body"/>
          </p:nvPr>
        </p:nvSpPr>
        <p:spPr>
          <a:xfrm>
            <a:off x="452400" y="1260488"/>
            <a:ext cx="8239200" cy="2696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What is the Big(O)?</a:t>
            </a:r>
            <a:endParaRPr b="1"/>
          </a:p>
          <a:p>
            <a:pPr indent="0" lvl="0" marL="457200" rtl="0" algn="l">
              <a:spcBef>
                <a:spcPts val="1000"/>
              </a:spcBef>
              <a:spcAft>
                <a:spcPts val="0"/>
              </a:spcAft>
              <a:buNone/>
            </a:pPr>
            <a:r>
              <a:rPr lang="en">
                <a:latin typeface="Consolas"/>
                <a:ea typeface="Consolas"/>
                <a:cs typeface="Consolas"/>
                <a:sym typeface="Consolas"/>
              </a:rPr>
              <a:t>def sum_top_100(arr):</a:t>
            </a:r>
            <a:endParaRPr>
              <a:latin typeface="Consolas"/>
              <a:ea typeface="Consolas"/>
              <a:cs typeface="Consolas"/>
              <a:sym typeface="Consolas"/>
            </a:endParaRPr>
          </a:p>
          <a:p>
            <a:pPr indent="0" lvl="0" marL="457200" rtl="0" algn="l">
              <a:spcBef>
                <a:spcPts val="1000"/>
              </a:spcBef>
              <a:spcAft>
                <a:spcPts val="0"/>
              </a:spcAft>
              <a:buNone/>
            </a:pPr>
            <a:r>
              <a:rPr lang="en">
                <a:latin typeface="Consolas"/>
                <a:ea typeface="Consolas"/>
                <a:cs typeface="Consolas"/>
                <a:sym typeface="Consolas"/>
              </a:rPr>
              <a:t>    total = 0</a:t>
            </a:r>
            <a:endParaRPr>
              <a:latin typeface="Consolas"/>
              <a:ea typeface="Consolas"/>
              <a:cs typeface="Consolas"/>
              <a:sym typeface="Consolas"/>
            </a:endParaRPr>
          </a:p>
          <a:p>
            <a:pPr indent="0" lvl="0" marL="457200" rtl="0" algn="l">
              <a:spcBef>
                <a:spcPts val="1000"/>
              </a:spcBef>
              <a:spcAft>
                <a:spcPts val="0"/>
              </a:spcAft>
              <a:buNone/>
            </a:pPr>
            <a:r>
              <a:rPr lang="en">
                <a:latin typeface="Consolas"/>
                <a:ea typeface="Consolas"/>
                <a:cs typeface="Consolas"/>
                <a:sym typeface="Consolas"/>
              </a:rPr>
              <a:t>    for i in range(100):</a:t>
            </a:r>
            <a:endParaRPr>
              <a:latin typeface="Consolas"/>
              <a:ea typeface="Consolas"/>
              <a:cs typeface="Consolas"/>
              <a:sym typeface="Consolas"/>
            </a:endParaRPr>
          </a:p>
          <a:p>
            <a:pPr indent="0" lvl="0" marL="457200" rtl="0" algn="l">
              <a:spcBef>
                <a:spcPts val="1000"/>
              </a:spcBef>
              <a:spcAft>
                <a:spcPts val="0"/>
              </a:spcAft>
              <a:buNone/>
            </a:pPr>
            <a:r>
              <a:rPr lang="en">
                <a:latin typeface="Consolas"/>
                <a:ea typeface="Consolas"/>
                <a:cs typeface="Consolas"/>
                <a:sym typeface="Consolas"/>
              </a:rPr>
              <a:t>        total += arr[i]</a:t>
            </a:r>
            <a:endParaRPr>
              <a:latin typeface="Consolas"/>
              <a:ea typeface="Consolas"/>
              <a:cs typeface="Consolas"/>
              <a:sym typeface="Consolas"/>
            </a:endParaRPr>
          </a:p>
          <a:p>
            <a:pPr indent="0" lvl="0" marL="457200" rtl="0" algn="l">
              <a:spcBef>
                <a:spcPts val="1000"/>
              </a:spcBef>
              <a:spcAft>
                <a:spcPts val="1000"/>
              </a:spcAft>
              <a:buNone/>
            </a:pPr>
            <a:r>
              <a:rPr lang="en">
                <a:latin typeface="Consolas"/>
                <a:ea typeface="Consolas"/>
                <a:cs typeface="Consolas"/>
                <a:sym typeface="Consolas"/>
              </a:rPr>
              <a:t>    return total</a:t>
            </a:r>
            <a:endParaRPr>
              <a:latin typeface="Consolas"/>
              <a:ea typeface="Consolas"/>
              <a:cs typeface="Consolas"/>
              <a:sym typeface="Consolas"/>
            </a:endParaRPr>
          </a:p>
        </p:txBody>
      </p:sp>
      <p:sp>
        <p:nvSpPr>
          <p:cNvPr id="1284" name="Google Shape;1284;p16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65"/>
          <p:cNvSpPr txBox="1"/>
          <p:nvPr>
            <p:ph idx="1" type="body"/>
          </p:nvPr>
        </p:nvSpPr>
        <p:spPr>
          <a:xfrm>
            <a:off x="452400" y="1132825"/>
            <a:ext cx="8239200" cy="224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onsolas"/>
                <a:ea typeface="Consolas"/>
                <a:cs typeface="Consolas"/>
                <a:sym typeface="Consolas"/>
              </a:rPr>
              <a:t>def sum_top_100(arr):</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total = 0</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for i in range(100):</a:t>
            </a:r>
            <a:endParaRPr>
              <a:latin typeface="Consolas"/>
              <a:ea typeface="Consolas"/>
              <a:cs typeface="Consolas"/>
              <a:sym typeface="Consolas"/>
            </a:endParaRPr>
          </a:p>
          <a:p>
            <a:pPr indent="0" lvl="0" marL="0" rtl="0" algn="l">
              <a:spcBef>
                <a:spcPts val="1000"/>
              </a:spcBef>
              <a:spcAft>
                <a:spcPts val="0"/>
              </a:spcAft>
              <a:buNone/>
            </a:pPr>
            <a:r>
              <a:rPr lang="en">
                <a:latin typeface="Consolas"/>
                <a:ea typeface="Consolas"/>
                <a:cs typeface="Consolas"/>
                <a:sym typeface="Consolas"/>
              </a:rPr>
              <a:t>        total += arr[i]</a:t>
            </a:r>
            <a:endParaRPr>
              <a:latin typeface="Consolas"/>
              <a:ea typeface="Consolas"/>
              <a:cs typeface="Consolas"/>
              <a:sym typeface="Consolas"/>
            </a:endParaRPr>
          </a:p>
          <a:p>
            <a:pPr indent="0" lvl="0" marL="0" rtl="0" algn="l">
              <a:spcBef>
                <a:spcPts val="1000"/>
              </a:spcBef>
              <a:spcAft>
                <a:spcPts val="1000"/>
              </a:spcAft>
              <a:buNone/>
            </a:pPr>
            <a:r>
              <a:rPr lang="en">
                <a:latin typeface="Consolas"/>
                <a:ea typeface="Consolas"/>
                <a:cs typeface="Consolas"/>
                <a:sym typeface="Consolas"/>
              </a:rPr>
              <a:t>    return total</a:t>
            </a:r>
            <a:endParaRPr>
              <a:latin typeface="Consolas"/>
              <a:ea typeface="Consolas"/>
              <a:cs typeface="Consolas"/>
              <a:sym typeface="Consolas"/>
            </a:endParaRPr>
          </a:p>
        </p:txBody>
      </p:sp>
      <p:sp>
        <p:nvSpPr>
          <p:cNvPr id="1290" name="Google Shape;1290;p165"/>
          <p:cNvSpPr/>
          <p:nvPr/>
        </p:nvSpPr>
        <p:spPr>
          <a:xfrm>
            <a:off x="2183750" y="3570525"/>
            <a:ext cx="1979100" cy="8379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O(1) time</a:t>
            </a:r>
            <a:endParaRPr b="1" sz="1800">
              <a:solidFill>
                <a:schemeClr val="lt1"/>
              </a:solidFill>
              <a:latin typeface="Poppins"/>
              <a:ea typeface="Poppins"/>
              <a:cs typeface="Poppins"/>
              <a:sym typeface="Poppins"/>
            </a:endParaRPr>
          </a:p>
        </p:txBody>
      </p:sp>
      <p:sp>
        <p:nvSpPr>
          <p:cNvPr id="1291" name="Google Shape;1291;p165"/>
          <p:cNvSpPr/>
          <p:nvPr/>
        </p:nvSpPr>
        <p:spPr>
          <a:xfrm>
            <a:off x="4440700" y="3570525"/>
            <a:ext cx="1979100" cy="837900"/>
          </a:xfrm>
          <a:prstGeom prst="roundRect">
            <a:avLst>
              <a:gd fmla="val 16667" name="adj"/>
            </a:avLst>
          </a:prstGeom>
          <a:solidFill>
            <a:srgbClr val="00CD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O(1) space</a:t>
            </a:r>
            <a:endParaRPr b="1" sz="1800">
              <a:solidFill>
                <a:schemeClr val="lt1"/>
              </a:solidFill>
              <a:latin typeface="Poppins"/>
              <a:ea typeface="Poppins"/>
              <a:cs typeface="Poppins"/>
              <a:sym typeface="Poppins"/>
            </a:endParaRPr>
          </a:p>
        </p:txBody>
      </p:sp>
      <p:sp>
        <p:nvSpPr>
          <p:cNvPr id="1292" name="Google Shape;1292;p165"/>
          <p:cNvSpPr/>
          <p:nvPr/>
        </p:nvSpPr>
        <p:spPr>
          <a:xfrm>
            <a:off x="2102750" y="3513050"/>
            <a:ext cx="2163900" cy="104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93" name="Google Shape;1293;p165"/>
          <p:cNvSpPr/>
          <p:nvPr/>
        </p:nvSpPr>
        <p:spPr>
          <a:xfrm>
            <a:off x="4339875" y="3513050"/>
            <a:ext cx="2163900" cy="104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94" name="Google Shape;1294;p16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the Big(O)?</a:t>
            </a:r>
            <a:endParaRPr/>
          </a:p>
        </p:txBody>
      </p:sp>
      <p:grpSp>
        <p:nvGrpSpPr>
          <p:cNvPr id="1295" name="Google Shape;1295;p165"/>
          <p:cNvGrpSpPr/>
          <p:nvPr/>
        </p:nvGrpSpPr>
        <p:grpSpPr>
          <a:xfrm>
            <a:off x="89100" y="4739882"/>
            <a:ext cx="324008" cy="322851"/>
            <a:chOff x="0" y="3867912"/>
            <a:chExt cx="1280160" cy="1275588"/>
          </a:xfrm>
        </p:grpSpPr>
        <p:sp>
          <p:nvSpPr>
            <p:cNvPr id="1296" name="Google Shape;1296;p165"/>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65"/>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65"/>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66"/>
          <p:cNvSpPr txBox="1"/>
          <p:nvPr>
            <p:ph type="title"/>
          </p:nvPr>
        </p:nvSpPr>
        <p:spPr>
          <a:xfrm>
            <a:off x="452400" y="481275"/>
            <a:ext cx="39477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Time Complexity: sum_top_100</a:t>
            </a:r>
            <a:endParaRPr/>
          </a:p>
        </p:txBody>
      </p:sp>
      <p:sp>
        <p:nvSpPr>
          <p:cNvPr id="1304" name="Google Shape;1304;p166"/>
          <p:cNvSpPr/>
          <p:nvPr/>
        </p:nvSpPr>
        <p:spPr>
          <a:xfrm>
            <a:off x="4345400" y="481275"/>
            <a:ext cx="1660554" cy="674352"/>
          </a:xfrm>
          <a:prstGeom prst="flowChartTerminator">
            <a:avLst/>
          </a:prstGeom>
          <a:solidFill>
            <a:srgbClr val="00C98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Poppins"/>
                <a:ea typeface="Poppins"/>
                <a:cs typeface="Poppins"/>
                <a:sym typeface="Poppins"/>
              </a:rPr>
              <a:t>START</a:t>
            </a:r>
            <a:endParaRPr b="1">
              <a:solidFill>
                <a:schemeClr val="lt1"/>
              </a:solidFill>
              <a:latin typeface="Poppins"/>
              <a:ea typeface="Poppins"/>
              <a:cs typeface="Poppins"/>
              <a:sym typeface="Poppins"/>
            </a:endParaRPr>
          </a:p>
        </p:txBody>
      </p:sp>
      <p:sp>
        <p:nvSpPr>
          <p:cNvPr id="1305" name="Google Shape;1305;p166"/>
          <p:cNvSpPr/>
          <p:nvPr/>
        </p:nvSpPr>
        <p:spPr>
          <a:xfrm>
            <a:off x="4126250" y="1404675"/>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initialize total = 0</a:t>
            </a:r>
            <a:endParaRPr>
              <a:latin typeface="Poppins"/>
              <a:ea typeface="Poppins"/>
              <a:cs typeface="Poppins"/>
              <a:sym typeface="Poppins"/>
            </a:endParaRPr>
          </a:p>
        </p:txBody>
      </p:sp>
      <p:sp>
        <p:nvSpPr>
          <p:cNvPr id="1306" name="Google Shape;1306;p166"/>
          <p:cNvSpPr/>
          <p:nvPr/>
        </p:nvSpPr>
        <p:spPr>
          <a:xfrm>
            <a:off x="6857288" y="2733250"/>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total += arr[i]</a:t>
            </a:r>
            <a:endParaRPr>
              <a:latin typeface="Poppins"/>
              <a:ea typeface="Poppins"/>
              <a:cs typeface="Poppins"/>
              <a:sym typeface="Poppins"/>
            </a:endParaRPr>
          </a:p>
        </p:txBody>
      </p:sp>
      <p:sp>
        <p:nvSpPr>
          <p:cNvPr id="1307" name="Google Shape;1307;p166"/>
          <p:cNvSpPr txBox="1"/>
          <p:nvPr/>
        </p:nvSpPr>
        <p:spPr>
          <a:xfrm>
            <a:off x="452400" y="1669000"/>
            <a:ext cx="2902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arr = [a, b, c, d, e]</a:t>
            </a:r>
            <a:endParaRPr sz="1800">
              <a:solidFill>
                <a:schemeClr val="dk1"/>
              </a:solidFill>
              <a:latin typeface="Consolas"/>
              <a:ea typeface="Consolas"/>
              <a:cs typeface="Consolas"/>
              <a:sym typeface="Consolas"/>
            </a:endParaRPr>
          </a:p>
        </p:txBody>
      </p:sp>
      <p:sp>
        <p:nvSpPr>
          <p:cNvPr id="1308" name="Google Shape;1308;p166"/>
          <p:cNvSpPr/>
          <p:nvPr/>
        </p:nvSpPr>
        <p:spPr>
          <a:xfrm>
            <a:off x="4126238" y="4227925"/>
            <a:ext cx="2098875" cy="724900"/>
          </a:xfrm>
          <a:prstGeom prst="flowChartProcess">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Return total</a:t>
            </a:r>
            <a:endParaRPr>
              <a:latin typeface="Poppins"/>
              <a:ea typeface="Poppins"/>
              <a:cs typeface="Poppins"/>
              <a:sym typeface="Poppins"/>
            </a:endParaRPr>
          </a:p>
        </p:txBody>
      </p:sp>
      <p:sp>
        <p:nvSpPr>
          <p:cNvPr id="1309" name="Google Shape;1309;p166"/>
          <p:cNvSpPr txBox="1"/>
          <p:nvPr/>
        </p:nvSpPr>
        <p:spPr>
          <a:xfrm>
            <a:off x="1576250" y="2788650"/>
            <a:ext cx="244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loop runs </a:t>
            </a:r>
            <a:r>
              <a:rPr b="1" lang="en" sz="1800">
                <a:solidFill>
                  <a:schemeClr val="dk1"/>
                </a:solidFill>
                <a:latin typeface="Poppins"/>
                <a:ea typeface="Poppins"/>
                <a:cs typeface="Poppins"/>
                <a:sym typeface="Poppins"/>
              </a:rPr>
              <a:t>100</a:t>
            </a:r>
            <a:r>
              <a:rPr lang="en" sz="1800">
                <a:solidFill>
                  <a:schemeClr val="dk1"/>
                </a:solidFill>
                <a:latin typeface="Poppins"/>
                <a:ea typeface="Poppins"/>
                <a:cs typeface="Poppins"/>
                <a:sym typeface="Poppins"/>
              </a:rPr>
              <a:t> times</a:t>
            </a:r>
            <a:endParaRPr sz="1800">
              <a:solidFill>
                <a:schemeClr val="dk1"/>
              </a:solidFill>
              <a:latin typeface="Poppins"/>
              <a:ea typeface="Poppins"/>
              <a:cs typeface="Poppins"/>
              <a:sym typeface="Poppins"/>
            </a:endParaRPr>
          </a:p>
        </p:txBody>
      </p:sp>
      <p:sp>
        <p:nvSpPr>
          <p:cNvPr id="1310" name="Google Shape;1310;p166"/>
          <p:cNvSpPr txBox="1"/>
          <p:nvPr/>
        </p:nvSpPr>
        <p:spPr>
          <a:xfrm>
            <a:off x="6806788" y="1985250"/>
            <a:ext cx="2199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each step takes constant time</a:t>
            </a:r>
            <a:endParaRPr sz="1800">
              <a:solidFill>
                <a:schemeClr val="dk1"/>
              </a:solidFill>
              <a:latin typeface="Poppins"/>
              <a:ea typeface="Poppins"/>
              <a:cs typeface="Poppins"/>
              <a:sym typeface="Poppins"/>
            </a:endParaRPr>
          </a:p>
        </p:txBody>
      </p:sp>
      <p:cxnSp>
        <p:nvCxnSpPr>
          <p:cNvPr id="1311" name="Google Shape;1311;p166"/>
          <p:cNvCxnSpPr>
            <a:stCxn id="1304" idx="2"/>
            <a:endCxn id="1305" idx="0"/>
          </p:cNvCxnSpPr>
          <p:nvPr/>
        </p:nvCxnSpPr>
        <p:spPr>
          <a:xfrm>
            <a:off x="5175677" y="1155627"/>
            <a:ext cx="0" cy="249000"/>
          </a:xfrm>
          <a:prstGeom prst="straightConnector1">
            <a:avLst/>
          </a:prstGeom>
          <a:noFill/>
          <a:ln cap="flat" cmpd="sng" w="9525">
            <a:solidFill>
              <a:schemeClr val="dk1"/>
            </a:solidFill>
            <a:prstDash val="solid"/>
            <a:round/>
            <a:headEnd len="med" w="med" type="none"/>
            <a:tailEnd len="med" w="med" type="stealth"/>
          </a:ln>
        </p:spPr>
      </p:cxnSp>
      <p:grpSp>
        <p:nvGrpSpPr>
          <p:cNvPr id="1312" name="Google Shape;1312;p166"/>
          <p:cNvGrpSpPr/>
          <p:nvPr/>
        </p:nvGrpSpPr>
        <p:grpSpPr>
          <a:xfrm>
            <a:off x="4075663" y="2408713"/>
            <a:ext cx="2200025" cy="1373950"/>
            <a:chOff x="3295825" y="2343325"/>
            <a:chExt cx="2200025" cy="1373950"/>
          </a:xfrm>
        </p:grpSpPr>
        <p:sp>
          <p:nvSpPr>
            <p:cNvPr id="1313" name="Google Shape;1313;p166"/>
            <p:cNvSpPr/>
            <p:nvPr/>
          </p:nvSpPr>
          <p:spPr>
            <a:xfrm>
              <a:off x="3295825" y="2343325"/>
              <a:ext cx="2200025" cy="1373950"/>
            </a:xfrm>
            <a:prstGeom prst="flowChartDecision">
              <a:avLst/>
            </a:prstGeom>
            <a:solidFill>
              <a:srgbClr val="D7FF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14" name="Google Shape;1314;p166"/>
            <p:cNvSpPr txBox="1"/>
            <p:nvPr/>
          </p:nvSpPr>
          <p:spPr>
            <a:xfrm>
              <a:off x="3413825" y="2739500"/>
              <a:ext cx="1930500" cy="61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oppins"/>
                  <a:ea typeface="Poppins"/>
                  <a:cs typeface="Poppins"/>
                  <a:sym typeface="Poppins"/>
                </a:rPr>
                <a:t>i = 100?</a:t>
              </a:r>
              <a:endParaRPr sz="1800">
                <a:solidFill>
                  <a:schemeClr val="dk2"/>
                </a:solidFill>
                <a:latin typeface="Poppins"/>
                <a:ea typeface="Poppins"/>
                <a:cs typeface="Poppins"/>
                <a:sym typeface="Poppins"/>
              </a:endParaRPr>
            </a:p>
          </p:txBody>
        </p:sp>
      </p:grpSp>
      <p:cxnSp>
        <p:nvCxnSpPr>
          <p:cNvPr id="1315" name="Google Shape;1315;p166"/>
          <p:cNvCxnSpPr>
            <a:stCxn id="1313" idx="3"/>
            <a:endCxn id="1306" idx="1"/>
          </p:cNvCxnSpPr>
          <p:nvPr/>
        </p:nvCxnSpPr>
        <p:spPr>
          <a:xfrm>
            <a:off x="6275688" y="3095688"/>
            <a:ext cx="581700" cy="0"/>
          </a:xfrm>
          <a:prstGeom prst="straightConnector1">
            <a:avLst/>
          </a:prstGeom>
          <a:noFill/>
          <a:ln cap="flat" cmpd="sng" w="9525">
            <a:solidFill>
              <a:schemeClr val="dk1"/>
            </a:solidFill>
            <a:prstDash val="solid"/>
            <a:round/>
            <a:headEnd len="med" w="med" type="none"/>
            <a:tailEnd len="med" w="med" type="stealth"/>
          </a:ln>
        </p:spPr>
      </p:cxnSp>
      <p:cxnSp>
        <p:nvCxnSpPr>
          <p:cNvPr id="1316" name="Google Shape;1316;p166"/>
          <p:cNvCxnSpPr>
            <a:stCxn id="1313" idx="2"/>
            <a:endCxn id="1308" idx="0"/>
          </p:cNvCxnSpPr>
          <p:nvPr/>
        </p:nvCxnSpPr>
        <p:spPr>
          <a:xfrm>
            <a:off x="5175675" y="3782663"/>
            <a:ext cx="0" cy="445200"/>
          </a:xfrm>
          <a:prstGeom prst="straightConnector1">
            <a:avLst/>
          </a:prstGeom>
          <a:noFill/>
          <a:ln cap="flat" cmpd="sng" w="9525">
            <a:solidFill>
              <a:schemeClr val="dk1"/>
            </a:solidFill>
            <a:prstDash val="solid"/>
            <a:round/>
            <a:headEnd len="med" w="med" type="none"/>
            <a:tailEnd len="med" w="med" type="stealth"/>
          </a:ln>
        </p:spPr>
      </p:cxnSp>
      <p:cxnSp>
        <p:nvCxnSpPr>
          <p:cNvPr id="1317" name="Google Shape;1317;p166"/>
          <p:cNvCxnSpPr>
            <a:stCxn id="1305" idx="2"/>
            <a:endCxn id="1313" idx="0"/>
          </p:cNvCxnSpPr>
          <p:nvPr/>
        </p:nvCxnSpPr>
        <p:spPr>
          <a:xfrm>
            <a:off x="5175688" y="2129575"/>
            <a:ext cx="0" cy="279000"/>
          </a:xfrm>
          <a:prstGeom prst="straightConnector1">
            <a:avLst/>
          </a:prstGeom>
          <a:noFill/>
          <a:ln cap="flat" cmpd="sng" w="9525">
            <a:solidFill>
              <a:schemeClr val="dk1"/>
            </a:solidFill>
            <a:prstDash val="solid"/>
            <a:round/>
            <a:headEnd len="med" w="med" type="none"/>
            <a:tailEnd len="med" w="med" type="stealth"/>
          </a:ln>
        </p:spPr>
      </p:cxnSp>
      <p:sp>
        <p:nvSpPr>
          <p:cNvPr id="1318" name="Google Shape;1318;p166"/>
          <p:cNvSpPr txBox="1"/>
          <p:nvPr/>
        </p:nvSpPr>
        <p:spPr>
          <a:xfrm>
            <a:off x="6275700" y="2634000"/>
            <a:ext cx="58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no</a:t>
            </a:r>
            <a:endParaRPr sz="1800">
              <a:solidFill>
                <a:schemeClr val="dk1"/>
              </a:solidFill>
              <a:latin typeface="Poppins"/>
              <a:ea typeface="Poppins"/>
              <a:cs typeface="Poppins"/>
              <a:sym typeface="Poppins"/>
            </a:endParaRPr>
          </a:p>
        </p:txBody>
      </p:sp>
      <p:sp>
        <p:nvSpPr>
          <p:cNvPr id="1319" name="Google Shape;1319;p166"/>
          <p:cNvSpPr txBox="1"/>
          <p:nvPr/>
        </p:nvSpPr>
        <p:spPr>
          <a:xfrm>
            <a:off x="4572000" y="3722025"/>
            <a:ext cx="64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yes</a:t>
            </a:r>
            <a:endParaRPr sz="1800">
              <a:solidFill>
                <a:schemeClr val="dk1"/>
              </a:solidFill>
              <a:latin typeface="Poppins"/>
              <a:ea typeface="Poppins"/>
              <a:cs typeface="Poppins"/>
              <a:sym typeface="Poppins"/>
            </a:endParaRPr>
          </a:p>
        </p:txBody>
      </p:sp>
      <p:grpSp>
        <p:nvGrpSpPr>
          <p:cNvPr id="1320" name="Google Shape;1320;p166"/>
          <p:cNvGrpSpPr/>
          <p:nvPr/>
        </p:nvGrpSpPr>
        <p:grpSpPr>
          <a:xfrm>
            <a:off x="89100" y="4739882"/>
            <a:ext cx="324008" cy="322851"/>
            <a:chOff x="0" y="3867912"/>
            <a:chExt cx="1280160" cy="1275588"/>
          </a:xfrm>
        </p:grpSpPr>
        <p:sp>
          <p:nvSpPr>
            <p:cNvPr id="1321" name="Google Shape;1321;p166"/>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66"/>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66"/>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16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Space Complexity: sum_top_100 </a:t>
            </a:r>
            <a:endParaRPr/>
          </a:p>
        </p:txBody>
      </p:sp>
      <p:sp>
        <p:nvSpPr>
          <p:cNvPr id="1329" name="Google Shape;1329;p16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Input List:</a:t>
            </a:r>
            <a:r>
              <a:rPr lang="en"/>
              <a:t> </a:t>
            </a:r>
            <a:r>
              <a:rPr lang="en">
                <a:latin typeface="Consolas"/>
                <a:ea typeface="Consolas"/>
                <a:cs typeface="Consolas"/>
                <a:sym typeface="Consolas"/>
              </a:rPr>
              <a:t>[a1, a2, a3, ..., a100, ...]</a:t>
            </a:r>
            <a:endParaRPr>
              <a:latin typeface="Consolas"/>
              <a:ea typeface="Consolas"/>
              <a:cs typeface="Consolas"/>
              <a:sym typeface="Consolas"/>
            </a:endParaRPr>
          </a:p>
          <a:p>
            <a:pPr indent="0" lvl="0" marL="0" rtl="0" algn="l">
              <a:spcBef>
                <a:spcPts val="1000"/>
              </a:spcBef>
              <a:spcAft>
                <a:spcPts val="0"/>
              </a:spcAft>
              <a:buNone/>
            </a:pPr>
            <a:r>
              <a:rPr b="1" lang="en"/>
              <a:t>Variables:</a:t>
            </a:r>
            <a:r>
              <a:rPr lang="en"/>
              <a:t> </a:t>
            </a:r>
            <a:r>
              <a:rPr lang="en">
                <a:latin typeface="Consolas"/>
                <a:ea typeface="Consolas"/>
                <a:cs typeface="Consolas"/>
                <a:sym typeface="Consolas"/>
              </a:rPr>
              <a:t>total</a:t>
            </a:r>
            <a:r>
              <a:rPr lang="en"/>
              <a:t>, </a:t>
            </a:r>
            <a:r>
              <a:rPr lang="en">
                <a:latin typeface="Consolas"/>
                <a:ea typeface="Consolas"/>
                <a:cs typeface="Consolas"/>
                <a:sym typeface="Consolas"/>
              </a:rPr>
              <a:t>i</a:t>
            </a:r>
            <a:r>
              <a:rPr lang="en"/>
              <a:t> (constant space)</a:t>
            </a:r>
            <a:endParaRPr/>
          </a:p>
          <a:p>
            <a:pPr indent="0" lvl="0" marL="0" rtl="0" algn="l">
              <a:spcBef>
                <a:spcPts val="1000"/>
              </a:spcBef>
              <a:spcAft>
                <a:spcPts val="0"/>
              </a:spcAft>
              <a:buNone/>
            </a:pPr>
            <a:r>
              <a:rPr b="1" lang="en"/>
              <a:t>Output:</a:t>
            </a:r>
            <a:r>
              <a:rPr lang="en"/>
              <a:t> </a:t>
            </a:r>
            <a:r>
              <a:rPr lang="en">
                <a:latin typeface="Consolas"/>
                <a:ea typeface="Consolas"/>
                <a:cs typeface="Consolas"/>
                <a:sym typeface="Consolas"/>
              </a:rPr>
              <a:t>total</a:t>
            </a:r>
            <a:r>
              <a:rPr lang="en"/>
              <a:t> (constant space)</a:t>
            </a:r>
            <a:endParaRPr/>
          </a:p>
          <a:p>
            <a:pPr indent="0" lvl="0" marL="0" rtl="0" algn="l">
              <a:spcBef>
                <a:spcPts val="1000"/>
              </a:spcBef>
              <a:spcAft>
                <a:spcPts val="0"/>
              </a:spcAft>
              <a:buNone/>
            </a:pPr>
            <a:r>
              <a:t/>
            </a:r>
            <a:endParaRPr/>
          </a:p>
          <a:p>
            <a:pPr indent="0" lvl="0" marL="0" rtl="0" algn="l">
              <a:spcBef>
                <a:spcPts val="1200"/>
              </a:spcBef>
              <a:spcAft>
                <a:spcPts val="0"/>
              </a:spcAft>
              <a:buNone/>
            </a:pPr>
            <a:r>
              <a:rPr lang="en">
                <a:latin typeface="Arial"/>
                <a:ea typeface="Arial"/>
                <a:cs typeface="Arial"/>
                <a:sym typeface="Arial"/>
              </a:rPr>
              <a:t>Q: What is the worst case of our code in terms of space? What if we inputted an array with 10,000 elements?</a:t>
            </a:r>
            <a:endParaRPr>
              <a:latin typeface="Arial"/>
              <a:ea typeface="Arial"/>
              <a:cs typeface="Arial"/>
              <a:sym typeface="Arial"/>
            </a:endParaRPr>
          </a:p>
          <a:p>
            <a:pPr indent="0" lvl="0" marL="0" rtl="0" algn="l">
              <a:spcBef>
                <a:spcPts val="1200"/>
              </a:spcBef>
              <a:spcAft>
                <a:spcPts val="1200"/>
              </a:spcAft>
              <a:buNone/>
            </a:pPr>
            <a:r>
              <a:rPr lang="en">
                <a:latin typeface="Arial"/>
                <a:ea typeface="Arial"/>
                <a:cs typeface="Arial"/>
                <a:sym typeface="Arial"/>
              </a:rPr>
              <a:t>A: Space would still be constant, as it </a:t>
            </a:r>
            <a:r>
              <a:rPr b="1" lang="en">
                <a:latin typeface="Arial"/>
                <a:ea typeface="Arial"/>
                <a:cs typeface="Arial"/>
                <a:sym typeface="Arial"/>
              </a:rPr>
              <a:t>doesn’t grow </a:t>
            </a:r>
            <a:r>
              <a:rPr lang="en">
                <a:latin typeface="Arial"/>
                <a:ea typeface="Arial"/>
                <a:cs typeface="Arial"/>
                <a:sym typeface="Arial"/>
              </a:rPr>
              <a:t>with our input data.</a:t>
            </a:r>
            <a:endParaRPr>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168"/>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335" name="Google Shape;1335;p168"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69"/>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341" name="Google Shape;1341;p16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7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1347" name="Google Shape;1347;p17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8" name="Google Shape;1348;p170"/>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71"/>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354" name="Google Shape;1354;p17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7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7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5" name="Google Shape;1365;p173"/>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366" name="Google Shape;1366;p173"/>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367" name="Google Shape;1367;p173"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174"/>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373" name="Google Shape;1373;p17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4" name="Google Shape;1374;p174"/>
          <p:cNvSpPr txBox="1"/>
          <p:nvPr>
            <p:ph idx="1" type="body"/>
          </p:nvPr>
        </p:nvSpPr>
        <p:spPr>
          <a:xfrm>
            <a:off x="452400" y="908975"/>
            <a:ext cx="8239200" cy="3517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Next Session Lookahead:</a:t>
            </a:r>
            <a:endParaRPr/>
          </a:p>
          <a:p>
            <a:pPr indent="-342900" lvl="1" marL="914400" rtl="0" algn="l">
              <a:spcBef>
                <a:spcPts val="0"/>
              </a:spcBef>
              <a:spcAft>
                <a:spcPts val="0"/>
              </a:spcAft>
              <a:buSzPts val="1800"/>
              <a:buChar char="○"/>
            </a:pPr>
            <a:r>
              <a:rPr b="1" lang="en"/>
              <a:t>OOP </a:t>
            </a:r>
            <a:r>
              <a:rPr lang="en"/>
              <a:t>(Object Oriented Programming, how to define custom classes in Python)</a:t>
            </a:r>
            <a:endParaRPr/>
          </a:p>
          <a:p>
            <a:pPr indent="-342900" lvl="1" marL="914400" rtl="0" algn="l">
              <a:spcBef>
                <a:spcPts val="0"/>
              </a:spcBef>
              <a:spcAft>
                <a:spcPts val="0"/>
              </a:spcAft>
              <a:buSzPts val="1800"/>
              <a:buChar char="○"/>
            </a:pPr>
            <a:r>
              <a:rPr b="1" lang="en"/>
              <a:t>Linked Lists </a:t>
            </a:r>
            <a:r>
              <a:rPr lang="en"/>
              <a:t>(Will compare Linked Lists to normal lists, how to connect nodes and navigate through a linked list)</a:t>
            </a:r>
            <a:endParaRPr/>
          </a:p>
          <a:p>
            <a:pPr indent="-342900" lvl="0" marL="457200" rtl="0" algn="l">
              <a:spcBef>
                <a:spcPts val="0"/>
              </a:spcBef>
              <a:spcAft>
                <a:spcPts val="0"/>
              </a:spcAft>
              <a:buSzPts val="1800"/>
              <a:buChar char="❒"/>
            </a:pPr>
            <a:r>
              <a:rPr b="1" lang="en" sz="1700"/>
              <a:t>Buddy Breakout Group</a:t>
            </a:r>
            <a:r>
              <a:rPr lang="en" sz="1700"/>
              <a:t> forms are open! If you have a group you'd like to work with starting Week 5, check your email and </a:t>
            </a:r>
            <a:r>
              <a:rPr lang="en" sz="1700" u="sng">
                <a:solidFill>
                  <a:schemeClr val="accent5"/>
                </a:solidFill>
                <a:hlinkClick r:id="rId3">
                  <a:extLst>
                    <a:ext uri="{A12FA001-AC4F-418D-AE19-62706E023703}">
                      <ahyp:hlinkClr val="tx"/>
                    </a:ext>
                  </a:extLst>
                </a:hlinkClick>
              </a:rPr>
              <a:t>complete the form</a:t>
            </a:r>
            <a:r>
              <a:rPr lang="en"/>
              <a:t> to opt in!</a:t>
            </a:r>
            <a:endParaRPr/>
          </a:p>
          <a:p>
            <a:pPr indent="0" lvl="0" marL="457200" rtl="0" algn="l">
              <a:spcBef>
                <a:spcPts val="1200"/>
              </a:spcBef>
              <a:spcAft>
                <a:spcPts val="1000"/>
              </a:spcAft>
              <a:buNone/>
            </a:pPr>
            <a:r>
              <a:t/>
            </a:r>
            <a:endParaRPr/>
          </a:p>
        </p:txBody>
      </p:sp>
      <p:pic>
        <p:nvPicPr>
          <p:cNvPr id="1375" name="Google Shape;1375;p174"/>
          <p:cNvPicPr preferRelativeResize="0"/>
          <p:nvPr/>
        </p:nvPicPr>
        <p:blipFill>
          <a:blip r:embed="rId4">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