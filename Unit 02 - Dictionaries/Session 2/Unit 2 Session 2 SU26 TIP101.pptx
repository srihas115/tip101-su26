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792" r:id="rId5"/>
    <p:sldMasterId id="2147483793" r:id="rId6"/>
    <p:sldMasterId id="2147483794" r:id="rId7"/>
    <p:sldMasterId id="2147483795" r:id="rId8"/>
    <p:sldMasterId id="2147483796" r:id="rId9"/>
    <p:sldMasterId id="2147483797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</p:sldIdLst>
  <p:sldSz cy="5143500" cx="9144000"/>
  <p:notesSz cx="6858000" cy="9144000"/>
  <p:embeddedFontLst>
    <p:embeddedFont>
      <p:font typeface="Space Mono"/>
      <p:regular r:id="rId40"/>
      <p:bold r:id="rId41"/>
      <p:italic r:id="rId42"/>
      <p:boldItalic r:id="rId43"/>
    </p:embeddedFont>
    <p:embeddedFont>
      <p:font typeface="Poppins"/>
      <p:regular r:id="rId44"/>
      <p:bold r:id="rId45"/>
      <p:italic r:id="rId46"/>
      <p:boldItalic r:id="rId47"/>
    </p:embeddedFont>
    <p:embeddedFont>
      <p:font typeface="Roboto Mono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576">
          <p15:clr>
            <a:srgbClr val="9AA0A6"/>
          </p15:clr>
        </p15:guide>
        <p15:guide id="4" pos="1152">
          <p15:clr>
            <a:srgbClr val="9AA0A6"/>
          </p15:clr>
        </p15:guide>
        <p15:guide id="5" pos="1728">
          <p15:clr>
            <a:srgbClr val="9AA0A6"/>
          </p15:clr>
        </p15:guide>
        <p15:guide id="6" pos="2304">
          <p15:clr>
            <a:srgbClr val="9AA0A6"/>
          </p15:clr>
        </p15:guide>
        <p15:guide id="7" pos="3456">
          <p15:clr>
            <a:srgbClr val="9AA0A6"/>
          </p15:clr>
        </p15:guide>
        <p15:guide id="8" pos="4032">
          <p15:clr>
            <a:srgbClr val="9AA0A6"/>
          </p15:clr>
        </p15:guide>
        <p15:guide id="9" pos="4608">
          <p15:clr>
            <a:srgbClr val="9AA0A6"/>
          </p15:clr>
        </p15:guide>
        <p15:guide id="10" pos="5184">
          <p15:clr>
            <a:srgbClr val="9AA0A6"/>
          </p15:clr>
        </p15:guide>
        <p15:guide id="11" orient="horz" pos="468">
          <p15:clr>
            <a:srgbClr val="9AA0A6"/>
          </p15:clr>
        </p15:guide>
        <p15:guide id="12" orient="horz" pos="1044">
          <p15:clr>
            <a:srgbClr val="9AA0A6"/>
          </p15:clr>
        </p15:guide>
        <p15:guide id="13" orient="horz" pos="2772">
          <p15:clr>
            <a:srgbClr val="9AA0A6"/>
          </p15:clr>
        </p15:guide>
        <p15:guide id="14" orient="horz" pos="219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45E919-99BE-4E9F-B2C1-8A3828ED9250}">
  <a:tblStyle styleId="{4645E919-99BE-4E9F-B2C1-8A3828ED92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576"/>
        <p:guide pos="1152"/>
        <p:guide pos="1728"/>
        <p:guide pos="2304"/>
        <p:guide pos="3456"/>
        <p:guide pos="4032"/>
        <p:guide pos="4608"/>
        <p:guide pos="5184"/>
        <p:guide pos="468" orient="horz"/>
        <p:guide pos="1044" orient="horz"/>
        <p:guide pos="2772" orient="horz"/>
        <p:guide pos="219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paceMono-regular.fntdata"/><Relationship Id="rId42" Type="http://schemas.openxmlformats.org/officeDocument/2006/relationships/font" Target="fonts/SpaceMono-italic.fntdata"/><Relationship Id="rId41" Type="http://schemas.openxmlformats.org/officeDocument/2006/relationships/font" Target="fonts/SpaceMono-bold.fntdata"/><Relationship Id="rId44" Type="http://schemas.openxmlformats.org/officeDocument/2006/relationships/font" Target="fonts/Poppins-regular.fntdata"/><Relationship Id="rId43" Type="http://schemas.openxmlformats.org/officeDocument/2006/relationships/font" Target="fonts/SpaceMono-boldItalic.fntdata"/><Relationship Id="rId46" Type="http://schemas.openxmlformats.org/officeDocument/2006/relationships/font" Target="fonts/Poppins-italic.fntdata"/><Relationship Id="rId45" Type="http://schemas.openxmlformats.org/officeDocument/2006/relationships/font" Target="fonts/Poppi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48" Type="http://schemas.openxmlformats.org/officeDocument/2006/relationships/font" Target="fonts/RobotoMono-regular.fntdata"/><Relationship Id="rId47" Type="http://schemas.openxmlformats.org/officeDocument/2006/relationships/font" Target="fonts/Poppins-boldItalic.fntdata"/><Relationship Id="rId49" Type="http://schemas.openxmlformats.org/officeDocument/2006/relationships/font" Target="fonts/RobotoMono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20.xml"/><Relationship Id="rId30" Type="http://schemas.openxmlformats.org/officeDocument/2006/relationships/slide" Target="slides/slide19.xml"/><Relationship Id="rId33" Type="http://schemas.openxmlformats.org/officeDocument/2006/relationships/slide" Target="slides/slide22.xml"/><Relationship Id="rId32" Type="http://schemas.openxmlformats.org/officeDocument/2006/relationships/slide" Target="slides/slide21.xml"/><Relationship Id="rId35" Type="http://schemas.openxmlformats.org/officeDocument/2006/relationships/slide" Target="slides/slide24.xml"/><Relationship Id="rId34" Type="http://schemas.openxmlformats.org/officeDocument/2006/relationships/slide" Target="slides/slide23.xml"/><Relationship Id="rId37" Type="http://schemas.openxmlformats.org/officeDocument/2006/relationships/slide" Target="slides/slide26.xml"/><Relationship Id="rId36" Type="http://schemas.openxmlformats.org/officeDocument/2006/relationships/slide" Target="slides/slide25.xml"/><Relationship Id="rId39" Type="http://schemas.openxmlformats.org/officeDocument/2006/relationships/slide" Target="slides/slide28.xml"/><Relationship Id="rId38" Type="http://schemas.openxmlformats.org/officeDocument/2006/relationships/slide" Target="slides/slide27.xml"/><Relationship Id="rId20" Type="http://schemas.openxmlformats.org/officeDocument/2006/relationships/slide" Target="slides/slide9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8" Type="http://schemas.openxmlformats.org/officeDocument/2006/relationships/slide" Target="slides/slide17.xml"/><Relationship Id="rId27" Type="http://schemas.openxmlformats.org/officeDocument/2006/relationships/slide" Target="slides/slide16.xml"/><Relationship Id="rId29" Type="http://schemas.openxmlformats.org/officeDocument/2006/relationships/slide" Target="slides/slide18.xml"/><Relationship Id="rId51" Type="http://schemas.openxmlformats.org/officeDocument/2006/relationships/font" Target="fonts/RobotoMono-boldItalic.fntdata"/><Relationship Id="rId50" Type="http://schemas.openxmlformats.org/officeDocument/2006/relationships/font" Target="fonts/RobotoMono-italic.fntdata"/><Relationship Id="rId11" Type="http://schemas.openxmlformats.org/officeDocument/2006/relationships/notesMaster" Target="notesMasters/notesMaster1.xml"/><Relationship Id="rId10" Type="http://schemas.openxmlformats.org/officeDocument/2006/relationships/slideMaster" Target="slideMasters/slideMaster6.xml"/><Relationship Id="rId13" Type="http://schemas.openxmlformats.org/officeDocument/2006/relationships/slide" Target="slides/slide2.xml"/><Relationship Id="rId12" Type="http://schemas.openxmlformats.org/officeDocument/2006/relationships/slide" Target="slides/slide1.xml"/><Relationship Id="rId15" Type="http://schemas.openxmlformats.org/officeDocument/2006/relationships/slide" Target="slides/slide4.xml"/><Relationship Id="rId14" Type="http://schemas.openxmlformats.org/officeDocument/2006/relationships/slide" Target="slides/slide3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9" Type="http://schemas.openxmlformats.org/officeDocument/2006/relationships/slide" Target="slides/slide8.xml"/><Relationship Id="rId18" Type="http://schemas.openxmlformats.org/officeDocument/2006/relationships/slide" Target="slides/slide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2206823213_0_2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32206823213_0_2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Introduce the session and prepare students for learning about dictionaries and AI tools.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Welcome students and set a positive tone for the session.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Highlight the relevance of the day’s topics.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Welcome to Week 2, Session 2 of TIP101! Today, we’re exploring two essential topics: dictionaries and AI tools. Dictionaries are a powerful data structure in Python, and AI tools can help you become more efficient learners and problem-solvers.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By the end of today, you’ll have a better understanding of when to use dictionaries and how to integrate AI tools thoughtfully into your learning process.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"What’s one thing you’re excited to learn or improve on today?"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32206823213_0_20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32206823213_0_2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Provide a roadmap for the session and set expectations.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Walk students through the session’s structure.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Here’s what we have planned for today: We’ll start with an introduction to dictionaries and AI tools, followed by a quick break. Then, we’ll jump into collaborative problem-solving before wrapping up with reflections and reminders.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focus is on applying these concepts effectively in real-world problem-solving.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Pause to ask if anyone has questions about the agenda.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32206823213_0_2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32206823213_0_2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SLIDES_API103358359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SLIDES_API103358359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Encourage visual engagement to foster connection during the session.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Prompt students to enable their cameras and submit the entry ticket.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Let’s kick off our session by turning on our cameras!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Also, don’t forget to fill out the entry ticket to help us organize breakout rooms later.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 humor or compliments: "Let’s see those smiles!"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Acknowledge and thank students who turn on their cameras.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3ea34904e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3ea34904e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purpose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Stuff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Stuff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stuff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ea34904e5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3ea34904e5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Share feedback from the previous session and highlight areas of success and improvement.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Summarize feedback from the previous session's survey and present key takeaways.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From your feedback, it seems many of you enjoyed [highlighted aspect]. One suggestion was [area for improvement]. We’ll work on that today.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"Does anyone have additional feedback or suggestions?"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3ea34904e5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3ea34904e5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3225cb88111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3225cb88111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Prepare students for collaborative problem-solving time.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Explain the breakout room process and answer any logistical questions.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We’ll use your entry tickets to assign breakout rooms based on your progress in the course. Once assigned, you’ll navigate to your room and start working with your group.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32206823213_0_2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32206823213_0_2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3225cb88111_0_1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3225cb88111_0_1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Help students differentiate between when to use lists and dictionaries.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Facilitate a discussion to assess understanding.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Let’s think about when to use a list versus a dictionary. Lists are great for ordered data and iteration, while dictionaries are best for key-value mappings and quick lookups.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 example, if you’re storing a sequence of names in order, a list makes sense. But if you want to map names to ages, a dictionary is the better choice.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"Can someone share an example of when they’ve used a list and a dictionary in the past?"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3ea34904e53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3ea34904e53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Reinforce the differences between lists and dictionaries with practical examples.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Provide clear examples to illustrate each use case.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Lists are perfect for ordered collections of data that you’ll loop through. Dictionaries are ideal when you need to associate data using keys, like a phonebook or a frequency counter.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 instance, if you’re building a program that counts the number of times each word appears in a text, a dictionary would let you map each word to its count efficiently.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Prompt: "Which data structure would you use to store a collection of email addresses and the number of emails each person has sent?"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3ea34904e53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3ea34904e53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Reinforce the differences between lists and dictionaries with practical examples.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Provide clear examples to illustrate each use case.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Lists are perfect for ordered collections of data that you’ll loop through. Dictionaries are ideal when you need to associate data using keys, like a phonebook or a frequency counter.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 instance, if you’re building a program that counts the number of times each word appears in a text, a dictionary would let you map each word to its count efficiently.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Prompt: "Which data structure would you use to store a collection of email addresses and the number of emails each person has sent?"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3ea34904e53_0_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3ea34904e53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Facilitate a conversation about students’ experiences with AI tools.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Create a space for students to share their thoughts on using AI tools like ChatGPT or GitHub Copilot.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Let’s talk about AI tools. Have you ever used a tool like ChatGPT or Copilot for learning? How did it help you?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AI tools are becoming more common for debugging, brainstorming, and learning complex concepts. They can help you work through challenges or provide new perspectives.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 students to share their experiences in the chat or unmute to contribute. Follow up with: "What are some benefits or challenges you’ve noticed when using these tools?"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32206823213_0_2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32206823213_0_2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Demonstrate solving a problem using the UMPIRE strategy, with an emphasis on the utility of dictionaries for categorizing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Guide students step-by-step through solving the problem using the UMPIRE framework.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Showcase the strengths of dictionaries in categorization tasks.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Normalize mistakes by intentionally introducing an error and debugging 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1. Understand the Problem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"Let’s start with the first step of UMPIRE—Understand. The problem asks us to count how many items belong to each category in a list of tuples. Each tuple contains a category and a value."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"Our input is a list of tuples, and our output is a dictionary where the keys are categories and the values are the counts of items in those categories."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"For example, if the input is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[('fruits', 'apple'), ('vegetables', 'carrot'), ('fruits', 'banana')]</a:t>
            </a:r>
            <a:r>
              <a:rPr lang="en">
                <a:solidFill>
                  <a:schemeClr val="dk1"/>
                </a:solidFill>
              </a:rPr>
              <a:t>, the output should be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{'fruits': 2, 'vegetables': 1}</a:t>
            </a:r>
            <a:r>
              <a:rPr lang="en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Ask Students:</a:t>
            </a:r>
            <a:r>
              <a:rPr lang="en">
                <a:solidFill>
                  <a:schemeClr val="dk1"/>
                </a:solidFill>
              </a:rPr>
              <a:t> "What edge cases should we think about for this problem? For example, what happens if the input list is empty?"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2. Plan the Solution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"Next, let’s create a plan. Here’s how we’ll approach the problem: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Initialize an empty dictionary.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Loop through each tuple in the input list.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For each tuple, check if the category (the first element) is already a key in the dictionary.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If it is, increment its value. If not, create a new key with a value of 1.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Return the dictionary at the end."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Ask Students:</a:t>
            </a:r>
            <a:r>
              <a:rPr lang="en">
                <a:solidFill>
                  <a:schemeClr val="dk1"/>
                </a:solidFill>
              </a:rPr>
              <a:t> "Does this plan make sense? Can you think of anything we might have missed?"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3. Implement the Solution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"Let’s turn our plan into Python code. I’ll start by defining the function and implementing each step."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Write the code step by step, explaining each line: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def count_by_category(items):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counts = {}  # Step 1: Initialize an empty dictionary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for category, _ in items:  # Step 2: Loop through each tuple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if category in counts:  # Step 3a: Check if the key exists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counts[category] += 1  # Step 3b: Increment the count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else: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counts[category] = 1  # Step 3c: Add a new key with value 1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counts  # Step 5: Return the dictionary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Normalize Mistakes:</a:t>
            </a:r>
            <a:r>
              <a:rPr lang="en">
                <a:solidFill>
                  <a:schemeClr val="dk1"/>
                </a:solidFill>
              </a:rPr>
              <a:t> Introduce a small error, such as forgetting to initialize the dictionary or misnaming a variable.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Example: Forget to increment the count correctly.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"Hmm, why is this returning the wrong output? Let’s debug by printing the dictionary at each step."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Debug and correct the code.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4. Test the Solution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"Now let’s test the function with some cases. We’ll start with the input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[('fruits', 'apple'), ('vegetables', 'carrot'), ('fruits', 'banana')]</a:t>
            </a:r>
            <a:r>
              <a:rPr lang="en">
                <a:solidFill>
                  <a:schemeClr val="dk1"/>
                </a:solidFill>
              </a:rPr>
              <a:t>. The expected output is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{'fruits': 2, 'vegetables': 1}</a:t>
            </a:r>
            <a:r>
              <a:rPr lang="en">
                <a:solidFill>
                  <a:schemeClr val="dk1"/>
                </a:solidFill>
              </a:rPr>
              <a:t>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Run the test case and verify the output.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Ask Students:</a:t>
            </a:r>
            <a:r>
              <a:rPr lang="en">
                <a:solidFill>
                  <a:schemeClr val="dk1"/>
                </a:solidFill>
              </a:rPr>
              <a:t> "What additional test cases should we try? For example, how should the function behave with an empty list or duplicate categories?"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5. Review and Reflect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"Let’s reflect on what we did. Dictionaries made it easy to group and count items by category. They’re efficient and flexible for this type of task."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"If we had used a list or another data structure, this task would have been more complex."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Ask Students:</a:t>
            </a:r>
            <a:r>
              <a:rPr lang="en">
                <a:solidFill>
                  <a:schemeClr val="dk1"/>
                </a:solidFill>
              </a:rPr>
              <a:t> "Why do you think dictionaries are the best choice for this problem? Can you think of a similar problem where they’d be useful?"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Encourage active participation by asking: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"What should our next step be?"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"Why is it important to check if the key exists in the dictionary before incrementing?"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Celebrate correct contributions and provide constructive feedback on errors.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 mistakes as teachable moments: "Mistakes like these are common, and debugging them is how we grow as programmers."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3225cb88111_0_20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3225cb88111_0_2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Highlight the importance of combining AI tools with personal effort.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Emphasize the role of AI tools as supplements, not replacements, for critical thinking.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While AI tools can be incredibly helpful, it’s important to use them as a supplement, not a replacement, for your own problem-solving.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Over-reliance on AI can hinder your ability to think critically and develop your skills. Use these tools to support your learning, not to do the work for you.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 example, if you’re stuck, ask an AI tool for hints or suggestions, but make sure to try implementing and debugging the solution yourself.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"What’s one way you can use an AI tool to enhance your learning while still challenging yourself to think critically?"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3ea34904e53_0_1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3ea34904e53_0_1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Highlight the importance of combining AI tools with personal effort.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Emphasize the role of AI tools as supplements, not replacements, for critical thinking.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While AI tools can be incredibly helpful, it’s important to use them as a supplement, not a replacement, for your own problem-solving.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Over-reliance on AI can hinder your ability to think critically and develop your skills. Use these tools to support your learning, not to do the work for you.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 example, if you’re stuck, ask an AI tool for hints or suggestions, but make sure to try implementing and debugging the solution yourself.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"What’s one way you can use an AI tool to enhance your learning while still challenging yourself to think critically?"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3ea34904e53_0_1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3ea34904e53_0_1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Highlight the importance of combining AI tools with personal effort.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Emphasize the role of AI tools as supplements, not replacements, for critical thinking.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While AI tools can be incredibly helpful, it’s important to use them as a supplement, not a replacement, for your own problem-solving.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Over-reliance on AI can hinder your ability to think critically and develop your skills. Use these tools to support your learning, not to do the work for you.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 example, if you’re stuck, ask an AI tool for hints or suggestions, but make sure to try implementing and debugging the solution yourself.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"What’s one way you can use an AI tool to enhance your learning while still challenging yourself to think critically?"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3ea34904e53_0_1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3ea34904e53_0_1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Highlight the importance of combining AI tools with personal effort.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Emphasize the role of AI tools as supplements, not replacements, for critical thinking.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While AI tools can be incredibly helpful, it’s important to use them as a supplement, not a replacement, for your own problem-solving.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Over-reliance on AI can hinder your ability to think critically and develop your skills. Use these tools to support your learning, not to do the work for you.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 example, if you’re stuck, ask an AI tool for hints or suggestions, but make sure to try implementing and debugging the solution yourself.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"What’s one way you can use an AI tool to enhance your learning while still challenging yourself to think critically?"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3ea34904e53_0_1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3ea34904e53_0_1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Highlight the importance of combining AI tools with personal effort.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Emphasize the role of AI tools as supplements, not replacements, for critical thinking.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While AI tools can be incredibly helpful, it’s important to use them as a supplement, not a replacement, for your own problem-solving.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Over-reliance on AI can hinder your ability to think critically and develop your skills. Use these tools to support your learning, not to do the work for you.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 example, if you’re stuck, ask an AI tool for hints or suggestions, but make sure to try implementing and debugging the solution yourself.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"What’s one way you can use an AI tool to enhance your learning while still challenging yourself to think critically?"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3ea34904e53_0_1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3ea34904e53_0_1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🌟 </a:t>
            </a:r>
            <a:r>
              <a:rPr b="1" lang="en">
                <a:solidFill>
                  <a:schemeClr val="dk1"/>
                </a:solidFill>
              </a:rPr>
              <a:t>Purpose:</a:t>
            </a:r>
            <a:r>
              <a:rPr lang="en">
                <a:solidFill>
                  <a:schemeClr val="dk1"/>
                </a:solidFill>
              </a:rPr>
              <a:t> Highlight the importance of combining AI tools with personal effort.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✅ </a:t>
            </a:r>
            <a:r>
              <a:rPr b="1" lang="en">
                <a:solidFill>
                  <a:schemeClr val="dk1"/>
                </a:solidFill>
              </a:rPr>
              <a:t>What should I be doing?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Emphasize the role of AI tools as supplements, not replacements, for critical thinking.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🎙️ </a:t>
            </a:r>
            <a:r>
              <a:rPr b="1" lang="en">
                <a:solidFill>
                  <a:schemeClr val="dk1"/>
                </a:solidFill>
              </a:rPr>
              <a:t>What should I be saying?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While AI tools can be incredibly helpful, it’s important to use them as a supplement, not a replacement, for your own problem-solving.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Over-reliance on AI can hinder your ability to think critically and develop your skills. Use these tools to support your learning, not to do the work for you.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For example, if you’re stuck, ask an AI tool for hints or suggestions, but make sure to try implementing and debugging the solution yourself.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🙌🏽 </a:t>
            </a:r>
            <a:r>
              <a:rPr b="1" lang="en">
                <a:solidFill>
                  <a:schemeClr val="dk1"/>
                </a:solidFill>
              </a:rPr>
              <a:t>How should I engage students?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Ask: "What’s one way you can use an AI tool to enhance your learning while still challenging yourself to think critically?"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3287748ff11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6" name="Google Shape;1286;g3287748ff11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Provide a short break to refresh and re-energize.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Announce the break and remind students to return on time.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Play the countdown timer video (be sure to share sound).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Let’s take 5 minutes to step away from the screen. Be sure to return promptly.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3287748ff11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3287748ff11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3287748ff11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3287748ff11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Smoothly transition students into breakout rooms for collaboration.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Share room assignments and explain how to join breakout rooms.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 the link to find your room and introduce yourself to your group.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Check that everyone understands the process before sending them to breakout rooms.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3287748ff11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3287748ff11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3287748ff11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3287748ff11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3287748ff11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3287748ff11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End the session on a positive note.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Prompt students to share their reflections in the chat.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Let’s celebrate your wins. Share one good thing you learned or accomplished today!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Read a few responses aloud and celebrate with enthusiasm.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3287748ff11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3287748ff11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Gather feedback to improve future sessions.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Share the survey link and emphasize its importance.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Your feedback helps us make these sessions even better. Please take a moment to complete the survey.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Thank students for their input and explain how feedback has been used in the past.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3ea34904e53_0_1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3ea34904e53_0_1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🌟 Purpose:</a:t>
            </a:r>
            <a:r>
              <a:rPr lang="en">
                <a:solidFill>
                  <a:schemeClr val="dk1"/>
                </a:solidFill>
              </a:rPr>
              <a:t> Reinforce key tasks and deadlines.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✅ What should I be doing?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Summarize next steps and encourage continued engagement.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🎙️ What should I be saying?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Don’t forget to complete the problem sets and take the HackerRank assessment by Sunday!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🙌🏽 How should I engage students?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Encourage students to ask any lingering questions before signing off.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9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3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17.png"/><Relationship Id="rId4" Type="http://schemas.openxmlformats.org/officeDocument/2006/relationships/image" Target="../media/image33.png"/><Relationship Id="rId5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13.png"/><Relationship Id="rId4" Type="http://schemas.openxmlformats.org/officeDocument/2006/relationships/image" Target="../media/image51.png"/><Relationship Id="rId5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5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30.png"/><Relationship Id="rId5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17.png"/><Relationship Id="rId4" Type="http://schemas.openxmlformats.org/officeDocument/2006/relationships/image" Target="../media/image31.png"/><Relationship Id="rId5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Relationship Id="rId3" Type="http://schemas.openxmlformats.org/officeDocument/2006/relationships/image" Target="../media/image17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3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34.png"/><Relationship Id="rId6" Type="http://schemas.openxmlformats.org/officeDocument/2006/relationships/image" Target="../media/image4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9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7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7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3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6.png"/><Relationship Id="rId3" Type="http://schemas.openxmlformats.org/officeDocument/2006/relationships/image" Target="../media/image17.png"/><Relationship Id="rId4" Type="http://schemas.openxmlformats.org/officeDocument/2006/relationships/image" Target="../media/image33.png"/><Relationship Id="rId5" Type="http://schemas.openxmlformats.org/officeDocument/2006/relationships/image" Target="../media/image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.png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7.png"/><Relationship Id="rId3" Type="http://schemas.openxmlformats.org/officeDocument/2006/relationships/image" Target="../media/image13.png"/><Relationship Id="rId4" Type="http://schemas.openxmlformats.org/officeDocument/2006/relationships/image" Target="../media/image51.png"/><Relationship Id="rId5" Type="http://schemas.openxmlformats.org/officeDocument/2006/relationships/image" Target="../media/image3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7.png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51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30.png"/><Relationship Id="rId5" Type="http://schemas.openxmlformats.org/officeDocument/2006/relationships/image" Target="../media/image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.png"/><Relationship Id="rId3" Type="http://schemas.openxmlformats.org/officeDocument/2006/relationships/image" Target="../media/image17.png"/><Relationship Id="rId4" Type="http://schemas.openxmlformats.org/officeDocument/2006/relationships/image" Target="../media/image31.png"/><Relationship Id="rId5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0.png"/><Relationship Id="rId3" Type="http://schemas.openxmlformats.org/officeDocument/2006/relationships/image" Target="../media/image17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43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34.png"/><Relationship Id="rId6" Type="http://schemas.openxmlformats.org/officeDocument/2006/relationships/image" Target="../media/image41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15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89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98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7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7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png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39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6.png"/><Relationship Id="rId3" Type="http://schemas.openxmlformats.org/officeDocument/2006/relationships/image" Target="../media/image17.png"/><Relationship Id="rId4" Type="http://schemas.openxmlformats.org/officeDocument/2006/relationships/image" Target="../media/image33.png"/><Relationship Id="rId5" Type="http://schemas.openxmlformats.org/officeDocument/2006/relationships/image" Target="../media/image3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4.png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3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3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7.png"/><Relationship Id="rId3" Type="http://schemas.openxmlformats.org/officeDocument/2006/relationships/image" Target="../media/image13.png"/><Relationship Id="rId4" Type="http://schemas.openxmlformats.org/officeDocument/2006/relationships/image" Target="../media/image51.png"/><Relationship Id="rId5" Type="http://schemas.openxmlformats.org/officeDocument/2006/relationships/image" Target="../media/image3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7.png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51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30.png"/><Relationship Id="rId5" Type="http://schemas.openxmlformats.org/officeDocument/2006/relationships/image" Target="../media/image3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4.png"/><Relationship Id="rId3" Type="http://schemas.openxmlformats.org/officeDocument/2006/relationships/image" Target="../media/image17.png"/><Relationship Id="rId4" Type="http://schemas.openxmlformats.org/officeDocument/2006/relationships/image" Target="../media/image31.png"/><Relationship Id="rId5" Type="http://schemas.openxmlformats.org/officeDocument/2006/relationships/image" Target="../media/image3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31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0.png"/><Relationship Id="rId3" Type="http://schemas.openxmlformats.org/officeDocument/2006/relationships/image" Target="../media/image17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43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34.png"/><Relationship Id="rId6" Type="http://schemas.openxmlformats.org/officeDocument/2006/relationships/image" Target="../media/image41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8.png"/><Relationship Id="rId3" Type="http://schemas.openxmlformats.org/officeDocument/2006/relationships/image" Target="../media/image15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89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98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7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7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1.png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39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6.png"/><Relationship Id="rId3" Type="http://schemas.openxmlformats.org/officeDocument/2006/relationships/image" Target="../media/image17.png"/><Relationship Id="rId4" Type="http://schemas.openxmlformats.org/officeDocument/2006/relationships/image" Target="../media/image33.png"/><Relationship Id="rId5" Type="http://schemas.openxmlformats.org/officeDocument/2006/relationships/image" Target="../media/image3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4.png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3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3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7.png"/><Relationship Id="rId3" Type="http://schemas.openxmlformats.org/officeDocument/2006/relationships/image" Target="../media/image13.png"/><Relationship Id="rId4" Type="http://schemas.openxmlformats.org/officeDocument/2006/relationships/image" Target="../media/image51.png"/><Relationship Id="rId5" Type="http://schemas.openxmlformats.org/officeDocument/2006/relationships/image" Target="../media/image3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7.png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51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30.png"/><Relationship Id="rId5" Type="http://schemas.openxmlformats.org/officeDocument/2006/relationships/image" Target="../media/image3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4.png"/><Relationship Id="rId3" Type="http://schemas.openxmlformats.org/officeDocument/2006/relationships/image" Target="../media/image17.png"/><Relationship Id="rId4" Type="http://schemas.openxmlformats.org/officeDocument/2006/relationships/image" Target="../media/image31.png"/><Relationship Id="rId5" Type="http://schemas.openxmlformats.org/officeDocument/2006/relationships/image" Target="../media/image3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31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0.png"/><Relationship Id="rId3" Type="http://schemas.openxmlformats.org/officeDocument/2006/relationships/image" Target="../media/image17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8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43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34.png"/><Relationship Id="rId6" Type="http://schemas.openxmlformats.org/officeDocument/2006/relationships/image" Target="../media/image41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png"/><Relationship Id="rId3" Type="http://schemas.openxmlformats.org/officeDocument/2006/relationships/image" Target="../media/image15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89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98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7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7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png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39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6.png"/><Relationship Id="rId3" Type="http://schemas.openxmlformats.org/officeDocument/2006/relationships/image" Target="../media/image17.png"/><Relationship Id="rId4" Type="http://schemas.openxmlformats.org/officeDocument/2006/relationships/image" Target="../media/image33.png"/><Relationship Id="rId5" Type="http://schemas.openxmlformats.org/officeDocument/2006/relationships/image" Target="../media/image3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4.png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3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3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7.png"/><Relationship Id="rId3" Type="http://schemas.openxmlformats.org/officeDocument/2006/relationships/image" Target="../media/image13.png"/><Relationship Id="rId4" Type="http://schemas.openxmlformats.org/officeDocument/2006/relationships/image" Target="../media/image51.png"/><Relationship Id="rId5" Type="http://schemas.openxmlformats.org/officeDocument/2006/relationships/image" Target="../media/image3.pn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7.png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51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30.png"/><Relationship Id="rId5" Type="http://schemas.openxmlformats.org/officeDocument/2006/relationships/image" Target="../media/image3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4.png"/><Relationship Id="rId3" Type="http://schemas.openxmlformats.org/officeDocument/2006/relationships/image" Target="../media/image17.png"/><Relationship Id="rId4" Type="http://schemas.openxmlformats.org/officeDocument/2006/relationships/image" Target="../media/image31.png"/><Relationship Id="rId5" Type="http://schemas.openxmlformats.org/officeDocument/2006/relationships/image" Target="../media/image3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31.pn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0.png"/><Relationship Id="rId3" Type="http://schemas.openxmlformats.org/officeDocument/2006/relationships/image" Target="../media/image17.png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pn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43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34.png"/><Relationship Id="rId6" Type="http://schemas.openxmlformats.org/officeDocument/2006/relationships/image" Target="../media/image41.png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Blank">
  <p:cSld name="TITLE_AND_BODY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Frame">
  <p:cSld name="TITLE_AND_BODY_1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5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5"/>
          <p:cNvPicPr preferRelativeResize="0"/>
          <p:nvPr/>
        </p:nvPicPr>
        <p:blipFill rotWithShape="1">
          <a:blip r:embed="rId3">
            <a:alphaModFix/>
          </a:blip>
          <a:srcRect b="19849" l="3049" r="3720" t="15220"/>
          <a:stretch/>
        </p:blipFill>
        <p:spPr>
          <a:xfrm>
            <a:off x="7152175" y="4819704"/>
            <a:ext cx="1541199" cy="25388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352350" y="390450"/>
            <a:ext cx="8439300" cy="436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itle Card">
  <p:cSld name="CUSTOM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4.png" id="62" name="Google Shape;6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765" y="1310001"/>
            <a:ext cx="1717224" cy="172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1725" y="106625"/>
            <a:ext cx="3208724" cy="7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6"/>
          <p:cNvSpPr txBox="1"/>
          <p:nvPr>
            <p:ph type="title"/>
          </p:nvPr>
        </p:nvSpPr>
        <p:spPr>
          <a:xfrm>
            <a:off x="1628200" y="1807975"/>
            <a:ext cx="5887800" cy="724500"/>
          </a:xfrm>
          <a:prstGeom prst="rect">
            <a:avLst/>
          </a:prstGeom>
          <a:solidFill>
            <a:schemeClr val="lt1"/>
          </a:solidFill>
          <a:ln cap="flat" cmpd="sng" w="22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66" name="Google Shape;66;p16"/>
          <p:cNvSpPr txBox="1"/>
          <p:nvPr>
            <p:ph idx="1" type="subTitle"/>
          </p:nvPr>
        </p:nvSpPr>
        <p:spPr>
          <a:xfrm>
            <a:off x="2360925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2" type="subTitle"/>
          </p:nvPr>
        </p:nvSpPr>
        <p:spPr>
          <a:xfrm>
            <a:off x="4803950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Agenda">
  <p:cSld name="CUSTOM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/>
        </p:nvSpPr>
        <p:spPr>
          <a:xfrm>
            <a:off x="552800" y="344402"/>
            <a:ext cx="82392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Agenda</a:t>
            </a:r>
            <a:endParaRPr b="1" sz="3600">
              <a:solidFill>
                <a:srgbClr val="05103E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grpSp>
        <p:nvGrpSpPr>
          <p:cNvPr id="70" name="Google Shape;70;p17"/>
          <p:cNvGrpSpPr/>
          <p:nvPr/>
        </p:nvGrpSpPr>
        <p:grpSpPr>
          <a:xfrm rot="5400000">
            <a:off x="5719749" y="1629787"/>
            <a:ext cx="4964577" cy="1883925"/>
            <a:chOff x="4152224" y="1218499"/>
            <a:chExt cx="4964577" cy="1883925"/>
          </a:xfrm>
        </p:grpSpPr>
        <p:pic>
          <p:nvPicPr>
            <p:cNvPr id="71" name="Google Shape;71;p17"/>
            <p:cNvPicPr preferRelativeResize="0"/>
            <p:nvPr/>
          </p:nvPicPr>
          <p:blipFill rotWithShape="1">
            <a:blip r:embed="rId2">
              <a:alphaModFix/>
            </a:blip>
            <a:srcRect b="11995" l="14888" r="61868" t="21294"/>
            <a:stretch/>
          </p:blipFill>
          <p:spPr>
            <a:xfrm rot="-5400011">
              <a:off x="5710924" y="-340197"/>
              <a:ext cx="1668224" cy="4785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7"/>
            <p:cNvPicPr preferRelativeResize="0"/>
            <p:nvPr/>
          </p:nvPicPr>
          <p:blipFill rotWithShape="1">
            <a:blip r:embed="rId3">
              <a:alphaModFix/>
            </a:blip>
            <a:srcRect b="34798" l="0" r="33244" t="0"/>
            <a:stretch/>
          </p:blipFill>
          <p:spPr>
            <a:xfrm rot="-5400000">
              <a:off x="7253138" y="1238761"/>
              <a:ext cx="1883925" cy="1843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3" name="Google Shape;7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Text">
  <p:cSld name="CUSTOM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8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77" name="Google Shape;77;p18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452400" y="1132825"/>
            <a:ext cx="82392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0" name="Google Shape;8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" name="Google Shape;82;p18"/>
          <p:cNvPicPr preferRelativeResize="0"/>
          <p:nvPr/>
        </p:nvPicPr>
        <p:blipFill rotWithShape="1">
          <a:blip r:embed="rId5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83" name="Google Shape;83;p18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Title Only">
  <p:cSld name="CUSTOM_1_1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86" name="Google Shape;86;p19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9"/>
          <p:cNvPicPr preferRelativeResize="0"/>
          <p:nvPr/>
        </p:nvPicPr>
        <p:blipFill rotWithShape="1">
          <a:blip r:embed="rId4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88" name="Google Shape;88;p19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Android">
  <p:cSld name="CUSTOM_3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0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grpSp>
        <p:nvGrpSpPr>
          <p:cNvPr id="95" name="Google Shape;95;p20"/>
          <p:cNvGrpSpPr/>
          <p:nvPr/>
        </p:nvGrpSpPr>
        <p:grpSpPr>
          <a:xfrm>
            <a:off x="5709066" y="201260"/>
            <a:ext cx="2296623" cy="4424889"/>
            <a:chOff x="5598780" y="137712"/>
            <a:chExt cx="2577001" cy="4664652"/>
          </a:xfrm>
        </p:grpSpPr>
        <p:pic>
          <p:nvPicPr>
            <p:cNvPr id="96" name="Google Shape;96;p20"/>
            <p:cNvPicPr preferRelativeResize="0"/>
            <p:nvPr/>
          </p:nvPicPr>
          <p:blipFill rotWithShape="1">
            <a:blip r:embed="rId3">
              <a:alphaModFix/>
            </a:blip>
            <a:srcRect b="1604" l="0" r="0" t="1768"/>
            <a:stretch/>
          </p:blipFill>
          <p:spPr>
            <a:xfrm>
              <a:off x="5598780" y="137712"/>
              <a:ext cx="2577001" cy="46646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20"/>
            <p:cNvSpPr/>
            <p:nvPr/>
          </p:nvSpPr>
          <p:spPr>
            <a:xfrm>
              <a:off x="5789881" y="461652"/>
              <a:ext cx="2204100" cy="391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99" name="Google Shape;9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20"/>
          <p:cNvSpPr/>
          <p:nvPr/>
        </p:nvSpPr>
        <p:spPr>
          <a:xfrm>
            <a:off x="6555438" y="4318850"/>
            <a:ext cx="603900" cy="222000"/>
          </a:xfrm>
          <a:prstGeom prst="rect">
            <a:avLst/>
          </a:prstGeom>
          <a:solidFill>
            <a:srgbClr val="1515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iPhone">
  <p:cSld name="CUSTOM_3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1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21"/>
          <p:cNvSpPr/>
          <p:nvPr/>
        </p:nvSpPr>
        <p:spPr>
          <a:xfrm>
            <a:off x="5879375" y="347075"/>
            <a:ext cx="1956000" cy="4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 rotWithShape="1">
          <a:blip r:embed="rId4">
            <a:alphaModFix/>
          </a:blip>
          <a:srcRect b="3082" l="0" r="0" t="0"/>
          <a:stretch/>
        </p:blipFill>
        <p:spPr>
          <a:xfrm>
            <a:off x="5349374" y="226759"/>
            <a:ext cx="3016012" cy="4373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 - Website">
  <p:cSld name="CUSTOM_3_2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/>
          <p:cNvPicPr preferRelativeResize="0"/>
          <p:nvPr/>
        </p:nvPicPr>
        <p:blipFill rotWithShape="1">
          <a:blip r:embed="rId2">
            <a:alphaModFix/>
          </a:blip>
          <a:srcRect b="30853" l="0" r="22541" t="0"/>
          <a:stretch/>
        </p:blipFill>
        <p:spPr>
          <a:xfrm>
            <a:off x="5860600" y="2508800"/>
            <a:ext cx="3283400" cy="26347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6" name="Google Shape;116;p22"/>
          <p:cNvGrpSpPr/>
          <p:nvPr/>
        </p:nvGrpSpPr>
        <p:grpSpPr>
          <a:xfrm>
            <a:off x="4344100" y="398125"/>
            <a:ext cx="4546500" cy="4222800"/>
            <a:chOff x="4344100" y="398125"/>
            <a:chExt cx="4546500" cy="4222800"/>
          </a:xfrm>
        </p:grpSpPr>
        <p:sp>
          <p:nvSpPr>
            <p:cNvPr id="117" name="Google Shape;117;p22"/>
            <p:cNvSpPr/>
            <p:nvPr/>
          </p:nvSpPr>
          <p:spPr>
            <a:xfrm>
              <a:off x="4344100" y="398125"/>
              <a:ext cx="4546500" cy="4222800"/>
            </a:xfrm>
            <a:prstGeom prst="roundRect">
              <a:avLst>
                <a:gd fmla="val 322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" name="Google Shape;118;p22"/>
            <p:cNvGrpSpPr/>
            <p:nvPr/>
          </p:nvGrpSpPr>
          <p:grpSpPr>
            <a:xfrm>
              <a:off x="4445450" y="524200"/>
              <a:ext cx="399495" cy="101100"/>
              <a:chOff x="4445450" y="524200"/>
              <a:chExt cx="399495" cy="101100"/>
            </a:xfrm>
          </p:grpSpPr>
          <p:sp>
            <p:nvSpPr>
              <p:cNvPr id="119" name="Google Shape;119;p22"/>
              <p:cNvSpPr/>
              <p:nvPr/>
            </p:nvSpPr>
            <p:spPr>
              <a:xfrm>
                <a:off x="4445450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5D0D0"/>
                  </a:gs>
                  <a:gs pos="100000">
                    <a:srgbClr val="D96868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22"/>
              <p:cNvSpPr/>
              <p:nvPr/>
            </p:nvSpPr>
            <p:spPr>
              <a:xfrm>
                <a:off x="4594797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FF6DB"/>
                  </a:gs>
                  <a:gs pos="100000">
                    <a:srgbClr val="FAD25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22"/>
              <p:cNvSpPr/>
              <p:nvPr/>
            </p:nvSpPr>
            <p:spPr>
              <a:xfrm>
                <a:off x="4744145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DCECD5"/>
                  </a:gs>
                  <a:gs pos="100000">
                    <a:srgbClr val="93BC81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2" name="Google Shape;122;p22"/>
            <p:cNvSpPr/>
            <p:nvPr/>
          </p:nvSpPr>
          <p:spPr>
            <a:xfrm>
              <a:off x="4910625" y="448450"/>
              <a:ext cx="3835500" cy="252600"/>
            </a:xfrm>
            <a:prstGeom prst="roundRect">
              <a:avLst>
                <a:gd fmla="val 3409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- Phone Placeholder">
  <p:cSld name="CUSTOM_3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- Code Block">
  <p:cSld name="CUSTOM_7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4"/>
          <p:cNvPicPr preferRelativeResize="0"/>
          <p:nvPr/>
        </p:nvPicPr>
        <p:blipFill rotWithShape="1">
          <a:blip r:embed="rId2">
            <a:alphaModFix/>
          </a:blip>
          <a:srcRect b="29631" l="0" r="52625" t="21294"/>
          <a:stretch/>
        </p:blipFill>
        <p:spPr>
          <a:xfrm rot="-5400005">
            <a:off x="5694763" y="-60161"/>
            <a:ext cx="3400125" cy="352044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4"/>
          <p:cNvSpPr/>
          <p:nvPr/>
        </p:nvSpPr>
        <p:spPr>
          <a:xfrm>
            <a:off x="4385200" y="481275"/>
            <a:ext cx="4308300" cy="41397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57200" y="408225"/>
            <a:ext cx="441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90500" rtl="0" algn="l">
              <a:lnSpc>
                <a:spcPct val="150000"/>
              </a:lnSpc>
              <a:spcBef>
                <a:spcPts val="1700"/>
              </a:spcBef>
              <a:spcAft>
                <a:spcPts val="330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4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7" name="Google Shape;137;p24"/>
          <p:cNvSpPr txBox="1"/>
          <p:nvPr>
            <p:ph idx="2" type="subTitle"/>
          </p:nvPr>
        </p:nvSpPr>
        <p:spPr>
          <a:xfrm>
            <a:off x="4511175" y="586000"/>
            <a:ext cx="4080000" cy="3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- Icebreaker">
  <p:cSld name="CUSTOM_7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5"/>
          <p:cNvPicPr preferRelativeResize="0"/>
          <p:nvPr/>
        </p:nvPicPr>
        <p:blipFill rotWithShape="1">
          <a:blip r:embed="rId3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42" name="Google Shape;14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5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Icebreaker</a:t>
            </a:r>
            <a:endParaRPr/>
          </a:p>
        </p:txBody>
      </p:sp>
      <p:sp>
        <p:nvSpPr>
          <p:cNvPr id="145" name="Google Shape;145;p25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5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47" name="Google Shape;147;p25"/>
          <p:cNvPicPr preferRelativeResize="0"/>
          <p:nvPr/>
        </p:nvPicPr>
        <p:blipFill rotWithShape="1">
          <a:blip r:embed="rId5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- Discussion Prompt">
  <p:cSld name="CUSTOM_6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6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6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52" name="Google Shape;15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6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Discussion</a:t>
            </a:r>
            <a:endParaRPr/>
          </a:p>
        </p:txBody>
      </p:sp>
      <p:sp>
        <p:nvSpPr>
          <p:cNvPr id="156" name="Google Shape;156;p26"/>
          <p:cNvSpPr txBox="1"/>
          <p:nvPr>
            <p:ph idx="2" type="body"/>
          </p:nvPr>
        </p:nvSpPr>
        <p:spPr>
          <a:xfrm>
            <a:off x="604800" y="14128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- Reflection Prompt">
  <p:cSld name="CUSTOM_6_2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7"/>
          <p:cNvPicPr preferRelativeResize="0"/>
          <p:nvPr/>
        </p:nvPicPr>
        <p:blipFill rotWithShape="1">
          <a:blip r:embed="rId2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7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7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62" name="Google Shape;16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27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Reflection</a:t>
            </a:r>
            <a:endParaRPr/>
          </a:p>
        </p:txBody>
      </p:sp>
      <p:sp>
        <p:nvSpPr>
          <p:cNvPr id="165" name="Google Shape;165;p27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p27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- Try It">
  <p:cSld name="CUSTOM_6_2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8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8"/>
          <p:cNvPicPr preferRelativeResize="0"/>
          <p:nvPr/>
        </p:nvPicPr>
        <p:blipFill rotWithShape="1">
          <a:blip r:embed="rId3">
            <a:alphaModFix/>
          </a:blip>
          <a:srcRect b="45416" l="60224" r="12699" t="43299"/>
          <a:stretch/>
        </p:blipFill>
        <p:spPr>
          <a:xfrm>
            <a:off x="0" y="4131025"/>
            <a:ext cx="2061576" cy="101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8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72" name="Google Shape;17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28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Try It!</a:t>
            </a:r>
            <a:endParaRPr/>
          </a:p>
        </p:txBody>
      </p:sp>
      <p:sp>
        <p:nvSpPr>
          <p:cNvPr id="175" name="Google Shape;175;p28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p28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- Breakout Rooms">
  <p:cSld name="CUSTOM_6_2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9"/>
          <p:cNvPicPr preferRelativeResize="0"/>
          <p:nvPr/>
        </p:nvPicPr>
        <p:blipFill rotWithShape="1">
          <a:blip r:embed="rId2">
            <a:alphaModFix/>
          </a:blip>
          <a:srcRect b="0" l="25913" r="44507" t="78390"/>
          <a:stretch/>
        </p:blipFill>
        <p:spPr>
          <a:xfrm rot="10800000">
            <a:off x="1" y="4032002"/>
            <a:ext cx="1547899" cy="1111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9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9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F6BF"/>
          </a:solidFill>
          <a:ln cap="flat" cmpd="sng" w="152400">
            <a:solidFill>
              <a:srgbClr val="FFF6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82" name="Google Shape;18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9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Breakout Rooms</a:t>
            </a:r>
            <a:endParaRPr/>
          </a:p>
        </p:txBody>
      </p:sp>
      <p:sp>
        <p:nvSpPr>
          <p:cNvPr id="185" name="Google Shape;185;p29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p29"/>
          <p:cNvSpPr txBox="1"/>
          <p:nvPr>
            <p:ph idx="2" type="body"/>
          </p:nvPr>
        </p:nvSpPr>
        <p:spPr>
          <a:xfrm>
            <a:off x="452400" y="1260500"/>
            <a:ext cx="64959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7" name="Google Shape;187;p29"/>
          <p:cNvSpPr/>
          <p:nvPr/>
        </p:nvSpPr>
        <p:spPr>
          <a:xfrm>
            <a:off x="7040775" y="1347600"/>
            <a:ext cx="1764000" cy="1755000"/>
          </a:xfrm>
          <a:prstGeom prst="roundRect">
            <a:avLst>
              <a:gd fmla="val 4613" name="adj"/>
            </a:avLst>
          </a:prstGeom>
          <a:solidFill>
            <a:srgbClr val="FFF6B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Questions? </a:t>
            </a: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Post on Slack and tag: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29"/>
          <p:cNvSpPr txBox="1"/>
          <p:nvPr>
            <p:ph idx="3" type="subTitle"/>
          </p:nvPr>
        </p:nvSpPr>
        <p:spPr>
          <a:xfrm>
            <a:off x="7040775" y="2436050"/>
            <a:ext cx="17640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 - CFU">
  <p:cSld name="CUSTOM_6_2_1_1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0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5400000">
            <a:off x="556661" y="3399336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0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0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94" name="Google Shape;19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30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Understanding</a:t>
            </a:r>
            <a:endParaRPr/>
          </a:p>
        </p:txBody>
      </p:sp>
      <p:sp>
        <p:nvSpPr>
          <p:cNvPr id="197" name="Google Shape;197;p30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p30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 - CFU w/ Code">
  <p:cSld name="CUSTOM_6_2_1_1_1_3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1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-5400000">
            <a:off x="7383499" y="-567539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1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 rot="10800000">
            <a:off x="7020095" y="11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1"/>
          <p:cNvSpPr txBox="1"/>
          <p:nvPr>
            <p:ph idx="1" type="body"/>
          </p:nvPr>
        </p:nvSpPr>
        <p:spPr>
          <a:xfrm>
            <a:off x="452400" y="1344125"/>
            <a:ext cx="3474000" cy="29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203" name="Google Shape;20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1"/>
          <p:cNvSpPr/>
          <p:nvPr/>
        </p:nvSpPr>
        <p:spPr>
          <a:xfrm>
            <a:off x="4118450" y="266700"/>
            <a:ext cx="4722300" cy="44595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1"/>
          <p:cNvSpPr txBox="1"/>
          <p:nvPr>
            <p:ph idx="2" type="subTitle"/>
          </p:nvPr>
        </p:nvSpPr>
        <p:spPr>
          <a:xfrm>
            <a:off x="4256529" y="378199"/>
            <a:ext cx="4472100" cy="42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207" name="Google Shape;207;p31"/>
          <p:cNvSpPr txBox="1"/>
          <p:nvPr>
            <p:ph idx="3" type="subTitle"/>
          </p:nvPr>
        </p:nvSpPr>
        <p:spPr>
          <a:xfrm>
            <a:off x="153900" y="4514325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208" name="Google Shape;20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1"/>
          <p:cNvSpPr txBox="1"/>
          <p:nvPr/>
        </p:nvSpPr>
        <p:spPr>
          <a:xfrm>
            <a:off x="1147375" y="322700"/>
            <a:ext cx="26532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Understanding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- Instructor Demo">
  <p:cSld name="CUSTOM_6_2_1_1_1_2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32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2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192550"/>
            <a:ext cx="2189575" cy="9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32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Instructor Demo</a:t>
            </a:r>
            <a:endParaRPr/>
          </a:p>
        </p:txBody>
      </p:sp>
      <p:sp>
        <p:nvSpPr>
          <p:cNvPr id="217" name="Google Shape;217;p32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" name="Google Shape;218;p32"/>
          <p:cNvSpPr txBox="1"/>
          <p:nvPr>
            <p:ph idx="1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 - Exit Ticket">
  <p:cSld name="CUSTOM_6_2_1_1_1_1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3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3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3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224" name="Google Shape;22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33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Exit Ticket</a:t>
            </a:r>
            <a:endParaRPr/>
          </a:p>
        </p:txBody>
      </p:sp>
      <p:sp>
        <p:nvSpPr>
          <p:cNvPr id="227" name="Google Shape;227;p33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" name="Google Shape;228;p33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 - Waterfall">
  <p:cSld name="CUSTOM_6_2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2" name="Google Shape;232;p34"/>
          <p:cNvSpPr txBox="1"/>
          <p:nvPr/>
        </p:nvSpPr>
        <p:spPr>
          <a:xfrm>
            <a:off x="1270675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One Good Thing</a:t>
            </a:r>
            <a:endParaRPr/>
          </a:p>
        </p:txBody>
      </p:sp>
      <p:pic>
        <p:nvPicPr>
          <p:cNvPr id="233" name="Google Shape;23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05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4"/>
          <p:cNvSpPr txBox="1"/>
          <p:nvPr/>
        </p:nvSpPr>
        <p:spPr>
          <a:xfrm>
            <a:off x="1050100" y="1332050"/>
            <a:ext cx="7204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reflect on today’s session. 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Maybe you got a question answered, overcame a specific coding challenge, or learned how to do something completely new!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In the chat, share at least one good thing you’ve learned or experienced during the session today. 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celebrate together!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5" name="Google Shape;23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575" y="3564500"/>
            <a:ext cx="654950" cy="65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 - Section Card">
  <p:cSld name="CUSTOM_2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1.png" id="237" name="Google Shape;237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5"/>
          <p:cNvSpPr txBox="1"/>
          <p:nvPr>
            <p:ph type="title"/>
          </p:nvPr>
        </p:nvSpPr>
        <p:spPr>
          <a:xfrm>
            <a:off x="884825" y="2317200"/>
            <a:ext cx="3157800" cy="5091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pace Mono"/>
              <a:buNone/>
              <a:defRPr sz="3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9" name="Google Shape;239;p35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 - Main Idea">
  <p:cSld name="CUSTOM_5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6"/>
          <p:cNvPicPr preferRelativeResize="0"/>
          <p:nvPr/>
        </p:nvPicPr>
        <p:blipFill rotWithShape="1">
          <a:blip r:embed="rId2">
            <a:alphaModFix/>
          </a:blip>
          <a:srcRect b="0" l="0" r="0" t="12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025" y="474201"/>
            <a:ext cx="3657599" cy="365759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6"/>
          <p:cNvSpPr/>
          <p:nvPr/>
        </p:nvSpPr>
        <p:spPr>
          <a:xfrm>
            <a:off x="914400" y="1656900"/>
            <a:ext cx="7315200" cy="1829700"/>
          </a:xfrm>
          <a:prstGeom prst="roundRect">
            <a:avLst>
              <a:gd fmla="val 16667" name="adj"/>
            </a:avLst>
          </a:prstGeom>
          <a:solidFill>
            <a:srgbClr val="1B1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6"/>
          <p:cNvSpPr txBox="1"/>
          <p:nvPr>
            <p:ph type="title"/>
          </p:nvPr>
        </p:nvSpPr>
        <p:spPr>
          <a:xfrm>
            <a:off x="914400" y="1656900"/>
            <a:ext cx="7315200" cy="18297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 - Background Card">
  <p:cSld name="CUSTOM_5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7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 - Glows &amp; Grows">
  <p:cSld name="CUSTOM_1_1_1_2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39"/>
          <p:cNvGrpSpPr/>
          <p:nvPr/>
        </p:nvGrpSpPr>
        <p:grpSpPr>
          <a:xfrm>
            <a:off x="6262100" y="-3850"/>
            <a:ext cx="2886900" cy="485125"/>
            <a:chOff x="6262100" y="-3850"/>
            <a:chExt cx="2886900" cy="485125"/>
          </a:xfrm>
        </p:grpSpPr>
        <p:pic>
          <p:nvPicPr>
            <p:cNvPr descr="1.png" id="250" name="Google Shape;250;p39"/>
            <p:cNvPicPr preferRelativeResize="0"/>
            <p:nvPr/>
          </p:nvPicPr>
          <p:blipFill rotWithShape="1">
            <a:blip r:embed="rId2">
              <a:alphaModFix/>
            </a:blip>
            <a:srcRect b="88506" l="21895" r="16532" t="0"/>
            <a:stretch/>
          </p:blipFill>
          <p:spPr>
            <a:xfrm rot="10800000">
              <a:off x="6539872" y="1"/>
              <a:ext cx="2609128" cy="4812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" id="251" name="Google Shape;251;p39"/>
            <p:cNvPicPr preferRelativeResize="0"/>
            <p:nvPr/>
          </p:nvPicPr>
          <p:blipFill rotWithShape="1">
            <a:blip r:embed="rId3">
              <a:alphaModFix/>
            </a:blip>
            <a:srcRect b="54291" l="0" r="0" t="36404"/>
            <a:stretch/>
          </p:blipFill>
          <p:spPr>
            <a:xfrm>
              <a:off x="6262100" y="-3850"/>
              <a:ext cx="1898600" cy="176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1.png" id="252" name="Google Shape;252;p39"/>
          <p:cNvPicPr preferRelativeResize="0"/>
          <p:nvPr/>
        </p:nvPicPr>
        <p:blipFill rotWithShape="1">
          <a:blip r:embed="rId2">
            <a:alphaModFix/>
          </a:blip>
          <a:srcRect b="0" l="29746" r="0" t="86858"/>
          <a:stretch/>
        </p:blipFill>
        <p:spPr>
          <a:xfrm rot="-5400000">
            <a:off x="-1232301" y="3379801"/>
            <a:ext cx="2977026" cy="550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53" name="Google Shape;253;p39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2067125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9"/>
          <p:cNvSpPr txBox="1"/>
          <p:nvPr/>
        </p:nvSpPr>
        <p:spPr>
          <a:xfrm>
            <a:off x="1034475" y="1532576"/>
            <a:ext cx="3269400" cy="29769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Glows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7" name="Google Shape;257;p39"/>
          <p:cNvSpPr txBox="1"/>
          <p:nvPr/>
        </p:nvSpPr>
        <p:spPr>
          <a:xfrm>
            <a:off x="4840125" y="1532578"/>
            <a:ext cx="3269400" cy="29769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Grows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8" name="Google Shape;25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1525" y="1080163"/>
            <a:ext cx="655300" cy="6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7175" y="1080162"/>
            <a:ext cx="655300" cy="6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9"/>
          <p:cNvSpPr txBox="1"/>
          <p:nvPr/>
        </p:nvSpPr>
        <p:spPr>
          <a:xfrm>
            <a:off x="452400" y="481263"/>
            <a:ext cx="8239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pace Mono"/>
                <a:ea typeface="Space Mono"/>
                <a:cs typeface="Space Mono"/>
                <a:sym typeface="Space Mono"/>
              </a:rPr>
              <a:t>Your Feedback</a:t>
            </a:r>
            <a:endParaRPr b="1" sz="2400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261" name="Google Shape;261;p39"/>
          <p:cNvSpPr txBox="1"/>
          <p:nvPr>
            <p:ph idx="1" type="subTitle"/>
          </p:nvPr>
        </p:nvSpPr>
        <p:spPr>
          <a:xfrm>
            <a:off x="118252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2" name="Google Shape;262;p39"/>
          <p:cNvSpPr txBox="1"/>
          <p:nvPr>
            <p:ph idx="2" type="subTitle"/>
          </p:nvPr>
        </p:nvSpPr>
        <p:spPr>
          <a:xfrm>
            <a:off x="499117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Blank">
  <p:cSld name="TITLE_AND_BODY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Frame">
  <p:cSld name="TITLE_AND_BODY_1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42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2"/>
          <p:cNvPicPr preferRelativeResize="0"/>
          <p:nvPr/>
        </p:nvPicPr>
        <p:blipFill rotWithShape="1">
          <a:blip r:embed="rId3">
            <a:alphaModFix/>
          </a:blip>
          <a:srcRect b="19849" l="3049" r="3720" t="15220"/>
          <a:stretch/>
        </p:blipFill>
        <p:spPr>
          <a:xfrm>
            <a:off x="7152175" y="4819704"/>
            <a:ext cx="1541199" cy="25388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42"/>
          <p:cNvSpPr/>
          <p:nvPr/>
        </p:nvSpPr>
        <p:spPr>
          <a:xfrm>
            <a:off x="352350" y="390450"/>
            <a:ext cx="8439300" cy="436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itle Card">
  <p:cSld name="CUSTOM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4.png" id="275" name="Google Shape;275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765" y="1310001"/>
            <a:ext cx="1717224" cy="172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1725" y="106625"/>
            <a:ext cx="3208724" cy="7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3"/>
          <p:cNvSpPr txBox="1"/>
          <p:nvPr>
            <p:ph type="title"/>
          </p:nvPr>
        </p:nvSpPr>
        <p:spPr>
          <a:xfrm>
            <a:off x="1628200" y="1807975"/>
            <a:ext cx="5887800" cy="724500"/>
          </a:xfrm>
          <a:prstGeom prst="rect">
            <a:avLst/>
          </a:prstGeom>
          <a:solidFill>
            <a:schemeClr val="lt1"/>
          </a:solidFill>
          <a:ln cap="flat" cmpd="sng" w="22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279" name="Google Shape;279;p43"/>
          <p:cNvSpPr txBox="1"/>
          <p:nvPr>
            <p:ph idx="1" type="subTitle"/>
          </p:nvPr>
        </p:nvSpPr>
        <p:spPr>
          <a:xfrm>
            <a:off x="2360925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280" name="Google Shape;280;p43"/>
          <p:cNvSpPr txBox="1"/>
          <p:nvPr>
            <p:ph idx="2" type="subTitle"/>
          </p:nvPr>
        </p:nvSpPr>
        <p:spPr>
          <a:xfrm>
            <a:off x="4803950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Agenda">
  <p:cSld name="CUSTOM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4"/>
          <p:cNvSpPr txBox="1"/>
          <p:nvPr/>
        </p:nvSpPr>
        <p:spPr>
          <a:xfrm>
            <a:off x="552800" y="344402"/>
            <a:ext cx="82392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Agenda</a:t>
            </a:r>
            <a:endParaRPr b="1" sz="3600">
              <a:solidFill>
                <a:srgbClr val="05103E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grpSp>
        <p:nvGrpSpPr>
          <p:cNvPr id="283" name="Google Shape;283;p44"/>
          <p:cNvGrpSpPr/>
          <p:nvPr/>
        </p:nvGrpSpPr>
        <p:grpSpPr>
          <a:xfrm rot="5400000">
            <a:off x="5719749" y="1629787"/>
            <a:ext cx="4964577" cy="1883925"/>
            <a:chOff x="4152224" y="1218499"/>
            <a:chExt cx="4964577" cy="1883925"/>
          </a:xfrm>
        </p:grpSpPr>
        <p:pic>
          <p:nvPicPr>
            <p:cNvPr id="284" name="Google Shape;284;p44"/>
            <p:cNvPicPr preferRelativeResize="0"/>
            <p:nvPr/>
          </p:nvPicPr>
          <p:blipFill rotWithShape="1">
            <a:blip r:embed="rId2">
              <a:alphaModFix/>
            </a:blip>
            <a:srcRect b="11995" l="14888" r="61868" t="21294"/>
            <a:stretch/>
          </p:blipFill>
          <p:spPr>
            <a:xfrm rot="-5400011">
              <a:off x="5710924" y="-340197"/>
              <a:ext cx="1668224" cy="4785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44"/>
            <p:cNvPicPr preferRelativeResize="0"/>
            <p:nvPr/>
          </p:nvPicPr>
          <p:blipFill rotWithShape="1">
            <a:blip r:embed="rId3">
              <a:alphaModFix/>
            </a:blip>
            <a:srcRect b="34798" l="0" r="33244" t="0"/>
            <a:stretch/>
          </p:blipFill>
          <p:spPr>
            <a:xfrm rot="-5400000">
              <a:off x="7253138" y="1238761"/>
              <a:ext cx="1883925" cy="1843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6" name="Google Shape;28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Text">
  <p:cSld name="CUSTOM_1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45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90" name="Google Shape;290;p45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5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292" name="Google Shape;292;p45"/>
          <p:cNvSpPr txBox="1"/>
          <p:nvPr>
            <p:ph idx="1" type="body"/>
          </p:nvPr>
        </p:nvSpPr>
        <p:spPr>
          <a:xfrm>
            <a:off x="452400" y="1132825"/>
            <a:ext cx="82392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293" name="Google Shape;29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5" name="Google Shape;295;p45"/>
          <p:cNvPicPr preferRelativeResize="0"/>
          <p:nvPr/>
        </p:nvPicPr>
        <p:blipFill rotWithShape="1">
          <a:blip r:embed="rId5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96" name="Google Shape;296;p45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Title Only">
  <p:cSld name="CUSTOM_1_1_1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6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99" name="Google Shape;299;p46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6"/>
          <p:cNvPicPr preferRelativeResize="0"/>
          <p:nvPr/>
        </p:nvPicPr>
        <p:blipFill rotWithShape="1">
          <a:blip r:embed="rId4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01" name="Google Shape;301;p46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4" name="Google Shape;304;p46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Android">
  <p:cSld name="CUSTOM_3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7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grpSp>
        <p:nvGrpSpPr>
          <p:cNvPr id="308" name="Google Shape;308;p47"/>
          <p:cNvGrpSpPr/>
          <p:nvPr/>
        </p:nvGrpSpPr>
        <p:grpSpPr>
          <a:xfrm>
            <a:off x="5709066" y="201260"/>
            <a:ext cx="2296623" cy="4424889"/>
            <a:chOff x="5598780" y="137712"/>
            <a:chExt cx="2577001" cy="4664652"/>
          </a:xfrm>
        </p:grpSpPr>
        <p:pic>
          <p:nvPicPr>
            <p:cNvPr id="309" name="Google Shape;309;p47"/>
            <p:cNvPicPr preferRelativeResize="0"/>
            <p:nvPr/>
          </p:nvPicPr>
          <p:blipFill rotWithShape="1">
            <a:blip r:embed="rId3">
              <a:alphaModFix/>
            </a:blip>
            <a:srcRect b="1604" l="0" r="0" t="1768"/>
            <a:stretch/>
          </p:blipFill>
          <p:spPr>
            <a:xfrm>
              <a:off x="5598780" y="137712"/>
              <a:ext cx="2577001" cy="46646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47"/>
            <p:cNvSpPr/>
            <p:nvPr/>
          </p:nvSpPr>
          <p:spPr>
            <a:xfrm>
              <a:off x="5789881" y="461652"/>
              <a:ext cx="2204100" cy="391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1" name="Google Shape;311;p47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12" name="Google Shape;312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4" name="Google Shape;314;p47"/>
          <p:cNvSpPr/>
          <p:nvPr/>
        </p:nvSpPr>
        <p:spPr>
          <a:xfrm>
            <a:off x="6555438" y="4318850"/>
            <a:ext cx="603900" cy="222000"/>
          </a:xfrm>
          <a:prstGeom prst="rect">
            <a:avLst/>
          </a:prstGeom>
          <a:solidFill>
            <a:srgbClr val="1515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iPhone">
  <p:cSld name="CUSTOM_3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8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18" name="Google Shape;318;p48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19" name="Google Shape;31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48"/>
          <p:cNvSpPr/>
          <p:nvPr/>
        </p:nvSpPr>
        <p:spPr>
          <a:xfrm>
            <a:off x="5879375" y="347075"/>
            <a:ext cx="1956000" cy="4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48"/>
          <p:cNvPicPr preferRelativeResize="0"/>
          <p:nvPr/>
        </p:nvPicPr>
        <p:blipFill rotWithShape="1">
          <a:blip r:embed="rId4">
            <a:alphaModFix/>
          </a:blip>
          <a:srcRect b="3082" l="0" r="0" t="0"/>
          <a:stretch/>
        </p:blipFill>
        <p:spPr>
          <a:xfrm>
            <a:off x="5349374" y="226759"/>
            <a:ext cx="3016012" cy="4373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 - Website">
  <p:cSld name="CUSTOM_3_2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9"/>
          <p:cNvPicPr preferRelativeResize="0"/>
          <p:nvPr/>
        </p:nvPicPr>
        <p:blipFill rotWithShape="1">
          <a:blip r:embed="rId2">
            <a:alphaModFix/>
          </a:blip>
          <a:srcRect b="30853" l="0" r="22541" t="0"/>
          <a:stretch/>
        </p:blipFill>
        <p:spPr>
          <a:xfrm>
            <a:off x="5860600" y="2508800"/>
            <a:ext cx="3283400" cy="263470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9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26" name="Google Shape;326;p49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27" name="Google Shape;32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9" name="Google Shape;329;p49"/>
          <p:cNvGrpSpPr/>
          <p:nvPr/>
        </p:nvGrpSpPr>
        <p:grpSpPr>
          <a:xfrm>
            <a:off x="4344100" y="398125"/>
            <a:ext cx="4546500" cy="4222800"/>
            <a:chOff x="4344100" y="398125"/>
            <a:chExt cx="4546500" cy="4222800"/>
          </a:xfrm>
        </p:grpSpPr>
        <p:sp>
          <p:nvSpPr>
            <p:cNvPr id="330" name="Google Shape;330;p49"/>
            <p:cNvSpPr/>
            <p:nvPr/>
          </p:nvSpPr>
          <p:spPr>
            <a:xfrm>
              <a:off x="4344100" y="398125"/>
              <a:ext cx="4546500" cy="4222800"/>
            </a:xfrm>
            <a:prstGeom prst="roundRect">
              <a:avLst>
                <a:gd fmla="val 322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1" name="Google Shape;331;p49"/>
            <p:cNvGrpSpPr/>
            <p:nvPr/>
          </p:nvGrpSpPr>
          <p:grpSpPr>
            <a:xfrm>
              <a:off x="4445450" y="524200"/>
              <a:ext cx="399495" cy="101100"/>
              <a:chOff x="4445450" y="524200"/>
              <a:chExt cx="399495" cy="101100"/>
            </a:xfrm>
          </p:grpSpPr>
          <p:sp>
            <p:nvSpPr>
              <p:cNvPr id="332" name="Google Shape;332;p49"/>
              <p:cNvSpPr/>
              <p:nvPr/>
            </p:nvSpPr>
            <p:spPr>
              <a:xfrm>
                <a:off x="4445450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5D0D0"/>
                  </a:gs>
                  <a:gs pos="100000">
                    <a:srgbClr val="D96868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49"/>
              <p:cNvSpPr/>
              <p:nvPr/>
            </p:nvSpPr>
            <p:spPr>
              <a:xfrm>
                <a:off x="4594797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FF6DB"/>
                  </a:gs>
                  <a:gs pos="100000">
                    <a:srgbClr val="FAD25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49"/>
              <p:cNvSpPr/>
              <p:nvPr/>
            </p:nvSpPr>
            <p:spPr>
              <a:xfrm>
                <a:off x="4744145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DCECD5"/>
                  </a:gs>
                  <a:gs pos="100000">
                    <a:srgbClr val="93BC81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5" name="Google Shape;335;p49"/>
            <p:cNvSpPr/>
            <p:nvPr/>
          </p:nvSpPr>
          <p:spPr>
            <a:xfrm>
              <a:off x="4910625" y="448450"/>
              <a:ext cx="3835500" cy="252600"/>
            </a:xfrm>
            <a:prstGeom prst="roundRect">
              <a:avLst>
                <a:gd fmla="val 3409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- Phone Placeholder">
  <p:cSld name="CUSTOM_3_1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50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39" name="Google Shape;339;p50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40" name="Google Shape;34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5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- Code Block">
  <p:cSld name="CUSTOM_7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51"/>
          <p:cNvPicPr preferRelativeResize="0"/>
          <p:nvPr/>
        </p:nvPicPr>
        <p:blipFill rotWithShape="1">
          <a:blip r:embed="rId2">
            <a:alphaModFix/>
          </a:blip>
          <a:srcRect b="29631" l="0" r="52625" t="21294"/>
          <a:stretch/>
        </p:blipFill>
        <p:spPr>
          <a:xfrm rot="-5400005">
            <a:off x="5694763" y="-60161"/>
            <a:ext cx="3400125" cy="3520446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1"/>
          <p:cNvSpPr/>
          <p:nvPr/>
        </p:nvSpPr>
        <p:spPr>
          <a:xfrm>
            <a:off x="4385200" y="481275"/>
            <a:ext cx="4308300" cy="41397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51"/>
          <p:cNvSpPr txBox="1"/>
          <p:nvPr/>
        </p:nvSpPr>
        <p:spPr>
          <a:xfrm>
            <a:off x="357200" y="408225"/>
            <a:ext cx="441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90500" rtl="0" algn="l">
              <a:lnSpc>
                <a:spcPct val="150000"/>
              </a:lnSpc>
              <a:spcBef>
                <a:spcPts val="1700"/>
              </a:spcBef>
              <a:spcAft>
                <a:spcPts val="330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46" name="Google Shape;34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5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51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349" name="Google Shape;349;p51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0" name="Google Shape;350;p51"/>
          <p:cNvSpPr txBox="1"/>
          <p:nvPr>
            <p:ph idx="2" type="subTitle"/>
          </p:nvPr>
        </p:nvSpPr>
        <p:spPr>
          <a:xfrm>
            <a:off x="4511175" y="586000"/>
            <a:ext cx="4080000" cy="3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- Icebreaker">
  <p:cSld name="CUSTOM_7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52"/>
          <p:cNvPicPr preferRelativeResize="0"/>
          <p:nvPr/>
        </p:nvPicPr>
        <p:blipFill rotWithShape="1">
          <a:blip r:embed="rId3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52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55" name="Google Shape;35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5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7" name="Google Shape;357;p52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Icebreaker</a:t>
            </a:r>
            <a:endParaRPr/>
          </a:p>
        </p:txBody>
      </p:sp>
      <p:sp>
        <p:nvSpPr>
          <p:cNvPr id="358" name="Google Shape;358;p52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9" name="Google Shape;359;p52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60" name="Google Shape;360;p52"/>
          <p:cNvPicPr preferRelativeResize="0"/>
          <p:nvPr/>
        </p:nvPicPr>
        <p:blipFill rotWithShape="1">
          <a:blip r:embed="rId5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- Discussion Prompt">
  <p:cSld name="CUSTOM_6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53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53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53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65" name="Google Shape;365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5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7" name="Google Shape;367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6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53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Discussion</a:t>
            </a:r>
            <a:endParaRPr/>
          </a:p>
        </p:txBody>
      </p:sp>
      <p:sp>
        <p:nvSpPr>
          <p:cNvPr id="369" name="Google Shape;369;p53"/>
          <p:cNvSpPr txBox="1"/>
          <p:nvPr>
            <p:ph idx="2" type="body"/>
          </p:nvPr>
        </p:nvSpPr>
        <p:spPr>
          <a:xfrm>
            <a:off x="604800" y="14128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- Reflection Prompt">
  <p:cSld name="CUSTOM_6_2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54"/>
          <p:cNvPicPr preferRelativeResize="0"/>
          <p:nvPr/>
        </p:nvPicPr>
        <p:blipFill rotWithShape="1">
          <a:blip r:embed="rId2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4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54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75" name="Google Shape;375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5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7" name="Google Shape;377;p54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Reflection</a:t>
            </a:r>
            <a:endParaRPr/>
          </a:p>
        </p:txBody>
      </p:sp>
      <p:sp>
        <p:nvSpPr>
          <p:cNvPr id="378" name="Google Shape;378;p54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9" name="Google Shape;379;p54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- Try It">
  <p:cSld name="CUSTOM_6_2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55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55"/>
          <p:cNvPicPr preferRelativeResize="0"/>
          <p:nvPr/>
        </p:nvPicPr>
        <p:blipFill rotWithShape="1">
          <a:blip r:embed="rId3">
            <a:alphaModFix/>
          </a:blip>
          <a:srcRect b="45416" l="60224" r="12699" t="43299"/>
          <a:stretch/>
        </p:blipFill>
        <p:spPr>
          <a:xfrm>
            <a:off x="0" y="4131025"/>
            <a:ext cx="2061576" cy="101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5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85" name="Google Shape;385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55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Try It!</a:t>
            </a:r>
            <a:endParaRPr/>
          </a:p>
        </p:txBody>
      </p:sp>
      <p:sp>
        <p:nvSpPr>
          <p:cNvPr id="388" name="Google Shape;388;p55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9" name="Google Shape;389;p55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- Breakout Rooms">
  <p:cSld name="CUSTOM_6_2_1_1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56"/>
          <p:cNvPicPr preferRelativeResize="0"/>
          <p:nvPr/>
        </p:nvPicPr>
        <p:blipFill rotWithShape="1">
          <a:blip r:embed="rId2">
            <a:alphaModFix/>
          </a:blip>
          <a:srcRect b="0" l="25913" r="44507" t="78390"/>
          <a:stretch/>
        </p:blipFill>
        <p:spPr>
          <a:xfrm rot="10800000">
            <a:off x="1" y="4032002"/>
            <a:ext cx="1547899" cy="1111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56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56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F6BF"/>
          </a:solidFill>
          <a:ln cap="flat" cmpd="sng" w="152400">
            <a:solidFill>
              <a:srgbClr val="FFF6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395" name="Google Shape;395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5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7" name="Google Shape;397;p56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Breakout Rooms</a:t>
            </a:r>
            <a:endParaRPr/>
          </a:p>
        </p:txBody>
      </p:sp>
      <p:sp>
        <p:nvSpPr>
          <p:cNvPr id="398" name="Google Shape;398;p56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9" name="Google Shape;399;p56"/>
          <p:cNvSpPr txBox="1"/>
          <p:nvPr>
            <p:ph idx="2" type="body"/>
          </p:nvPr>
        </p:nvSpPr>
        <p:spPr>
          <a:xfrm>
            <a:off x="452400" y="1260500"/>
            <a:ext cx="64959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0" name="Google Shape;400;p56"/>
          <p:cNvSpPr/>
          <p:nvPr/>
        </p:nvSpPr>
        <p:spPr>
          <a:xfrm>
            <a:off x="7040775" y="1347600"/>
            <a:ext cx="1764000" cy="1755000"/>
          </a:xfrm>
          <a:prstGeom prst="roundRect">
            <a:avLst>
              <a:gd fmla="val 4613" name="adj"/>
            </a:avLst>
          </a:prstGeom>
          <a:solidFill>
            <a:srgbClr val="FFF6B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Questions? </a:t>
            </a: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Post on Slack and tag: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1" name="Google Shape;401;p56"/>
          <p:cNvSpPr txBox="1"/>
          <p:nvPr>
            <p:ph idx="3" type="subTitle"/>
          </p:nvPr>
        </p:nvSpPr>
        <p:spPr>
          <a:xfrm>
            <a:off x="7040775" y="2436050"/>
            <a:ext cx="17640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 - CFU">
  <p:cSld name="CUSTOM_6_2_1_1_1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57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5400000">
            <a:off x="556661" y="3399336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7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57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407" name="Google Shape;407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5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9" name="Google Shape;409;p57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Understanding</a:t>
            </a:r>
            <a:endParaRPr/>
          </a:p>
        </p:txBody>
      </p:sp>
      <p:sp>
        <p:nvSpPr>
          <p:cNvPr id="410" name="Google Shape;410;p57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1" name="Google Shape;411;p57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 - CFU w/ Code">
  <p:cSld name="CUSTOM_6_2_1_1_1_3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58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-5400000">
            <a:off x="7383499" y="-567539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58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 rot="10800000">
            <a:off x="7020095" y="11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8"/>
          <p:cNvSpPr txBox="1"/>
          <p:nvPr>
            <p:ph idx="1" type="body"/>
          </p:nvPr>
        </p:nvSpPr>
        <p:spPr>
          <a:xfrm>
            <a:off x="452400" y="1344125"/>
            <a:ext cx="3474000" cy="29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416" name="Google Shape;416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8" name="Google Shape;418;p58"/>
          <p:cNvSpPr/>
          <p:nvPr/>
        </p:nvSpPr>
        <p:spPr>
          <a:xfrm>
            <a:off x="4118450" y="266700"/>
            <a:ext cx="4722300" cy="44595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58"/>
          <p:cNvSpPr txBox="1"/>
          <p:nvPr>
            <p:ph idx="2" type="subTitle"/>
          </p:nvPr>
        </p:nvSpPr>
        <p:spPr>
          <a:xfrm>
            <a:off x="4256529" y="378199"/>
            <a:ext cx="4472100" cy="42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420" name="Google Shape;420;p58"/>
          <p:cNvSpPr txBox="1"/>
          <p:nvPr>
            <p:ph idx="3" type="subTitle"/>
          </p:nvPr>
        </p:nvSpPr>
        <p:spPr>
          <a:xfrm>
            <a:off x="153900" y="4514325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421" name="Google Shape;421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58"/>
          <p:cNvSpPr txBox="1"/>
          <p:nvPr/>
        </p:nvSpPr>
        <p:spPr>
          <a:xfrm>
            <a:off x="1147375" y="322700"/>
            <a:ext cx="26532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Understanding</a:t>
            </a: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- Instructor Demo">
  <p:cSld name="CUSTOM_6_2_1_1_1_2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59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59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192550"/>
            <a:ext cx="2189575" cy="9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59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428" name="Google Shape;428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0" name="Google Shape;430;p59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Instructor Demo</a:t>
            </a:r>
            <a:endParaRPr/>
          </a:p>
        </p:txBody>
      </p:sp>
      <p:sp>
        <p:nvSpPr>
          <p:cNvPr id="431" name="Google Shape;431;p59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2" name="Google Shape;432;p59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 - Exit Ticket">
  <p:cSld name="CUSTOM_6_2_1_1_1_1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60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60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60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438" name="Google Shape;438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6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0" name="Google Shape;440;p60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Exit Ticket</a:t>
            </a:r>
            <a:endParaRPr/>
          </a:p>
        </p:txBody>
      </p:sp>
      <p:sp>
        <p:nvSpPr>
          <p:cNvPr id="441" name="Google Shape;441;p60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2" name="Google Shape;442;p60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 - Waterfall">
  <p:cSld name="CUSTOM_6_2_1_1_1_1_1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6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6" name="Google Shape;446;p61"/>
          <p:cNvSpPr txBox="1"/>
          <p:nvPr/>
        </p:nvSpPr>
        <p:spPr>
          <a:xfrm>
            <a:off x="1270675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One Good Thing</a:t>
            </a:r>
            <a:endParaRPr/>
          </a:p>
        </p:txBody>
      </p:sp>
      <p:pic>
        <p:nvPicPr>
          <p:cNvPr id="447" name="Google Shape;44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05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61"/>
          <p:cNvSpPr txBox="1"/>
          <p:nvPr/>
        </p:nvSpPr>
        <p:spPr>
          <a:xfrm>
            <a:off x="1050100" y="1332050"/>
            <a:ext cx="7204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reflect on today’s session. 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Maybe you got a question answered, overcame a specific coding challenge, or learned how to do something completely new!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In the chat, share at least one good thing you’ve learned or experienced during the session today. 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celebrate together!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9" name="Google Shape;44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575" y="3564500"/>
            <a:ext cx="654950" cy="65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 - Section Card">
  <p:cSld name="CUSTOM_2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1.png" id="451" name="Google Shape;451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62"/>
          <p:cNvSpPr txBox="1"/>
          <p:nvPr>
            <p:ph type="title"/>
          </p:nvPr>
        </p:nvSpPr>
        <p:spPr>
          <a:xfrm>
            <a:off x="884825" y="2317200"/>
            <a:ext cx="3157800" cy="5091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pace Mono"/>
              <a:buNone/>
              <a:defRPr sz="3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3" name="Google Shape;453;p62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 - Main Idea">
  <p:cSld name="CUSTOM_5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63"/>
          <p:cNvPicPr preferRelativeResize="0"/>
          <p:nvPr/>
        </p:nvPicPr>
        <p:blipFill rotWithShape="1">
          <a:blip r:embed="rId2">
            <a:alphaModFix/>
          </a:blip>
          <a:srcRect b="0" l="0" r="0" t="12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025" y="474201"/>
            <a:ext cx="3657599" cy="3657599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63"/>
          <p:cNvSpPr/>
          <p:nvPr/>
        </p:nvSpPr>
        <p:spPr>
          <a:xfrm>
            <a:off x="914400" y="1656900"/>
            <a:ext cx="7315200" cy="1829700"/>
          </a:xfrm>
          <a:prstGeom prst="roundRect">
            <a:avLst>
              <a:gd fmla="val 16667" name="adj"/>
            </a:avLst>
          </a:prstGeom>
          <a:solidFill>
            <a:srgbClr val="1B1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63"/>
          <p:cNvSpPr txBox="1"/>
          <p:nvPr>
            <p:ph type="title"/>
          </p:nvPr>
        </p:nvSpPr>
        <p:spPr>
          <a:xfrm>
            <a:off x="914400" y="1656900"/>
            <a:ext cx="7315200" cy="18297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 - Background Card">
  <p:cSld name="CUSTOM_5_1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64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 - Glows &amp; Grows">
  <p:cSld name="CUSTOM_1_1_1_2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oogle Shape;463;p66"/>
          <p:cNvGrpSpPr/>
          <p:nvPr/>
        </p:nvGrpSpPr>
        <p:grpSpPr>
          <a:xfrm>
            <a:off x="6262100" y="-3850"/>
            <a:ext cx="2886900" cy="485125"/>
            <a:chOff x="6262100" y="-3850"/>
            <a:chExt cx="2886900" cy="485125"/>
          </a:xfrm>
        </p:grpSpPr>
        <p:pic>
          <p:nvPicPr>
            <p:cNvPr descr="1.png" id="464" name="Google Shape;464;p66"/>
            <p:cNvPicPr preferRelativeResize="0"/>
            <p:nvPr/>
          </p:nvPicPr>
          <p:blipFill rotWithShape="1">
            <a:blip r:embed="rId2">
              <a:alphaModFix/>
            </a:blip>
            <a:srcRect b="88506" l="21895" r="16532" t="0"/>
            <a:stretch/>
          </p:blipFill>
          <p:spPr>
            <a:xfrm rot="10800000">
              <a:off x="6539872" y="1"/>
              <a:ext cx="2609128" cy="4812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" id="465" name="Google Shape;465;p66"/>
            <p:cNvPicPr preferRelativeResize="0"/>
            <p:nvPr/>
          </p:nvPicPr>
          <p:blipFill rotWithShape="1">
            <a:blip r:embed="rId3">
              <a:alphaModFix/>
            </a:blip>
            <a:srcRect b="54291" l="0" r="0" t="36404"/>
            <a:stretch/>
          </p:blipFill>
          <p:spPr>
            <a:xfrm>
              <a:off x="6262100" y="-3850"/>
              <a:ext cx="1898600" cy="176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1.png" id="466" name="Google Shape;466;p66"/>
          <p:cNvPicPr preferRelativeResize="0"/>
          <p:nvPr/>
        </p:nvPicPr>
        <p:blipFill rotWithShape="1">
          <a:blip r:embed="rId2">
            <a:alphaModFix/>
          </a:blip>
          <a:srcRect b="0" l="29746" r="0" t="86858"/>
          <a:stretch/>
        </p:blipFill>
        <p:spPr>
          <a:xfrm rot="-5400000">
            <a:off x="-1232301" y="3379801"/>
            <a:ext cx="2977026" cy="550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67" name="Google Shape;467;p66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2067125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6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0" name="Google Shape;470;p66"/>
          <p:cNvSpPr txBox="1"/>
          <p:nvPr/>
        </p:nvSpPr>
        <p:spPr>
          <a:xfrm>
            <a:off x="1034475" y="1532576"/>
            <a:ext cx="3269400" cy="29769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Glows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1" name="Google Shape;471;p66"/>
          <p:cNvSpPr txBox="1"/>
          <p:nvPr/>
        </p:nvSpPr>
        <p:spPr>
          <a:xfrm>
            <a:off x="4840125" y="1532578"/>
            <a:ext cx="3269400" cy="29769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Grows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2" name="Google Shape;472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1525" y="1080163"/>
            <a:ext cx="655300" cy="6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7175" y="1080162"/>
            <a:ext cx="655300" cy="6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66"/>
          <p:cNvSpPr txBox="1"/>
          <p:nvPr/>
        </p:nvSpPr>
        <p:spPr>
          <a:xfrm>
            <a:off x="452400" y="481263"/>
            <a:ext cx="8239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pace Mono"/>
                <a:ea typeface="Space Mono"/>
                <a:cs typeface="Space Mono"/>
                <a:sym typeface="Space Mono"/>
              </a:rPr>
              <a:t>Your Feedback</a:t>
            </a:r>
            <a:endParaRPr b="1" sz="2400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475" name="Google Shape;475;p66"/>
          <p:cNvSpPr txBox="1"/>
          <p:nvPr>
            <p:ph idx="1" type="subTitle"/>
          </p:nvPr>
        </p:nvSpPr>
        <p:spPr>
          <a:xfrm>
            <a:off x="118252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76" name="Google Shape;476;p66"/>
          <p:cNvSpPr txBox="1"/>
          <p:nvPr>
            <p:ph idx="2" type="subTitle"/>
          </p:nvPr>
        </p:nvSpPr>
        <p:spPr>
          <a:xfrm>
            <a:off x="499117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Blank">
  <p:cSld name="TITLE_AND_BODY_1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6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Frame">
  <p:cSld name="TITLE_AND_BODY_1_1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69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69"/>
          <p:cNvPicPr preferRelativeResize="0"/>
          <p:nvPr/>
        </p:nvPicPr>
        <p:blipFill rotWithShape="1">
          <a:blip r:embed="rId3">
            <a:alphaModFix/>
          </a:blip>
          <a:srcRect b="19849" l="3049" r="3720" t="15220"/>
          <a:stretch/>
        </p:blipFill>
        <p:spPr>
          <a:xfrm>
            <a:off x="7152175" y="4819704"/>
            <a:ext cx="1541199" cy="253883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6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69"/>
          <p:cNvSpPr/>
          <p:nvPr/>
        </p:nvSpPr>
        <p:spPr>
          <a:xfrm>
            <a:off x="352350" y="390450"/>
            <a:ext cx="8439300" cy="436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itle Card">
  <p:cSld name="CUSTOM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4.png" id="489" name="Google Shape;489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765" y="1310001"/>
            <a:ext cx="1717224" cy="172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1725" y="106625"/>
            <a:ext cx="3208724" cy="7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70"/>
          <p:cNvSpPr txBox="1"/>
          <p:nvPr>
            <p:ph type="title"/>
          </p:nvPr>
        </p:nvSpPr>
        <p:spPr>
          <a:xfrm>
            <a:off x="1628200" y="1807975"/>
            <a:ext cx="5887800" cy="724500"/>
          </a:xfrm>
          <a:prstGeom prst="rect">
            <a:avLst/>
          </a:prstGeom>
          <a:solidFill>
            <a:schemeClr val="lt1"/>
          </a:solidFill>
          <a:ln cap="flat" cmpd="sng" w="22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493" name="Google Shape;493;p70"/>
          <p:cNvSpPr txBox="1"/>
          <p:nvPr>
            <p:ph idx="1" type="subTitle"/>
          </p:nvPr>
        </p:nvSpPr>
        <p:spPr>
          <a:xfrm>
            <a:off x="2360925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494" name="Google Shape;494;p70"/>
          <p:cNvSpPr txBox="1"/>
          <p:nvPr>
            <p:ph idx="2" type="subTitle"/>
          </p:nvPr>
        </p:nvSpPr>
        <p:spPr>
          <a:xfrm>
            <a:off x="4803950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Agenda">
  <p:cSld name="CUSTOM_1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oogle Shape;496;p71"/>
          <p:cNvGrpSpPr/>
          <p:nvPr/>
        </p:nvGrpSpPr>
        <p:grpSpPr>
          <a:xfrm rot="5400000">
            <a:off x="5719749" y="1629787"/>
            <a:ext cx="4964577" cy="1883925"/>
            <a:chOff x="4152224" y="1218499"/>
            <a:chExt cx="4964577" cy="1883925"/>
          </a:xfrm>
        </p:grpSpPr>
        <p:pic>
          <p:nvPicPr>
            <p:cNvPr id="497" name="Google Shape;497;p71"/>
            <p:cNvPicPr preferRelativeResize="0"/>
            <p:nvPr/>
          </p:nvPicPr>
          <p:blipFill rotWithShape="1">
            <a:blip r:embed="rId2">
              <a:alphaModFix/>
            </a:blip>
            <a:srcRect b="11995" l="14888" r="61868" t="21294"/>
            <a:stretch/>
          </p:blipFill>
          <p:spPr>
            <a:xfrm rot="-5400011">
              <a:off x="5710924" y="-340197"/>
              <a:ext cx="1668224" cy="4785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8" name="Google Shape;498;p71"/>
            <p:cNvPicPr preferRelativeResize="0"/>
            <p:nvPr/>
          </p:nvPicPr>
          <p:blipFill rotWithShape="1">
            <a:blip r:embed="rId3">
              <a:alphaModFix/>
            </a:blip>
            <a:srcRect b="34798" l="0" r="33244" t="0"/>
            <a:stretch/>
          </p:blipFill>
          <p:spPr>
            <a:xfrm rot="-5400000">
              <a:off x="7253138" y="1238761"/>
              <a:ext cx="1883925" cy="1843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99" name="Google Shape;499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7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1" name="Google Shape;501;p71"/>
          <p:cNvSpPr txBox="1"/>
          <p:nvPr/>
        </p:nvSpPr>
        <p:spPr>
          <a:xfrm>
            <a:off x="1147575" y="344400"/>
            <a:ext cx="76446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Agenda</a:t>
            </a:r>
            <a:endParaRPr b="1" sz="2400">
              <a:solidFill>
                <a:srgbClr val="05103E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pic>
        <p:nvPicPr>
          <p:cNvPr id="502" name="Google Shape;502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775" y="420262"/>
            <a:ext cx="505275" cy="5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Text">
  <p:cSld name="CUSTOM_1_1_1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72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05" name="Google Shape;505;p72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72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507" name="Google Shape;507;p72"/>
          <p:cNvSpPr txBox="1"/>
          <p:nvPr>
            <p:ph idx="1" type="body"/>
          </p:nvPr>
        </p:nvSpPr>
        <p:spPr>
          <a:xfrm>
            <a:off x="452400" y="1132825"/>
            <a:ext cx="82392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08" name="Google Shape;508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7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10" name="Google Shape;510;p72"/>
          <p:cNvPicPr preferRelativeResize="0"/>
          <p:nvPr/>
        </p:nvPicPr>
        <p:blipFill rotWithShape="1">
          <a:blip r:embed="rId5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11" name="Google Shape;511;p72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Title Only">
  <p:cSld name="CUSTOM_1_1_1_1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73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14" name="Google Shape;514;p73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73"/>
          <p:cNvPicPr preferRelativeResize="0"/>
          <p:nvPr/>
        </p:nvPicPr>
        <p:blipFill rotWithShape="1">
          <a:blip r:embed="rId4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16" name="Google Shape;516;p73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7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9" name="Google Shape;519;p73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Android">
  <p:cSld name="CUSTOM_3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74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grpSp>
        <p:nvGrpSpPr>
          <p:cNvPr id="523" name="Google Shape;523;p74"/>
          <p:cNvGrpSpPr/>
          <p:nvPr/>
        </p:nvGrpSpPr>
        <p:grpSpPr>
          <a:xfrm>
            <a:off x="5709066" y="201260"/>
            <a:ext cx="2296623" cy="4424889"/>
            <a:chOff x="5598780" y="137712"/>
            <a:chExt cx="2577001" cy="4664652"/>
          </a:xfrm>
        </p:grpSpPr>
        <p:pic>
          <p:nvPicPr>
            <p:cNvPr id="524" name="Google Shape;524;p74"/>
            <p:cNvPicPr preferRelativeResize="0"/>
            <p:nvPr/>
          </p:nvPicPr>
          <p:blipFill rotWithShape="1">
            <a:blip r:embed="rId3">
              <a:alphaModFix/>
            </a:blip>
            <a:srcRect b="1604" l="0" r="0" t="1768"/>
            <a:stretch/>
          </p:blipFill>
          <p:spPr>
            <a:xfrm>
              <a:off x="5598780" y="137712"/>
              <a:ext cx="2577001" cy="46646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5" name="Google Shape;525;p74"/>
            <p:cNvSpPr/>
            <p:nvPr/>
          </p:nvSpPr>
          <p:spPr>
            <a:xfrm>
              <a:off x="5789881" y="461652"/>
              <a:ext cx="2204100" cy="391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6" name="Google Shape;526;p74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27" name="Google Shape;527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7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74"/>
          <p:cNvSpPr/>
          <p:nvPr/>
        </p:nvSpPr>
        <p:spPr>
          <a:xfrm>
            <a:off x="6555438" y="4318850"/>
            <a:ext cx="603900" cy="222000"/>
          </a:xfrm>
          <a:prstGeom prst="rect">
            <a:avLst/>
          </a:prstGeom>
          <a:solidFill>
            <a:srgbClr val="1515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iPhone">
  <p:cSld name="CUSTOM_3_1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75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533" name="Google Shape;533;p75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34" name="Google Shape;53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7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6" name="Google Shape;536;p75"/>
          <p:cNvSpPr/>
          <p:nvPr/>
        </p:nvSpPr>
        <p:spPr>
          <a:xfrm>
            <a:off x="5879375" y="347075"/>
            <a:ext cx="1956000" cy="4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7" name="Google Shape;537;p75"/>
          <p:cNvPicPr preferRelativeResize="0"/>
          <p:nvPr/>
        </p:nvPicPr>
        <p:blipFill rotWithShape="1">
          <a:blip r:embed="rId4">
            <a:alphaModFix/>
          </a:blip>
          <a:srcRect b="3082" l="0" r="0" t="0"/>
          <a:stretch/>
        </p:blipFill>
        <p:spPr>
          <a:xfrm>
            <a:off x="5349374" y="226759"/>
            <a:ext cx="3016012" cy="4373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 - Website">
  <p:cSld name="CUSTOM_3_2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76"/>
          <p:cNvPicPr preferRelativeResize="0"/>
          <p:nvPr/>
        </p:nvPicPr>
        <p:blipFill rotWithShape="1">
          <a:blip r:embed="rId2">
            <a:alphaModFix/>
          </a:blip>
          <a:srcRect b="30853" l="0" r="22541" t="0"/>
          <a:stretch/>
        </p:blipFill>
        <p:spPr>
          <a:xfrm>
            <a:off x="5860600" y="2508800"/>
            <a:ext cx="3283400" cy="2634701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76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541" name="Google Shape;541;p76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42" name="Google Shape;54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7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44" name="Google Shape;544;p76"/>
          <p:cNvGrpSpPr/>
          <p:nvPr/>
        </p:nvGrpSpPr>
        <p:grpSpPr>
          <a:xfrm>
            <a:off x="4344100" y="398125"/>
            <a:ext cx="4546500" cy="4222800"/>
            <a:chOff x="4344100" y="398125"/>
            <a:chExt cx="4546500" cy="4222800"/>
          </a:xfrm>
        </p:grpSpPr>
        <p:sp>
          <p:nvSpPr>
            <p:cNvPr id="545" name="Google Shape;545;p76"/>
            <p:cNvSpPr/>
            <p:nvPr/>
          </p:nvSpPr>
          <p:spPr>
            <a:xfrm>
              <a:off x="4344100" y="398125"/>
              <a:ext cx="4546500" cy="4222800"/>
            </a:xfrm>
            <a:prstGeom prst="roundRect">
              <a:avLst>
                <a:gd fmla="val 322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6" name="Google Shape;546;p76"/>
            <p:cNvGrpSpPr/>
            <p:nvPr/>
          </p:nvGrpSpPr>
          <p:grpSpPr>
            <a:xfrm>
              <a:off x="4445450" y="524200"/>
              <a:ext cx="399495" cy="101100"/>
              <a:chOff x="4445450" y="524200"/>
              <a:chExt cx="399495" cy="101100"/>
            </a:xfrm>
          </p:grpSpPr>
          <p:sp>
            <p:nvSpPr>
              <p:cNvPr id="547" name="Google Shape;547;p76"/>
              <p:cNvSpPr/>
              <p:nvPr/>
            </p:nvSpPr>
            <p:spPr>
              <a:xfrm>
                <a:off x="4445450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5D0D0"/>
                  </a:gs>
                  <a:gs pos="100000">
                    <a:srgbClr val="D96868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76"/>
              <p:cNvSpPr/>
              <p:nvPr/>
            </p:nvSpPr>
            <p:spPr>
              <a:xfrm>
                <a:off x="4594797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FF6DB"/>
                  </a:gs>
                  <a:gs pos="100000">
                    <a:srgbClr val="FAD25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76"/>
              <p:cNvSpPr/>
              <p:nvPr/>
            </p:nvSpPr>
            <p:spPr>
              <a:xfrm>
                <a:off x="4744145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DCECD5"/>
                  </a:gs>
                  <a:gs pos="100000">
                    <a:srgbClr val="93BC81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50" name="Google Shape;550;p76"/>
            <p:cNvSpPr/>
            <p:nvPr/>
          </p:nvSpPr>
          <p:spPr>
            <a:xfrm>
              <a:off x="4910625" y="448450"/>
              <a:ext cx="3835500" cy="252600"/>
            </a:xfrm>
            <a:prstGeom prst="roundRect">
              <a:avLst>
                <a:gd fmla="val 3409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- Phone Placeholder">
  <p:cSld name="CUSTOM_3_1_1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77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554" name="Google Shape;554;p77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55" name="Google Shape;555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7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- Code Block">
  <p:cSld name="CUSTOM_7_1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78"/>
          <p:cNvPicPr preferRelativeResize="0"/>
          <p:nvPr/>
        </p:nvPicPr>
        <p:blipFill rotWithShape="1">
          <a:blip r:embed="rId2">
            <a:alphaModFix/>
          </a:blip>
          <a:srcRect b="29631" l="0" r="52625" t="21294"/>
          <a:stretch/>
        </p:blipFill>
        <p:spPr>
          <a:xfrm rot="-5400005">
            <a:off x="5694763" y="-60161"/>
            <a:ext cx="3400125" cy="3520446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78"/>
          <p:cNvSpPr/>
          <p:nvPr/>
        </p:nvSpPr>
        <p:spPr>
          <a:xfrm>
            <a:off x="4385200" y="481275"/>
            <a:ext cx="4308300" cy="41397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78"/>
          <p:cNvSpPr txBox="1"/>
          <p:nvPr/>
        </p:nvSpPr>
        <p:spPr>
          <a:xfrm>
            <a:off x="357200" y="408225"/>
            <a:ext cx="441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90500" rtl="0" algn="l">
              <a:lnSpc>
                <a:spcPct val="150000"/>
              </a:lnSpc>
              <a:spcBef>
                <a:spcPts val="1700"/>
              </a:spcBef>
              <a:spcAft>
                <a:spcPts val="330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61" name="Google Shape;56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7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3" name="Google Shape;563;p78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564" name="Google Shape;564;p78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65" name="Google Shape;565;p78"/>
          <p:cNvSpPr txBox="1"/>
          <p:nvPr>
            <p:ph idx="2" type="subTitle"/>
          </p:nvPr>
        </p:nvSpPr>
        <p:spPr>
          <a:xfrm>
            <a:off x="4511175" y="586000"/>
            <a:ext cx="4080000" cy="3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- Icebreaker">
  <p:cSld name="CUSTOM_7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79"/>
          <p:cNvPicPr preferRelativeResize="0"/>
          <p:nvPr/>
        </p:nvPicPr>
        <p:blipFill rotWithShape="1">
          <a:blip r:embed="rId3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79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70" name="Google Shape;570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7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2" name="Google Shape;572;p79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Icebreaker</a:t>
            </a:r>
            <a:endParaRPr/>
          </a:p>
        </p:txBody>
      </p:sp>
      <p:sp>
        <p:nvSpPr>
          <p:cNvPr id="573" name="Google Shape;573;p79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4" name="Google Shape;574;p79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75" name="Google Shape;575;p79"/>
          <p:cNvPicPr preferRelativeResize="0"/>
          <p:nvPr/>
        </p:nvPicPr>
        <p:blipFill rotWithShape="1">
          <a:blip r:embed="rId5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- Discussion Prompt">
  <p:cSld name="CUSTOM_6"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Google Shape;577;p80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80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80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80" name="Google Shape;580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8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2" name="Google Shape;582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6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80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Discussion</a:t>
            </a:r>
            <a:endParaRPr/>
          </a:p>
        </p:txBody>
      </p:sp>
      <p:sp>
        <p:nvSpPr>
          <p:cNvPr id="584" name="Google Shape;584;p80"/>
          <p:cNvSpPr txBox="1"/>
          <p:nvPr>
            <p:ph idx="2" type="body"/>
          </p:nvPr>
        </p:nvSpPr>
        <p:spPr>
          <a:xfrm>
            <a:off x="604800" y="14128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- Reflection Prompt">
  <p:cSld name="CUSTOM_6_2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81"/>
          <p:cNvPicPr preferRelativeResize="0"/>
          <p:nvPr/>
        </p:nvPicPr>
        <p:blipFill rotWithShape="1">
          <a:blip r:embed="rId2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81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81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590" name="Google Shape;590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8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2" name="Google Shape;592;p81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Reflection</a:t>
            </a:r>
            <a:endParaRPr/>
          </a:p>
        </p:txBody>
      </p:sp>
      <p:sp>
        <p:nvSpPr>
          <p:cNvPr id="593" name="Google Shape;593;p81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4" name="Google Shape;594;p81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- Try It">
  <p:cSld name="CUSTOM_6_2_1"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Google Shape;596;p82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82"/>
          <p:cNvPicPr preferRelativeResize="0"/>
          <p:nvPr/>
        </p:nvPicPr>
        <p:blipFill rotWithShape="1">
          <a:blip r:embed="rId3">
            <a:alphaModFix/>
          </a:blip>
          <a:srcRect b="45416" l="60224" r="12699" t="43299"/>
          <a:stretch/>
        </p:blipFill>
        <p:spPr>
          <a:xfrm>
            <a:off x="0" y="4131025"/>
            <a:ext cx="2061576" cy="101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82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00" name="Google Shape;600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8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2" name="Google Shape;602;p82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Try It!</a:t>
            </a:r>
            <a:endParaRPr/>
          </a:p>
        </p:txBody>
      </p:sp>
      <p:sp>
        <p:nvSpPr>
          <p:cNvPr id="603" name="Google Shape;603;p82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4" name="Google Shape;604;p82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- Breakout Rooms">
  <p:cSld name="CUSTOM_6_2_1_1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83"/>
          <p:cNvPicPr preferRelativeResize="0"/>
          <p:nvPr/>
        </p:nvPicPr>
        <p:blipFill rotWithShape="1">
          <a:blip r:embed="rId2">
            <a:alphaModFix/>
          </a:blip>
          <a:srcRect b="0" l="25913" r="44507" t="78390"/>
          <a:stretch/>
        </p:blipFill>
        <p:spPr>
          <a:xfrm rot="10800000">
            <a:off x="1" y="4032002"/>
            <a:ext cx="1547899" cy="1111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83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83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F6BF"/>
          </a:solidFill>
          <a:ln cap="flat" cmpd="sng" w="152400">
            <a:solidFill>
              <a:srgbClr val="FFF6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10" name="Google Shape;610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8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2" name="Google Shape;612;p83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Breakout Rooms</a:t>
            </a:r>
            <a:endParaRPr/>
          </a:p>
        </p:txBody>
      </p:sp>
      <p:sp>
        <p:nvSpPr>
          <p:cNvPr id="613" name="Google Shape;613;p83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4" name="Google Shape;614;p83"/>
          <p:cNvSpPr txBox="1"/>
          <p:nvPr>
            <p:ph idx="2" type="body"/>
          </p:nvPr>
        </p:nvSpPr>
        <p:spPr>
          <a:xfrm>
            <a:off x="452400" y="1260500"/>
            <a:ext cx="64959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 - CFU">
  <p:cSld name="CUSTOM_6_2_1_1_1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p84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5400000">
            <a:off x="556661" y="3399336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84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84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20" name="Google Shape;620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8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2" name="Google Shape;622;p84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Understanding</a:t>
            </a:r>
            <a:endParaRPr/>
          </a:p>
        </p:txBody>
      </p:sp>
      <p:sp>
        <p:nvSpPr>
          <p:cNvPr id="623" name="Google Shape;623;p84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4" name="Google Shape;624;p84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 - CFU w/ Code">
  <p:cSld name="CUSTOM_6_2_1_1_1_3"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85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-5400000">
            <a:off x="7383499" y="-567539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85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 rot="10800000">
            <a:off x="7020095" y="11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85"/>
          <p:cNvSpPr txBox="1"/>
          <p:nvPr>
            <p:ph idx="1" type="body"/>
          </p:nvPr>
        </p:nvSpPr>
        <p:spPr>
          <a:xfrm>
            <a:off x="452400" y="1344125"/>
            <a:ext cx="3474000" cy="29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29" name="Google Shape;629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8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1" name="Google Shape;631;p85"/>
          <p:cNvSpPr/>
          <p:nvPr/>
        </p:nvSpPr>
        <p:spPr>
          <a:xfrm>
            <a:off x="4118450" y="266700"/>
            <a:ext cx="4722300" cy="44595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85"/>
          <p:cNvSpPr txBox="1"/>
          <p:nvPr>
            <p:ph idx="2" type="subTitle"/>
          </p:nvPr>
        </p:nvSpPr>
        <p:spPr>
          <a:xfrm>
            <a:off x="4256529" y="378199"/>
            <a:ext cx="4472100" cy="42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633" name="Google Shape;633;p85"/>
          <p:cNvSpPr txBox="1"/>
          <p:nvPr>
            <p:ph idx="3" type="subTitle"/>
          </p:nvPr>
        </p:nvSpPr>
        <p:spPr>
          <a:xfrm>
            <a:off x="153900" y="4514325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34" name="Google Shape;634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85"/>
          <p:cNvSpPr txBox="1"/>
          <p:nvPr/>
        </p:nvSpPr>
        <p:spPr>
          <a:xfrm>
            <a:off x="1147375" y="322700"/>
            <a:ext cx="26532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Understanding</a:t>
            </a:r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- Instructor Demo">
  <p:cSld name="CUSTOM_6_2_1_1_1_2"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86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86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192550"/>
            <a:ext cx="2189575" cy="9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86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41" name="Google Shape;641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8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3" name="Google Shape;643;p86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Instructor Demo</a:t>
            </a:r>
            <a:endParaRPr/>
          </a:p>
        </p:txBody>
      </p:sp>
      <p:sp>
        <p:nvSpPr>
          <p:cNvPr id="644" name="Google Shape;644;p86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5" name="Google Shape;645;p86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 - Exit Ticket">
  <p:cSld name="CUSTOM_6_2_1_1_1_1"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Google Shape;647;p87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87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87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651" name="Google Shape;651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8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3" name="Google Shape;653;p87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Exit Ticket</a:t>
            </a:r>
            <a:endParaRPr/>
          </a:p>
        </p:txBody>
      </p:sp>
      <p:sp>
        <p:nvSpPr>
          <p:cNvPr id="654" name="Google Shape;654;p87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5" name="Google Shape;655;p87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 - Waterfall">
  <p:cSld name="CUSTOM_6_2_1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8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8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9" name="Google Shape;659;p88"/>
          <p:cNvSpPr txBox="1"/>
          <p:nvPr/>
        </p:nvSpPr>
        <p:spPr>
          <a:xfrm>
            <a:off x="1270675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One Good Thing</a:t>
            </a:r>
            <a:endParaRPr/>
          </a:p>
        </p:txBody>
      </p:sp>
      <p:pic>
        <p:nvPicPr>
          <p:cNvPr id="660" name="Google Shape;66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05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88"/>
          <p:cNvSpPr txBox="1"/>
          <p:nvPr/>
        </p:nvSpPr>
        <p:spPr>
          <a:xfrm>
            <a:off x="1050100" y="1332050"/>
            <a:ext cx="7204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reflect on today’s session. 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Maybe you got a question answered, overcame a specific coding challenge, or learned how to do something completely new!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In the chat, share at least one good thing you’ve learned or experienced during the session today. 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celebrate together!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62" name="Google Shape;662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575" y="3564500"/>
            <a:ext cx="654950" cy="65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 - Section Card">
  <p:cSld name="CUSTOM_2"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1.png" id="664" name="Google Shape;664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89"/>
          <p:cNvSpPr txBox="1"/>
          <p:nvPr>
            <p:ph type="title"/>
          </p:nvPr>
        </p:nvSpPr>
        <p:spPr>
          <a:xfrm>
            <a:off x="884825" y="2317200"/>
            <a:ext cx="3157800" cy="5091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pace Mono"/>
              <a:buNone/>
              <a:defRPr sz="3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6" name="Google Shape;666;p89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 - Main Idea">
  <p:cSld name="CUSTOM_5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90"/>
          <p:cNvPicPr preferRelativeResize="0"/>
          <p:nvPr/>
        </p:nvPicPr>
        <p:blipFill rotWithShape="1">
          <a:blip r:embed="rId2">
            <a:alphaModFix/>
          </a:blip>
          <a:srcRect b="0" l="0" r="0" t="12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025" y="474201"/>
            <a:ext cx="3657599" cy="365759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90"/>
          <p:cNvSpPr/>
          <p:nvPr/>
        </p:nvSpPr>
        <p:spPr>
          <a:xfrm>
            <a:off x="1071950" y="892850"/>
            <a:ext cx="5283900" cy="2820300"/>
          </a:xfrm>
          <a:prstGeom prst="roundRect">
            <a:avLst>
              <a:gd fmla="val 16667" name="adj"/>
            </a:avLst>
          </a:prstGeom>
          <a:solidFill>
            <a:srgbClr val="1B1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90"/>
          <p:cNvSpPr txBox="1"/>
          <p:nvPr>
            <p:ph type="title"/>
          </p:nvPr>
        </p:nvSpPr>
        <p:spPr>
          <a:xfrm>
            <a:off x="1071950" y="892850"/>
            <a:ext cx="5283900" cy="2820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 - Background Card">
  <p:cSld name="CUSTOM_5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91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 - Glows &amp; Grows">
  <p:cSld name="CUSTOM_1_1_1_2"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6" name="Google Shape;676;p93"/>
          <p:cNvGrpSpPr/>
          <p:nvPr/>
        </p:nvGrpSpPr>
        <p:grpSpPr>
          <a:xfrm>
            <a:off x="6262100" y="-3850"/>
            <a:ext cx="2886900" cy="485125"/>
            <a:chOff x="6262100" y="-3850"/>
            <a:chExt cx="2886900" cy="485125"/>
          </a:xfrm>
        </p:grpSpPr>
        <p:pic>
          <p:nvPicPr>
            <p:cNvPr descr="1.png" id="677" name="Google Shape;677;p93"/>
            <p:cNvPicPr preferRelativeResize="0"/>
            <p:nvPr/>
          </p:nvPicPr>
          <p:blipFill rotWithShape="1">
            <a:blip r:embed="rId2">
              <a:alphaModFix/>
            </a:blip>
            <a:srcRect b="88506" l="21895" r="16532" t="0"/>
            <a:stretch/>
          </p:blipFill>
          <p:spPr>
            <a:xfrm rot="10800000">
              <a:off x="6539872" y="1"/>
              <a:ext cx="2609128" cy="4812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" id="678" name="Google Shape;678;p93"/>
            <p:cNvPicPr preferRelativeResize="0"/>
            <p:nvPr/>
          </p:nvPicPr>
          <p:blipFill rotWithShape="1">
            <a:blip r:embed="rId3">
              <a:alphaModFix/>
            </a:blip>
            <a:srcRect b="54291" l="0" r="0" t="36404"/>
            <a:stretch/>
          </p:blipFill>
          <p:spPr>
            <a:xfrm>
              <a:off x="6262100" y="-3850"/>
              <a:ext cx="1898600" cy="176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1.png" id="679" name="Google Shape;679;p93"/>
          <p:cNvPicPr preferRelativeResize="0"/>
          <p:nvPr/>
        </p:nvPicPr>
        <p:blipFill rotWithShape="1">
          <a:blip r:embed="rId2">
            <a:alphaModFix/>
          </a:blip>
          <a:srcRect b="0" l="29746" r="0" t="86858"/>
          <a:stretch/>
        </p:blipFill>
        <p:spPr>
          <a:xfrm rot="-5400000">
            <a:off x="-1232301" y="3379801"/>
            <a:ext cx="2977026" cy="550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680" name="Google Shape;680;p93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2067125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9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3" name="Google Shape;683;p93"/>
          <p:cNvSpPr txBox="1"/>
          <p:nvPr/>
        </p:nvSpPr>
        <p:spPr>
          <a:xfrm>
            <a:off x="1034475" y="1532576"/>
            <a:ext cx="3269400" cy="29769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Glows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4" name="Google Shape;684;p93"/>
          <p:cNvSpPr txBox="1"/>
          <p:nvPr/>
        </p:nvSpPr>
        <p:spPr>
          <a:xfrm>
            <a:off x="4840125" y="1532578"/>
            <a:ext cx="3269400" cy="29769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Grows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85" name="Google Shape;685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1525" y="1080163"/>
            <a:ext cx="655300" cy="6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7175" y="1080162"/>
            <a:ext cx="655300" cy="6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93"/>
          <p:cNvSpPr txBox="1"/>
          <p:nvPr/>
        </p:nvSpPr>
        <p:spPr>
          <a:xfrm>
            <a:off x="452400" y="481263"/>
            <a:ext cx="8239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pace Mono"/>
                <a:ea typeface="Space Mono"/>
                <a:cs typeface="Space Mono"/>
                <a:sym typeface="Space Mono"/>
              </a:rPr>
              <a:t>Your Feedback</a:t>
            </a:r>
            <a:endParaRPr b="1" sz="2400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88" name="Google Shape;688;p93"/>
          <p:cNvSpPr txBox="1"/>
          <p:nvPr>
            <p:ph idx="1" type="subTitle"/>
          </p:nvPr>
        </p:nvSpPr>
        <p:spPr>
          <a:xfrm>
            <a:off x="118252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89" name="Google Shape;689;p93"/>
          <p:cNvSpPr txBox="1"/>
          <p:nvPr>
            <p:ph idx="2" type="subTitle"/>
          </p:nvPr>
        </p:nvSpPr>
        <p:spPr>
          <a:xfrm>
            <a:off x="499117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tructor Intro">
  <p:cSld name="CUSTOM_6_2_1_1_1_2_1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94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94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192550"/>
            <a:ext cx="2189575" cy="9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9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5" name="Google Shape;695;p94"/>
          <p:cNvSpPr txBox="1"/>
          <p:nvPr/>
        </p:nvSpPr>
        <p:spPr>
          <a:xfrm>
            <a:off x="565375" y="333100"/>
            <a:ext cx="5005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Meet the Instructor</a:t>
            </a:r>
            <a:endParaRPr sz="2600">
              <a:solidFill>
                <a:srgbClr val="05103E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96" name="Google Shape;696;p94"/>
          <p:cNvSpPr/>
          <p:nvPr>
            <p:ph idx="2" type="pic"/>
          </p:nvPr>
        </p:nvSpPr>
        <p:spPr>
          <a:xfrm>
            <a:off x="592550" y="1010825"/>
            <a:ext cx="2579400" cy="2289000"/>
          </a:xfrm>
          <a:prstGeom prst="roundRect">
            <a:avLst>
              <a:gd fmla="val 7884" name="adj"/>
            </a:avLst>
          </a:prstGeom>
          <a:noFill/>
          <a:ln cap="flat" cmpd="sng" w="28575">
            <a:solidFill>
              <a:srgbClr val="00C384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Blank">
  <p:cSld name="TITLE_AND_BODY_1"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9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Frame">
  <p:cSld name="TITLE_AND_BODY_1_1"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4" name="Google Shape;704;p97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97"/>
          <p:cNvPicPr preferRelativeResize="0"/>
          <p:nvPr/>
        </p:nvPicPr>
        <p:blipFill rotWithShape="1">
          <a:blip r:embed="rId3">
            <a:alphaModFix/>
          </a:blip>
          <a:srcRect b="19849" l="3049" r="3720" t="15220"/>
          <a:stretch/>
        </p:blipFill>
        <p:spPr>
          <a:xfrm>
            <a:off x="7152175" y="4819704"/>
            <a:ext cx="1541199" cy="253883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9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7" name="Google Shape;707;p97"/>
          <p:cNvSpPr/>
          <p:nvPr/>
        </p:nvSpPr>
        <p:spPr>
          <a:xfrm>
            <a:off x="352350" y="390450"/>
            <a:ext cx="8439300" cy="436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itle Card">
  <p:cSld name="CUSTOM"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4.png" id="709" name="Google Shape;709;p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765" y="1310001"/>
            <a:ext cx="1717224" cy="172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1725" y="106625"/>
            <a:ext cx="3208724" cy="7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98"/>
          <p:cNvSpPr txBox="1"/>
          <p:nvPr>
            <p:ph type="title"/>
          </p:nvPr>
        </p:nvSpPr>
        <p:spPr>
          <a:xfrm>
            <a:off x="1628200" y="1807975"/>
            <a:ext cx="5887800" cy="724500"/>
          </a:xfrm>
          <a:prstGeom prst="rect">
            <a:avLst/>
          </a:prstGeom>
          <a:solidFill>
            <a:schemeClr val="lt1"/>
          </a:solidFill>
          <a:ln cap="flat" cmpd="sng" w="22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713" name="Google Shape;713;p98"/>
          <p:cNvSpPr txBox="1"/>
          <p:nvPr>
            <p:ph idx="1" type="subTitle"/>
          </p:nvPr>
        </p:nvSpPr>
        <p:spPr>
          <a:xfrm>
            <a:off x="2360925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714" name="Google Shape;714;p98"/>
          <p:cNvSpPr txBox="1"/>
          <p:nvPr>
            <p:ph idx="2" type="subTitle"/>
          </p:nvPr>
        </p:nvSpPr>
        <p:spPr>
          <a:xfrm>
            <a:off x="4803950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Agenda">
  <p:cSld name="CUSTOM_1"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99"/>
          <p:cNvSpPr txBox="1"/>
          <p:nvPr/>
        </p:nvSpPr>
        <p:spPr>
          <a:xfrm>
            <a:off x="1147575" y="344400"/>
            <a:ext cx="76446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How are we going to get there?</a:t>
            </a:r>
            <a:endParaRPr b="1" sz="2400">
              <a:solidFill>
                <a:srgbClr val="05103E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grpSp>
        <p:nvGrpSpPr>
          <p:cNvPr id="717" name="Google Shape;717;p99"/>
          <p:cNvGrpSpPr/>
          <p:nvPr/>
        </p:nvGrpSpPr>
        <p:grpSpPr>
          <a:xfrm rot="5400000">
            <a:off x="5719749" y="1629787"/>
            <a:ext cx="4964577" cy="1883925"/>
            <a:chOff x="4152224" y="1218499"/>
            <a:chExt cx="4964577" cy="1883925"/>
          </a:xfrm>
        </p:grpSpPr>
        <p:pic>
          <p:nvPicPr>
            <p:cNvPr id="718" name="Google Shape;718;p99"/>
            <p:cNvPicPr preferRelativeResize="0"/>
            <p:nvPr/>
          </p:nvPicPr>
          <p:blipFill rotWithShape="1">
            <a:blip r:embed="rId2">
              <a:alphaModFix/>
            </a:blip>
            <a:srcRect b="11995" l="14888" r="61868" t="21294"/>
            <a:stretch/>
          </p:blipFill>
          <p:spPr>
            <a:xfrm rot="-5400011">
              <a:off x="5710924" y="-340197"/>
              <a:ext cx="1668224" cy="4785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9" name="Google Shape;719;p99"/>
            <p:cNvPicPr preferRelativeResize="0"/>
            <p:nvPr/>
          </p:nvPicPr>
          <p:blipFill rotWithShape="1">
            <a:blip r:embed="rId3">
              <a:alphaModFix/>
            </a:blip>
            <a:srcRect b="34798" l="0" r="33244" t="0"/>
            <a:stretch/>
          </p:blipFill>
          <p:spPr>
            <a:xfrm rot="-5400000">
              <a:off x="7253138" y="1238761"/>
              <a:ext cx="1883925" cy="1843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20" name="Google Shape;720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9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2" name="Google Shape;722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775" y="420262"/>
            <a:ext cx="505275" cy="5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Text">
  <p:cSld name="CUSTOM_1_1_1"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100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725" name="Google Shape;725;p100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100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727" name="Google Shape;727;p100"/>
          <p:cNvSpPr txBox="1"/>
          <p:nvPr>
            <p:ph idx="1" type="body"/>
          </p:nvPr>
        </p:nvSpPr>
        <p:spPr>
          <a:xfrm>
            <a:off x="452400" y="1132825"/>
            <a:ext cx="82392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728" name="Google Shape;728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10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0" name="Google Shape;730;p100"/>
          <p:cNvPicPr preferRelativeResize="0"/>
          <p:nvPr/>
        </p:nvPicPr>
        <p:blipFill rotWithShape="1">
          <a:blip r:embed="rId5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731" name="Google Shape;731;p100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Title Only">
  <p:cSld name="CUSTOM_1_1_1_1"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101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734" name="Google Shape;734;p101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101"/>
          <p:cNvPicPr preferRelativeResize="0"/>
          <p:nvPr/>
        </p:nvPicPr>
        <p:blipFill rotWithShape="1">
          <a:blip r:embed="rId4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736" name="Google Shape;736;p101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10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9" name="Google Shape;739;p101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Android">
  <p:cSld name="CUSTOM_3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102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grpSp>
        <p:nvGrpSpPr>
          <p:cNvPr id="743" name="Google Shape;743;p102"/>
          <p:cNvGrpSpPr/>
          <p:nvPr/>
        </p:nvGrpSpPr>
        <p:grpSpPr>
          <a:xfrm>
            <a:off x="5709066" y="201260"/>
            <a:ext cx="2296623" cy="4424889"/>
            <a:chOff x="5598780" y="137712"/>
            <a:chExt cx="2577001" cy="4664652"/>
          </a:xfrm>
        </p:grpSpPr>
        <p:pic>
          <p:nvPicPr>
            <p:cNvPr id="744" name="Google Shape;744;p102"/>
            <p:cNvPicPr preferRelativeResize="0"/>
            <p:nvPr/>
          </p:nvPicPr>
          <p:blipFill rotWithShape="1">
            <a:blip r:embed="rId3">
              <a:alphaModFix/>
            </a:blip>
            <a:srcRect b="1604" l="0" r="0" t="1768"/>
            <a:stretch/>
          </p:blipFill>
          <p:spPr>
            <a:xfrm>
              <a:off x="5598780" y="137712"/>
              <a:ext cx="2577001" cy="46646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5" name="Google Shape;745;p102"/>
            <p:cNvSpPr/>
            <p:nvPr/>
          </p:nvSpPr>
          <p:spPr>
            <a:xfrm>
              <a:off x="5789881" y="461652"/>
              <a:ext cx="2204100" cy="391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6" name="Google Shape;746;p102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747" name="Google Shape;747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9" name="Google Shape;749;p102"/>
          <p:cNvSpPr/>
          <p:nvPr/>
        </p:nvSpPr>
        <p:spPr>
          <a:xfrm>
            <a:off x="6555438" y="4318850"/>
            <a:ext cx="603900" cy="222000"/>
          </a:xfrm>
          <a:prstGeom prst="rect">
            <a:avLst/>
          </a:prstGeom>
          <a:solidFill>
            <a:srgbClr val="1515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iPhone">
  <p:cSld name="CUSTOM_3_1"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103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753" name="Google Shape;753;p103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754" name="Google Shape;754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10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6" name="Google Shape;756;p103"/>
          <p:cNvSpPr/>
          <p:nvPr/>
        </p:nvSpPr>
        <p:spPr>
          <a:xfrm>
            <a:off x="5879375" y="347075"/>
            <a:ext cx="1956000" cy="4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7" name="Google Shape;757;p103"/>
          <p:cNvPicPr preferRelativeResize="0"/>
          <p:nvPr/>
        </p:nvPicPr>
        <p:blipFill rotWithShape="1">
          <a:blip r:embed="rId4">
            <a:alphaModFix/>
          </a:blip>
          <a:srcRect b="3082" l="0" r="0" t="0"/>
          <a:stretch/>
        </p:blipFill>
        <p:spPr>
          <a:xfrm>
            <a:off x="5349374" y="226759"/>
            <a:ext cx="3016012" cy="4373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 - Website">
  <p:cSld name="CUSTOM_3_2"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" name="Google Shape;759;p104"/>
          <p:cNvPicPr preferRelativeResize="0"/>
          <p:nvPr/>
        </p:nvPicPr>
        <p:blipFill rotWithShape="1">
          <a:blip r:embed="rId2">
            <a:alphaModFix/>
          </a:blip>
          <a:srcRect b="30853" l="0" r="22541" t="0"/>
          <a:stretch/>
        </p:blipFill>
        <p:spPr>
          <a:xfrm>
            <a:off x="5860600" y="2508800"/>
            <a:ext cx="3283400" cy="2634701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104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761" name="Google Shape;761;p104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762" name="Google Shape;762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10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64" name="Google Shape;764;p104"/>
          <p:cNvGrpSpPr/>
          <p:nvPr/>
        </p:nvGrpSpPr>
        <p:grpSpPr>
          <a:xfrm>
            <a:off x="4344100" y="398125"/>
            <a:ext cx="4546500" cy="4222800"/>
            <a:chOff x="4344100" y="398125"/>
            <a:chExt cx="4546500" cy="4222800"/>
          </a:xfrm>
        </p:grpSpPr>
        <p:sp>
          <p:nvSpPr>
            <p:cNvPr id="765" name="Google Shape;765;p104"/>
            <p:cNvSpPr/>
            <p:nvPr/>
          </p:nvSpPr>
          <p:spPr>
            <a:xfrm>
              <a:off x="4344100" y="398125"/>
              <a:ext cx="4546500" cy="4222800"/>
            </a:xfrm>
            <a:prstGeom prst="roundRect">
              <a:avLst>
                <a:gd fmla="val 322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66" name="Google Shape;766;p104"/>
            <p:cNvGrpSpPr/>
            <p:nvPr/>
          </p:nvGrpSpPr>
          <p:grpSpPr>
            <a:xfrm>
              <a:off x="4445450" y="524200"/>
              <a:ext cx="399495" cy="101100"/>
              <a:chOff x="4445450" y="524200"/>
              <a:chExt cx="399495" cy="101100"/>
            </a:xfrm>
          </p:grpSpPr>
          <p:sp>
            <p:nvSpPr>
              <p:cNvPr id="767" name="Google Shape;767;p104"/>
              <p:cNvSpPr/>
              <p:nvPr/>
            </p:nvSpPr>
            <p:spPr>
              <a:xfrm>
                <a:off x="4445450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5D0D0"/>
                  </a:gs>
                  <a:gs pos="100000">
                    <a:srgbClr val="D96868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104"/>
              <p:cNvSpPr/>
              <p:nvPr/>
            </p:nvSpPr>
            <p:spPr>
              <a:xfrm>
                <a:off x="4594797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FF6DB"/>
                  </a:gs>
                  <a:gs pos="100000">
                    <a:srgbClr val="FAD25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104"/>
              <p:cNvSpPr/>
              <p:nvPr/>
            </p:nvSpPr>
            <p:spPr>
              <a:xfrm>
                <a:off x="4744145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DCECD5"/>
                  </a:gs>
                  <a:gs pos="100000">
                    <a:srgbClr val="93BC81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70" name="Google Shape;770;p104"/>
            <p:cNvSpPr/>
            <p:nvPr/>
          </p:nvSpPr>
          <p:spPr>
            <a:xfrm>
              <a:off x="4910625" y="448450"/>
              <a:ext cx="3835500" cy="252600"/>
            </a:xfrm>
            <a:prstGeom prst="roundRect">
              <a:avLst>
                <a:gd fmla="val 3409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- Phone Placeholder">
  <p:cSld name="CUSTOM_3_1_1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105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774" name="Google Shape;774;p105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775" name="Google Shape;775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10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- Code Block">
  <p:cSld name="CUSTOM_7_1"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106"/>
          <p:cNvPicPr preferRelativeResize="0"/>
          <p:nvPr/>
        </p:nvPicPr>
        <p:blipFill rotWithShape="1">
          <a:blip r:embed="rId2">
            <a:alphaModFix/>
          </a:blip>
          <a:srcRect b="29631" l="0" r="52625" t="21294"/>
          <a:stretch/>
        </p:blipFill>
        <p:spPr>
          <a:xfrm rot="-5400005">
            <a:off x="5694763" y="-60161"/>
            <a:ext cx="3400125" cy="3520446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106"/>
          <p:cNvSpPr/>
          <p:nvPr/>
        </p:nvSpPr>
        <p:spPr>
          <a:xfrm>
            <a:off x="4385200" y="481275"/>
            <a:ext cx="4308300" cy="41397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06"/>
          <p:cNvSpPr txBox="1"/>
          <p:nvPr/>
        </p:nvSpPr>
        <p:spPr>
          <a:xfrm>
            <a:off x="357200" y="408225"/>
            <a:ext cx="441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90500" rtl="0" algn="l">
              <a:lnSpc>
                <a:spcPct val="150000"/>
              </a:lnSpc>
              <a:spcBef>
                <a:spcPts val="1700"/>
              </a:spcBef>
              <a:spcAft>
                <a:spcPts val="330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81" name="Google Shape;781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10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3" name="Google Shape;783;p106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784" name="Google Shape;784;p106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85" name="Google Shape;785;p106"/>
          <p:cNvSpPr txBox="1"/>
          <p:nvPr>
            <p:ph idx="2" type="subTitle"/>
          </p:nvPr>
        </p:nvSpPr>
        <p:spPr>
          <a:xfrm>
            <a:off x="4511175" y="586000"/>
            <a:ext cx="4080000" cy="3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- Icebreaker">
  <p:cSld name="CUSTOM_7"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7" name="Google Shape;787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107"/>
          <p:cNvPicPr preferRelativeResize="0"/>
          <p:nvPr/>
        </p:nvPicPr>
        <p:blipFill rotWithShape="1">
          <a:blip r:embed="rId3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107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790" name="Google Shape;790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10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2" name="Google Shape;792;p107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Icebreaker</a:t>
            </a:r>
            <a:endParaRPr/>
          </a:p>
        </p:txBody>
      </p:sp>
      <p:sp>
        <p:nvSpPr>
          <p:cNvPr id="793" name="Google Shape;793;p107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4" name="Google Shape;794;p107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795" name="Google Shape;795;p107"/>
          <p:cNvPicPr preferRelativeResize="0"/>
          <p:nvPr/>
        </p:nvPicPr>
        <p:blipFill rotWithShape="1">
          <a:blip r:embed="rId5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- Discussion Prompt">
  <p:cSld name="CUSTOM_6"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7" name="Google Shape;797;p108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108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108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00" name="Google Shape;800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10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2" name="Google Shape;802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6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108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Discussion</a:t>
            </a:r>
            <a:endParaRPr/>
          </a:p>
        </p:txBody>
      </p:sp>
      <p:sp>
        <p:nvSpPr>
          <p:cNvPr id="804" name="Google Shape;804;p108"/>
          <p:cNvSpPr txBox="1"/>
          <p:nvPr>
            <p:ph idx="2" type="body"/>
          </p:nvPr>
        </p:nvSpPr>
        <p:spPr>
          <a:xfrm>
            <a:off x="604800" y="14128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- Reflection Prompt">
  <p:cSld name="CUSTOM_6_2"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Google Shape;806;p109"/>
          <p:cNvPicPr preferRelativeResize="0"/>
          <p:nvPr/>
        </p:nvPicPr>
        <p:blipFill rotWithShape="1">
          <a:blip r:embed="rId2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109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109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10" name="Google Shape;810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10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2" name="Google Shape;812;p109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Reflection</a:t>
            </a:r>
            <a:endParaRPr/>
          </a:p>
        </p:txBody>
      </p:sp>
      <p:sp>
        <p:nvSpPr>
          <p:cNvPr id="813" name="Google Shape;813;p109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4" name="Google Shape;814;p109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- Try It">
  <p:cSld name="CUSTOM_6_2_1"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6" name="Google Shape;816;p110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110"/>
          <p:cNvPicPr preferRelativeResize="0"/>
          <p:nvPr/>
        </p:nvPicPr>
        <p:blipFill rotWithShape="1">
          <a:blip r:embed="rId3">
            <a:alphaModFix/>
          </a:blip>
          <a:srcRect b="45416" l="60224" r="12699" t="43299"/>
          <a:stretch/>
        </p:blipFill>
        <p:spPr>
          <a:xfrm>
            <a:off x="0" y="4131025"/>
            <a:ext cx="2061576" cy="101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110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20" name="Google Shape;820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11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2" name="Google Shape;822;p110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Try It!</a:t>
            </a:r>
            <a:endParaRPr/>
          </a:p>
        </p:txBody>
      </p:sp>
      <p:sp>
        <p:nvSpPr>
          <p:cNvPr id="823" name="Google Shape;823;p110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4" name="Google Shape;824;p110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- Breakout Rooms">
  <p:cSld name="CUSTOM_6_2_1_1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6" name="Google Shape;826;p111"/>
          <p:cNvPicPr preferRelativeResize="0"/>
          <p:nvPr/>
        </p:nvPicPr>
        <p:blipFill rotWithShape="1">
          <a:blip r:embed="rId2">
            <a:alphaModFix/>
          </a:blip>
          <a:srcRect b="0" l="25913" r="44507" t="78390"/>
          <a:stretch/>
        </p:blipFill>
        <p:spPr>
          <a:xfrm rot="10800000">
            <a:off x="1" y="4032002"/>
            <a:ext cx="1547899" cy="1111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111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111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F6BF"/>
          </a:solidFill>
          <a:ln cap="flat" cmpd="sng" w="152400">
            <a:solidFill>
              <a:srgbClr val="FFF6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30" name="Google Shape;830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11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2" name="Google Shape;832;p111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Breakout Rooms</a:t>
            </a:r>
            <a:endParaRPr/>
          </a:p>
        </p:txBody>
      </p:sp>
      <p:sp>
        <p:nvSpPr>
          <p:cNvPr id="833" name="Google Shape;833;p111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4" name="Google Shape;834;p111"/>
          <p:cNvSpPr txBox="1"/>
          <p:nvPr>
            <p:ph idx="2" type="body"/>
          </p:nvPr>
        </p:nvSpPr>
        <p:spPr>
          <a:xfrm>
            <a:off x="452400" y="1260500"/>
            <a:ext cx="64959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 - CFU">
  <p:cSld name="CUSTOM_6_2_1_1_1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6" name="Google Shape;836;p112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5400000">
            <a:off x="556661" y="3399336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112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1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112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40" name="Google Shape;840;p1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11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2" name="Google Shape;842;p112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Understanding</a:t>
            </a:r>
            <a:endParaRPr/>
          </a:p>
        </p:txBody>
      </p:sp>
      <p:sp>
        <p:nvSpPr>
          <p:cNvPr id="843" name="Google Shape;843;p112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4" name="Google Shape;844;p112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 - CFU w/ Code">
  <p:cSld name="CUSTOM_6_2_1_1_1_3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6" name="Google Shape;846;p113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-5400000">
            <a:off x="7383499" y="-567539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113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 rot="10800000">
            <a:off x="7020095" y="11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113"/>
          <p:cNvSpPr txBox="1"/>
          <p:nvPr>
            <p:ph idx="1" type="body"/>
          </p:nvPr>
        </p:nvSpPr>
        <p:spPr>
          <a:xfrm>
            <a:off x="452400" y="1344125"/>
            <a:ext cx="3474000" cy="29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49" name="Google Shape;849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11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1" name="Google Shape;851;p113"/>
          <p:cNvSpPr/>
          <p:nvPr/>
        </p:nvSpPr>
        <p:spPr>
          <a:xfrm>
            <a:off x="4118450" y="266700"/>
            <a:ext cx="4722300" cy="44595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13"/>
          <p:cNvSpPr txBox="1"/>
          <p:nvPr>
            <p:ph idx="2" type="subTitle"/>
          </p:nvPr>
        </p:nvSpPr>
        <p:spPr>
          <a:xfrm>
            <a:off x="4256529" y="378199"/>
            <a:ext cx="4472100" cy="42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853" name="Google Shape;853;p113"/>
          <p:cNvSpPr txBox="1"/>
          <p:nvPr>
            <p:ph idx="3" type="subTitle"/>
          </p:nvPr>
        </p:nvSpPr>
        <p:spPr>
          <a:xfrm>
            <a:off x="153900" y="4514325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54" name="Google Shape;854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113"/>
          <p:cNvSpPr txBox="1"/>
          <p:nvPr/>
        </p:nvSpPr>
        <p:spPr>
          <a:xfrm>
            <a:off x="1147375" y="322700"/>
            <a:ext cx="26532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Understanding</a:t>
            </a:r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- Instructor Demo">
  <p:cSld name="CUSTOM_6_2_1_1_1_2"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7" name="Google Shape;857;p114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114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192550"/>
            <a:ext cx="2189575" cy="9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114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61" name="Google Shape;861;p1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11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3" name="Google Shape;863;p114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Instructor Demo</a:t>
            </a:r>
            <a:endParaRPr/>
          </a:p>
        </p:txBody>
      </p:sp>
      <p:sp>
        <p:nvSpPr>
          <p:cNvPr id="864" name="Google Shape;864;p114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5" name="Google Shape;865;p114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 - Exit Ticket">
  <p:cSld name="CUSTOM_6_2_1_1_1_1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" name="Google Shape;867;p115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115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1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115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871" name="Google Shape;871;p1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11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3" name="Google Shape;873;p115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Exit Ticket</a:t>
            </a:r>
            <a:endParaRPr/>
          </a:p>
        </p:txBody>
      </p:sp>
      <p:sp>
        <p:nvSpPr>
          <p:cNvPr id="874" name="Google Shape;874;p115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5" name="Google Shape;875;p115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 - Waterfall">
  <p:cSld name="CUSTOM_6_2_1_1_1_1_1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7" name="Google Shape;877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11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9" name="Google Shape;879;p116"/>
          <p:cNvSpPr txBox="1"/>
          <p:nvPr/>
        </p:nvSpPr>
        <p:spPr>
          <a:xfrm>
            <a:off x="1270675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One Good Thing</a:t>
            </a:r>
            <a:endParaRPr/>
          </a:p>
        </p:txBody>
      </p:sp>
      <p:pic>
        <p:nvPicPr>
          <p:cNvPr id="880" name="Google Shape;880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05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116"/>
          <p:cNvSpPr txBox="1"/>
          <p:nvPr/>
        </p:nvSpPr>
        <p:spPr>
          <a:xfrm>
            <a:off x="1050100" y="1332050"/>
            <a:ext cx="7204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reflect on today’s session. 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Maybe you got a question answered, overcame a specific coding challenge, or learned how to do something completely new!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In the chat, share at least one good thing you’ve learned or experienced during the session today. 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celebrate together!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2" name="Google Shape;882;p1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575" y="3564500"/>
            <a:ext cx="654950" cy="65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 - Section Card">
  <p:cSld name="CUSTOM_2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1.png" id="884" name="Google Shape;884;p1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117"/>
          <p:cNvSpPr txBox="1"/>
          <p:nvPr>
            <p:ph type="title"/>
          </p:nvPr>
        </p:nvSpPr>
        <p:spPr>
          <a:xfrm>
            <a:off x="884825" y="2317200"/>
            <a:ext cx="3157800" cy="5091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pace Mono"/>
              <a:buNone/>
              <a:defRPr sz="3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6" name="Google Shape;886;p117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 - Main Idea">
  <p:cSld name="CUSTOM_5"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8" name="Google Shape;888;p118"/>
          <p:cNvPicPr preferRelativeResize="0"/>
          <p:nvPr/>
        </p:nvPicPr>
        <p:blipFill rotWithShape="1">
          <a:blip r:embed="rId2">
            <a:alphaModFix/>
          </a:blip>
          <a:srcRect b="0" l="0" r="0" t="12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025" y="474201"/>
            <a:ext cx="3657599" cy="3657599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118"/>
          <p:cNvSpPr/>
          <p:nvPr/>
        </p:nvSpPr>
        <p:spPr>
          <a:xfrm>
            <a:off x="1071950" y="892850"/>
            <a:ext cx="5283900" cy="2820300"/>
          </a:xfrm>
          <a:prstGeom prst="roundRect">
            <a:avLst>
              <a:gd fmla="val 16667" name="adj"/>
            </a:avLst>
          </a:prstGeom>
          <a:solidFill>
            <a:srgbClr val="1B1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118"/>
          <p:cNvSpPr txBox="1"/>
          <p:nvPr>
            <p:ph type="title"/>
          </p:nvPr>
        </p:nvSpPr>
        <p:spPr>
          <a:xfrm>
            <a:off x="1071950" y="892850"/>
            <a:ext cx="5283900" cy="2820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 - Background Card">
  <p:cSld name="CUSTOM_5_1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3" name="Google Shape;893;p119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 - Glows &amp; Grows">
  <p:cSld name="CUSTOM_1_1_1_2"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6" name="Google Shape;896;p121"/>
          <p:cNvGrpSpPr/>
          <p:nvPr/>
        </p:nvGrpSpPr>
        <p:grpSpPr>
          <a:xfrm>
            <a:off x="6262100" y="-3850"/>
            <a:ext cx="2886900" cy="485125"/>
            <a:chOff x="6262100" y="-3850"/>
            <a:chExt cx="2886900" cy="485125"/>
          </a:xfrm>
        </p:grpSpPr>
        <p:pic>
          <p:nvPicPr>
            <p:cNvPr descr="1.png" id="897" name="Google Shape;897;p121"/>
            <p:cNvPicPr preferRelativeResize="0"/>
            <p:nvPr/>
          </p:nvPicPr>
          <p:blipFill rotWithShape="1">
            <a:blip r:embed="rId2">
              <a:alphaModFix/>
            </a:blip>
            <a:srcRect b="88506" l="21895" r="16532" t="0"/>
            <a:stretch/>
          </p:blipFill>
          <p:spPr>
            <a:xfrm rot="10800000">
              <a:off x="6539872" y="1"/>
              <a:ext cx="2609128" cy="4812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" id="898" name="Google Shape;898;p121"/>
            <p:cNvPicPr preferRelativeResize="0"/>
            <p:nvPr/>
          </p:nvPicPr>
          <p:blipFill rotWithShape="1">
            <a:blip r:embed="rId3">
              <a:alphaModFix/>
            </a:blip>
            <a:srcRect b="54291" l="0" r="0" t="36404"/>
            <a:stretch/>
          </p:blipFill>
          <p:spPr>
            <a:xfrm>
              <a:off x="6262100" y="-3850"/>
              <a:ext cx="1898600" cy="176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1.png" id="899" name="Google Shape;899;p121"/>
          <p:cNvPicPr preferRelativeResize="0"/>
          <p:nvPr/>
        </p:nvPicPr>
        <p:blipFill rotWithShape="1">
          <a:blip r:embed="rId2">
            <a:alphaModFix/>
          </a:blip>
          <a:srcRect b="0" l="29746" r="0" t="86858"/>
          <a:stretch/>
        </p:blipFill>
        <p:spPr>
          <a:xfrm rot="-5400000">
            <a:off x="-1232301" y="3379801"/>
            <a:ext cx="2977026" cy="550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900" name="Google Shape;900;p121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2067125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1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12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3" name="Google Shape;903;p121"/>
          <p:cNvSpPr txBox="1"/>
          <p:nvPr/>
        </p:nvSpPr>
        <p:spPr>
          <a:xfrm>
            <a:off x="1034475" y="1532576"/>
            <a:ext cx="3269400" cy="29769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Glows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4" name="Google Shape;904;p121"/>
          <p:cNvSpPr txBox="1"/>
          <p:nvPr/>
        </p:nvSpPr>
        <p:spPr>
          <a:xfrm>
            <a:off x="4840125" y="1532578"/>
            <a:ext cx="3269400" cy="29769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Grows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5" name="Google Shape;905;p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1525" y="1080163"/>
            <a:ext cx="655300" cy="6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1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7175" y="1080162"/>
            <a:ext cx="655300" cy="6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121"/>
          <p:cNvSpPr txBox="1"/>
          <p:nvPr/>
        </p:nvSpPr>
        <p:spPr>
          <a:xfrm>
            <a:off x="452400" y="481263"/>
            <a:ext cx="8239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pace Mono"/>
                <a:ea typeface="Space Mono"/>
                <a:cs typeface="Space Mono"/>
                <a:sym typeface="Space Mono"/>
              </a:rPr>
              <a:t>Your Feedback</a:t>
            </a:r>
            <a:endParaRPr b="1" sz="2400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908" name="Google Shape;908;p121"/>
          <p:cNvSpPr txBox="1"/>
          <p:nvPr>
            <p:ph idx="1" type="subTitle"/>
          </p:nvPr>
        </p:nvSpPr>
        <p:spPr>
          <a:xfrm>
            <a:off x="118252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09" name="Google Shape;909;p121"/>
          <p:cNvSpPr txBox="1"/>
          <p:nvPr>
            <p:ph idx="2" type="subTitle"/>
          </p:nvPr>
        </p:nvSpPr>
        <p:spPr>
          <a:xfrm>
            <a:off x="499117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tructor Intro">
  <p:cSld name="CUSTOM_6_2_1_1_1_2_1"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" name="Google Shape;911;p122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122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192550"/>
            <a:ext cx="2189575" cy="9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12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5" name="Google Shape;915;p122"/>
          <p:cNvSpPr txBox="1"/>
          <p:nvPr/>
        </p:nvSpPr>
        <p:spPr>
          <a:xfrm>
            <a:off x="565375" y="333100"/>
            <a:ext cx="5005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Meet the Instructor</a:t>
            </a:r>
            <a:endParaRPr sz="2600">
              <a:solidFill>
                <a:srgbClr val="05103E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916" name="Google Shape;916;p122"/>
          <p:cNvSpPr/>
          <p:nvPr>
            <p:ph idx="2" type="pic"/>
          </p:nvPr>
        </p:nvSpPr>
        <p:spPr>
          <a:xfrm>
            <a:off x="592550" y="1010825"/>
            <a:ext cx="2579400" cy="2289000"/>
          </a:xfrm>
          <a:prstGeom prst="roundRect">
            <a:avLst>
              <a:gd fmla="val 7884" name="adj"/>
            </a:avLst>
          </a:prstGeom>
          <a:noFill/>
          <a:ln cap="flat" cmpd="sng" w="28575">
            <a:solidFill>
              <a:srgbClr val="00C384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Blank">
  <p:cSld name="TITLE_AND_BODY_1"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" name="Google Shape;921;p1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12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Frame">
  <p:cSld name="TITLE_AND_BODY_1_1"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" name="Google Shape;924;p125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125"/>
          <p:cNvPicPr preferRelativeResize="0"/>
          <p:nvPr/>
        </p:nvPicPr>
        <p:blipFill rotWithShape="1">
          <a:blip r:embed="rId3">
            <a:alphaModFix/>
          </a:blip>
          <a:srcRect b="19849" l="3049" r="3720" t="15220"/>
          <a:stretch/>
        </p:blipFill>
        <p:spPr>
          <a:xfrm>
            <a:off x="7152175" y="4819704"/>
            <a:ext cx="1541199" cy="253883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12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7" name="Google Shape;927;p125"/>
          <p:cNvSpPr/>
          <p:nvPr/>
        </p:nvSpPr>
        <p:spPr>
          <a:xfrm>
            <a:off x="352350" y="390450"/>
            <a:ext cx="8439300" cy="436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itle Card">
  <p:cSld name="CUSTOM"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4.png" id="929" name="Google Shape;929;p1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765" y="1310001"/>
            <a:ext cx="1717224" cy="172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1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1725" y="106625"/>
            <a:ext cx="3208724" cy="7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126"/>
          <p:cNvSpPr txBox="1"/>
          <p:nvPr>
            <p:ph type="title"/>
          </p:nvPr>
        </p:nvSpPr>
        <p:spPr>
          <a:xfrm>
            <a:off x="1628200" y="1807975"/>
            <a:ext cx="5887800" cy="724500"/>
          </a:xfrm>
          <a:prstGeom prst="rect">
            <a:avLst/>
          </a:prstGeom>
          <a:solidFill>
            <a:schemeClr val="lt1"/>
          </a:solidFill>
          <a:ln cap="flat" cmpd="sng" w="22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500"/>
              <a:buFont typeface="Space Mono"/>
              <a:buNone/>
              <a:defRPr sz="55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933" name="Google Shape;933;p126"/>
          <p:cNvSpPr txBox="1"/>
          <p:nvPr>
            <p:ph idx="1" type="subTitle"/>
          </p:nvPr>
        </p:nvSpPr>
        <p:spPr>
          <a:xfrm>
            <a:off x="2360925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934" name="Google Shape;934;p126"/>
          <p:cNvSpPr txBox="1"/>
          <p:nvPr>
            <p:ph idx="2" type="subTitle"/>
          </p:nvPr>
        </p:nvSpPr>
        <p:spPr>
          <a:xfrm>
            <a:off x="4803950" y="3126675"/>
            <a:ext cx="1979100" cy="3807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Agenda">
  <p:cSld name="CUSTOM_1"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27"/>
          <p:cNvSpPr txBox="1"/>
          <p:nvPr/>
        </p:nvSpPr>
        <p:spPr>
          <a:xfrm>
            <a:off x="1147575" y="344400"/>
            <a:ext cx="76446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How are we going to get there?</a:t>
            </a:r>
            <a:endParaRPr b="1" sz="2400">
              <a:solidFill>
                <a:srgbClr val="05103E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grpSp>
        <p:nvGrpSpPr>
          <p:cNvPr id="937" name="Google Shape;937;p127"/>
          <p:cNvGrpSpPr/>
          <p:nvPr/>
        </p:nvGrpSpPr>
        <p:grpSpPr>
          <a:xfrm rot="5400000">
            <a:off x="5719749" y="1629787"/>
            <a:ext cx="4964577" cy="1883925"/>
            <a:chOff x="4152224" y="1218499"/>
            <a:chExt cx="4964577" cy="1883925"/>
          </a:xfrm>
        </p:grpSpPr>
        <p:pic>
          <p:nvPicPr>
            <p:cNvPr id="938" name="Google Shape;938;p127"/>
            <p:cNvPicPr preferRelativeResize="0"/>
            <p:nvPr/>
          </p:nvPicPr>
          <p:blipFill rotWithShape="1">
            <a:blip r:embed="rId2">
              <a:alphaModFix/>
            </a:blip>
            <a:srcRect b="11995" l="14888" r="61868" t="21294"/>
            <a:stretch/>
          </p:blipFill>
          <p:spPr>
            <a:xfrm rot="-5400011">
              <a:off x="5710924" y="-340197"/>
              <a:ext cx="1668224" cy="47856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9" name="Google Shape;939;p127"/>
            <p:cNvPicPr preferRelativeResize="0"/>
            <p:nvPr/>
          </p:nvPicPr>
          <p:blipFill rotWithShape="1">
            <a:blip r:embed="rId3">
              <a:alphaModFix/>
            </a:blip>
            <a:srcRect b="34798" l="0" r="33244" t="0"/>
            <a:stretch/>
          </p:blipFill>
          <p:spPr>
            <a:xfrm rot="-5400000">
              <a:off x="7253138" y="1238761"/>
              <a:ext cx="1883925" cy="1843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40" name="Google Shape;940;p1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12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42" name="Google Shape;942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775" y="420262"/>
            <a:ext cx="505275" cy="5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Text">
  <p:cSld name="CUSTOM_1_1_1"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4" name="Google Shape;944;p128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945" name="Google Shape;945;p128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128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947" name="Google Shape;947;p128"/>
          <p:cNvSpPr txBox="1"/>
          <p:nvPr>
            <p:ph idx="1" type="body"/>
          </p:nvPr>
        </p:nvSpPr>
        <p:spPr>
          <a:xfrm>
            <a:off x="452400" y="1132825"/>
            <a:ext cx="82392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948" name="Google Shape;948;p1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12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0" name="Google Shape;950;p128"/>
          <p:cNvPicPr preferRelativeResize="0"/>
          <p:nvPr/>
        </p:nvPicPr>
        <p:blipFill rotWithShape="1">
          <a:blip r:embed="rId5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951" name="Google Shape;951;p128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Title Only">
  <p:cSld name="CUSTOM_1_1_1_1"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3" name="Google Shape;953;p129"/>
          <p:cNvPicPr preferRelativeResize="0"/>
          <p:nvPr/>
        </p:nvPicPr>
        <p:blipFill rotWithShape="1">
          <a:blip r:embed="rId2">
            <a:alphaModFix/>
          </a:blip>
          <a:srcRect b="12755" l="73007" r="0" t="25835"/>
          <a:stretch/>
        </p:blipFill>
        <p:spPr>
          <a:xfrm flipH="1" rot="10800000">
            <a:off x="0" y="2754401"/>
            <a:ext cx="1007652" cy="229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954" name="Google Shape;954;p129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3244900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129"/>
          <p:cNvPicPr preferRelativeResize="0"/>
          <p:nvPr/>
        </p:nvPicPr>
        <p:blipFill rotWithShape="1">
          <a:blip r:embed="rId4">
            <a:alphaModFix/>
          </a:blip>
          <a:srcRect b="0" l="86045" r="0" t="25418"/>
          <a:stretch/>
        </p:blipFill>
        <p:spPr>
          <a:xfrm rot="5400000">
            <a:off x="7212900" y="-1425024"/>
            <a:ext cx="510701" cy="336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956" name="Google Shape;956;p129"/>
          <p:cNvPicPr preferRelativeResize="0"/>
          <p:nvPr/>
        </p:nvPicPr>
        <p:blipFill rotWithShape="1">
          <a:blip r:embed="rId3">
            <a:alphaModFix/>
          </a:blip>
          <a:srcRect b="54289" l="0" r="5482" t="14989"/>
          <a:stretch/>
        </p:blipFill>
        <p:spPr>
          <a:xfrm>
            <a:off x="7354100" y="-1"/>
            <a:ext cx="1794526" cy="5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12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9" name="Google Shape;959;p129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 - Android">
  <p:cSld name="CUSTOM_3"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1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130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grpSp>
        <p:nvGrpSpPr>
          <p:cNvPr id="963" name="Google Shape;963;p130"/>
          <p:cNvGrpSpPr/>
          <p:nvPr/>
        </p:nvGrpSpPr>
        <p:grpSpPr>
          <a:xfrm>
            <a:off x="5709066" y="201260"/>
            <a:ext cx="2296623" cy="4424889"/>
            <a:chOff x="5598780" y="137712"/>
            <a:chExt cx="2577001" cy="4664652"/>
          </a:xfrm>
        </p:grpSpPr>
        <p:pic>
          <p:nvPicPr>
            <p:cNvPr id="964" name="Google Shape;964;p130"/>
            <p:cNvPicPr preferRelativeResize="0"/>
            <p:nvPr/>
          </p:nvPicPr>
          <p:blipFill rotWithShape="1">
            <a:blip r:embed="rId3">
              <a:alphaModFix/>
            </a:blip>
            <a:srcRect b="1604" l="0" r="0" t="1768"/>
            <a:stretch/>
          </p:blipFill>
          <p:spPr>
            <a:xfrm>
              <a:off x="5598780" y="137712"/>
              <a:ext cx="2577001" cy="46646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5" name="Google Shape;965;p130"/>
            <p:cNvSpPr/>
            <p:nvPr/>
          </p:nvSpPr>
          <p:spPr>
            <a:xfrm>
              <a:off x="5789881" y="461652"/>
              <a:ext cx="2204100" cy="391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6" name="Google Shape;966;p130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967" name="Google Shape;967;p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13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9" name="Google Shape;969;p130"/>
          <p:cNvSpPr/>
          <p:nvPr/>
        </p:nvSpPr>
        <p:spPr>
          <a:xfrm>
            <a:off x="6555438" y="4318850"/>
            <a:ext cx="603900" cy="222000"/>
          </a:xfrm>
          <a:prstGeom prst="rect">
            <a:avLst/>
          </a:prstGeom>
          <a:solidFill>
            <a:srgbClr val="1515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 - iPhone">
  <p:cSld name="CUSTOM_3_1"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Google Shape;971;p1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131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973" name="Google Shape;973;p131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974" name="Google Shape;974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13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6" name="Google Shape;976;p131"/>
          <p:cNvSpPr/>
          <p:nvPr/>
        </p:nvSpPr>
        <p:spPr>
          <a:xfrm>
            <a:off x="5879375" y="347075"/>
            <a:ext cx="1956000" cy="4108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7" name="Google Shape;977;p131"/>
          <p:cNvPicPr preferRelativeResize="0"/>
          <p:nvPr/>
        </p:nvPicPr>
        <p:blipFill rotWithShape="1">
          <a:blip r:embed="rId4">
            <a:alphaModFix/>
          </a:blip>
          <a:srcRect b="3082" l="0" r="0" t="0"/>
          <a:stretch/>
        </p:blipFill>
        <p:spPr>
          <a:xfrm>
            <a:off x="5349374" y="226759"/>
            <a:ext cx="3016012" cy="4373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 - Website">
  <p:cSld name="CUSTOM_3_2"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9" name="Google Shape;979;p132"/>
          <p:cNvPicPr preferRelativeResize="0"/>
          <p:nvPr/>
        </p:nvPicPr>
        <p:blipFill rotWithShape="1">
          <a:blip r:embed="rId2">
            <a:alphaModFix/>
          </a:blip>
          <a:srcRect b="30853" l="0" r="22541" t="0"/>
          <a:stretch/>
        </p:blipFill>
        <p:spPr>
          <a:xfrm>
            <a:off x="5860600" y="2508800"/>
            <a:ext cx="3283400" cy="2634701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132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981" name="Google Shape;981;p132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982" name="Google Shape;982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13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84" name="Google Shape;984;p132"/>
          <p:cNvGrpSpPr/>
          <p:nvPr/>
        </p:nvGrpSpPr>
        <p:grpSpPr>
          <a:xfrm>
            <a:off x="4344100" y="398125"/>
            <a:ext cx="4546500" cy="4222800"/>
            <a:chOff x="4344100" y="398125"/>
            <a:chExt cx="4546500" cy="4222800"/>
          </a:xfrm>
        </p:grpSpPr>
        <p:sp>
          <p:nvSpPr>
            <p:cNvPr id="985" name="Google Shape;985;p132"/>
            <p:cNvSpPr/>
            <p:nvPr/>
          </p:nvSpPr>
          <p:spPr>
            <a:xfrm>
              <a:off x="4344100" y="398125"/>
              <a:ext cx="4546500" cy="4222800"/>
            </a:xfrm>
            <a:prstGeom prst="roundRect">
              <a:avLst>
                <a:gd fmla="val 3222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86" name="Google Shape;986;p132"/>
            <p:cNvGrpSpPr/>
            <p:nvPr/>
          </p:nvGrpSpPr>
          <p:grpSpPr>
            <a:xfrm>
              <a:off x="4445450" y="524200"/>
              <a:ext cx="399495" cy="101100"/>
              <a:chOff x="4445450" y="524200"/>
              <a:chExt cx="399495" cy="101100"/>
            </a:xfrm>
          </p:grpSpPr>
          <p:sp>
            <p:nvSpPr>
              <p:cNvPr id="987" name="Google Shape;987;p132"/>
              <p:cNvSpPr/>
              <p:nvPr/>
            </p:nvSpPr>
            <p:spPr>
              <a:xfrm>
                <a:off x="4445450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5D0D0"/>
                  </a:gs>
                  <a:gs pos="100000">
                    <a:srgbClr val="D96868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132"/>
              <p:cNvSpPr/>
              <p:nvPr/>
            </p:nvSpPr>
            <p:spPr>
              <a:xfrm>
                <a:off x="4594797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FFF6DB"/>
                  </a:gs>
                  <a:gs pos="100000">
                    <a:srgbClr val="FAD25C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132"/>
              <p:cNvSpPr/>
              <p:nvPr/>
            </p:nvSpPr>
            <p:spPr>
              <a:xfrm>
                <a:off x="4744145" y="524200"/>
                <a:ext cx="100800" cy="101100"/>
              </a:xfrm>
              <a:prstGeom prst="ellipse">
                <a:avLst/>
              </a:prstGeom>
              <a:gradFill>
                <a:gsLst>
                  <a:gs pos="0">
                    <a:srgbClr val="DCECD5"/>
                  </a:gs>
                  <a:gs pos="100000">
                    <a:srgbClr val="93BC81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0" name="Google Shape;990;p132"/>
            <p:cNvSpPr/>
            <p:nvPr/>
          </p:nvSpPr>
          <p:spPr>
            <a:xfrm>
              <a:off x="4910625" y="448450"/>
              <a:ext cx="3835500" cy="252600"/>
            </a:xfrm>
            <a:prstGeom prst="roundRect">
              <a:avLst>
                <a:gd fmla="val 34092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- Phone Placeholder">
  <p:cSld name="CUSTOM_3_1_1"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2" name="Google Shape;992;p1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38000" y="508538"/>
            <a:ext cx="4238740" cy="3810313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133"/>
          <p:cNvSpPr txBox="1"/>
          <p:nvPr>
            <p:ph type="title"/>
          </p:nvPr>
        </p:nvSpPr>
        <p:spPr>
          <a:xfrm>
            <a:off x="452400" y="481275"/>
            <a:ext cx="4924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994" name="Google Shape;994;p133"/>
          <p:cNvSpPr txBox="1"/>
          <p:nvPr>
            <p:ph idx="1" type="body"/>
          </p:nvPr>
        </p:nvSpPr>
        <p:spPr>
          <a:xfrm>
            <a:off x="452400" y="1132825"/>
            <a:ext cx="42387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995" name="Google Shape;995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13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- Code Block">
  <p:cSld name="CUSTOM_7_1"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8" name="Google Shape;998;p134"/>
          <p:cNvPicPr preferRelativeResize="0"/>
          <p:nvPr/>
        </p:nvPicPr>
        <p:blipFill rotWithShape="1">
          <a:blip r:embed="rId2">
            <a:alphaModFix/>
          </a:blip>
          <a:srcRect b="29631" l="0" r="52625" t="21294"/>
          <a:stretch/>
        </p:blipFill>
        <p:spPr>
          <a:xfrm rot="-5400005">
            <a:off x="5694763" y="-60161"/>
            <a:ext cx="3400125" cy="3520446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134"/>
          <p:cNvSpPr/>
          <p:nvPr/>
        </p:nvSpPr>
        <p:spPr>
          <a:xfrm>
            <a:off x="4385200" y="481275"/>
            <a:ext cx="4308300" cy="41397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134"/>
          <p:cNvSpPr txBox="1"/>
          <p:nvPr/>
        </p:nvSpPr>
        <p:spPr>
          <a:xfrm>
            <a:off x="357200" y="408225"/>
            <a:ext cx="441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90500" rtl="0" algn="l">
              <a:lnSpc>
                <a:spcPct val="150000"/>
              </a:lnSpc>
              <a:spcBef>
                <a:spcPts val="1700"/>
              </a:spcBef>
              <a:spcAft>
                <a:spcPts val="330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01" name="Google Shape;1001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13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3" name="Google Shape;1003;p134"/>
          <p:cNvSpPr txBox="1"/>
          <p:nvPr>
            <p:ph type="title"/>
          </p:nvPr>
        </p:nvSpPr>
        <p:spPr>
          <a:xfrm>
            <a:off x="452400" y="481275"/>
            <a:ext cx="3701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ace Mono"/>
              <a:buNone/>
              <a:defRPr b="1" sz="2400"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Space Mono"/>
              <a:buNone/>
              <a:defRPr sz="3200"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  <p:sp>
        <p:nvSpPr>
          <p:cNvPr id="1004" name="Google Shape;1004;p134"/>
          <p:cNvSpPr txBox="1"/>
          <p:nvPr>
            <p:ph idx="1" type="body"/>
          </p:nvPr>
        </p:nvSpPr>
        <p:spPr>
          <a:xfrm>
            <a:off x="452400" y="1132825"/>
            <a:ext cx="37011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05" name="Google Shape;1005;p134"/>
          <p:cNvSpPr txBox="1"/>
          <p:nvPr>
            <p:ph idx="2" type="subTitle"/>
          </p:nvPr>
        </p:nvSpPr>
        <p:spPr>
          <a:xfrm>
            <a:off x="4511175" y="586000"/>
            <a:ext cx="4080000" cy="3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- Icebreaker">
  <p:cSld name="CUSTOM_7"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7" name="Google Shape;1007;p1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p135"/>
          <p:cNvPicPr preferRelativeResize="0"/>
          <p:nvPr/>
        </p:nvPicPr>
        <p:blipFill rotWithShape="1">
          <a:blip r:embed="rId3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135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010" name="Google Shape;1010;p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13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2" name="Google Shape;1012;p135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Icebreaker</a:t>
            </a:r>
            <a:endParaRPr/>
          </a:p>
        </p:txBody>
      </p:sp>
      <p:sp>
        <p:nvSpPr>
          <p:cNvPr id="1013" name="Google Shape;1013;p135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4" name="Google Shape;1014;p135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015" name="Google Shape;1015;p135"/>
          <p:cNvPicPr preferRelativeResize="0"/>
          <p:nvPr/>
        </p:nvPicPr>
        <p:blipFill rotWithShape="1">
          <a:blip r:embed="rId5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- Discussion Prompt">
  <p:cSld name="CUSTOM_6"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7" name="Google Shape;1017;p136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8" name="Google Shape;1018;p136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136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020" name="Google Shape;1020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13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22" name="Google Shape;1022;p1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6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136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Discussion</a:t>
            </a:r>
            <a:endParaRPr/>
          </a:p>
        </p:txBody>
      </p:sp>
      <p:sp>
        <p:nvSpPr>
          <p:cNvPr id="1024" name="Google Shape;1024;p136"/>
          <p:cNvSpPr txBox="1"/>
          <p:nvPr>
            <p:ph idx="2" type="body"/>
          </p:nvPr>
        </p:nvSpPr>
        <p:spPr>
          <a:xfrm>
            <a:off x="604800" y="14128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- Reflection Prompt">
  <p:cSld name="CUSTOM_6_2"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oogle Shape;1026;p137"/>
          <p:cNvPicPr preferRelativeResize="0"/>
          <p:nvPr/>
        </p:nvPicPr>
        <p:blipFill rotWithShape="1">
          <a:blip r:embed="rId2">
            <a:alphaModFix/>
          </a:blip>
          <a:srcRect b="20620" l="74976" r="11428" t="41244"/>
          <a:stretch/>
        </p:blipFill>
        <p:spPr>
          <a:xfrm rot="-5400000">
            <a:off x="627389" y="3816763"/>
            <a:ext cx="691823" cy="196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137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1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137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DF0"/>
          </a:solidFill>
          <a:ln cap="flat" cmpd="sng" w="152400">
            <a:solidFill>
              <a:srgbClr val="FFED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030" name="Google Shape;1030;p1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13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2" name="Google Shape;1032;p137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Reflection</a:t>
            </a:r>
            <a:endParaRPr/>
          </a:p>
        </p:txBody>
      </p:sp>
      <p:sp>
        <p:nvSpPr>
          <p:cNvPr id="1033" name="Google Shape;1033;p137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4" name="Google Shape;1034;p137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- Try It">
  <p:cSld name="CUSTOM_6_2_1"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Google Shape;1036;p138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138"/>
          <p:cNvPicPr preferRelativeResize="0"/>
          <p:nvPr/>
        </p:nvPicPr>
        <p:blipFill rotWithShape="1">
          <a:blip r:embed="rId3">
            <a:alphaModFix/>
          </a:blip>
          <a:srcRect b="45416" l="60224" r="12699" t="43299"/>
          <a:stretch/>
        </p:blipFill>
        <p:spPr>
          <a:xfrm>
            <a:off x="0" y="4131025"/>
            <a:ext cx="2061576" cy="101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1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40000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138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040" name="Google Shape;1040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13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2" name="Google Shape;1042;p138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Try It!</a:t>
            </a:r>
            <a:endParaRPr/>
          </a:p>
        </p:txBody>
      </p:sp>
      <p:sp>
        <p:nvSpPr>
          <p:cNvPr id="1043" name="Google Shape;1043;p138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4" name="Google Shape;1044;p138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- Breakout Rooms">
  <p:cSld name="CUSTOM_6_2_1_1"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Google Shape;1046;p139"/>
          <p:cNvPicPr preferRelativeResize="0"/>
          <p:nvPr/>
        </p:nvPicPr>
        <p:blipFill rotWithShape="1">
          <a:blip r:embed="rId2">
            <a:alphaModFix/>
          </a:blip>
          <a:srcRect b="0" l="25913" r="44507" t="78390"/>
          <a:stretch/>
        </p:blipFill>
        <p:spPr>
          <a:xfrm rot="10800000">
            <a:off x="1" y="4032002"/>
            <a:ext cx="1547899" cy="1111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139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1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139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F6BF"/>
          </a:solidFill>
          <a:ln cap="flat" cmpd="sng" w="152400">
            <a:solidFill>
              <a:srgbClr val="FFF6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050" name="Google Shape;1050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13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2" name="Google Shape;1052;p139"/>
          <p:cNvSpPr txBox="1"/>
          <p:nvPr/>
        </p:nvSpPr>
        <p:spPr>
          <a:xfrm>
            <a:off x="1154000" y="440000"/>
            <a:ext cx="36480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Breakout Rooms</a:t>
            </a:r>
            <a:endParaRPr/>
          </a:p>
        </p:txBody>
      </p:sp>
      <p:sp>
        <p:nvSpPr>
          <p:cNvPr id="1053" name="Google Shape;1053;p139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4" name="Google Shape;1054;p139"/>
          <p:cNvSpPr txBox="1"/>
          <p:nvPr>
            <p:ph idx="2" type="body"/>
          </p:nvPr>
        </p:nvSpPr>
        <p:spPr>
          <a:xfrm>
            <a:off x="452400" y="1260500"/>
            <a:ext cx="64959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 - CFU">
  <p:cSld name="CUSTOM_6_2_1_1_1"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" name="Google Shape;1056;p140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5400000">
            <a:off x="556661" y="3399336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140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>
            <a:off x="-3355" y="3951836"/>
            <a:ext cx="2123899" cy="119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" name="Google Shape;1058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140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060" name="Google Shape;1060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14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2" name="Google Shape;1062;p140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Understanding</a:t>
            </a:r>
            <a:endParaRPr/>
          </a:p>
        </p:txBody>
      </p:sp>
      <p:sp>
        <p:nvSpPr>
          <p:cNvPr id="1063" name="Google Shape;1063;p140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4" name="Google Shape;1064;p140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 - CFU w/ Code">
  <p:cSld name="CUSTOM_6_2_1_1_1_3"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6" name="Google Shape;1066;p141"/>
          <p:cNvPicPr preferRelativeResize="0"/>
          <p:nvPr/>
        </p:nvPicPr>
        <p:blipFill rotWithShape="1">
          <a:blip r:embed="rId2">
            <a:alphaModFix/>
          </a:blip>
          <a:srcRect b="26804" l="62509" r="0" t="0"/>
          <a:stretch/>
        </p:blipFill>
        <p:spPr>
          <a:xfrm flipH="1" rot="-5400000">
            <a:off x="7383499" y="-567539"/>
            <a:ext cx="1192950" cy="232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141"/>
          <p:cNvPicPr preferRelativeResize="0"/>
          <p:nvPr/>
        </p:nvPicPr>
        <p:blipFill rotWithShape="1">
          <a:blip r:embed="rId3">
            <a:alphaModFix/>
          </a:blip>
          <a:srcRect b="57773" l="27820" r="30811" t="19033"/>
          <a:stretch/>
        </p:blipFill>
        <p:spPr>
          <a:xfrm rot="10800000">
            <a:off x="7020095" y="11"/>
            <a:ext cx="2123899" cy="1192951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141"/>
          <p:cNvSpPr txBox="1"/>
          <p:nvPr>
            <p:ph idx="1" type="body"/>
          </p:nvPr>
        </p:nvSpPr>
        <p:spPr>
          <a:xfrm>
            <a:off x="452400" y="1344125"/>
            <a:ext cx="3474000" cy="29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069" name="Google Shape;1069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14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1" name="Google Shape;1071;p141"/>
          <p:cNvSpPr/>
          <p:nvPr/>
        </p:nvSpPr>
        <p:spPr>
          <a:xfrm>
            <a:off x="4118450" y="266700"/>
            <a:ext cx="4722300" cy="4459500"/>
          </a:xfrm>
          <a:prstGeom prst="roundRect">
            <a:avLst>
              <a:gd fmla="val 24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141"/>
          <p:cNvSpPr txBox="1"/>
          <p:nvPr>
            <p:ph idx="2" type="subTitle"/>
          </p:nvPr>
        </p:nvSpPr>
        <p:spPr>
          <a:xfrm>
            <a:off x="4256529" y="378199"/>
            <a:ext cx="4472100" cy="42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None/>
              <a:defRPr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1073" name="Google Shape;1073;p141"/>
          <p:cNvSpPr txBox="1"/>
          <p:nvPr>
            <p:ph idx="3" type="subTitle"/>
          </p:nvPr>
        </p:nvSpPr>
        <p:spPr>
          <a:xfrm>
            <a:off x="153900" y="4514325"/>
            <a:ext cx="1617300" cy="4317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074" name="Google Shape;1074;p1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141"/>
          <p:cNvSpPr txBox="1"/>
          <p:nvPr/>
        </p:nvSpPr>
        <p:spPr>
          <a:xfrm>
            <a:off x="1147375" y="322700"/>
            <a:ext cx="26532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Check for 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Understanding</a:t>
            </a:r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- Instructor Demo">
  <p:cSld name="CUSTOM_6_2_1_1_1_2"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Google Shape;1077;p142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142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192550"/>
            <a:ext cx="2189575" cy="9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142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081" name="Google Shape;1081;p1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14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3" name="Google Shape;1083;p142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Instructor Demo</a:t>
            </a:r>
            <a:endParaRPr/>
          </a:p>
        </p:txBody>
      </p:sp>
      <p:sp>
        <p:nvSpPr>
          <p:cNvPr id="1084" name="Google Shape;1084;p142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5" name="Google Shape;1085;p142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 - Exit Ticket">
  <p:cSld name="CUSTOM_6_2_1_1_1_1"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7" name="Google Shape;1087;p143"/>
          <p:cNvPicPr preferRelativeResize="0"/>
          <p:nvPr/>
        </p:nvPicPr>
        <p:blipFill rotWithShape="1">
          <a:blip r:embed="rId2">
            <a:alphaModFix/>
          </a:blip>
          <a:srcRect b="0" l="0" r="2248" t="69501"/>
          <a:stretch/>
        </p:blipFill>
        <p:spPr>
          <a:xfrm rot="10800000">
            <a:off x="-13874" y="4314577"/>
            <a:ext cx="2158724" cy="828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143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248650"/>
            <a:ext cx="2060400" cy="89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40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143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  <a:solidFill>
            <a:srgbClr val="E9F6FF"/>
          </a:solidFill>
          <a:ln cap="flat" cmpd="sng" w="152400">
            <a:solidFill>
              <a:srgbClr val="E9F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1091" name="Google Shape;1091;p1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14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3" name="Google Shape;1093;p143"/>
          <p:cNvSpPr txBox="1"/>
          <p:nvPr/>
        </p:nvSpPr>
        <p:spPr>
          <a:xfrm>
            <a:off x="1154000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Exit Ticket</a:t>
            </a:r>
            <a:endParaRPr/>
          </a:p>
        </p:txBody>
      </p:sp>
      <p:sp>
        <p:nvSpPr>
          <p:cNvPr id="1094" name="Google Shape;1094;p143"/>
          <p:cNvSpPr txBox="1"/>
          <p:nvPr/>
        </p:nvSpPr>
        <p:spPr>
          <a:xfrm>
            <a:off x="914400" y="1334575"/>
            <a:ext cx="7326600" cy="30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5" name="Google Shape;1095;p143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1800"/>
              <a:buFont typeface="Poppins"/>
              <a:buChar char="✱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Poppins"/>
              <a:buChar char="■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 - Waterfall">
  <p:cSld name="CUSTOM_6_2_1_1_1_1_1"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7" name="Google Shape;1097;p1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14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9" name="Google Shape;1099;p144"/>
          <p:cNvSpPr txBox="1"/>
          <p:nvPr/>
        </p:nvSpPr>
        <p:spPr>
          <a:xfrm>
            <a:off x="1270675" y="440000"/>
            <a:ext cx="42393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One Good Thing</a:t>
            </a:r>
            <a:endParaRPr/>
          </a:p>
        </p:txBody>
      </p:sp>
      <p:pic>
        <p:nvPicPr>
          <p:cNvPr id="1100" name="Google Shape;1100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050" y="439975"/>
            <a:ext cx="654950" cy="65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144"/>
          <p:cNvSpPr txBox="1"/>
          <p:nvPr/>
        </p:nvSpPr>
        <p:spPr>
          <a:xfrm>
            <a:off x="1050100" y="1332050"/>
            <a:ext cx="7204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reflect on today’s session. 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Maybe you got a question answered, overcame a specific coding challenge, or learned how to do something completely new!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In the chat, share at least one good thing you’ve learned or experienced during the session today. </a:t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Let’s celebrate together!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02" name="Google Shape;1102;p1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575" y="3564500"/>
            <a:ext cx="654950" cy="65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 - Section Card">
  <p:cSld name="CUSTOM_2"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vider1.png" id="1104" name="Google Shape;1104;p1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145"/>
          <p:cNvSpPr txBox="1"/>
          <p:nvPr>
            <p:ph type="title"/>
          </p:nvPr>
        </p:nvSpPr>
        <p:spPr>
          <a:xfrm>
            <a:off x="884825" y="2317200"/>
            <a:ext cx="3157800" cy="509100"/>
          </a:xfrm>
          <a:prstGeom prst="rect">
            <a:avLst/>
          </a:prstGeom>
          <a:solidFill>
            <a:srgbClr val="1B1C57"/>
          </a:solidFill>
          <a:ln cap="flat" cmpd="sng" w="2286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Space Mono"/>
              <a:buNone/>
              <a:defRPr sz="32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6" name="Google Shape;1106;p145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 - Main Idea">
  <p:cSld name="CUSTOM_5"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8" name="Google Shape;1108;p146"/>
          <p:cNvPicPr preferRelativeResize="0"/>
          <p:nvPr/>
        </p:nvPicPr>
        <p:blipFill rotWithShape="1">
          <a:blip r:embed="rId2">
            <a:alphaModFix/>
          </a:blip>
          <a:srcRect b="0" l="0" r="0" t="12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025" y="474201"/>
            <a:ext cx="3657599" cy="36575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146"/>
          <p:cNvSpPr/>
          <p:nvPr/>
        </p:nvSpPr>
        <p:spPr>
          <a:xfrm>
            <a:off x="1071950" y="892850"/>
            <a:ext cx="5283900" cy="2820300"/>
          </a:xfrm>
          <a:prstGeom prst="roundRect">
            <a:avLst>
              <a:gd fmla="val 16667" name="adj"/>
            </a:avLst>
          </a:prstGeom>
          <a:solidFill>
            <a:srgbClr val="1B1C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146"/>
          <p:cNvSpPr txBox="1"/>
          <p:nvPr>
            <p:ph type="title"/>
          </p:nvPr>
        </p:nvSpPr>
        <p:spPr>
          <a:xfrm>
            <a:off x="1071950" y="892850"/>
            <a:ext cx="5283900" cy="2820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Mono"/>
              <a:buNone/>
              <a:defRPr sz="2400">
                <a:solidFill>
                  <a:schemeClr val="lt1"/>
                </a:solidFill>
                <a:latin typeface="Space Mono"/>
                <a:ea typeface="Space Mono"/>
                <a:cs typeface="Space Mono"/>
                <a:sym typeface="Space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 - Background Card">
  <p:cSld name="CUSTOM_5_1"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147"/>
          <p:cNvPicPr preferRelativeResize="0"/>
          <p:nvPr/>
        </p:nvPicPr>
        <p:blipFill rotWithShape="1">
          <a:blip r:embed="rId2">
            <a:alphaModFix/>
          </a:blip>
          <a:srcRect b="29727" l="20060" r="22063" t="3715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 - Glows &amp; Grows">
  <p:cSld name="CUSTOM_1_1_1_2"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" name="Google Shape;1116;p149"/>
          <p:cNvGrpSpPr/>
          <p:nvPr/>
        </p:nvGrpSpPr>
        <p:grpSpPr>
          <a:xfrm>
            <a:off x="6262100" y="-3850"/>
            <a:ext cx="2886900" cy="485125"/>
            <a:chOff x="6262100" y="-3850"/>
            <a:chExt cx="2886900" cy="485125"/>
          </a:xfrm>
        </p:grpSpPr>
        <p:pic>
          <p:nvPicPr>
            <p:cNvPr descr="1.png" id="1117" name="Google Shape;1117;p149"/>
            <p:cNvPicPr preferRelativeResize="0"/>
            <p:nvPr/>
          </p:nvPicPr>
          <p:blipFill rotWithShape="1">
            <a:blip r:embed="rId2">
              <a:alphaModFix/>
            </a:blip>
            <a:srcRect b="88506" l="21895" r="16532" t="0"/>
            <a:stretch/>
          </p:blipFill>
          <p:spPr>
            <a:xfrm rot="10800000">
              <a:off x="6539872" y="1"/>
              <a:ext cx="2609128" cy="4812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" id="1118" name="Google Shape;1118;p149"/>
            <p:cNvPicPr preferRelativeResize="0"/>
            <p:nvPr/>
          </p:nvPicPr>
          <p:blipFill rotWithShape="1">
            <a:blip r:embed="rId3">
              <a:alphaModFix/>
            </a:blip>
            <a:srcRect b="54291" l="0" r="0" t="36404"/>
            <a:stretch/>
          </p:blipFill>
          <p:spPr>
            <a:xfrm>
              <a:off x="6262100" y="-3850"/>
              <a:ext cx="1898600" cy="176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1.png" id="1119" name="Google Shape;1119;p149"/>
          <p:cNvPicPr preferRelativeResize="0"/>
          <p:nvPr/>
        </p:nvPicPr>
        <p:blipFill rotWithShape="1">
          <a:blip r:embed="rId2">
            <a:alphaModFix/>
          </a:blip>
          <a:srcRect b="0" l="29746" r="0" t="86858"/>
          <a:stretch/>
        </p:blipFill>
        <p:spPr>
          <a:xfrm rot="-5400000">
            <a:off x="-1232301" y="3379801"/>
            <a:ext cx="2977026" cy="550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1120" name="Google Shape;1120;p149"/>
          <p:cNvPicPr preferRelativeResize="0"/>
          <p:nvPr/>
        </p:nvPicPr>
        <p:blipFill rotWithShape="1">
          <a:blip r:embed="rId3">
            <a:alphaModFix/>
          </a:blip>
          <a:srcRect b="0" l="73812" r="0" t="0"/>
          <a:stretch/>
        </p:blipFill>
        <p:spPr>
          <a:xfrm>
            <a:off x="6" y="2067125"/>
            <a:ext cx="497200" cy="18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14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3" name="Google Shape;1123;p149"/>
          <p:cNvSpPr txBox="1"/>
          <p:nvPr/>
        </p:nvSpPr>
        <p:spPr>
          <a:xfrm>
            <a:off x="1034475" y="1532576"/>
            <a:ext cx="3269400" cy="2976900"/>
          </a:xfrm>
          <a:prstGeom prst="rect">
            <a:avLst/>
          </a:prstGeom>
          <a:solidFill>
            <a:srgbClr val="FFEEFF"/>
          </a:solidFill>
          <a:ln cap="flat" cmpd="sng" w="152400">
            <a:solidFill>
              <a:srgbClr val="FF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Glows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4" name="Google Shape;1124;p149"/>
          <p:cNvSpPr txBox="1"/>
          <p:nvPr/>
        </p:nvSpPr>
        <p:spPr>
          <a:xfrm>
            <a:off x="4840125" y="1532578"/>
            <a:ext cx="3269400" cy="2976900"/>
          </a:xfrm>
          <a:prstGeom prst="rect">
            <a:avLst/>
          </a:prstGeom>
          <a:solidFill>
            <a:srgbClr val="D7FFEE"/>
          </a:solidFill>
          <a:ln cap="flat" cmpd="sng" w="152400">
            <a:solidFill>
              <a:srgbClr val="D7FF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latin typeface="Poppins"/>
                <a:ea typeface="Poppins"/>
                <a:cs typeface="Poppins"/>
                <a:sym typeface="Poppins"/>
              </a:rPr>
              <a:t>Grows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25" name="Google Shape;1125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1525" y="1080163"/>
            <a:ext cx="655300" cy="6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1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7175" y="1080162"/>
            <a:ext cx="655300" cy="6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149"/>
          <p:cNvSpPr txBox="1"/>
          <p:nvPr/>
        </p:nvSpPr>
        <p:spPr>
          <a:xfrm>
            <a:off x="452400" y="481263"/>
            <a:ext cx="8239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Space Mono"/>
                <a:ea typeface="Space Mono"/>
                <a:cs typeface="Space Mono"/>
                <a:sym typeface="Space Mono"/>
              </a:rPr>
              <a:t>Your Feedback</a:t>
            </a:r>
            <a:endParaRPr b="1" sz="2400">
              <a:solidFill>
                <a:srgbClr val="00000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128" name="Google Shape;1128;p149"/>
          <p:cNvSpPr txBox="1"/>
          <p:nvPr>
            <p:ph idx="1" type="subTitle"/>
          </p:nvPr>
        </p:nvSpPr>
        <p:spPr>
          <a:xfrm>
            <a:off x="118252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129" name="Google Shape;1129;p149"/>
          <p:cNvSpPr txBox="1"/>
          <p:nvPr>
            <p:ph idx="2" type="subTitle"/>
          </p:nvPr>
        </p:nvSpPr>
        <p:spPr>
          <a:xfrm>
            <a:off x="499117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Font typeface="Poppins"/>
              <a:buNone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tructor Intro">
  <p:cSld name="CUSTOM_6_2_1_1_1_2_1"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1" name="Google Shape;1131;p150"/>
          <p:cNvPicPr preferRelativeResize="0"/>
          <p:nvPr/>
        </p:nvPicPr>
        <p:blipFill rotWithShape="1">
          <a:blip r:embed="rId2">
            <a:alphaModFix/>
          </a:blip>
          <a:srcRect b="74121" l="54584" r="17188" t="10928"/>
          <a:stretch/>
        </p:blipFill>
        <p:spPr>
          <a:xfrm>
            <a:off x="0" y="4089375"/>
            <a:ext cx="2024750" cy="1054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2" name="Google Shape;1132;p150"/>
          <p:cNvPicPr preferRelativeResize="0"/>
          <p:nvPr/>
        </p:nvPicPr>
        <p:blipFill rotWithShape="1">
          <a:blip r:embed="rId3">
            <a:alphaModFix/>
          </a:blip>
          <a:srcRect b="10675" l="33626" r="26315" t="71928"/>
          <a:stretch/>
        </p:blipFill>
        <p:spPr>
          <a:xfrm>
            <a:off x="0" y="4192550"/>
            <a:ext cx="2189575" cy="95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2175" y="4875550"/>
            <a:ext cx="1541202" cy="14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15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2pPr>
            <a:lvl3pPr lvl="2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3pPr>
            <a:lvl4pPr lvl="3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4pPr>
            <a:lvl5pPr lvl="4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5pPr>
            <a:lvl6pPr lvl="5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6pPr>
            <a:lvl7pPr lvl="6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7pPr>
            <a:lvl8pPr lvl="7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8pPr>
            <a:lvl9pPr lvl="8" algn="r"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5" name="Google Shape;1135;p150"/>
          <p:cNvSpPr txBox="1"/>
          <p:nvPr/>
        </p:nvSpPr>
        <p:spPr>
          <a:xfrm>
            <a:off x="565375" y="333100"/>
            <a:ext cx="5005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Meet the Instructor</a:t>
            </a:r>
            <a:endParaRPr sz="2600">
              <a:solidFill>
                <a:srgbClr val="05103E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1136" name="Google Shape;1136;p150"/>
          <p:cNvSpPr/>
          <p:nvPr>
            <p:ph idx="2" type="pic"/>
          </p:nvPr>
        </p:nvSpPr>
        <p:spPr>
          <a:xfrm>
            <a:off x="592550" y="1010825"/>
            <a:ext cx="2579400" cy="2289000"/>
          </a:xfrm>
          <a:prstGeom prst="roundRect">
            <a:avLst>
              <a:gd fmla="val 7884" name="adj"/>
            </a:avLst>
          </a:prstGeom>
          <a:noFill/>
          <a:ln cap="flat" cmpd="sng" w="28575">
            <a:solidFill>
              <a:srgbClr val="00C384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7.xml"/><Relationship Id="rId22" Type="http://schemas.openxmlformats.org/officeDocument/2006/relationships/slideLayout" Target="../slideLayouts/slideLayout59.xml"/><Relationship Id="rId21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0.xml"/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63.xml"/><Relationship Id="rId25" Type="http://schemas.openxmlformats.org/officeDocument/2006/relationships/slideLayout" Target="../slideLayouts/slideLayout62.xml"/><Relationship Id="rId27" Type="http://schemas.openxmlformats.org/officeDocument/2006/relationships/theme" Target="../theme/theme6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55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83.xml"/><Relationship Id="rId22" Type="http://schemas.openxmlformats.org/officeDocument/2006/relationships/slideLayout" Target="../slideLayouts/slideLayout85.xml"/><Relationship Id="rId21" Type="http://schemas.openxmlformats.org/officeDocument/2006/relationships/slideLayout" Target="../slideLayouts/slideLayout84.xml"/><Relationship Id="rId24" Type="http://schemas.openxmlformats.org/officeDocument/2006/relationships/slideLayout" Target="../slideLayouts/slideLayout87.xml"/><Relationship Id="rId23" Type="http://schemas.openxmlformats.org/officeDocument/2006/relationships/slideLayout" Target="../slideLayouts/slideLayout86.xml"/><Relationship Id="rId1" Type="http://schemas.openxmlformats.org/officeDocument/2006/relationships/slideLayout" Target="../slideLayouts/slideLayout64.xml"/><Relationship Id="rId2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89.xml"/><Relationship Id="rId25" Type="http://schemas.openxmlformats.org/officeDocument/2006/relationships/slideLayout" Target="../slideLayouts/slideLayout88.xml"/><Relationship Id="rId28" Type="http://schemas.openxmlformats.org/officeDocument/2006/relationships/theme" Target="../theme/theme7.xml"/><Relationship Id="rId27" Type="http://schemas.openxmlformats.org/officeDocument/2006/relationships/slideLayout" Target="../slideLayouts/slideLayout90.xml"/><Relationship Id="rId5" Type="http://schemas.openxmlformats.org/officeDocument/2006/relationships/slideLayout" Target="../slideLayouts/slideLayout68.xml"/><Relationship Id="rId6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0.xml"/><Relationship Id="rId8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2.xml"/><Relationship Id="rId18" Type="http://schemas.openxmlformats.org/officeDocument/2006/relationships/slideLayout" Target="../slideLayouts/slideLayout81.xml"/></Relationships>
</file>

<file path=ppt/slideMasters/_rels/slideMaster5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10.xml"/><Relationship Id="rId22" Type="http://schemas.openxmlformats.org/officeDocument/2006/relationships/slideLayout" Target="../slideLayouts/slideLayout112.xml"/><Relationship Id="rId21" Type="http://schemas.openxmlformats.org/officeDocument/2006/relationships/slideLayout" Target="../slideLayouts/slideLayout111.xml"/><Relationship Id="rId24" Type="http://schemas.openxmlformats.org/officeDocument/2006/relationships/slideLayout" Target="../slideLayouts/slideLayout114.xml"/><Relationship Id="rId23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26" Type="http://schemas.openxmlformats.org/officeDocument/2006/relationships/slideLayout" Target="../slideLayouts/slideLayout116.xml"/><Relationship Id="rId25" Type="http://schemas.openxmlformats.org/officeDocument/2006/relationships/slideLayout" Target="../slideLayouts/slideLayout115.xml"/><Relationship Id="rId28" Type="http://schemas.openxmlformats.org/officeDocument/2006/relationships/theme" Target="../theme/theme4.xml"/><Relationship Id="rId27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5.xml"/><Relationship Id="rId14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7.xml"/><Relationship Id="rId16" Type="http://schemas.openxmlformats.org/officeDocument/2006/relationships/slideLayout" Target="../slideLayouts/slideLayout106.xml"/><Relationship Id="rId19" Type="http://schemas.openxmlformats.org/officeDocument/2006/relationships/slideLayout" Target="../slideLayouts/slideLayout109.xml"/><Relationship Id="rId18" Type="http://schemas.openxmlformats.org/officeDocument/2006/relationships/slideLayout" Target="../slideLayouts/slideLayout108.xml"/></Relationships>
</file>

<file path=ppt/slideMasters/_rels/slideMaster6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37.xml"/><Relationship Id="rId22" Type="http://schemas.openxmlformats.org/officeDocument/2006/relationships/slideLayout" Target="../slideLayouts/slideLayout139.xml"/><Relationship Id="rId21" Type="http://schemas.openxmlformats.org/officeDocument/2006/relationships/slideLayout" Target="../slideLayouts/slideLayout138.xml"/><Relationship Id="rId24" Type="http://schemas.openxmlformats.org/officeDocument/2006/relationships/slideLayout" Target="../slideLayouts/slideLayout141.xml"/><Relationship Id="rId23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18.xml"/><Relationship Id="rId2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Relationship Id="rId26" Type="http://schemas.openxmlformats.org/officeDocument/2006/relationships/slideLayout" Target="../slideLayouts/slideLayout143.xml"/><Relationship Id="rId25" Type="http://schemas.openxmlformats.org/officeDocument/2006/relationships/slideLayout" Target="../slideLayouts/slideLayout142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144.xml"/><Relationship Id="rId5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4.xml"/><Relationship Id="rId8" Type="http://schemas.openxmlformats.org/officeDocument/2006/relationships/slideLayout" Target="../slideLayouts/slideLayout125.xml"/><Relationship Id="rId11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7.xml"/><Relationship Id="rId13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29.xml"/><Relationship Id="rId15" Type="http://schemas.openxmlformats.org/officeDocument/2006/relationships/slideLayout" Target="../slideLayouts/slideLayout132.xml"/><Relationship Id="rId14" Type="http://schemas.openxmlformats.org/officeDocument/2006/relationships/slideLayout" Target="../slideLayouts/slideLayout131.xml"/><Relationship Id="rId17" Type="http://schemas.openxmlformats.org/officeDocument/2006/relationships/slideLayout" Target="../slideLayouts/slideLayout134.xml"/><Relationship Id="rId16" Type="http://schemas.openxmlformats.org/officeDocument/2006/relationships/slideLayout" Target="../slideLayouts/slideLayout133.xml"/><Relationship Id="rId19" Type="http://schemas.openxmlformats.org/officeDocument/2006/relationships/slideLayout" Target="../slideLayouts/slideLayout136.xml"/><Relationship Id="rId18" Type="http://schemas.openxmlformats.org/officeDocument/2006/relationships/slideLayout" Target="../slideLayouts/slideLayout1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  <p:sldLayoutId id="2147483710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9" name="Google Shape;479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  <p:sldLayoutId id="2147483736" r:id="rId26"/>
    <p:sldLayoutId id="2147483737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9" name="Google Shape;699;p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  <p:sldLayoutId id="2147483756" r:id="rId19"/>
    <p:sldLayoutId id="2147483757" r:id="rId20"/>
    <p:sldLayoutId id="2147483758" r:id="rId21"/>
    <p:sldLayoutId id="2147483759" r:id="rId22"/>
    <p:sldLayoutId id="2147483760" r:id="rId23"/>
    <p:sldLayoutId id="2147483761" r:id="rId24"/>
    <p:sldLayoutId id="2147483762" r:id="rId25"/>
    <p:sldLayoutId id="2147483763" r:id="rId26"/>
    <p:sldLayoutId id="2147483764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19" name="Google Shape;919;p1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oppins"/>
              <a:buChar char="●"/>
              <a:defRPr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●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/>
              <a:buChar char="○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oppins"/>
              <a:buChar char="■"/>
              <a:defRPr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789" r:id="rId25"/>
    <p:sldLayoutId id="2147483790" r:id="rId26"/>
    <p:sldLayoutId id="2147483791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7.png"/><Relationship Id="rId4" Type="http://schemas.openxmlformats.org/officeDocument/2006/relationships/image" Target="../media/image2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www.youtube.com/watch?v=Jwd_lkXoLKk" TargetMode="External"/><Relationship Id="rId4" Type="http://schemas.openxmlformats.org/officeDocument/2006/relationships/image" Target="../media/image23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9.png"/><Relationship Id="rId4" Type="http://schemas.openxmlformats.org/officeDocument/2006/relationships/hyperlink" Target="http://www.youtube.com/watch?v=BTZMUDKSpSs" TargetMode="External"/><Relationship Id="rId5" Type="http://schemas.openxmlformats.org/officeDocument/2006/relationships/image" Target="../media/image238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151"/>
          <p:cNvSpPr txBox="1"/>
          <p:nvPr>
            <p:ph type="title"/>
          </p:nvPr>
        </p:nvSpPr>
        <p:spPr>
          <a:xfrm>
            <a:off x="1628200" y="1807975"/>
            <a:ext cx="58878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00"/>
              <a:t>Dictionaries &amp; AI Tools</a:t>
            </a:r>
            <a:endParaRPr sz="3100"/>
          </a:p>
        </p:txBody>
      </p:sp>
      <p:sp>
        <p:nvSpPr>
          <p:cNvPr id="1142" name="Google Shape;1142;p151"/>
          <p:cNvSpPr txBox="1"/>
          <p:nvPr>
            <p:ph idx="1" type="subTitle"/>
          </p:nvPr>
        </p:nvSpPr>
        <p:spPr>
          <a:xfrm>
            <a:off x="3582450" y="3105825"/>
            <a:ext cx="1979100" cy="38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TIP101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15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148" name="Google Shape;1148;p152"/>
          <p:cNvGraphicFramePr/>
          <p:nvPr/>
        </p:nvGraphicFramePr>
        <p:xfrm>
          <a:off x="451525" y="12425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{4645E919-99BE-4E9F-B2C1-8A3828ED9250}</a:tableStyleId>
              </a:tblPr>
              <a:tblGrid>
                <a:gridCol w="411100"/>
                <a:gridCol w="4569375"/>
                <a:gridCol w="1883200"/>
              </a:tblGrid>
              <a:tr h="4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EC396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1</a:t>
                      </a:r>
                      <a:endParaRPr b="1" sz="1800">
                        <a:solidFill>
                          <a:srgbClr val="6EC396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Welcome 👋🏽</a:t>
                      </a:r>
                      <a:endParaRPr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 minutes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EC396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2</a:t>
                      </a:r>
                      <a:endParaRPr b="1" sz="1800">
                        <a:solidFill>
                          <a:srgbClr val="6EC396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Dictionaries &amp; AI Tools</a:t>
                      </a:r>
                      <a:endParaRPr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F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35 minutes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EC396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3</a:t>
                      </a:r>
                      <a:endParaRPr b="1" sz="1800">
                        <a:solidFill>
                          <a:srgbClr val="6EC396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BREAK</a:t>
                      </a:r>
                      <a:endParaRPr b="1"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minutes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EC396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4</a:t>
                      </a:r>
                      <a:endParaRPr b="1" sz="1800">
                        <a:solidFill>
                          <a:srgbClr val="6EC396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Collaborative Problem Solving</a:t>
                      </a:r>
                      <a:endParaRPr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F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60</a:t>
                      </a: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minutes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3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6EC396"/>
                          </a:solidFill>
                          <a:latin typeface="Space Mono"/>
                          <a:ea typeface="Space Mono"/>
                          <a:cs typeface="Space Mono"/>
                          <a:sym typeface="Space Mono"/>
                        </a:rPr>
                        <a:t>5</a:t>
                      </a:r>
                      <a:endParaRPr b="1" sz="1800">
                        <a:solidFill>
                          <a:srgbClr val="6EC396"/>
                        </a:solidFill>
                        <a:latin typeface="Space Mono"/>
                        <a:ea typeface="Space Mono"/>
                        <a:cs typeface="Space Mono"/>
                        <a:sym typeface="Space Mon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Wrap Up</a:t>
                      </a:r>
                      <a:endParaRPr sz="18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minutes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rgbClr val="6EC39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153"/>
          <p:cNvSpPr txBox="1"/>
          <p:nvPr>
            <p:ph type="title"/>
          </p:nvPr>
        </p:nvSpPr>
        <p:spPr>
          <a:xfrm>
            <a:off x="884825" y="2317200"/>
            <a:ext cx="3495300" cy="5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Welcome! 👋🏽</a:t>
            </a:r>
            <a:endParaRPr/>
          </a:p>
        </p:txBody>
      </p:sp>
      <p:sp>
        <p:nvSpPr>
          <p:cNvPr id="1154" name="Google Shape;1154;p153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minutes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15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60" name="Google Shape;1160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500" y="424463"/>
            <a:ext cx="3066374" cy="3066374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154"/>
          <p:cNvSpPr txBox="1"/>
          <p:nvPr>
            <p:ph type="title"/>
          </p:nvPr>
        </p:nvSpPr>
        <p:spPr>
          <a:xfrm>
            <a:off x="1364138" y="3490838"/>
            <a:ext cx="24291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Turn on your cameras</a:t>
            </a:r>
            <a:endParaRPr/>
          </a:p>
        </p:txBody>
      </p:sp>
      <p:pic>
        <p:nvPicPr>
          <p:cNvPr id="1162" name="Google Shape;1162;p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2137" y="424475"/>
            <a:ext cx="3066350" cy="306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154"/>
          <p:cNvSpPr txBox="1"/>
          <p:nvPr>
            <p:ph type="title"/>
          </p:nvPr>
        </p:nvSpPr>
        <p:spPr>
          <a:xfrm>
            <a:off x="5195963" y="3490838"/>
            <a:ext cx="27387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Fill out the entry ticket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155"/>
          <p:cNvSpPr txBox="1"/>
          <p:nvPr>
            <p:ph type="title"/>
          </p:nvPr>
        </p:nvSpPr>
        <p:spPr>
          <a:xfrm>
            <a:off x="1132000" y="481275"/>
            <a:ext cx="75594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 &amp; Reminders</a:t>
            </a:r>
            <a:endParaRPr/>
          </a:p>
        </p:txBody>
      </p:sp>
      <p:sp>
        <p:nvSpPr>
          <p:cNvPr id="1169" name="Google Shape;1169;p155"/>
          <p:cNvSpPr txBox="1"/>
          <p:nvPr>
            <p:ph idx="1" type="body"/>
          </p:nvPr>
        </p:nvSpPr>
        <p:spPr>
          <a:xfrm>
            <a:off x="452400" y="1132825"/>
            <a:ext cx="82392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✱"/>
            </a:pPr>
            <a:r>
              <a:rPr lang="en" sz="1700"/>
              <a:t>Assessment Reminder: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Students </a:t>
            </a:r>
            <a:r>
              <a:rPr b="1" lang="en" sz="1700"/>
              <a:t>must submit one</a:t>
            </a:r>
            <a:r>
              <a:rPr lang="en" sz="1700"/>
              <a:t> attempted HackerRank assessment </a:t>
            </a:r>
            <a:r>
              <a:rPr b="1" lang="en" sz="1700"/>
              <a:t>weekly</a:t>
            </a:r>
            <a:r>
              <a:rPr lang="en" sz="1700"/>
              <a:t> to remain in the course (due Sunday at 11:59pm PST).  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If a student moves ahead early in the units, and finishes passes all 10 units, they no longer require weekly attempts, but attendance is still mandatory.</a:t>
            </a:r>
            <a:endParaRPr sz="1150" u="sng">
              <a:solidFill>
                <a:srgbClr val="4252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Keep on eye on the Zoom chat during breakout rooms.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50" u="sng">
              <a:solidFill>
                <a:srgbClr val="4252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15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71" name="Google Shape;1171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400" y="350275"/>
            <a:ext cx="679601" cy="67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156"/>
          <p:cNvSpPr txBox="1"/>
          <p:nvPr>
            <p:ph idx="1" type="subTitle"/>
          </p:nvPr>
        </p:nvSpPr>
        <p:spPr>
          <a:xfrm>
            <a:off x="118252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+"/>
            </a:pPr>
            <a:r>
              <a:rPr lang="en"/>
              <a:t>Breakout rooms going well!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+"/>
            </a:pPr>
            <a:r>
              <a:rPr lang="en"/>
              <a:t>Students are finding cheat sheets and other resources helpful.</a:t>
            </a:r>
            <a:endParaRPr/>
          </a:p>
        </p:txBody>
      </p:sp>
      <p:sp>
        <p:nvSpPr>
          <p:cNvPr id="1177" name="Google Shape;1177;p15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8" name="Google Shape;1178;p156"/>
          <p:cNvSpPr txBox="1"/>
          <p:nvPr>
            <p:ph idx="2" type="subTitle"/>
          </p:nvPr>
        </p:nvSpPr>
        <p:spPr>
          <a:xfrm>
            <a:off x="4991175" y="2247950"/>
            <a:ext cx="2967300" cy="21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- Need more prep material.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/>
              <a:t>- Some students asking for more data structure explanations.</a:t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157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minutes</a:t>
            </a:r>
            <a:endParaRPr/>
          </a:p>
        </p:txBody>
      </p:sp>
      <p:sp>
        <p:nvSpPr>
          <p:cNvPr id="1184" name="Google Shape;1184;p15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5" name="Google Shape;1185;p157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🍦Question: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Let’s settle it once and for all. What truly is the best ice cream flavor? (And what’s the worst one 🤪?)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💬Answer: 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Share your answer in the Zoom chat below. Multiple options are encouraged.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158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Your Breakout Room</a:t>
            </a:r>
            <a:endParaRPr/>
          </a:p>
        </p:txBody>
      </p:sp>
      <p:sp>
        <p:nvSpPr>
          <p:cNvPr id="1191" name="Google Shape;1191;p158"/>
          <p:cNvSpPr txBox="1"/>
          <p:nvPr>
            <p:ph idx="1" type="body"/>
          </p:nvPr>
        </p:nvSpPr>
        <p:spPr>
          <a:xfrm>
            <a:off x="452400" y="1132825"/>
            <a:ext cx="55884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We’ll share the link to the entry ticket so you can indicate what unit you are on.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We’ll create breakout groups based on the unit you selected.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AutoNum type="arabicPeriod"/>
            </a:pPr>
            <a:r>
              <a:rPr lang="en"/>
              <a:t>When it’s Collaborative Problem Solving time, we’ll share the room assignments and demonstrate how to get to your room.</a:t>
            </a:r>
            <a:endParaRPr/>
          </a:p>
        </p:txBody>
      </p:sp>
      <p:sp>
        <p:nvSpPr>
          <p:cNvPr id="1192" name="Google Shape;1192;p15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3" name="Google Shape;1193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6625" y="1207600"/>
            <a:ext cx="2334975" cy="233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159"/>
          <p:cNvSpPr txBox="1"/>
          <p:nvPr>
            <p:ph type="title"/>
          </p:nvPr>
        </p:nvSpPr>
        <p:spPr>
          <a:xfrm>
            <a:off x="884825" y="2317200"/>
            <a:ext cx="5917800" cy="5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Dictionaries &amp; AI Tools</a:t>
            </a:r>
            <a:endParaRPr/>
          </a:p>
        </p:txBody>
      </p:sp>
      <p:sp>
        <p:nvSpPr>
          <p:cNvPr id="1199" name="Google Shape;1199;p159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35 minutes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60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minutes</a:t>
            </a:r>
            <a:endParaRPr/>
          </a:p>
        </p:txBody>
      </p:sp>
      <p:sp>
        <p:nvSpPr>
          <p:cNvPr id="1205" name="Google Shape;1205;p16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6" name="Google Shape;1206;p160"/>
          <p:cNvSpPr txBox="1"/>
          <p:nvPr>
            <p:ph idx="2" type="body"/>
          </p:nvPr>
        </p:nvSpPr>
        <p:spPr>
          <a:xfrm>
            <a:off x="452400" y="1260488"/>
            <a:ext cx="8239200" cy="33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When is it best to use a list?</a:t>
            </a:r>
            <a:endParaRPr sz="30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3000"/>
              <a:t>What about a dictionary?</a:t>
            </a:r>
            <a:endParaRPr sz="3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161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 When to Use Each</a:t>
            </a:r>
            <a:endParaRPr/>
          </a:p>
        </p:txBody>
      </p:sp>
      <p:sp>
        <p:nvSpPr>
          <p:cNvPr id="1212" name="Google Shape;1212;p161"/>
          <p:cNvSpPr txBox="1"/>
          <p:nvPr>
            <p:ph idx="1" type="body"/>
          </p:nvPr>
        </p:nvSpPr>
        <p:spPr>
          <a:xfrm>
            <a:off x="452400" y="1132825"/>
            <a:ext cx="82392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✱"/>
            </a:pPr>
            <a:r>
              <a:rPr lang="en"/>
              <a:t>Lists are great for </a:t>
            </a:r>
            <a:r>
              <a:rPr b="1" lang="en"/>
              <a:t>ordered</a:t>
            </a:r>
            <a:r>
              <a:rPr lang="en"/>
              <a:t> data and iteration: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Keeping data in chronological order.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Arrival time matters (first come first served).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Size expected to be constant (12 slots for monthly revenue).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✱"/>
            </a:pPr>
            <a:r>
              <a:rPr lang="en"/>
              <a:t>Dictionaries for key-value </a:t>
            </a:r>
            <a:r>
              <a:rPr b="1" lang="en"/>
              <a:t>mapping</a:t>
            </a:r>
            <a:endParaRPr b="1"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Dynamically grows as new data is added.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Speed is prioritized.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Unknown keys (user input).</a:t>
            </a:r>
            <a:endParaRPr/>
          </a:p>
        </p:txBody>
      </p:sp>
      <p:sp>
        <p:nvSpPr>
          <p:cNvPr id="1213" name="Google Shape;1213;p161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62"/>
          <p:cNvSpPr txBox="1"/>
          <p:nvPr>
            <p:ph type="title"/>
          </p:nvPr>
        </p:nvSpPr>
        <p:spPr>
          <a:xfrm>
            <a:off x="304425" y="373838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Frequency Map Flowchart</a:t>
            </a:r>
            <a:endParaRPr/>
          </a:p>
        </p:txBody>
      </p:sp>
      <p:sp>
        <p:nvSpPr>
          <p:cNvPr id="1219" name="Google Shape;1219;p162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20" name="Google Shape;1220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3700" y="140875"/>
            <a:ext cx="6044426" cy="4905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163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minutes</a:t>
            </a:r>
            <a:endParaRPr/>
          </a:p>
        </p:txBody>
      </p:sp>
      <p:sp>
        <p:nvSpPr>
          <p:cNvPr id="1226" name="Google Shape;1226;p16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7" name="Google Shape;1227;p163"/>
          <p:cNvSpPr txBox="1"/>
          <p:nvPr>
            <p:ph idx="2" type="body"/>
          </p:nvPr>
        </p:nvSpPr>
        <p:spPr>
          <a:xfrm>
            <a:off x="604800" y="1412888"/>
            <a:ext cx="8239200" cy="28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In the chat . . .</a:t>
            </a:r>
            <a:endParaRPr b="1"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Have you ever used an AI tool like Claude or Copilot for learning?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How did it help you?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Any specific classes/project types where it performed best?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164"/>
          <p:cNvSpPr txBox="1"/>
          <p:nvPr>
            <p:ph idx="1" type="body"/>
          </p:nvPr>
        </p:nvSpPr>
        <p:spPr>
          <a:xfrm>
            <a:off x="452400" y="1260488"/>
            <a:ext cx="8239200" cy="10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You are given a list of tuples, where each tuple contains a category and a value. Write a function to count how many items belong to each category.</a:t>
            </a:r>
            <a:endParaRPr/>
          </a:p>
        </p:txBody>
      </p:sp>
      <p:sp>
        <p:nvSpPr>
          <p:cNvPr id="1233" name="Google Shape;1233;p16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4" name="Google Shape;1234;p164"/>
          <p:cNvSpPr txBox="1"/>
          <p:nvPr/>
        </p:nvSpPr>
        <p:spPr>
          <a:xfrm>
            <a:off x="452400" y="2430500"/>
            <a:ext cx="8239200" cy="965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182875" lIns="182875" spcFirstLastPara="1" rIns="182875" wrap="square" tIns="1828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def count_by_category(items):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pass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5" name="Google Shape;1235;p164"/>
          <p:cNvSpPr txBox="1"/>
          <p:nvPr/>
        </p:nvSpPr>
        <p:spPr>
          <a:xfrm>
            <a:off x="452400" y="3562725"/>
            <a:ext cx="8239200" cy="1227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Input:</a:t>
            </a:r>
            <a:r>
              <a:rPr lang="en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items = [("fruits", "apple"), ("vegetables", "carrot"), ("fruits", "banana")]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Output:</a:t>
            </a:r>
            <a:r>
              <a:rPr lang="en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{"fruits": 2, "vegetables": 1}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65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Balancing AI with Independent Learning</a:t>
            </a:r>
            <a:endParaRPr/>
          </a:p>
        </p:txBody>
      </p:sp>
      <p:sp>
        <p:nvSpPr>
          <p:cNvPr id="1241" name="Google Shape;1241;p165"/>
          <p:cNvSpPr txBox="1"/>
          <p:nvPr>
            <p:ph idx="1" type="body"/>
          </p:nvPr>
        </p:nvSpPr>
        <p:spPr>
          <a:xfrm>
            <a:off x="452400" y="1132825"/>
            <a:ext cx="4540500" cy="14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400"/>
              <a:t>Use AI as a supplement, not a replacement, for your own problem-solving!</a:t>
            </a:r>
            <a:endParaRPr sz="2400"/>
          </a:p>
        </p:txBody>
      </p:sp>
      <p:sp>
        <p:nvSpPr>
          <p:cNvPr id="1242" name="Google Shape;1242;p165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3" name="Google Shape;1243;p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5826" y="1132825"/>
            <a:ext cx="2985775" cy="29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166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Balancing AI with Independent Learning</a:t>
            </a:r>
            <a:endParaRPr/>
          </a:p>
        </p:txBody>
      </p:sp>
      <p:sp>
        <p:nvSpPr>
          <p:cNvPr id="1249" name="Google Shape;1249;p166"/>
          <p:cNvSpPr txBox="1"/>
          <p:nvPr>
            <p:ph idx="1" type="body"/>
          </p:nvPr>
        </p:nvSpPr>
        <p:spPr>
          <a:xfrm>
            <a:off x="452400" y="1132825"/>
            <a:ext cx="4540500" cy="36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Use AI as a supplement, not a replacement, for your own problem-solving!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✱"/>
            </a:pPr>
            <a:r>
              <a:rPr b="1" lang="en" sz="2400"/>
              <a:t>Prompt engineering</a:t>
            </a:r>
            <a:r>
              <a:rPr lang="en" sz="2400"/>
              <a:t>: Giving explicit instructions with each prompt to assist you better.</a:t>
            </a:r>
            <a:endParaRPr sz="2400"/>
          </a:p>
        </p:txBody>
      </p:sp>
      <p:sp>
        <p:nvSpPr>
          <p:cNvPr id="1250" name="Google Shape;1250;p16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1" name="Google Shape;1251;p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5826" y="1132825"/>
            <a:ext cx="2985775" cy="29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167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Balancing AI with Independent Learning</a:t>
            </a:r>
            <a:endParaRPr/>
          </a:p>
        </p:txBody>
      </p:sp>
      <p:sp>
        <p:nvSpPr>
          <p:cNvPr id="1257" name="Google Shape;1257;p167"/>
          <p:cNvSpPr txBox="1"/>
          <p:nvPr>
            <p:ph idx="1" type="body"/>
          </p:nvPr>
        </p:nvSpPr>
        <p:spPr>
          <a:xfrm>
            <a:off x="452400" y="1132825"/>
            <a:ext cx="4540500" cy="36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Use AI as a supplement, not a replacement, for your own problem-solving!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✱"/>
            </a:pPr>
            <a:r>
              <a:rPr b="1" lang="en" sz="2400"/>
              <a:t>Role engineering</a:t>
            </a:r>
            <a:r>
              <a:rPr lang="en" sz="2400"/>
              <a:t>: “Please act as a TA, and guide me through this question without giving the solution right away.”</a:t>
            </a:r>
            <a:endParaRPr sz="2400"/>
          </a:p>
        </p:txBody>
      </p:sp>
      <p:sp>
        <p:nvSpPr>
          <p:cNvPr id="1258" name="Google Shape;1258;p16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9" name="Google Shape;1259;p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5826" y="1132825"/>
            <a:ext cx="2985775" cy="29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168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Balancing AI with Independent Learning</a:t>
            </a:r>
            <a:endParaRPr/>
          </a:p>
        </p:txBody>
      </p:sp>
      <p:sp>
        <p:nvSpPr>
          <p:cNvPr id="1265" name="Google Shape;1265;p168"/>
          <p:cNvSpPr txBox="1"/>
          <p:nvPr>
            <p:ph idx="1" type="body"/>
          </p:nvPr>
        </p:nvSpPr>
        <p:spPr>
          <a:xfrm>
            <a:off x="452400" y="1132825"/>
            <a:ext cx="4540500" cy="40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Use AI as a supplement, not a replacement, for your own problem-solving!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✱"/>
            </a:pPr>
            <a:r>
              <a:rPr b="1" lang="en" sz="2400"/>
              <a:t>Debugging</a:t>
            </a:r>
            <a:r>
              <a:rPr lang="en" sz="2400"/>
              <a:t>: Sharing your code with AI for debugging can speed up your efficiency without taking away from your learnings.</a:t>
            </a:r>
            <a:endParaRPr sz="2400"/>
          </a:p>
        </p:txBody>
      </p:sp>
      <p:sp>
        <p:nvSpPr>
          <p:cNvPr id="1266" name="Google Shape;1266;p16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67" name="Google Shape;1267;p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5826" y="1132825"/>
            <a:ext cx="2985775" cy="29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69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Balancing AI with Independent Learning</a:t>
            </a:r>
            <a:endParaRPr/>
          </a:p>
        </p:txBody>
      </p:sp>
      <p:sp>
        <p:nvSpPr>
          <p:cNvPr id="1273" name="Google Shape;1273;p169"/>
          <p:cNvSpPr txBox="1"/>
          <p:nvPr>
            <p:ph idx="1" type="body"/>
          </p:nvPr>
        </p:nvSpPr>
        <p:spPr>
          <a:xfrm>
            <a:off x="452400" y="1132825"/>
            <a:ext cx="4540500" cy="40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Use AI as a supplement, not a replacement, for your own problem-solving!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✱"/>
            </a:pPr>
            <a:r>
              <a:rPr b="1" lang="en" sz="2400"/>
              <a:t>Optimizing Solutions</a:t>
            </a:r>
            <a:r>
              <a:rPr lang="en" sz="2400"/>
              <a:t>: Even if you come up with a working solution on your own, AI can be helpful in improving your solution’s efficiency.</a:t>
            </a:r>
            <a:endParaRPr sz="2400"/>
          </a:p>
        </p:txBody>
      </p:sp>
      <p:sp>
        <p:nvSpPr>
          <p:cNvPr id="1274" name="Google Shape;1274;p169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5" name="Google Shape;1275;p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5826" y="1132825"/>
            <a:ext cx="2985775" cy="29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170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Balancing AI with Independent Learning</a:t>
            </a:r>
            <a:endParaRPr/>
          </a:p>
        </p:txBody>
      </p:sp>
      <p:sp>
        <p:nvSpPr>
          <p:cNvPr id="1281" name="Google Shape;1281;p170"/>
          <p:cNvSpPr txBox="1"/>
          <p:nvPr>
            <p:ph idx="1" type="body"/>
          </p:nvPr>
        </p:nvSpPr>
        <p:spPr>
          <a:xfrm>
            <a:off x="452400" y="1132825"/>
            <a:ext cx="4540500" cy="40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Use AI as a supplement, not a replacement, for your own problem-solving!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✱"/>
            </a:pPr>
            <a:r>
              <a:rPr b="1" lang="en" sz="2400"/>
              <a:t>Back and forth</a:t>
            </a:r>
            <a:r>
              <a:rPr lang="en" sz="2400"/>
              <a:t>: If you are absolutely hitting a wall in your studies, try spending 20-30min between allowing yourself to use AI.</a:t>
            </a:r>
            <a:endParaRPr sz="2400"/>
          </a:p>
        </p:txBody>
      </p:sp>
      <p:sp>
        <p:nvSpPr>
          <p:cNvPr id="1282" name="Google Shape;1282;p170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83" name="Google Shape;1283;p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5826" y="1132825"/>
            <a:ext cx="2985775" cy="29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171"/>
          <p:cNvSpPr txBox="1"/>
          <p:nvPr>
            <p:ph type="title"/>
          </p:nvPr>
        </p:nvSpPr>
        <p:spPr>
          <a:xfrm>
            <a:off x="1071950" y="892850"/>
            <a:ext cx="5283900" cy="2820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Break Time!</a:t>
            </a:r>
            <a:endParaRPr b="1" sz="23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Take 5 mins to step away from the computer. Feel free to turn off your camera and return promptly after 5 mins.</a:t>
            </a:r>
            <a:endParaRPr/>
          </a:p>
        </p:txBody>
      </p:sp>
      <p:pic>
        <p:nvPicPr>
          <p:cNvPr descr="5 minutes timer with relaxing music#5minutetimer #timer #relaxingmusic #relaxation" id="1289" name="Google Shape;1289;p171" title="5 Minutes Timer With Relaxing Music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5850" y="1739175"/>
            <a:ext cx="2198300" cy="1236550"/>
          </a:xfrm>
          <a:prstGeom prst="rect">
            <a:avLst/>
          </a:prstGeom>
          <a:noFill/>
          <a:ln cap="flat" cmpd="sng" w="76200">
            <a:solidFill>
              <a:srgbClr val="1B1C5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172"/>
          <p:cNvSpPr txBox="1"/>
          <p:nvPr>
            <p:ph type="title"/>
          </p:nvPr>
        </p:nvSpPr>
        <p:spPr>
          <a:xfrm>
            <a:off x="884825" y="2317200"/>
            <a:ext cx="7432800" cy="5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Collaborative Problem Solving</a:t>
            </a:r>
            <a:endParaRPr/>
          </a:p>
        </p:txBody>
      </p:sp>
      <p:sp>
        <p:nvSpPr>
          <p:cNvPr id="1295" name="Google Shape;1295;p172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60 minutes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73"/>
          <p:cNvSpPr txBox="1"/>
          <p:nvPr>
            <p:ph type="title"/>
          </p:nvPr>
        </p:nvSpPr>
        <p:spPr>
          <a:xfrm>
            <a:off x="452400" y="481263"/>
            <a:ext cx="82392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Your Breakout Room</a:t>
            </a:r>
            <a:endParaRPr/>
          </a:p>
        </p:txBody>
      </p:sp>
      <p:sp>
        <p:nvSpPr>
          <p:cNvPr id="1301" name="Google Shape;1301;p173"/>
          <p:cNvSpPr txBox="1"/>
          <p:nvPr>
            <p:ph idx="1" type="body"/>
          </p:nvPr>
        </p:nvSpPr>
        <p:spPr>
          <a:xfrm>
            <a:off x="452400" y="1132825"/>
            <a:ext cx="55884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We’ll share the room assignments.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AutoNum type="arabicPeriod"/>
            </a:pPr>
            <a:r>
              <a:rPr lang="en"/>
              <a:t>We’ll demonstrate how to find your room assignment and navigate to your room.</a:t>
            </a:r>
            <a:endParaRPr/>
          </a:p>
        </p:txBody>
      </p:sp>
      <p:sp>
        <p:nvSpPr>
          <p:cNvPr id="1302" name="Google Shape;1302;p173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03" name="Google Shape;1303;p1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6625" y="1207600"/>
            <a:ext cx="2334975" cy="233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174"/>
          <p:cNvSpPr txBox="1"/>
          <p:nvPr>
            <p:ph idx="1" type="subTitle"/>
          </p:nvPr>
        </p:nvSpPr>
        <p:spPr>
          <a:xfrm>
            <a:off x="7103500" y="551600"/>
            <a:ext cx="16173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60 minutes</a:t>
            </a:r>
            <a:endParaRPr/>
          </a:p>
        </p:txBody>
      </p:sp>
      <p:sp>
        <p:nvSpPr>
          <p:cNvPr id="1309" name="Google Shape;1309;p174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0" name="Google Shape;1310;p174"/>
          <p:cNvSpPr txBox="1"/>
          <p:nvPr/>
        </p:nvSpPr>
        <p:spPr>
          <a:xfrm>
            <a:off x="452400" y="1260500"/>
            <a:ext cx="7685700" cy="1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C396"/>
              </a:buClr>
              <a:buSzPts val="2200"/>
              <a:buFont typeface="Poppins"/>
              <a:buAutoNum type="arabicPeriod"/>
            </a:pPr>
            <a:r>
              <a:rPr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🏃🏽 Navigate to your breakout room.</a:t>
            </a:r>
            <a:endParaRPr sz="22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6EC396"/>
              </a:buClr>
              <a:buSzPts val="2200"/>
              <a:buFont typeface="Poppins"/>
              <a:buAutoNum type="arabicPeriod"/>
            </a:pPr>
            <a:r>
              <a:rPr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👋🏽 Introduce yourselves!</a:t>
            </a:r>
            <a:endParaRPr sz="22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6EC396"/>
              </a:buClr>
              <a:buSzPts val="2200"/>
              <a:buFont typeface="Poppins"/>
              <a:buAutoNum type="arabicPeriod"/>
            </a:pPr>
            <a:r>
              <a:rPr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🧑🏽‍💻 Work on the problems for your </a:t>
            </a:r>
            <a:r>
              <a:rPr lang="en" sz="2200">
                <a:latin typeface="Poppins"/>
                <a:ea typeface="Poppins"/>
                <a:cs typeface="Poppins"/>
                <a:sym typeface="Poppins"/>
              </a:rPr>
              <a:t>selected unit</a:t>
            </a:r>
            <a:r>
              <a:rPr lang="en" sz="2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22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75"/>
          <p:cNvSpPr txBox="1"/>
          <p:nvPr>
            <p:ph type="title"/>
          </p:nvPr>
        </p:nvSpPr>
        <p:spPr>
          <a:xfrm>
            <a:off x="884825" y="2317200"/>
            <a:ext cx="1982700" cy="5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Wrap Up</a:t>
            </a:r>
            <a:endParaRPr/>
          </a:p>
        </p:txBody>
      </p:sp>
      <p:sp>
        <p:nvSpPr>
          <p:cNvPr id="1316" name="Google Shape;1316;p175"/>
          <p:cNvSpPr txBox="1"/>
          <p:nvPr>
            <p:ph idx="1" type="subTitle"/>
          </p:nvPr>
        </p:nvSpPr>
        <p:spPr>
          <a:xfrm>
            <a:off x="785650" y="1770100"/>
            <a:ext cx="41271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minutes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176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177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7" name="Google Shape;1327;p177"/>
          <p:cNvSpPr txBox="1"/>
          <p:nvPr/>
        </p:nvSpPr>
        <p:spPr>
          <a:xfrm>
            <a:off x="1048400" y="1031050"/>
            <a:ext cx="4693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Session Survey Time!</a:t>
            </a:r>
            <a:endParaRPr b="1" sz="4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28" name="Google Shape;1328;p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3375" y="758775"/>
            <a:ext cx="2206851" cy="2206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 Minute Timer Relaxing Music Lofi Sky Background&#10;&#10;&#10;&#10;&#10;&#10;&#10;&#10;&#10;Tags&#10;1 minute&#10;1 minute countdown&#10;1 minute lo-fi hiphop timer&#10;1 minute timer&#10;countdown&#10;lo-fi music&#10;lofi study song&#10;study music&#10;study timer&#10;time&#10;timer&#10;working music&#10;1 minute timer with music&#10;1 minute clock&#10;lofi hiphop&#10;relaxing timers&#10;relaxing music&#10;relaxing lofi timer&#10;nature timer&#10;meditation&#10;meditation music&#10;relaxing sleep music&#10;school timer&#10;sleep timer&#10;chill timer&#10;chill music&#10;lofi timer&#10;lofi hiphop timer&#10;lofi hip hop" id="1329" name="Google Shape;1329;p177" title="3 Minute Timer Relaxing Music Lofi Sky Backgroun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7925" y="3125450"/>
            <a:ext cx="2268150" cy="127584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178"/>
          <p:cNvSpPr txBox="1"/>
          <p:nvPr>
            <p:ph type="title"/>
          </p:nvPr>
        </p:nvSpPr>
        <p:spPr>
          <a:xfrm>
            <a:off x="1123700" y="481275"/>
            <a:ext cx="7568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Reminders</a:t>
            </a:r>
            <a:endParaRPr/>
          </a:p>
        </p:txBody>
      </p:sp>
      <p:sp>
        <p:nvSpPr>
          <p:cNvPr id="1335" name="Google Shape;1335;p178"/>
          <p:cNvSpPr txBox="1"/>
          <p:nvPr>
            <p:ph idx="12" type="sldNum"/>
          </p:nvPr>
        </p:nvSpPr>
        <p:spPr>
          <a:xfrm>
            <a:off x="8543625" y="4795150"/>
            <a:ext cx="548700" cy="30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6" name="Google Shape;1336;p178"/>
          <p:cNvSpPr txBox="1"/>
          <p:nvPr>
            <p:ph idx="1" type="body"/>
          </p:nvPr>
        </p:nvSpPr>
        <p:spPr>
          <a:xfrm>
            <a:off x="452400" y="1132825"/>
            <a:ext cx="8239200" cy="3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❒"/>
            </a:pPr>
            <a:r>
              <a:rPr lang="en"/>
              <a:t>Finish the problem sets for additional practice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❒"/>
            </a:pPr>
            <a:r>
              <a:rPr lang="en"/>
              <a:t>Take the weekly HackerRank assessment by Sunday @ midnight PST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❒"/>
            </a:pPr>
            <a:r>
              <a:rPr lang="en"/>
              <a:t>Visit a </a:t>
            </a:r>
            <a:r>
              <a:rPr b="1" lang="en"/>
              <a:t>Study Hall Session</a:t>
            </a:r>
            <a:r>
              <a:rPr lang="en"/>
              <a:t> to deepen your understanding, work through challenges, and connect with course material alongside your peers!</a:t>
            </a:r>
            <a:endParaRPr/>
          </a:p>
        </p:txBody>
      </p:sp>
      <p:pic>
        <p:nvPicPr>
          <p:cNvPr id="1337" name="Google Shape;1337;p1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400" y="438175"/>
            <a:ext cx="608050" cy="60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